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54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3942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58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10" Type="http://schemas.openxmlformats.org/officeDocument/2006/relationships/image" Target="../media/image12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0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17" Type="http://schemas.openxmlformats.org/officeDocument/2006/relationships/image" Target="../media/image144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5" Type="http://schemas.openxmlformats.org/officeDocument/2006/relationships/image" Target="../media/image14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9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12" Type="http://schemas.openxmlformats.org/officeDocument/2006/relationships/image" Target="../media/image1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5" Type="http://schemas.openxmlformats.org/officeDocument/2006/relationships/image" Target="../media/image151.png"/><Relationship Id="rId15" Type="http://schemas.openxmlformats.org/officeDocument/2006/relationships/image" Target="../media/image161.png"/><Relationship Id="rId10" Type="http://schemas.openxmlformats.org/officeDocument/2006/relationships/image" Target="../media/image156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Relationship Id="rId14" Type="http://schemas.openxmlformats.org/officeDocument/2006/relationships/image" Target="../media/image16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7" Type="http://schemas.openxmlformats.org/officeDocument/2006/relationships/image" Target="../media/image17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0" Type="http://schemas.openxmlformats.org/officeDocument/2006/relationships/image" Target="../media/image181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4.png"/><Relationship Id="rId7" Type="http://schemas.openxmlformats.org/officeDocument/2006/relationships/image" Target="../media/image18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11" Type="http://schemas.openxmlformats.org/officeDocument/2006/relationships/image" Target="../media/image191.png"/><Relationship Id="rId5" Type="http://schemas.openxmlformats.org/officeDocument/2006/relationships/image" Target="../media/image186.png"/><Relationship Id="rId10" Type="http://schemas.openxmlformats.org/officeDocument/2006/relationships/image" Target="../media/image190.png"/><Relationship Id="rId4" Type="http://schemas.openxmlformats.org/officeDocument/2006/relationships/image" Target="../media/image185.png"/><Relationship Id="rId9" Type="http://schemas.openxmlformats.org/officeDocument/2006/relationships/image" Target="../media/image18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202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12" Type="http://schemas.openxmlformats.org/officeDocument/2006/relationships/image" Target="../media/image20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11" Type="http://schemas.openxmlformats.org/officeDocument/2006/relationships/image" Target="../media/image200.png"/><Relationship Id="rId5" Type="http://schemas.openxmlformats.org/officeDocument/2006/relationships/image" Target="../media/image194.png"/><Relationship Id="rId10" Type="http://schemas.openxmlformats.org/officeDocument/2006/relationships/image" Target="../media/image199.png"/><Relationship Id="rId4" Type="http://schemas.openxmlformats.org/officeDocument/2006/relationships/image" Target="../media/image193.png"/><Relationship Id="rId9" Type="http://schemas.openxmlformats.org/officeDocument/2006/relationships/image" Target="../media/image19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203.png"/><Relationship Id="rId7" Type="http://schemas.openxmlformats.org/officeDocument/2006/relationships/image" Target="../media/image20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6.png"/><Relationship Id="rId11" Type="http://schemas.openxmlformats.org/officeDocument/2006/relationships/image" Target="../media/image211.png"/><Relationship Id="rId5" Type="http://schemas.openxmlformats.org/officeDocument/2006/relationships/image" Target="../media/image205.png"/><Relationship Id="rId10" Type="http://schemas.openxmlformats.org/officeDocument/2006/relationships/image" Target="../media/image210.png"/><Relationship Id="rId4" Type="http://schemas.openxmlformats.org/officeDocument/2006/relationships/image" Target="../media/image204.png"/><Relationship Id="rId9" Type="http://schemas.openxmlformats.org/officeDocument/2006/relationships/image" Target="../media/image20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3" Type="http://schemas.openxmlformats.org/officeDocument/2006/relationships/image" Target="../media/image212.png"/><Relationship Id="rId7" Type="http://schemas.openxmlformats.org/officeDocument/2006/relationships/image" Target="../media/image216.png"/><Relationship Id="rId12" Type="http://schemas.openxmlformats.org/officeDocument/2006/relationships/image" Target="../media/image2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5.png"/><Relationship Id="rId11" Type="http://schemas.openxmlformats.org/officeDocument/2006/relationships/image" Target="../media/image220.png"/><Relationship Id="rId5" Type="http://schemas.openxmlformats.org/officeDocument/2006/relationships/image" Target="../media/image214.png"/><Relationship Id="rId10" Type="http://schemas.openxmlformats.org/officeDocument/2006/relationships/image" Target="../media/image219.png"/><Relationship Id="rId4" Type="http://schemas.openxmlformats.org/officeDocument/2006/relationships/image" Target="../media/image213.png"/><Relationship Id="rId9" Type="http://schemas.openxmlformats.org/officeDocument/2006/relationships/image" Target="../media/image21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larit7.github.io/obsidian_sync_setting/" TargetMode="External"/><Relationship Id="rId5" Type="http://schemas.openxmlformats.org/officeDocument/2006/relationships/hyperlink" Target="https://meganesulli.com/blog/sync-obsidian-vault-iphone-ipad/" TargetMode="External"/><Relationship Id="rId4" Type="http://schemas.openxmlformats.org/officeDocument/2006/relationships/image" Target="../media/image2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24805" y="875995"/>
            <a:ext cx="1143000" cy="1143000"/>
          </a:xfrm>
          <a:prstGeom prst="roundRect">
            <a:avLst>
              <a:gd name="adj" fmla="val 16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10098" y="1162202"/>
            <a:ext cx="571500" cy="571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978201" y="4667098"/>
            <a:ext cx="2152498" cy="1314907"/>
          </a:xfrm>
          <a:prstGeom prst="roundRect">
            <a:avLst>
              <a:gd name="adj" fmla="val 806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36492" y="4905756"/>
            <a:ext cx="228600" cy="2286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351069" y="4667098"/>
            <a:ext cx="3866998" cy="1314907"/>
          </a:xfrm>
          <a:prstGeom prst="roundRect">
            <a:avLst>
              <a:gd name="adj" fmla="val 806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67982" y="4905756"/>
            <a:ext cx="228600" cy="2286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324198" y="2314346"/>
            <a:ext cx="36960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BEGINNER'S GUIDE TO OBSIDIAN</a:t>
            </a:r>
            <a:endParaRPr lang="en-US" sz="1500" dirty="0"/>
          </a:p>
        </p:txBody>
      </p:sp>
      <p:sp>
        <p:nvSpPr>
          <p:cNvPr id="11" name="Text 5"/>
          <p:cNvSpPr txBox="1"/>
          <p:nvPr/>
        </p:nvSpPr>
        <p:spPr>
          <a:xfrm>
            <a:off x="3159252" y="2590495"/>
            <a:ext cx="6391656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옵시디언 완벽 가이드</a:t>
            </a:r>
            <a:endParaRPr lang="en-US" sz="5400" dirty="0"/>
          </a:p>
        </p:txBody>
      </p:sp>
      <p:sp>
        <p:nvSpPr>
          <p:cNvPr id="12" name="Text 6"/>
          <p:cNvSpPr txBox="1"/>
          <p:nvPr/>
        </p:nvSpPr>
        <p:spPr>
          <a:xfrm>
            <a:off x="3557930" y="3657600"/>
            <a:ext cx="5248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초보자를 위한 실전 사용법 &amp; 나만의 지식 체계 만들기</a:t>
            </a:r>
            <a:endParaRPr lang="en-US" sz="1800" dirty="0"/>
          </a:p>
        </p:txBody>
      </p:sp>
      <p:sp>
        <p:nvSpPr>
          <p:cNvPr id="13" name="Text 7"/>
          <p:cNvSpPr txBox="1"/>
          <p:nvPr/>
        </p:nvSpPr>
        <p:spPr>
          <a:xfrm>
            <a:off x="3928262" y="5248656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3292754" y="5486400"/>
            <a:ext cx="16532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시작하는 초보자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7018020" y="5248656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구성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5665622" y="5486400"/>
            <a:ext cx="33677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사용법 · 플러그인 · 단축키 · 실전 활용법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4393692" y="6362395"/>
            <a:ext cx="3510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Based on Official Docs &amp; Popular Community Tutorials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1994306"/>
            <a:ext cx="533095" cy="552298"/>
          </a:xfrm>
          <a:prstGeom prst="roundRect">
            <a:avLst>
              <a:gd name="adj" fmla="val 49008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" y="2117750"/>
            <a:ext cx="286207" cy="28620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71500" y="2558491"/>
            <a:ext cx="1457554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45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406140"/>
            <a:ext cx="1666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Table of Contents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00100" y="4139489"/>
            <a:ext cx="1043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개념 &amp; 설치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800100" y="4406494"/>
            <a:ext cx="1043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&amp; 활용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00100" y="4673498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심화 &amp; 실전 팁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71500" y="4177894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8B5CF6">
              <a:alpha val="6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" y="4444898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571500" y="4710989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C4899">
              <a:alpha val="6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3847795" y="83850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34302" y="83850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219895" y="83850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847795" y="191292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34302" y="191292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219895" y="191292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847795" y="298734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34302" y="298734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219895" y="298734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847795" y="406176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34302" y="406176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219895" y="406176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847795" y="513618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34302" y="513618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219895" y="5136185"/>
            <a:ext cx="2400300" cy="886054"/>
          </a:xfrm>
          <a:prstGeom prst="roundRect">
            <a:avLst>
              <a:gd name="adj" fmla="val 1331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448556" y="1162202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옵시디언 소개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7134149" y="116220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옵시디언인가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9820656" y="1162202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노트앱과 비교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4448556" y="2236622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설치와 초기 설정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7134149" y="223662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 투어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9820656" y="2236622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 기초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4448556" y="3311042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링크·백링크 이해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7134149" y="3311042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태그와 속성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9820656" y="331104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 뷰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4448556" y="4385462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코어 플러그인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7134149" y="4385462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커뮤니티 플러그인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9820656" y="4385462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 모음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4448556" y="545988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워크플로우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7134149" y="5459882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주의사항 / 문제 해결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9820656" y="5459882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마무리와 다음 단계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4016959" y="110825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882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45" name="Text 41"/>
          <p:cNvSpPr txBox="1"/>
          <p:nvPr/>
        </p:nvSpPr>
        <p:spPr>
          <a:xfrm>
            <a:off x="6703466" y="110825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882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46" name="Text 42"/>
          <p:cNvSpPr txBox="1"/>
          <p:nvPr/>
        </p:nvSpPr>
        <p:spPr>
          <a:xfrm>
            <a:off x="9389059" y="110825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882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47" name="Text 43"/>
          <p:cNvSpPr txBox="1"/>
          <p:nvPr/>
        </p:nvSpPr>
        <p:spPr>
          <a:xfrm>
            <a:off x="4016959" y="218267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882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48" name="Text 44"/>
          <p:cNvSpPr txBox="1"/>
          <p:nvPr/>
        </p:nvSpPr>
        <p:spPr>
          <a:xfrm>
            <a:off x="6703466" y="218267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882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49" name="Text 45"/>
          <p:cNvSpPr txBox="1"/>
          <p:nvPr/>
        </p:nvSpPr>
        <p:spPr>
          <a:xfrm>
            <a:off x="9389059" y="218267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EB1E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00" dirty="0"/>
          </a:p>
        </p:txBody>
      </p:sp>
      <p:sp>
        <p:nvSpPr>
          <p:cNvPr id="50" name="Text 46"/>
          <p:cNvSpPr txBox="1"/>
          <p:nvPr/>
        </p:nvSpPr>
        <p:spPr>
          <a:xfrm>
            <a:off x="4016959" y="325709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EB1E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800" dirty="0"/>
          </a:p>
        </p:txBody>
      </p:sp>
      <p:sp>
        <p:nvSpPr>
          <p:cNvPr id="51" name="Text 47"/>
          <p:cNvSpPr txBox="1"/>
          <p:nvPr/>
        </p:nvSpPr>
        <p:spPr>
          <a:xfrm>
            <a:off x="6703466" y="325709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EB1E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800" dirty="0"/>
          </a:p>
        </p:txBody>
      </p:sp>
      <p:sp>
        <p:nvSpPr>
          <p:cNvPr id="52" name="Text 48"/>
          <p:cNvSpPr txBox="1"/>
          <p:nvPr/>
        </p:nvSpPr>
        <p:spPr>
          <a:xfrm>
            <a:off x="9389059" y="325709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EB1E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800" dirty="0"/>
          </a:p>
        </p:txBody>
      </p:sp>
      <p:sp>
        <p:nvSpPr>
          <p:cNvPr id="53" name="Text 49"/>
          <p:cNvSpPr txBox="1"/>
          <p:nvPr/>
        </p:nvSpPr>
        <p:spPr>
          <a:xfrm>
            <a:off x="4016959" y="433151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EB1E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800" dirty="0"/>
          </a:p>
        </p:txBody>
      </p:sp>
      <p:sp>
        <p:nvSpPr>
          <p:cNvPr id="54" name="Text 50"/>
          <p:cNvSpPr txBox="1"/>
          <p:nvPr/>
        </p:nvSpPr>
        <p:spPr>
          <a:xfrm>
            <a:off x="6703466" y="433151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7EB6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800" dirty="0"/>
          </a:p>
        </p:txBody>
      </p:sp>
      <p:sp>
        <p:nvSpPr>
          <p:cNvPr id="55" name="Text 51"/>
          <p:cNvSpPr txBox="1"/>
          <p:nvPr/>
        </p:nvSpPr>
        <p:spPr>
          <a:xfrm>
            <a:off x="9389059" y="433151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7EB6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800" dirty="0"/>
          </a:p>
        </p:txBody>
      </p:sp>
      <p:sp>
        <p:nvSpPr>
          <p:cNvPr id="56" name="Text 52"/>
          <p:cNvSpPr txBox="1"/>
          <p:nvPr/>
        </p:nvSpPr>
        <p:spPr>
          <a:xfrm>
            <a:off x="4016959" y="540593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7EB6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800" dirty="0"/>
          </a:p>
        </p:txBody>
      </p:sp>
      <p:sp>
        <p:nvSpPr>
          <p:cNvPr id="57" name="Text 53"/>
          <p:cNvSpPr txBox="1"/>
          <p:nvPr/>
        </p:nvSpPr>
        <p:spPr>
          <a:xfrm>
            <a:off x="6703466" y="540593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7EB6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800" dirty="0"/>
          </a:p>
        </p:txBody>
      </p:sp>
      <p:sp>
        <p:nvSpPr>
          <p:cNvPr id="58" name="Text 54"/>
          <p:cNvSpPr txBox="1"/>
          <p:nvPr/>
        </p:nvSpPr>
        <p:spPr>
          <a:xfrm>
            <a:off x="9389059" y="540593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7EB6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114300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828800"/>
            <a:ext cx="3534156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9244" y="20665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895198" y="2180844"/>
            <a:ext cx="286207" cy="228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30598" y="1828800"/>
            <a:ext cx="3534156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68342" y="20665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20000"/>
            </a:srgbClr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82642" y="2180844"/>
            <a:ext cx="228600" cy="228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089697" y="1828800"/>
            <a:ext cx="3534156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328355" y="20665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42655" y="2180844"/>
            <a:ext cx="228600" cy="2286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71500" y="4267505"/>
            <a:ext cx="3534156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09244" y="4505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6" name="Shape 10"/>
          <p:cNvSpPr/>
          <p:nvPr/>
        </p:nvSpPr>
        <p:spPr>
          <a:xfrm>
            <a:off x="4330598" y="4267505"/>
            <a:ext cx="7295998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568342" y="4505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C4899">
              <a:alpha val="20000"/>
            </a:srgbClr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82642" y="4619549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19302" y="381305"/>
            <a:ext cx="1481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IS OBSIDIAN?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819302" y="562356"/>
            <a:ext cx="311536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옵시디언이란?</a:t>
            </a:r>
            <a:endParaRPr lang="en-US" sz="3600" dirty="0"/>
          </a:p>
        </p:txBody>
      </p:sp>
      <p:sp>
        <p:nvSpPr>
          <p:cNvPr id="21" name="Text 14"/>
          <p:cNvSpPr txBox="1"/>
          <p:nvPr/>
        </p:nvSpPr>
        <p:spPr>
          <a:xfrm>
            <a:off x="819302" y="1248156"/>
            <a:ext cx="4829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노트 앱을 넘어, 생각과 지식을 연결하는 통합 시스템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809244" y="2667305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 기반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809244" y="3029407"/>
            <a:ext cx="315833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노트는 일반 텍스트 파일(.md)로 내 컴퓨터에 로컬 저장됩니다. 특정 앱에 종속되지 않는 영구적인 데이터 소유권을 보장합니다.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4568342" y="2667305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연결과 그래프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4568342" y="3029407"/>
            <a:ext cx="31290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위키 스타일의 링크([[ ]])와 백링크를 통해 노트 간의 관계를 형성합니다. 지식 그래프를 통해 내 생각의 지도를 시각화할 수 있습니다.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8328355" y="2667305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무한한 확장성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8328355" y="3029407"/>
            <a:ext cx="3148279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1,000개 이상의 커뮤니티 플러그인과 테마를 통해 단순 메모장부터 복잡한 프로젝트 관리 도구까지 나만의 워크플로우를 구축합니다.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809244" y="5105095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크로스 플랫폼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809244" y="5467198"/>
            <a:ext cx="3148279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Windows, Mac, Linux는 물론 iOS와 Android 모바일 환경까지 지원합니다. (Obsidian Sync, iCloud, Git 등을 통한 동기화)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5254142" y="4974336"/>
            <a:ext cx="2686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세컨드 브레인 (Second Brain)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5254142" y="5336438"/>
            <a:ext cx="621517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옵시디언은 정보를 단순히 수집하는 것을 넘어, 연결을 통해 새로운 통찰을 만들어내는 '제2의 뇌' 역할을 수행합니다. 파편화된 정보를 체계적인 지식 네트워크로 발전시킬 수 있는 최적의 환경을 제공합니다.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114300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828800"/>
            <a:ext cx="5410505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6851" y="2124151"/>
            <a:ext cx="571500" cy="571500"/>
          </a:xfrm>
          <a:prstGeom prst="roundRect">
            <a:avLst>
              <a:gd name="adj" fmla="val 42667"/>
            </a:avLst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881" r="-881"/>
          <a:stretch/>
        </p:blipFill>
        <p:spPr>
          <a:xfrm>
            <a:off x="1033272" y="2276856"/>
            <a:ext cx="237744" cy="2670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10605" y="1828800"/>
            <a:ext cx="5410505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05956" y="2124151"/>
            <a:ext cx="571500" cy="571500"/>
          </a:xfrm>
          <a:prstGeom prst="roundRect">
            <a:avLst>
              <a:gd name="adj" fmla="val 42667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685" r="-685"/>
          <a:stretch/>
        </p:blipFill>
        <p:spPr>
          <a:xfrm>
            <a:off x="6638544" y="2276856"/>
            <a:ext cx="304495" cy="26700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71500" y="4267505"/>
            <a:ext cx="5410505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66851" y="4562856"/>
            <a:ext cx="571500" cy="571500"/>
          </a:xfrm>
          <a:prstGeom prst="roundRect">
            <a:avLst>
              <a:gd name="adj" fmla="val 42667"/>
            </a:avLst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2474" y="4714646"/>
            <a:ext cx="200254" cy="26700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210605" y="4267505"/>
            <a:ext cx="5410505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505956" y="4562856"/>
            <a:ext cx="571500" cy="571500"/>
          </a:xfrm>
          <a:prstGeom prst="roundRect">
            <a:avLst>
              <a:gd name="adj" fmla="val 42667"/>
            </a:avLst>
          </a:prstGeom>
          <a:solidFill>
            <a:srgbClr val="EC4899">
              <a:alpha val="15000"/>
            </a:srgbClr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24828" y="4714646"/>
            <a:ext cx="333756" cy="2670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19302" y="381305"/>
            <a:ext cx="1215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OBSIDIAN?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819302" y="562356"/>
            <a:ext cx="36676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옵시디언인가?</a:t>
            </a:r>
            <a:endParaRPr lang="en-US" sz="3600" dirty="0"/>
          </a:p>
        </p:txBody>
      </p:sp>
      <p:sp>
        <p:nvSpPr>
          <p:cNvPr id="19" name="Text 12"/>
          <p:cNvSpPr txBox="1"/>
          <p:nvPr/>
        </p:nvSpPr>
        <p:spPr>
          <a:xfrm>
            <a:off x="819302" y="1248156"/>
            <a:ext cx="3553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당신의 지식 관리를 혁신할 4가지 핵심 가치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666951" y="2104949"/>
            <a:ext cx="22009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사유성과 압도적 속도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1666951" y="2514600"/>
            <a:ext cx="4105656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데이터는 내 컴퓨터에 안전하게 저장됩니다. 클라우드 로딩 없이 오프라인에서도 즉시 열리고, 누구도 내 노트를 훔쳐볼 수 없는 완벽한 프라이버시를 제공합니다.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7306056" y="2104949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무한한 유연성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306056" y="2514600"/>
            <a:ext cx="4010558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정해진 틀이 없습니다. 단순한 메모장부터 칸반 보드, 데이터베이스, 캘린더까지. 플러그인과 테마를 조합해 나만의 완벽한 작업 환경(Workspace)을 설계하세요.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666951" y="4543654"/>
            <a:ext cx="27340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개방형 포맷 (No Lock-in)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1666951" y="4953305"/>
            <a:ext cx="4010558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마크다운(.md) 파일을 사용합니다. 옵시디언이 사라져도 내 노트는 영원히 남습니다. 다른 앱으로 언제든 자유롭게 이동할 수 있는 진정한 데이터 소유권을 경험하세요.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306056" y="4543654"/>
            <a:ext cx="2286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학습·연구·창작 최적화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7306056" y="4953305"/>
            <a:ext cx="4048963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기록을 넘어 생각의 발전을 돕습니다. 연결 중심의 사고와 회고에 최적화된 구조는 논문 작성, 콘텐츠 기획, 복잡한 프로젝트 관리에 강력한 힘을 발휘합니다.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9302" y="381305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9302" y="552298"/>
            <a:ext cx="53437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옵시디언인가? 주요 노트 앱 비교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71500" y="1295705"/>
            <a:ext cx="2590495" cy="5181905"/>
          </a:xfrm>
          <a:prstGeom prst="roundRect">
            <a:avLst>
              <a:gd name="adj" fmla="val 2076"/>
            </a:avLst>
          </a:prstGeom>
          <a:solidFill>
            <a:srgbClr val="1E1E23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1754" y="2095805"/>
            <a:ext cx="21909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71754" y="15526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0626" y="1647749"/>
            <a:ext cx="142646" cy="19019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71754" y="5046574"/>
            <a:ext cx="114300" cy="133502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71754" y="5304434"/>
            <a:ext cx="114300" cy="13350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71754" y="5638190"/>
            <a:ext cx="2190902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t="-2644" b="-2644"/>
          <a:stretch/>
        </p:blipFill>
        <p:spPr>
          <a:xfrm>
            <a:off x="771754" y="5800039"/>
            <a:ext cx="95098" cy="13350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rcRect t="-2644" b="-2644"/>
          <a:stretch/>
        </p:blipFill>
        <p:spPr>
          <a:xfrm>
            <a:off x="771754" y="6057900"/>
            <a:ext cx="95098" cy="133502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3307385" y="1295705"/>
            <a:ext cx="2590495" cy="5181905"/>
          </a:xfrm>
          <a:prstGeom prst="roundRect">
            <a:avLst>
              <a:gd name="adj" fmla="val 2076"/>
            </a:avLst>
          </a:prstGeom>
          <a:solidFill>
            <a:srgbClr val="1E1E23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9"/>
          <p:cNvSpPr/>
          <p:nvPr/>
        </p:nvSpPr>
        <p:spPr>
          <a:xfrm>
            <a:off x="3507638" y="2095805"/>
            <a:ext cx="21909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0"/>
          <p:cNvSpPr/>
          <p:nvPr/>
        </p:nvSpPr>
        <p:spPr>
          <a:xfrm>
            <a:off x="3507638" y="15526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0A82D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26510" y="1647749"/>
            <a:ext cx="142646" cy="190195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3507638" y="5046574"/>
            <a:ext cx="114300" cy="133502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3507638" y="5304434"/>
            <a:ext cx="114300" cy="133502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3507638" y="5638190"/>
            <a:ext cx="2190902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6"/>
          <a:srcRect t="-2644" b="-2644"/>
          <a:stretch/>
        </p:blipFill>
        <p:spPr>
          <a:xfrm>
            <a:off x="3507638" y="5800039"/>
            <a:ext cx="95098" cy="133502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6"/>
          <a:srcRect t="-2644" b="-2644"/>
          <a:stretch/>
        </p:blipFill>
        <p:spPr>
          <a:xfrm>
            <a:off x="3507638" y="6057900"/>
            <a:ext cx="95098" cy="133502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6043270" y="1295705"/>
            <a:ext cx="2590495" cy="5181905"/>
          </a:xfrm>
          <a:prstGeom prst="roundRect">
            <a:avLst>
              <a:gd name="adj" fmla="val 2076"/>
            </a:avLst>
          </a:prstGeom>
          <a:solidFill>
            <a:srgbClr val="1E1E23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Shape 13"/>
          <p:cNvSpPr/>
          <p:nvPr/>
        </p:nvSpPr>
        <p:spPr>
          <a:xfrm>
            <a:off x="6242609" y="2095805"/>
            <a:ext cx="21909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14"/>
          <p:cNvSpPr/>
          <p:nvPr/>
        </p:nvSpPr>
        <p:spPr>
          <a:xfrm>
            <a:off x="6242609" y="15526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/>
          </a:solidFill>
          <a:ln/>
        </p:spPr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6347765" y="1647749"/>
            <a:ext cx="171907" cy="190195"/>
          </a:xfrm>
          <a:prstGeom prst="rect">
            <a:avLst/>
          </a:prstGeom>
        </p:spPr>
      </p:pic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6242609" y="5046574"/>
            <a:ext cx="114300" cy="133502"/>
          </a:xfrm>
          <a:prstGeom prst="rect">
            <a:avLst/>
          </a:prstGeom>
        </p:spPr>
      </p:pic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6242609" y="5304434"/>
            <a:ext cx="114300" cy="133502"/>
          </a:xfrm>
          <a:prstGeom prst="rect">
            <a:avLst/>
          </a:prstGeom>
        </p:spPr>
      </p:pic>
      <p:sp>
        <p:nvSpPr>
          <p:cNvPr id="31" name="Shape 15"/>
          <p:cNvSpPr/>
          <p:nvPr/>
        </p:nvSpPr>
        <p:spPr>
          <a:xfrm>
            <a:off x="6242609" y="5638190"/>
            <a:ext cx="2190902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6"/>
          <a:srcRect t="-2644" b="-2644"/>
          <a:stretch/>
        </p:blipFill>
        <p:spPr>
          <a:xfrm>
            <a:off x="6242609" y="5800039"/>
            <a:ext cx="95098" cy="133502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6"/>
          <a:srcRect t="-2644" b="-2644"/>
          <a:stretch/>
        </p:blipFill>
        <p:spPr>
          <a:xfrm>
            <a:off x="6242609" y="6057900"/>
            <a:ext cx="95098" cy="133502"/>
          </a:xfrm>
          <a:prstGeom prst="rect">
            <a:avLst/>
          </a:prstGeom>
        </p:spPr>
      </p:pic>
      <p:sp>
        <p:nvSpPr>
          <p:cNvPr id="34" name="Text 16"/>
          <p:cNvSpPr txBox="1"/>
          <p:nvPr/>
        </p:nvSpPr>
        <p:spPr>
          <a:xfrm>
            <a:off x="1266444" y="1543507"/>
            <a:ext cx="710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</a:t>
            </a:r>
            <a:endParaRPr lang="en-US" sz="1300" dirty="0"/>
          </a:p>
        </p:txBody>
      </p:sp>
      <p:sp>
        <p:nvSpPr>
          <p:cNvPr id="35" name="Text 17"/>
          <p:cNvSpPr txBox="1"/>
          <p:nvPr/>
        </p:nvSpPr>
        <p:spPr>
          <a:xfrm>
            <a:off x="1266444" y="1790395"/>
            <a:ext cx="1219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All-in-one Workspace</a:t>
            </a:r>
            <a:endParaRPr lang="en-US" sz="900" dirty="0"/>
          </a:p>
        </p:txBody>
      </p:sp>
      <p:sp>
        <p:nvSpPr>
          <p:cNvPr id="36" name="Text 18"/>
          <p:cNvSpPr txBox="1"/>
          <p:nvPr/>
        </p:nvSpPr>
        <p:spPr>
          <a:xfrm>
            <a:off x="771754" y="2295144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철학</a:t>
            </a:r>
            <a:endParaRPr lang="en-US" sz="900" dirty="0"/>
          </a:p>
        </p:txBody>
      </p:sp>
      <p:sp>
        <p:nvSpPr>
          <p:cNvPr id="37" name="Text 19"/>
          <p:cNvSpPr txBox="1"/>
          <p:nvPr/>
        </p:nvSpPr>
        <p:spPr>
          <a:xfrm>
            <a:off x="771754" y="2505456"/>
            <a:ext cx="13661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&amp; 데이터베이스</a:t>
            </a:r>
            <a:endParaRPr lang="en-US" sz="1100" dirty="0"/>
          </a:p>
        </p:txBody>
      </p:sp>
      <p:sp>
        <p:nvSpPr>
          <p:cNvPr id="38" name="Text 20"/>
          <p:cNvSpPr txBox="1"/>
          <p:nvPr/>
        </p:nvSpPr>
        <p:spPr>
          <a:xfrm>
            <a:off x="771754" y="2874874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방식</a:t>
            </a:r>
            <a:endParaRPr lang="en-US" sz="900" dirty="0"/>
          </a:p>
        </p:txBody>
      </p:sp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9"/>
          <a:srcRect l="-769" r="-769"/>
          <a:stretch/>
        </p:blipFill>
        <p:spPr>
          <a:xfrm>
            <a:off x="771754" y="3130906"/>
            <a:ext cx="181051" cy="142646"/>
          </a:xfrm>
          <a:prstGeom prst="rect">
            <a:avLst/>
          </a:prstGeom>
        </p:spPr>
      </p:pic>
      <p:sp>
        <p:nvSpPr>
          <p:cNvPr id="40" name="Text 21"/>
          <p:cNvSpPr txBox="1"/>
          <p:nvPr/>
        </p:nvSpPr>
        <p:spPr>
          <a:xfrm>
            <a:off x="990295" y="3084271"/>
            <a:ext cx="956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종속</a:t>
            </a:r>
            <a:endParaRPr lang="en-US" sz="1100" dirty="0"/>
          </a:p>
        </p:txBody>
      </p:sp>
      <p:sp>
        <p:nvSpPr>
          <p:cNvPr id="41" name="Text 22"/>
          <p:cNvSpPr txBox="1"/>
          <p:nvPr/>
        </p:nvSpPr>
        <p:spPr>
          <a:xfrm>
            <a:off x="886054" y="5036515"/>
            <a:ext cx="13743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 DB 및 협업 기능</a:t>
            </a:r>
            <a:endParaRPr lang="en-US" sz="1000" dirty="0"/>
          </a:p>
        </p:txBody>
      </p:sp>
      <p:sp>
        <p:nvSpPr>
          <p:cNvPr id="42" name="Text 23"/>
          <p:cNvSpPr txBox="1"/>
          <p:nvPr/>
        </p:nvSpPr>
        <p:spPr>
          <a:xfrm>
            <a:off x="886054" y="5294376"/>
            <a:ext cx="11356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직관적이고 예쁜 UI</a:t>
            </a:r>
            <a:endParaRPr lang="en-US" sz="1000" dirty="0"/>
          </a:p>
        </p:txBody>
      </p:sp>
      <p:sp>
        <p:nvSpPr>
          <p:cNvPr id="43" name="Text 24"/>
          <p:cNvSpPr txBox="1"/>
          <p:nvPr/>
        </p:nvSpPr>
        <p:spPr>
          <a:xfrm>
            <a:off x="866851" y="5789981"/>
            <a:ext cx="13167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양 증가 시 느림</a:t>
            </a:r>
            <a:endParaRPr lang="en-US" sz="1000" dirty="0"/>
          </a:p>
        </p:txBody>
      </p:sp>
      <p:sp>
        <p:nvSpPr>
          <p:cNvPr id="44" name="Text 25"/>
          <p:cNvSpPr txBox="1"/>
          <p:nvPr/>
        </p:nvSpPr>
        <p:spPr>
          <a:xfrm>
            <a:off x="866851" y="6047842"/>
            <a:ext cx="11265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작업 불가</a:t>
            </a:r>
            <a:endParaRPr lang="en-US" sz="1000" dirty="0"/>
          </a:p>
        </p:txBody>
      </p:sp>
      <p:sp>
        <p:nvSpPr>
          <p:cNvPr id="45" name="Text 26"/>
          <p:cNvSpPr txBox="1"/>
          <p:nvPr/>
        </p:nvSpPr>
        <p:spPr>
          <a:xfrm>
            <a:off x="4002329" y="1543507"/>
            <a:ext cx="8814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Evernote</a:t>
            </a:r>
            <a:endParaRPr lang="en-US" sz="1300" dirty="0"/>
          </a:p>
        </p:txBody>
      </p:sp>
      <p:sp>
        <p:nvSpPr>
          <p:cNvPr id="46" name="Text 27"/>
          <p:cNvSpPr txBox="1"/>
          <p:nvPr/>
        </p:nvSpPr>
        <p:spPr>
          <a:xfrm>
            <a:off x="4002329" y="1790395"/>
            <a:ext cx="1286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Remember Everything</a:t>
            </a:r>
            <a:endParaRPr lang="en-US" sz="900" dirty="0"/>
          </a:p>
        </p:txBody>
      </p:sp>
      <p:sp>
        <p:nvSpPr>
          <p:cNvPr id="47" name="Text 28"/>
          <p:cNvSpPr txBox="1"/>
          <p:nvPr/>
        </p:nvSpPr>
        <p:spPr>
          <a:xfrm>
            <a:off x="3507638" y="2295144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철학</a:t>
            </a:r>
            <a:endParaRPr lang="en-US" sz="900" dirty="0"/>
          </a:p>
        </p:txBody>
      </p:sp>
      <p:sp>
        <p:nvSpPr>
          <p:cNvPr id="48" name="Text 29"/>
          <p:cNvSpPr txBox="1"/>
          <p:nvPr/>
        </p:nvSpPr>
        <p:spPr>
          <a:xfrm>
            <a:off x="3507638" y="2505456"/>
            <a:ext cx="8330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&amp; 검색</a:t>
            </a:r>
            <a:endParaRPr lang="en-US" sz="1100" dirty="0"/>
          </a:p>
        </p:txBody>
      </p:sp>
      <p:sp>
        <p:nvSpPr>
          <p:cNvPr id="49" name="Text 30"/>
          <p:cNvSpPr txBox="1"/>
          <p:nvPr/>
        </p:nvSpPr>
        <p:spPr>
          <a:xfrm>
            <a:off x="3507638" y="2874874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방식</a:t>
            </a:r>
            <a:endParaRPr lang="en-US" sz="900" dirty="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9"/>
          <a:srcRect l="-769" r="-769"/>
          <a:stretch/>
        </p:blipFill>
        <p:spPr>
          <a:xfrm>
            <a:off x="3507638" y="3130906"/>
            <a:ext cx="181051" cy="142646"/>
          </a:xfrm>
          <a:prstGeom prst="rect">
            <a:avLst/>
          </a:prstGeom>
        </p:spPr>
      </p:pic>
      <p:sp>
        <p:nvSpPr>
          <p:cNvPr id="51" name="Text 31"/>
          <p:cNvSpPr txBox="1"/>
          <p:nvPr/>
        </p:nvSpPr>
        <p:spPr>
          <a:xfrm>
            <a:off x="3726180" y="3084271"/>
            <a:ext cx="956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종속</a:t>
            </a:r>
            <a:endParaRPr lang="en-US" sz="1100" dirty="0"/>
          </a:p>
        </p:txBody>
      </p:sp>
      <p:sp>
        <p:nvSpPr>
          <p:cNvPr id="52" name="Text 32"/>
          <p:cNvSpPr txBox="1"/>
          <p:nvPr/>
        </p:nvSpPr>
        <p:spPr>
          <a:xfrm>
            <a:off x="3621938" y="5036515"/>
            <a:ext cx="14310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 웹 클리핑 &amp; OCR</a:t>
            </a:r>
            <a:endParaRPr lang="en-US" sz="1000" dirty="0"/>
          </a:p>
        </p:txBody>
      </p:sp>
      <p:sp>
        <p:nvSpPr>
          <p:cNvPr id="53" name="Text 33"/>
          <p:cNvSpPr txBox="1"/>
          <p:nvPr/>
        </p:nvSpPr>
        <p:spPr>
          <a:xfrm>
            <a:off x="3621938" y="5294376"/>
            <a:ext cx="10405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스캔 및 검색</a:t>
            </a:r>
            <a:endParaRPr lang="en-US" sz="1000" dirty="0"/>
          </a:p>
        </p:txBody>
      </p:sp>
      <p:sp>
        <p:nvSpPr>
          <p:cNvPr id="54" name="Text 34"/>
          <p:cNvSpPr txBox="1"/>
          <p:nvPr/>
        </p:nvSpPr>
        <p:spPr>
          <a:xfrm>
            <a:off x="3602736" y="5789981"/>
            <a:ext cx="7360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비싼 구독료</a:t>
            </a:r>
            <a:endParaRPr lang="en-US" sz="1000" dirty="0"/>
          </a:p>
        </p:txBody>
      </p:sp>
      <p:sp>
        <p:nvSpPr>
          <p:cNvPr id="55" name="Text 35"/>
          <p:cNvSpPr txBox="1"/>
          <p:nvPr/>
        </p:nvSpPr>
        <p:spPr>
          <a:xfrm>
            <a:off x="3602736" y="6047842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연결성 부족</a:t>
            </a:r>
            <a:endParaRPr lang="en-US" sz="1000" dirty="0"/>
          </a:p>
        </p:txBody>
      </p:sp>
      <p:sp>
        <p:nvSpPr>
          <p:cNvPr id="56" name="Text 36"/>
          <p:cNvSpPr txBox="1"/>
          <p:nvPr/>
        </p:nvSpPr>
        <p:spPr>
          <a:xfrm>
            <a:off x="6738214" y="1543507"/>
            <a:ext cx="1377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Roam / Logseq</a:t>
            </a:r>
            <a:endParaRPr lang="en-US" sz="1300" dirty="0"/>
          </a:p>
        </p:txBody>
      </p:sp>
      <p:sp>
        <p:nvSpPr>
          <p:cNvPr id="57" name="Text 37"/>
          <p:cNvSpPr txBox="1"/>
          <p:nvPr/>
        </p:nvSpPr>
        <p:spPr>
          <a:xfrm>
            <a:off x="6738214" y="1790395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Networked Thought</a:t>
            </a:r>
            <a:endParaRPr lang="en-US" sz="900" dirty="0"/>
          </a:p>
        </p:txBody>
      </p:sp>
      <p:sp>
        <p:nvSpPr>
          <p:cNvPr id="58" name="Text 38"/>
          <p:cNvSpPr txBox="1"/>
          <p:nvPr/>
        </p:nvSpPr>
        <p:spPr>
          <a:xfrm>
            <a:off x="6242609" y="2295144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철학</a:t>
            </a:r>
            <a:endParaRPr lang="en-US" sz="900" dirty="0"/>
          </a:p>
        </p:txBody>
      </p:sp>
      <p:sp>
        <p:nvSpPr>
          <p:cNvPr id="59" name="Text 39"/>
          <p:cNvSpPr txBox="1"/>
          <p:nvPr/>
        </p:nvSpPr>
        <p:spPr>
          <a:xfrm>
            <a:off x="6242609" y="2505456"/>
            <a:ext cx="16715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아웃라이너 &amp; 양방향 링크</a:t>
            </a:r>
            <a:endParaRPr lang="en-US" sz="1100" dirty="0"/>
          </a:p>
        </p:txBody>
      </p:sp>
      <p:sp>
        <p:nvSpPr>
          <p:cNvPr id="60" name="Text 40"/>
          <p:cNvSpPr txBox="1"/>
          <p:nvPr/>
        </p:nvSpPr>
        <p:spPr>
          <a:xfrm>
            <a:off x="6242609" y="2874874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방식</a:t>
            </a:r>
            <a:endParaRPr lang="en-US" sz="900" dirty="0"/>
          </a:p>
        </p:txBody>
      </p:sp>
      <p:pic>
        <p:nvPicPr>
          <p:cNvPr id="61" name="Image 1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242609" y="3130906"/>
            <a:ext cx="142646" cy="142646"/>
          </a:xfrm>
          <a:prstGeom prst="rect">
            <a:avLst/>
          </a:prstGeom>
        </p:spPr>
      </p:pic>
      <p:sp>
        <p:nvSpPr>
          <p:cNvPr id="62" name="Text 41"/>
          <p:cNvSpPr txBox="1"/>
          <p:nvPr/>
        </p:nvSpPr>
        <p:spPr>
          <a:xfrm>
            <a:off x="6423660" y="3084271"/>
            <a:ext cx="13761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혼합 (클라우드/로컬)</a:t>
            </a:r>
            <a:endParaRPr lang="en-US" sz="1100" dirty="0"/>
          </a:p>
        </p:txBody>
      </p:sp>
      <p:sp>
        <p:nvSpPr>
          <p:cNvPr id="63" name="Text 42"/>
          <p:cNvSpPr txBox="1"/>
          <p:nvPr/>
        </p:nvSpPr>
        <p:spPr>
          <a:xfrm>
            <a:off x="6356909" y="5036515"/>
            <a:ext cx="1164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단위 정밀 연결</a:t>
            </a:r>
            <a:endParaRPr lang="en-US" sz="1000" dirty="0"/>
          </a:p>
        </p:txBody>
      </p:sp>
      <p:sp>
        <p:nvSpPr>
          <p:cNvPr id="64" name="Text 43"/>
          <p:cNvSpPr txBox="1"/>
          <p:nvPr/>
        </p:nvSpPr>
        <p:spPr>
          <a:xfrm>
            <a:off x="6356909" y="5294376"/>
            <a:ext cx="1640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데일리 노트 중심 워크플로우</a:t>
            </a:r>
            <a:endParaRPr lang="en-US" sz="1000" dirty="0"/>
          </a:p>
        </p:txBody>
      </p:sp>
      <p:sp>
        <p:nvSpPr>
          <p:cNvPr id="65" name="Text 44"/>
          <p:cNvSpPr txBox="1"/>
          <p:nvPr/>
        </p:nvSpPr>
        <p:spPr>
          <a:xfrm>
            <a:off x="6338621" y="5789981"/>
            <a:ext cx="13743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진입 장벽 (난이도)</a:t>
            </a:r>
            <a:endParaRPr lang="en-US" sz="1000" dirty="0"/>
          </a:p>
        </p:txBody>
      </p:sp>
      <p:sp>
        <p:nvSpPr>
          <p:cNvPr id="66" name="Text 45"/>
          <p:cNvSpPr txBox="1"/>
          <p:nvPr/>
        </p:nvSpPr>
        <p:spPr>
          <a:xfrm>
            <a:off x="6338621" y="6047842"/>
            <a:ext cx="1164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글 작성에 불편함</a:t>
            </a:r>
            <a:endParaRPr lang="en-US" sz="1000" dirty="0"/>
          </a:p>
        </p:txBody>
      </p:sp>
      <p:sp>
        <p:nvSpPr>
          <p:cNvPr id="67" name="Shape 46"/>
          <p:cNvSpPr/>
          <p:nvPr/>
        </p:nvSpPr>
        <p:spPr>
          <a:xfrm>
            <a:off x="8750808" y="1243584"/>
            <a:ext cx="2905049" cy="5286146"/>
          </a:xfrm>
          <a:prstGeom prst="roundRect">
            <a:avLst>
              <a:gd name="adj" fmla="val 1651"/>
            </a:avLst>
          </a:prstGeom>
          <a:solidFill>
            <a:srgbClr val="A882FF">
              <a:alpha val="10000"/>
            </a:srgbClr>
          </a:solidFill>
          <a:ln w="25400">
            <a:solidFill>
              <a:srgbClr val="A882FF"/>
            </a:solidFill>
            <a:prstDash val="solid"/>
          </a:ln>
          <a:effectLst>
            <a:outerShdw blurRad="292100" dist="101600" dir="5400000" algn="bl" rotWithShape="0">
              <a:srgbClr val="A882FF">
                <a:alpha val="30000"/>
              </a:srgbClr>
            </a:outerShdw>
          </a:effectLst>
        </p:spPr>
      </p:sp>
      <p:sp>
        <p:nvSpPr>
          <p:cNvPr id="68" name="Shape 47"/>
          <p:cNvSpPr/>
          <p:nvPr/>
        </p:nvSpPr>
        <p:spPr>
          <a:xfrm>
            <a:off x="8963863" y="2077517"/>
            <a:ext cx="2476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9" name="Shape 48"/>
          <p:cNvSpPr/>
          <p:nvPr/>
        </p:nvSpPr>
        <p:spPr>
          <a:xfrm>
            <a:off x="8963863" y="1515161"/>
            <a:ext cx="390449" cy="390449"/>
          </a:xfrm>
          <a:prstGeom prst="roundRect">
            <a:avLst>
              <a:gd name="adj" fmla="val 45696"/>
            </a:avLst>
          </a:prstGeom>
          <a:solidFill>
            <a:srgbClr val="7C3AED"/>
          </a:solidFill>
          <a:ln/>
        </p:spPr>
      </p:sp>
      <p:pic>
        <p:nvPicPr>
          <p:cNvPr id="70" name="Image 1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061704" y="1613002"/>
            <a:ext cx="200254" cy="200254"/>
          </a:xfrm>
          <a:prstGeom prst="rect">
            <a:avLst/>
          </a:prstGeom>
        </p:spPr>
      </p:pic>
      <p:pic>
        <p:nvPicPr>
          <p:cNvPr id="71" name="Image 20" descr="preencoded.png"/>
          <p:cNvPicPr>
            <a:picLocks noChangeAspect="1"/>
          </p:cNvPicPr>
          <p:nvPr/>
        </p:nvPicPr>
        <p:blipFill>
          <a:blip r:embed="rId12"/>
          <a:srcRect t="-556" b="-556"/>
          <a:stretch/>
        </p:blipFill>
        <p:spPr>
          <a:xfrm>
            <a:off x="8963863" y="5060290"/>
            <a:ext cx="123444" cy="142646"/>
          </a:xfrm>
          <a:prstGeom prst="rect">
            <a:avLst/>
          </a:prstGeom>
        </p:spPr>
      </p:pic>
      <p:pic>
        <p:nvPicPr>
          <p:cNvPr id="72" name="Image 21" descr="preencoded.png"/>
          <p:cNvPicPr>
            <a:picLocks noChangeAspect="1"/>
          </p:cNvPicPr>
          <p:nvPr/>
        </p:nvPicPr>
        <p:blipFill>
          <a:blip r:embed="rId12"/>
          <a:srcRect t="-556" b="-556"/>
          <a:stretch/>
        </p:blipFill>
        <p:spPr>
          <a:xfrm>
            <a:off x="8963863" y="5322722"/>
            <a:ext cx="123444" cy="142646"/>
          </a:xfrm>
          <a:prstGeom prst="rect">
            <a:avLst/>
          </a:prstGeom>
        </p:spPr>
      </p:pic>
      <p:pic>
        <p:nvPicPr>
          <p:cNvPr id="73" name="Image 22" descr="preencoded.png"/>
          <p:cNvPicPr>
            <a:picLocks noChangeAspect="1"/>
          </p:cNvPicPr>
          <p:nvPr/>
        </p:nvPicPr>
        <p:blipFill>
          <a:blip r:embed="rId12"/>
          <a:srcRect t="-556" b="-556"/>
          <a:stretch/>
        </p:blipFill>
        <p:spPr>
          <a:xfrm>
            <a:off x="8963863" y="5585155"/>
            <a:ext cx="123444" cy="142646"/>
          </a:xfrm>
          <a:prstGeom prst="rect">
            <a:avLst/>
          </a:prstGeom>
        </p:spPr>
      </p:pic>
      <p:sp>
        <p:nvSpPr>
          <p:cNvPr id="74" name="Shape 49"/>
          <p:cNvSpPr/>
          <p:nvPr/>
        </p:nvSpPr>
        <p:spPr>
          <a:xfrm>
            <a:off x="8963863" y="5926226"/>
            <a:ext cx="2476195" cy="9144"/>
          </a:xfrm>
          <a:prstGeom prst="rect">
            <a:avLst/>
          </a:prstGeom>
          <a:solidFill>
            <a:srgbClr val="5B21B6">
              <a:alpha val="50000"/>
            </a:srgbClr>
          </a:solidFill>
          <a:ln/>
        </p:spPr>
      </p:sp>
      <p:pic>
        <p:nvPicPr>
          <p:cNvPr id="75" name="Image 23" descr="preencoded.png"/>
          <p:cNvPicPr>
            <a:picLocks noChangeAspect="1"/>
          </p:cNvPicPr>
          <p:nvPr/>
        </p:nvPicPr>
        <p:blipFill>
          <a:blip r:embed="rId13"/>
          <a:srcRect l="-29487" r="-29487"/>
          <a:stretch/>
        </p:blipFill>
        <p:spPr>
          <a:xfrm>
            <a:off x="8963863" y="6090818"/>
            <a:ext cx="28346" cy="142646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9469526" y="1506017"/>
            <a:ext cx="9006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Obsidian</a:t>
            </a:r>
            <a:endParaRPr lang="en-US" sz="1300" dirty="0"/>
          </a:p>
        </p:txBody>
      </p:sp>
      <p:sp>
        <p:nvSpPr>
          <p:cNvPr id="77" name="Text 51"/>
          <p:cNvSpPr txBox="1"/>
          <p:nvPr/>
        </p:nvSpPr>
        <p:spPr>
          <a:xfrm>
            <a:off x="8963863" y="2273198"/>
            <a:ext cx="581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철학</a:t>
            </a:r>
            <a:endParaRPr lang="en-US" sz="900" dirty="0"/>
          </a:p>
        </p:txBody>
      </p:sp>
      <p:sp>
        <p:nvSpPr>
          <p:cNvPr id="78" name="Text 52"/>
          <p:cNvSpPr txBox="1"/>
          <p:nvPr/>
        </p:nvSpPr>
        <p:spPr>
          <a:xfrm>
            <a:off x="8963863" y="2487168"/>
            <a:ext cx="15279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&amp; 개인화 (확장성)</a:t>
            </a:r>
            <a:endParaRPr lang="en-US" sz="1100" dirty="0"/>
          </a:p>
        </p:txBody>
      </p:sp>
      <p:sp>
        <p:nvSpPr>
          <p:cNvPr id="79" name="Text 53"/>
          <p:cNvSpPr txBox="1"/>
          <p:nvPr/>
        </p:nvSpPr>
        <p:spPr>
          <a:xfrm>
            <a:off x="8963863" y="2863901"/>
            <a:ext cx="581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방식</a:t>
            </a:r>
            <a:endParaRPr lang="en-US" sz="900" dirty="0"/>
          </a:p>
        </p:txBody>
      </p:sp>
      <p:pic>
        <p:nvPicPr>
          <p:cNvPr id="80" name="Image 24" descr="preencoded.png"/>
          <p:cNvPicPr>
            <a:picLocks noChangeAspect="1"/>
          </p:cNvPicPr>
          <p:nvPr/>
        </p:nvPicPr>
        <p:blipFill>
          <a:blip r:embed="rId14"/>
          <a:srcRect t="-2994" b="-2994"/>
          <a:stretch/>
        </p:blipFill>
        <p:spPr>
          <a:xfrm>
            <a:off x="8963863" y="3115361"/>
            <a:ext cx="152705" cy="161849"/>
          </a:xfrm>
          <a:prstGeom prst="rect">
            <a:avLst/>
          </a:prstGeom>
        </p:spPr>
      </p:pic>
      <p:sp>
        <p:nvSpPr>
          <p:cNvPr id="81" name="Text 54"/>
          <p:cNvSpPr txBox="1"/>
          <p:nvPr/>
        </p:nvSpPr>
        <p:spPr>
          <a:xfrm>
            <a:off x="9148572" y="3077870"/>
            <a:ext cx="15572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 로컬 파일 (.md)</a:t>
            </a:r>
            <a:endParaRPr lang="en-US" sz="1100" dirty="0"/>
          </a:p>
        </p:txBody>
      </p:sp>
      <p:sp>
        <p:nvSpPr>
          <p:cNvPr id="82" name="Text 55"/>
          <p:cNvSpPr txBox="1"/>
          <p:nvPr/>
        </p:nvSpPr>
        <p:spPr>
          <a:xfrm>
            <a:off x="9080906" y="5050231"/>
            <a:ext cx="1678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평생 무료 (개인) &amp; 빠른 속도</a:t>
            </a:r>
            <a:endParaRPr lang="en-US" sz="1000" dirty="0"/>
          </a:p>
        </p:txBody>
      </p:sp>
      <p:sp>
        <p:nvSpPr>
          <p:cNvPr id="83" name="Text 56"/>
          <p:cNvSpPr txBox="1"/>
          <p:nvPr/>
        </p:nvSpPr>
        <p:spPr>
          <a:xfrm>
            <a:off x="9080906" y="5312664"/>
            <a:ext cx="13926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 플러그인 생태계</a:t>
            </a:r>
            <a:endParaRPr lang="en-US" sz="1000" dirty="0"/>
          </a:p>
        </p:txBody>
      </p:sp>
      <p:sp>
        <p:nvSpPr>
          <p:cNvPr id="84" name="Text 57"/>
          <p:cNvSpPr txBox="1"/>
          <p:nvPr/>
        </p:nvSpPr>
        <p:spPr>
          <a:xfrm>
            <a:off x="9080906" y="5576011"/>
            <a:ext cx="15544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 뷰 &amp; 데이터 소유권</a:t>
            </a:r>
            <a:endParaRPr lang="en-US" sz="1000" dirty="0"/>
          </a:p>
        </p:txBody>
      </p:sp>
      <p:sp>
        <p:nvSpPr>
          <p:cNvPr id="85" name="Text 58"/>
          <p:cNvSpPr txBox="1"/>
          <p:nvPr/>
        </p:nvSpPr>
        <p:spPr>
          <a:xfrm>
            <a:off x="8983980" y="6081674"/>
            <a:ext cx="11832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설정 학습 필요</a:t>
            </a:r>
            <a:endParaRPr lang="en-US" sz="1000" dirty="0"/>
          </a:p>
        </p:txBody>
      </p:sp>
      <p:sp>
        <p:nvSpPr>
          <p:cNvPr id="86" name="Shape 59"/>
          <p:cNvSpPr/>
          <p:nvPr/>
        </p:nvSpPr>
        <p:spPr>
          <a:xfrm>
            <a:off x="10332720" y="1146658"/>
            <a:ext cx="1143000" cy="237744"/>
          </a:xfrm>
          <a:prstGeom prst="roundRect">
            <a:avLst>
              <a:gd name="adj" fmla="val 384615"/>
            </a:avLst>
          </a:prstGeom>
          <a:solidFill>
            <a:srgbClr val="7C3AED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87" name="Text 60"/>
          <p:cNvSpPr txBox="1"/>
          <p:nvPr/>
        </p:nvSpPr>
        <p:spPr>
          <a:xfrm>
            <a:off x="10448849" y="1175918"/>
            <a:ext cx="10003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88" name="Text 61"/>
          <p:cNvSpPr txBox="1"/>
          <p:nvPr/>
        </p:nvSpPr>
        <p:spPr>
          <a:xfrm>
            <a:off x="9469526" y="1758391"/>
            <a:ext cx="819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DD6FE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Second Brain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9302" y="381305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9302" y="552298"/>
            <a:ext cx="47347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및 초기 설정 6단계 가이드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71500" y="1276502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37560" y="1200607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4330598" y="1276502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97573" y="1200607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Shape 8"/>
          <p:cNvSpPr/>
          <p:nvPr/>
        </p:nvSpPr>
        <p:spPr>
          <a:xfrm>
            <a:off x="8089697" y="1276502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856671" y="1200607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4200" dirty="0"/>
          </a:p>
        </p:txBody>
      </p:sp>
      <p:sp>
        <p:nvSpPr>
          <p:cNvPr id="13" name="Shape 10"/>
          <p:cNvSpPr/>
          <p:nvPr/>
        </p:nvSpPr>
        <p:spPr>
          <a:xfrm>
            <a:off x="571500" y="3991356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37560" y="3914546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4200" dirty="0"/>
          </a:p>
        </p:txBody>
      </p:sp>
      <p:sp>
        <p:nvSpPr>
          <p:cNvPr id="15" name="Shape 12"/>
          <p:cNvSpPr/>
          <p:nvPr/>
        </p:nvSpPr>
        <p:spPr>
          <a:xfrm>
            <a:off x="4330598" y="3991356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97573" y="3914546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4200" dirty="0"/>
          </a:p>
        </p:txBody>
      </p:sp>
      <p:sp>
        <p:nvSpPr>
          <p:cNvPr id="17" name="Shape 14"/>
          <p:cNvSpPr/>
          <p:nvPr/>
        </p:nvSpPr>
        <p:spPr>
          <a:xfrm>
            <a:off x="8089697" y="3991356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856671" y="3914546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4200" dirty="0"/>
          </a:p>
        </p:txBody>
      </p:sp>
      <p:sp>
        <p:nvSpPr>
          <p:cNvPr id="19" name="Shape 16"/>
          <p:cNvSpPr/>
          <p:nvPr/>
        </p:nvSpPr>
        <p:spPr>
          <a:xfrm>
            <a:off x="809244" y="15142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2746" y="1647749"/>
            <a:ext cx="190195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09244" y="2124151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다운로드 및 설치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809244" y="2486254"/>
            <a:ext cx="314187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Obsidian.md 공식 사이트 접속. 사용 중인 OS(Windows, Mac, Linux)에 맞는 설치 파일을 다운로드하고 실행합니다.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68342" y="15142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1845" y="1647749"/>
            <a:ext cx="190195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568342" y="2124151"/>
            <a:ext cx="19339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보관소(Vault) 생성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568342" y="2486254"/>
            <a:ext cx="313273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실행 후 Create new vault 선택. 노트가 저장될 로컬 폴더를 지정합니다. 모든 데이터는 이 폴더 안에 .md 파일로 저장됩니다.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328355" y="15142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37169" y="1647749"/>
            <a:ext cx="237744" cy="19019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328355" y="2124151"/>
            <a:ext cx="1629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 설정 (한국어)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328355" y="2486254"/>
            <a:ext cx="305592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설정() &gt; About &gt; Language. 기본 영어에서 한국어로 변경 후 'Relaunch'를 클릭하여 앱을 재시작합니다.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09244" y="4229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52805" y="4362602"/>
            <a:ext cx="171907" cy="19019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09244" y="4839005"/>
            <a:ext cx="1305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 폴더 지정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809244" y="5201107"/>
            <a:ext cx="3075127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&gt; 파일 및 링크. '새 첨부 파일을 만들 위치'를 아래에 지정된 폴더로 변경 후, 'attachments' 폴더 등을 지정하여 이미지를 격리합니다.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568342" y="4229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01845" y="4362602"/>
            <a:ext cx="190195" cy="19019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568342" y="4839005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 적용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4568342" y="5201107"/>
            <a:ext cx="314187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&gt; 테마 &gt; 관리(Manage). 'Things', 'Minimal', 'Blue Topaz' 등 인기 커뮤니티 테마를 검색하여 설치 및 적용합니다.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8328355" y="4229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8447227" y="4362602"/>
            <a:ext cx="219456" cy="19019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328355" y="4839005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코어 플러그인 확인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8328355" y="5201107"/>
            <a:ext cx="313273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&gt; 코어 플러그인. 명령어 팔레트, 그래프 뷰, 백링크 등 필수 기능이 활성화(ON) 되어 있는지 확인합니다.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9302" y="381305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INTERFACE TOUR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9302" y="552298"/>
            <a:ext cx="39246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인터페이스 살펴보기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71500" y="1181405"/>
            <a:ext cx="11048695" cy="3771900"/>
          </a:xfrm>
          <a:prstGeom prst="roundRect">
            <a:avLst>
              <a:gd name="adj" fmla="val 735"/>
            </a:avLst>
          </a:prstGeom>
          <a:solidFill>
            <a:srgbClr val="1E1E24"/>
          </a:solidFill>
          <a:ln w="12700">
            <a:solidFill>
              <a:srgbClr val="333333"/>
            </a:solidFill>
            <a:prstDash val="solid"/>
          </a:ln>
          <a:effectLst>
            <a:outerShdw blurRad="482600" dist="1905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" y="1190549"/>
            <a:ext cx="11030407" cy="286207"/>
          </a:xfrm>
          <a:prstGeom prst="rect">
            <a:avLst/>
          </a:prstGeom>
          <a:solidFill>
            <a:srgbClr val="2A2A30"/>
          </a:solidFill>
          <a:ln/>
        </p:spPr>
      </p:sp>
      <p:sp>
        <p:nvSpPr>
          <p:cNvPr id="9" name="Shape 6"/>
          <p:cNvSpPr/>
          <p:nvPr/>
        </p:nvSpPr>
        <p:spPr>
          <a:xfrm>
            <a:off x="580644" y="1467612"/>
            <a:ext cx="11030407" cy="91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7"/>
          <p:cNvSpPr/>
          <p:nvPr/>
        </p:nvSpPr>
        <p:spPr>
          <a:xfrm>
            <a:off x="733349" y="1281074"/>
            <a:ext cx="95098" cy="9509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8"/>
          <p:cNvSpPr/>
          <p:nvPr/>
        </p:nvSpPr>
        <p:spPr>
          <a:xfrm>
            <a:off x="886054" y="1281074"/>
            <a:ext cx="95098" cy="9509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9"/>
          <p:cNvSpPr/>
          <p:nvPr/>
        </p:nvSpPr>
        <p:spPr>
          <a:xfrm>
            <a:off x="1037844" y="1281074"/>
            <a:ext cx="95098" cy="9509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85646" y="1242670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Obsidian - My Vault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0644" y="1476756"/>
            <a:ext cx="381305" cy="3238805"/>
          </a:xfrm>
          <a:prstGeom prst="rect">
            <a:avLst/>
          </a:prstGeom>
          <a:solidFill>
            <a:srgbClr val="202026"/>
          </a:solidFill>
          <a:ln/>
        </p:spPr>
      </p:sp>
      <p:sp>
        <p:nvSpPr>
          <p:cNvPr id="15" name="Shape 12"/>
          <p:cNvSpPr/>
          <p:nvPr/>
        </p:nvSpPr>
        <p:spPr>
          <a:xfrm>
            <a:off x="952805" y="1476756"/>
            <a:ext cx="9144" cy="3238805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681228" y="1571854"/>
            <a:ext cx="171907" cy="152705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0372" y="1867205"/>
            <a:ext cx="152705" cy="152705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709574" y="2162556"/>
            <a:ext cx="114300" cy="152705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0372" y="4410151"/>
            <a:ext cx="152705" cy="15270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61949" y="1476756"/>
            <a:ext cx="1714500" cy="3238805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21" name="Shape 14"/>
          <p:cNvSpPr/>
          <p:nvPr/>
        </p:nvSpPr>
        <p:spPr>
          <a:xfrm>
            <a:off x="2667305" y="1476756"/>
            <a:ext cx="9144" cy="3238805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1057046" y="1591056"/>
            <a:ext cx="105156" cy="1143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38098" y="1571854"/>
            <a:ext cx="648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탐색기</a:t>
            </a:r>
            <a:endParaRPr lang="en-US" sz="9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7046" y="1900123"/>
            <a:ext cx="95098" cy="9509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228954" y="1876349"/>
            <a:ext cx="486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00_Inbox</a:t>
            </a:r>
            <a:endParaRPr lang="en-US" sz="8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 l="-3205" r="-3205"/>
          <a:stretch/>
        </p:blipFill>
        <p:spPr>
          <a:xfrm>
            <a:off x="1209751" y="2119579"/>
            <a:ext cx="75895" cy="95098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362456" y="2095805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아이디어.md</a:t>
            </a:r>
            <a:endParaRPr lang="en-US" sz="8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0"/>
          <a:srcRect l="-3205" r="-3205"/>
          <a:stretch/>
        </p:blipFill>
        <p:spPr>
          <a:xfrm>
            <a:off x="1209751" y="2338121"/>
            <a:ext cx="75895" cy="95098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1362456" y="2314346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할일.md</a:t>
            </a:r>
            <a:endParaRPr lang="en-US" sz="8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1"/>
          <a:srcRect t="-1587" b="-1587"/>
          <a:stretch/>
        </p:blipFill>
        <p:spPr>
          <a:xfrm>
            <a:off x="1057046" y="2557577"/>
            <a:ext cx="57607" cy="95098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1190549" y="2533802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01_Projects</a:t>
            </a:r>
            <a:endParaRPr lang="en-US" sz="8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1"/>
          <a:srcRect t="-1587" b="-1587"/>
          <a:stretch/>
        </p:blipFill>
        <p:spPr>
          <a:xfrm>
            <a:off x="1057046" y="2776118"/>
            <a:ext cx="57607" cy="95098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1190549" y="2752344"/>
            <a:ext cx="486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02_Areas</a:t>
            </a:r>
            <a:endParaRPr lang="en-US" sz="8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1"/>
          <a:srcRect t="-1587" b="-1587"/>
          <a:stretch/>
        </p:blipFill>
        <p:spPr>
          <a:xfrm>
            <a:off x="1057046" y="2995574"/>
            <a:ext cx="57607" cy="95098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1190549" y="2971800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99_Archive</a:t>
            </a:r>
            <a:endParaRPr lang="en-US" sz="800" dirty="0"/>
          </a:p>
        </p:txBody>
      </p:sp>
      <p:sp>
        <p:nvSpPr>
          <p:cNvPr id="36" name="Shape 22"/>
          <p:cNvSpPr/>
          <p:nvPr/>
        </p:nvSpPr>
        <p:spPr>
          <a:xfrm>
            <a:off x="2676449" y="1476756"/>
            <a:ext cx="7220102" cy="323880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37" name="Shape 23"/>
          <p:cNvSpPr/>
          <p:nvPr/>
        </p:nvSpPr>
        <p:spPr>
          <a:xfrm>
            <a:off x="2676449" y="1772107"/>
            <a:ext cx="722010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Shape 24"/>
          <p:cNvSpPr/>
          <p:nvPr/>
        </p:nvSpPr>
        <p:spPr>
          <a:xfrm>
            <a:off x="2829154" y="1505102"/>
            <a:ext cx="1343254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25"/>
          <p:cNvSpPr txBox="1"/>
          <p:nvPr/>
        </p:nvSpPr>
        <p:spPr>
          <a:xfrm>
            <a:off x="2943454" y="1543507"/>
            <a:ext cx="1200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Obsidian Start Guide</a:t>
            </a:r>
            <a:endParaRPr lang="en-US" sz="900" dirty="0"/>
          </a:p>
        </p:txBody>
      </p:sp>
      <p:sp>
        <p:nvSpPr>
          <p:cNvPr id="40" name="Shape 26"/>
          <p:cNvSpPr/>
          <p:nvPr/>
        </p:nvSpPr>
        <p:spPr>
          <a:xfrm>
            <a:off x="3057754" y="1971446"/>
            <a:ext cx="3877056" cy="114300"/>
          </a:xfrm>
          <a:prstGeom prst="roundRect">
            <a:avLst>
              <a:gd name="adj" fmla="val 200000"/>
            </a:avLst>
          </a:prstGeom>
          <a:solidFill>
            <a:srgbClr val="444444"/>
          </a:solidFill>
          <a:ln/>
        </p:spPr>
      </p:sp>
      <p:sp>
        <p:nvSpPr>
          <p:cNvPr id="41" name="Shape 27"/>
          <p:cNvSpPr/>
          <p:nvPr/>
        </p:nvSpPr>
        <p:spPr>
          <a:xfrm>
            <a:off x="3057754" y="2276856"/>
            <a:ext cx="5820156" cy="57607"/>
          </a:xfrm>
          <a:prstGeom prst="roundRect">
            <a:avLst>
              <a:gd name="adj" fmla="val 793654"/>
            </a:avLst>
          </a:prstGeom>
          <a:solidFill>
            <a:srgbClr val="333333"/>
          </a:solidFill>
          <a:ln/>
        </p:spPr>
      </p:sp>
      <p:sp>
        <p:nvSpPr>
          <p:cNvPr id="42" name="Shape 28"/>
          <p:cNvSpPr/>
          <p:nvPr/>
        </p:nvSpPr>
        <p:spPr>
          <a:xfrm>
            <a:off x="3057754" y="2409444"/>
            <a:ext cx="5820156" cy="57607"/>
          </a:xfrm>
          <a:prstGeom prst="roundRect">
            <a:avLst>
              <a:gd name="adj" fmla="val 793654"/>
            </a:avLst>
          </a:prstGeom>
          <a:solidFill>
            <a:srgbClr val="333333"/>
          </a:solidFill>
          <a:ln/>
        </p:spPr>
      </p:sp>
      <p:sp>
        <p:nvSpPr>
          <p:cNvPr id="43" name="Shape 29"/>
          <p:cNvSpPr/>
          <p:nvPr/>
        </p:nvSpPr>
        <p:spPr>
          <a:xfrm>
            <a:off x="3057754" y="2542946"/>
            <a:ext cx="4524451" cy="57607"/>
          </a:xfrm>
          <a:prstGeom prst="roundRect">
            <a:avLst>
              <a:gd name="adj" fmla="val 793654"/>
            </a:avLst>
          </a:prstGeom>
          <a:solidFill>
            <a:srgbClr val="333333"/>
          </a:solidFill>
          <a:ln/>
        </p:spPr>
      </p:sp>
      <p:sp>
        <p:nvSpPr>
          <p:cNvPr id="44" name="Shape 30"/>
          <p:cNvSpPr/>
          <p:nvPr/>
        </p:nvSpPr>
        <p:spPr>
          <a:xfrm>
            <a:off x="3057754" y="2905049"/>
            <a:ext cx="2590495" cy="57607"/>
          </a:xfrm>
          <a:prstGeom prst="roundRect">
            <a:avLst>
              <a:gd name="adj" fmla="val 793654"/>
            </a:avLst>
          </a:prstGeom>
          <a:solidFill>
            <a:srgbClr val="333333"/>
          </a:solidFill>
          <a:ln/>
        </p:spPr>
      </p:sp>
      <p:sp>
        <p:nvSpPr>
          <p:cNvPr id="45" name="Shape 31"/>
          <p:cNvSpPr/>
          <p:nvPr/>
        </p:nvSpPr>
        <p:spPr>
          <a:xfrm>
            <a:off x="3057754" y="3038551"/>
            <a:ext cx="5820156" cy="57607"/>
          </a:xfrm>
          <a:prstGeom prst="roundRect">
            <a:avLst>
              <a:gd name="adj" fmla="val 793654"/>
            </a:avLst>
          </a:prstGeom>
          <a:solidFill>
            <a:srgbClr val="333333"/>
          </a:solidFill>
          <a:ln/>
        </p:spPr>
      </p:sp>
      <p:sp>
        <p:nvSpPr>
          <p:cNvPr id="46" name="Shape 32"/>
          <p:cNvSpPr/>
          <p:nvPr/>
        </p:nvSpPr>
        <p:spPr>
          <a:xfrm>
            <a:off x="3057754" y="3172054"/>
            <a:ext cx="4524451" cy="57607"/>
          </a:xfrm>
          <a:prstGeom prst="roundRect">
            <a:avLst>
              <a:gd name="adj" fmla="val 793654"/>
            </a:avLst>
          </a:prstGeom>
          <a:solidFill>
            <a:srgbClr val="333333"/>
          </a:solidFill>
          <a:ln/>
        </p:spPr>
      </p:sp>
      <p:sp>
        <p:nvSpPr>
          <p:cNvPr id="47" name="Shape 33"/>
          <p:cNvSpPr/>
          <p:nvPr/>
        </p:nvSpPr>
        <p:spPr>
          <a:xfrm>
            <a:off x="9896551" y="1476756"/>
            <a:ext cx="1714500" cy="3238805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48" name="Shape 34"/>
          <p:cNvSpPr/>
          <p:nvPr/>
        </p:nvSpPr>
        <p:spPr>
          <a:xfrm>
            <a:off x="9896551" y="1476756"/>
            <a:ext cx="9144" cy="3238805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2"/>
          <a:srcRect t="-80" b="-80"/>
          <a:stretch/>
        </p:blipFill>
        <p:spPr>
          <a:xfrm>
            <a:off x="10001707" y="1591056"/>
            <a:ext cx="142646" cy="114300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10220249" y="1571854"/>
            <a:ext cx="409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백링크</a:t>
            </a:r>
            <a:endParaRPr lang="en-US" sz="900" dirty="0"/>
          </a:p>
        </p:txBody>
      </p:sp>
      <p:sp>
        <p:nvSpPr>
          <p:cNvPr id="51" name="Text 36"/>
          <p:cNvSpPr txBox="1"/>
          <p:nvPr/>
        </p:nvSpPr>
        <p:spPr>
          <a:xfrm>
            <a:off x="10001707" y="1876349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언급된 내용</a:t>
            </a:r>
            <a:endParaRPr lang="en-US" sz="12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0"/>
          <a:srcRect l="-3205" r="-3205"/>
          <a:stretch/>
        </p:blipFill>
        <p:spPr>
          <a:xfrm>
            <a:off x="10001707" y="2204618"/>
            <a:ext cx="75895" cy="95098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10153498" y="2180844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 Note</a:t>
            </a:r>
            <a:endParaRPr lang="en-US" sz="8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0"/>
          <a:srcRect l="-3205" r="-3205"/>
          <a:stretch/>
        </p:blipFill>
        <p:spPr>
          <a:xfrm>
            <a:off x="10001707" y="2424074"/>
            <a:ext cx="75895" cy="95098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10153498" y="2400300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</a:t>
            </a:r>
            <a:endParaRPr lang="en-US" sz="8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001707" y="2866644"/>
            <a:ext cx="114300" cy="114300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10191902" y="2848356"/>
            <a:ext cx="514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아웃라인</a:t>
            </a:r>
            <a:endParaRPr lang="en-US" sz="900" dirty="0"/>
          </a:p>
        </p:txBody>
      </p:sp>
      <p:sp>
        <p:nvSpPr>
          <p:cNvPr id="58" name="Shape 40"/>
          <p:cNvSpPr/>
          <p:nvPr/>
        </p:nvSpPr>
        <p:spPr>
          <a:xfrm>
            <a:off x="10001707" y="3152851"/>
            <a:ext cx="609905" cy="57607"/>
          </a:xfrm>
          <a:prstGeom prst="roundRect">
            <a:avLst>
              <a:gd name="adj" fmla="val 793654"/>
            </a:avLst>
          </a:prstGeom>
          <a:solidFill>
            <a:srgbClr val="333333"/>
          </a:solidFill>
          <a:ln/>
        </p:spPr>
      </p:sp>
      <p:sp>
        <p:nvSpPr>
          <p:cNvPr id="59" name="Shape 41"/>
          <p:cNvSpPr/>
          <p:nvPr/>
        </p:nvSpPr>
        <p:spPr>
          <a:xfrm>
            <a:off x="10001707" y="3286354"/>
            <a:ext cx="1067105" cy="57607"/>
          </a:xfrm>
          <a:prstGeom prst="roundRect">
            <a:avLst>
              <a:gd name="adj" fmla="val 793654"/>
            </a:avLst>
          </a:prstGeom>
          <a:solidFill>
            <a:srgbClr val="333333"/>
          </a:solidFill>
          <a:ln/>
        </p:spPr>
      </p:sp>
      <p:sp>
        <p:nvSpPr>
          <p:cNvPr id="60" name="Shape 42"/>
          <p:cNvSpPr/>
          <p:nvPr/>
        </p:nvSpPr>
        <p:spPr>
          <a:xfrm>
            <a:off x="580644" y="4714646"/>
            <a:ext cx="11030407" cy="228600"/>
          </a:xfrm>
          <a:prstGeom prst="rect">
            <a:avLst/>
          </a:prstGeom>
          <a:solidFill>
            <a:srgbClr val="2A2A30"/>
          </a:solidFill>
          <a:ln/>
        </p:spPr>
      </p:sp>
      <p:sp>
        <p:nvSpPr>
          <p:cNvPr id="61" name="Shape 43"/>
          <p:cNvSpPr/>
          <p:nvPr/>
        </p:nvSpPr>
        <p:spPr>
          <a:xfrm>
            <a:off x="580644" y="4714646"/>
            <a:ext cx="11030407" cy="91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2" name="Text 44"/>
          <p:cNvSpPr txBox="1"/>
          <p:nvPr/>
        </p:nvSpPr>
        <p:spPr>
          <a:xfrm>
            <a:off x="694944" y="4762195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words</a:t>
            </a:r>
            <a:endParaRPr lang="en-US" sz="800" dirty="0"/>
          </a:p>
        </p:txBody>
      </p:sp>
      <p:sp>
        <p:nvSpPr>
          <p:cNvPr id="63" name="Text 45"/>
          <p:cNvSpPr txBox="1"/>
          <p:nvPr/>
        </p:nvSpPr>
        <p:spPr>
          <a:xfrm>
            <a:off x="1123798" y="4762195"/>
            <a:ext cx="619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characters</a:t>
            </a:r>
            <a:endParaRPr lang="en-US" sz="800" dirty="0"/>
          </a:p>
        </p:txBody>
      </p:sp>
      <p:sp>
        <p:nvSpPr>
          <p:cNvPr id="64" name="Text 46"/>
          <p:cNvSpPr txBox="1"/>
          <p:nvPr/>
        </p:nvSpPr>
        <p:spPr>
          <a:xfrm>
            <a:off x="11028578" y="4762195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Ln 1, Col 1</a:t>
            </a:r>
            <a:endParaRPr lang="en-US" sz="800" dirty="0"/>
          </a:p>
        </p:txBody>
      </p:sp>
      <p:sp>
        <p:nvSpPr>
          <p:cNvPr id="65" name="Shape 47"/>
          <p:cNvSpPr/>
          <p:nvPr/>
        </p:nvSpPr>
        <p:spPr>
          <a:xfrm>
            <a:off x="571500" y="5143500"/>
            <a:ext cx="2095805" cy="1333195"/>
          </a:xfrm>
          <a:prstGeom prst="roundRect">
            <a:avLst>
              <a:gd name="adj" fmla="val 587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6" name="Shape 48"/>
          <p:cNvSpPr/>
          <p:nvPr/>
        </p:nvSpPr>
        <p:spPr>
          <a:xfrm>
            <a:off x="733349" y="5305349"/>
            <a:ext cx="190195" cy="190195"/>
          </a:xfrm>
          <a:prstGeom prst="ellipse">
            <a:avLst/>
          </a:prstGeom>
          <a:solidFill>
            <a:srgbClr val="A882FF"/>
          </a:solidFill>
          <a:ln/>
        </p:spPr>
      </p:sp>
      <p:sp>
        <p:nvSpPr>
          <p:cNvPr id="67" name="Text 49"/>
          <p:cNvSpPr txBox="1"/>
          <p:nvPr/>
        </p:nvSpPr>
        <p:spPr>
          <a:xfrm>
            <a:off x="800100" y="5329123"/>
            <a:ext cx="133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00" dirty="0"/>
          </a:p>
        </p:txBody>
      </p:sp>
      <p:sp>
        <p:nvSpPr>
          <p:cNvPr id="68" name="Text 50"/>
          <p:cNvSpPr txBox="1"/>
          <p:nvPr/>
        </p:nvSpPr>
        <p:spPr>
          <a:xfrm>
            <a:off x="733349" y="5572354"/>
            <a:ext cx="956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사이드바</a:t>
            </a:r>
            <a:endParaRPr lang="en-US" sz="1100" dirty="0"/>
          </a:p>
        </p:txBody>
      </p:sp>
      <p:sp>
        <p:nvSpPr>
          <p:cNvPr id="69" name="Text 51"/>
          <p:cNvSpPr txBox="1"/>
          <p:nvPr/>
        </p:nvSpPr>
        <p:spPr>
          <a:xfrm>
            <a:off x="733349" y="5817413"/>
            <a:ext cx="18288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탐색기, 전체 검색, 태그 패널이 위치합니다. 내 보관소의 모든 파일을 관리합니다.</a:t>
            </a:r>
            <a:endParaRPr lang="en-US" sz="900" dirty="0"/>
          </a:p>
        </p:txBody>
      </p:sp>
      <p:sp>
        <p:nvSpPr>
          <p:cNvPr id="70" name="Shape 52"/>
          <p:cNvSpPr/>
          <p:nvPr/>
        </p:nvSpPr>
        <p:spPr>
          <a:xfrm>
            <a:off x="2811780" y="5143500"/>
            <a:ext cx="2095805" cy="1333195"/>
          </a:xfrm>
          <a:prstGeom prst="roundRect">
            <a:avLst>
              <a:gd name="adj" fmla="val 587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1" name="Shape 53"/>
          <p:cNvSpPr/>
          <p:nvPr/>
        </p:nvSpPr>
        <p:spPr>
          <a:xfrm>
            <a:off x="2973629" y="5305349"/>
            <a:ext cx="190195" cy="190195"/>
          </a:xfrm>
          <a:prstGeom prst="ellipse">
            <a:avLst/>
          </a:prstGeom>
          <a:solidFill>
            <a:srgbClr val="A882FF"/>
          </a:solidFill>
          <a:ln/>
        </p:spPr>
      </p:sp>
      <p:sp>
        <p:nvSpPr>
          <p:cNvPr id="72" name="Text 54"/>
          <p:cNvSpPr txBox="1"/>
          <p:nvPr/>
        </p:nvSpPr>
        <p:spPr>
          <a:xfrm>
            <a:off x="3040380" y="5329123"/>
            <a:ext cx="133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73" name="Text 55"/>
          <p:cNvSpPr txBox="1"/>
          <p:nvPr/>
        </p:nvSpPr>
        <p:spPr>
          <a:xfrm>
            <a:off x="2973629" y="5572354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에디터</a:t>
            </a:r>
            <a:endParaRPr lang="en-US" sz="1100" dirty="0"/>
          </a:p>
        </p:txBody>
      </p:sp>
      <p:sp>
        <p:nvSpPr>
          <p:cNvPr id="74" name="Text 56"/>
          <p:cNvSpPr txBox="1"/>
          <p:nvPr/>
        </p:nvSpPr>
        <p:spPr>
          <a:xfrm>
            <a:off x="2973629" y="5817413"/>
            <a:ext cx="183885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글을 쓰고 읽는 핵심 공간입니다. 탭 기능을 지원하며 읽기/편집 모드를 전환할 수 있습니다.</a:t>
            </a:r>
            <a:endParaRPr lang="en-US" sz="900" dirty="0"/>
          </a:p>
        </p:txBody>
      </p:sp>
      <p:sp>
        <p:nvSpPr>
          <p:cNvPr id="75" name="Shape 57"/>
          <p:cNvSpPr/>
          <p:nvPr/>
        </p:nvSpPr>
        <p:spPr>
          <a:xfrm>
            <a:off x="5052060" y="5143500"/>
            <a:ext cx="2095805" cy="1333195"/>
          </a:xfrm>
          <a:prstGeom prst="roundRect">
            <a:avLst>
              <a:gd name="adj" fmla="val 587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6" name="Shape 58"/>
          <p:cNvSpPr/>
          <p:nvPr/>
        </p:nvSpPr>
        <p:spPr>
          <a:xfrm>
            <a:off x="5213909" y="5305349"/>
            <a:ext cx="190195" cy="190195"/>
          </a:xfrm>
          <a:prstGeom prst="ellipse">
            <a:avLst/>
          </a:prstGeom>
          <a:solidFill>
            <a:srgbClr val="A882FF"/>
          </a:solidFill>
          <a:ln/>
        </p:spPr>
      </p:sp>
      <p:sp>
        <p:nvSpPr>
          <p:cNvPr id="77" name="Text 59"/>
          <p:cNvSpPr txBox="1"/>
          <p:nvPr/>
        </p:nvSpPr>
        <p:spPr>
          <a:xfrm>
            <a:off x="5280660" y="5329123"/>
            <a:ext cx="133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00" dirty="0"/>
          </a:p>
        </p:txBody>
      </p:sp>
      <p:sp>
        <p:nvSpPr>
          <p:cNvPr id="78" name="Text 60"/>
          <p:cNvSpPr txBox="1"/>
          <p:nvPr/>
        </p:nvSpPr>
        <p:spPr>
          <a:xfrm>
            <a:off x="5213909" y="5572354"/>
            <a:ext cx="956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사이드바</a:t>
            </a:r>
            <a:endParaRPr lang="en-US" sz="1100" dirty="0"/>
          </a:p>
        </p:txBody>
      </p:sp>
      <p:sp>
        <p:nvSpPr>
          <p:cNvPr id="79" name="Text 61"/>
          <p:cNvSpPr txBox="1"/>
          <p:nvPr/>
        </p:nvSpPr>
        <p:spPr>
          <a:xfrm>
            <a:off x="5213909" y="5817413"/>
            <a:ext cx="18105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노트와 연결된 백링크, 문서의 개요(아웃라인), 속성(Properties)을 확인합니다.</a:t>
            </a:r>
            <a:endParaRPr lang="en-US" sz="900" dirty="0"/>
          </a:p>
        </p:txBody>
      </p:sp>
      <p:sp>
        <p:nvSpPr>
          <p:cNvPr id="80" name="Shape 62"/>
          <p:cNvSpPr/>
          <p:nvPr/>
        </p:nvSpPr>
        <p:spPr>
          <a:xfrm>
            <a:off x="7292340" y="5143500"/>
            <a:ext cx="2095805" cy="1333195"/>
          </a:xfrm>
          <a:prstGeom prst="roundRect">
            <a:avLst>
              <a:gd name="adj" fmla="val 587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1" name="Shape 63"/>
          <p:cNvSpPr/>
          <p:nvPr/>
        </p:nvSpPr>
        <p:spPr>
          <a:xfrm>
            <a:off x="7454189" y="5305349"/>
            <a:ext cx="190195" cy="190195"/>
          </a:xfrm>
          <a:prstGeom prst="ellipse">
            <a:avLst/>
          </a:prstGeom>
          <a:solidFill>
            <a:srgbClr val="A882FF"/>
          </a:solidFill>
          <a:ln/>
        </p:spPr>
      </p:sp>
      <p:sp>
        <p:nvSpPr>
          <p:cNvPr id="82" name="Text 64"/>
          <p:cNvSpPr txBox="1"/>
          <p:nvPr/>
        </p:nvSpPr>
        <p:spPr>
          <a:xfrm>
            <a:off x="7520940" y="5329123"/>
            <a:ext cx="133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00" dirty="0"/>
          </a:p>
        </p:txBody>
      </p:sp>
      <p:sp>
        <p:nvSpPr>
          <p:cNvPr id="83" name="Text 65"/>
          <p:cNvSpPr txBox="1"/>
          <p:nvPr/>
        </p:nvSpPr>
        <p:spPr>
          <a:xfrm>
            <a:off x="7454189" y="5572354"/>
            <a:ext cx="9665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리본 &amp; 상태바</a:t>
            </a:r>
            <a:endParaRPr lang="en-US" sz="1100" dirty="0"/>
          </a:p>
        </p:txBody>
      </p:sp>
      <p:sp>
        <p:nvSpPr>
          <p:cNvPr id="84" name="Text 66"/>
          <p:cNvSpPr txBox="1"/>
          <p:nvPr/>
        </p:nvSpPr>
        <p:spPr>
          <a:xfrm>
            <a:off x="7454189" y="5817413"/>
            <a:ext cx="18004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쓰는 기능 아이콘(리본)과 현재 문서의 단어 수 등 상태 정보(하단)를 표시합니다.</a:t>
            </a:r>
            <a:endParaRPr lang="en-US" sz="900" dirty="0"/>
          </a:p>
        </p:txBody>
      </p:sp>
      <p:sp>
        <p:nvSpPr>
          <p:cNvPr id="85" name="Shape 67"/>
          <p:cNvSpPr/>
          <p:nvPr/>
        </p:nvSpPr>
        <p:spPr>
          <a:xfrm>
            <a:off x="9532620" y="5143500"/>
            <a:ext cx="2095805" cy="1333195"/>
          </a:xfrm>
          <a:prstGeom prst="roundRect">
            <a:avLst>
              <a:gd name="adj" fmla="val 5879"/>
            </a:avLst>
          </a:prstGeom>
          <a:solidFill>
            <a:srgbClr val="A882FF">
              <a:alpha val="5000"/>
            </a:srgbClr>
          </a:solidFill>
          <a:ln w="12700">
            <a:solidFill>
              <a:srgbClr val="A882FF">
                <a:alpha val="40000"/>
              </a:srgbClr>
            </a:solidFill>
            <a:prstDash val="solid"/>
          </a:ln>
        </p:spPr>
      </p:sp>
      <p:sp>
        <p:nvSpPr>
          <p:cNvPr id="86" name="Shape 68"/>
          <p:cNvSpPr/>
          <p:nvPr/>
        </p:nvSpPr>
        <p:spPr>
          <a:xfrm>
            <a:off x="9694469" y="5305349"/>
            <a:ext cx="190195" cy="190195"/>
          </a:xfrm>
          <a:prstGeom prst="ellipse">
            <a:avLst/>
          </a:prstGeom>
          <a:solidFill>
            <a:srgbClr val="A882FF"/>
          </a:solidFill>
          <a:ln/>
        </p:spPr>
      </p:sp>
      <p:sp>
        <p:nvSpPr>
          <p:cNvPr id="87" name="Text 69"/>
          <p:cNvSpPr txBox="1"/>
          <p:nvPr/>
        </p:nvSpPr>
        <p:spPr>
          <a:xfrm>
            <a:off x="9761220" y="5329123"/>
            <a:ext cx="133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800" dirty="0"/>
          </a:p>
        </p:txBody>
      </p:sp>
      <p:sp>
        <p:nvSpPr>
          <p:cNvPr id="88" name="Text 70"/>
          <p:cNvSpPr txBox="1"/>
          <p:nvPr/>
        </p:nvSpPr>
        <p:spPr>
          <a:xfrm>
            <a:off x="9694469" y="5572354"/>
            <a:ext cx="956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명령어 팔레트</a:t>
            </a:r>
            <a:endParaRPr lang="en-US" sz="1100" dirty="0"/>
          </a:p>
        </p:txBody>
      </p:sp>
      <p:sp>
        <p:nvSpPr>
          <p:cNvPr id="89" name="Text 71"/>
          <p:cNvSpPr txBox="1"/>
          <p:nvPr/>
        </p:nvSpPr>
        <p:spPr>
          <a:xfrm>
            <a:off x="9694469" y="5817413"/>
            <a:ext cx="18004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Cmd/Ctrl + P옵시디언의 모든 기능을 키보드로 검색하고 실행하는 만능 도구입니다.</a:t>
            </a:r>
            <a:endParaRPr lang="en-US" sz="900" dirty="0"/>
          </a:p>
        </p:txBody>
      </p:sp>
      <p:sp>
        <p:nvSpPr>
          <p:cNvPr id="90" name="Shape 72"/>
          <p:cNvSpPr/>
          <p:nvPr/>
        </p:nvSpPr>
        <p:spPr>
          <a:xfrm>
            <a:off x="4381805" y="2124151"/>
            <a:ext cx="3810305" cy="1104595"/>
          </a:xfrm>
          <a:prstGeom prst="roundRect">
            <a:avLst>
              <a:gd name="adj" fmla="val 5709"/>
            </a:avLst>
          </a:prstGeom>
          <a:solidFill>
            <a:srgbClr val="2F2F36"/>
          </a:solidFill>
          <a:ln w="12700">
            <a:solidFill>
              <a:srgbClr val="444444"/>
            </a:solidFill>
            <a:prstDash val="solid"/>
          </a:ln>
          <a:effectLst>
            <a:outerShdw blurRad="292100" dist="101600" dir="5400000" algn="bl" rotWithShape="0">
              <a:srgbClr val="000000">
                <a:alpha val="60000"/>
              </a:srgbClr>
            </a:outerShdw>
          </a:effectLst>
        </p:spPr>
      </p:sp>
      <p:sp>
        <p:nvSpPr>
          <p:cNvPr id="91" name="Shape 73"/>
          <p:cNvSpPr/>
          <p:nvPr/>
        </p:nvSpPr>
        <p:spPr>
          <a:xfrm>
            <a:off x="4486046" y="2229307"/>
            <a:ext cx="3600907" cy="286207"/>
          </a:xfrm>
          <a:prstGeom prst="roundRect">
            <a:avLst>
              <a:gd name="adj" fmla="val 42599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74"/>
          <p:cNvSpPr txBox="1"/>
          <p:nvPr/>
        </p:nvSpPr>
        <p:spPr>
          <a:xfrm>
            <a:off x="4731106" y="2286000"/>
            <a:ext cx="638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 변경...</a:t>
            </a:r>
            <a:endParaRPr lang="en-US" sz="900" dirty="0"/>
          </a:p>
        </p:txBody>
      </p:sp>
      <p:sp>
        <p:nvSpPr>
          <p:cNvPr id="93" name="Shape 75"/>
          <p:cNvSpPr/>
          <p:nvPr/>
        </p:nvSpPr>
        <p:spPr>
          <a:xfrm>
            <a:off x="4486046" y="2590495"/>
            <a:ext cx="3600907" cy="228600"/>
          </a:xfrm>
          <a:prstGeom prst="roundRect">
            <a:avLst>
              <a:gd name="adj" fmla="val 66667"/>
            </a:avLst>
          </a:prstGeom>
          <a:solidFill>
            <a:srgbClr val="483699"/>
          </a:solidFill>
          <a:ln/>
        </p:spPr>
      </p:sp>
      <p:sp>
        <p:nvSpPr>
          <p:cNvPr id="94" name="Text 76"/>
          <p:cNvSpPr txBox="1"/>
          <p:nvPr/>
        </p:nvSpPr>
        <p:spPr>
          <a:xfrm>
            <a:off x="4591202" y="2286000"/>
            <a:ext cx="152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</a:t>
            </a:r>
            <a:endParaRPr lang="en-US" sz="900" dirty="0"/>
          </a:p>
        </p:txBody>
      </p:sp>
      <p:sp>
        <p:nvSpPr>
          <p:cNvPr id="95" name="Text 77"/>
          <p:cNvSpPr txBox="1"/>
          <p:nvPr/>
        </p:nvSpPr>
        <p:spPr>
          <a:xfrm>
            <a:off x="4581144" y="2619756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테마: 어두운 테마 사용</a:t>
            </a:r>
            <a:endParaRPr lang="en-US" sz="900" dirty="0"/>
          </a:p>
        </p:txBody>
      </p:sp>
      <p:sp>
        <p:nvSpPr>
          <p:cNvPr id="96" name="Text 78"/>
          <p:cNvSpPr txBox="1"/>
          <p:nvPr/>
        </p:nvSpPr>
        <p:spPr>
          <a:xfrm>
            <a:off x="4581144" y="2924251"/>
            <a:ext cx="10579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테마: 밝은 테마 사용</a:t>
            </a:r>
            <a:endParaRPr lang="en-US" sz="900" dirty="0"/>
          </a:p>
        </p:txBody>
      </p:sp>
      <p:sp>
        <p:nvSpPr>
          <p:cNvPr id="97" name="Shape 79"/>
          <p:cNvSpPr/>
          <p:nvPr/>
        </p:nvSpPr>
        <p:spPr>
          <a:xfrm>
            <a:off x="638251" y="1857146"/>
            <a:ext cx="267005" cy="267005"/>
          </a:xfrm>
          <a:prstGeom prst="ellipse">
            <a:avLst/>
          </a:prstGeom>
          <a:solidFill>
            <a:srgbClr val="A882FF"/>
          </a:solidFill>
          <a:ln/>
          <a:effectLst>
            <a:outerShdw blurRad="12700" dist="12700" dir="16200000" algn="bl" rotWithShape="0">
              <a:srgbClr val="A882FF">
                <a:alpha val="30000"/>
              </a:srgbClr>
            </a:outerShdw>
          </a:effectLst>
        </p:spPr>
      </p:sp>
      <p:sp>
        <p:nvSpPr>
          <p:cNvPr id="98" name="Text 80"/>
          <p:cNvSpPr txBox="1"/>
          <p:nvPr/>
        </p:nvSpPr>
        <p:spPr>
          <a:xfrm>
            <a:off x="732434" y="1890979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99" name="Shape 81"/>
          <p:cNvSpPr/>
          <p:nvPr/>
        </p:nvSpPr>
        <p:spPr>
          <a:xfrm>
            <a:off x="1533449" y="2238451"/>
            <a:ext cx="267005" cy="267005"/>
          </a:xfrm>
          <a:prstGeom prst="ellipse">
            <a:avLst/>
          </a:prstGeom>
          <a:solidFill>
            <a:srgbClr val="A882FF"/>
          </a:solidFill>
          <a:ln/>
          <a:effectLst>
            <a:outerShdw blurRad="12700" dist="12700" dir="16200000" algn="bl" rotWithShape="0">
              <a:srgbClr val="A882FF">
                <a:alpha val="30000"/>
              </a:srgbClr>
            </a:outerShdw>
          </a:effectLst>
        </p:spPr>
      </p:sp>
      <p:sp>
        <p:nvSpPr>
          <p:cNvPr id="100" name="Text 82"/>
          <p:cNvSpPr txBox="1"/>
          <p:nvPr/>
        </p:nvSpPr>
        <p:spPr>
          <a:xfrm>
            <a:off x="1627632" y="2271370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101" name="Shape 83"/>
          <p:cNvSpPr/>
          <p:nvPr/>
        </p:nvSpPr>
        <p:spPr>
          <a:xfrm>
            <a:off x="6152998" y="2314346"/>
            <a:ext cx="267005" cy="267005"/>
          </a:xfrm>
          <a:prstGeom prst="ellipse">
            <a:avLst/>
          </a:prstGeom>
          <a:solidFill>
            <a:srgbClr val="A882FF"/>
          </a:solidFill>
          <a:ln/>
          <a:effectLst>
            <a:outerShdw blurRad="12700" dist="12700" dir="16200000" algn="bl" rotWithShape="0">
              <a:srgbClr val="A882FF">
                <a:alpha val="30000"/>
              </a:srgbClr>
            </a:outerShdw>
          </a:effectLst>
        </p:spPr>
      </p:sp>
      <p:sp>
        <p:nvSpPr>
          <p:cNvPr id="102" name="Text 84"/>
          <p:cNvSpPr txBox="1"/>
          <p:nvPr/>
        </p:nvSpPr>
        <p:spPr>
          <a:xfrm>
            <a:off x="6247181" y="2348179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103" name="Shape 85"/>
          <p:cNvSpPr/>
          <p:nvPr/>
        </p:nvSpPr>
        <p:spPr>
          <a:xfrm>
            <a:off x="4992624" y="3419856"/>
            <a:ext cx="267005" cy="267005"/>
          </a:xfrm>
          <a:prstGeom prst="ellipse">
            <a:avLst/>
          </a:prstGeom>
          <a:solidFill>
            <a:srgbClr val="A882FF"/>
          </a:solidFill>
          <a:ln/>
          <a:effectLst>
            <a:outerShdw blurRad="12700" dist="12700" dir="16200000" algn="bl" rotWithShape="0">
              <a:srgbClr val="A882FF">
                <a:alpha val="30000"/>
              </a:srgbClr>
            </a:outerShdw>
          </a:effectLst>
        </p:spPr>
      </p:sp>
      <p:sp>
        <p:nvSpPr>
          <p:cNvPr id="104" name="Text 86"/>
          <p:cNvSpPr txBox="1"/>
          <p:nvPr/>
        </p:nvSpPr>
        <p:spPr>
          <a:xfrm>
            <a:off x="5086807" y="3452774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105" name="Shape 87"/>
          <p:cNvSpPr/>
          <p:nvPr/>
        </p:nvSpPr>
        <p:spPr>
          <a:xfrm>
            <a:off x="10582351" y="1952244"/>
            <a:ext cx="267005" cy="267005"/>
          </a:xfrm>
          <a:prstGeom prst="ellipse">
            <a:avLst/>
          </a:prstGeom>
          <a:solidFill>
            <a:srgbClr val="A882FF"/>
          </a:solidFill>
          <a:ln/>
          <a:effectLst>
            <a:outerShdw blurRad="12700" dist="12700" dir="16200000" algn="bl" rotWithShape="0">
              <a:srgbClr val="A882FF">
                <a:alpha val="30000"/>
              </a:srgbClr>
            </a:outerShdw>
          </a:effectLst>
        </p:spPr>
      </p:sp>
      <p:sp>
        <p:nvSpPr>
          <p:cNvPr id="106" name="Text 88"/>
          <p:cNvSpPr txBox="1"/>
          <p:nvPr/>
        </p:nvSpPr>
        <p:spPr>
          <a:xfrm>
            <a:off x="10676534" y="1986077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107" name="Shape 89"/>
          <p:cNvSpPr/>
          <p:nvPr/>
        </p:nvSpPr>
        <p:spPr>
          <a:xfrm>
            <a:off x="5829300" y="4629607"/>
            <a:ext cx="267005" cy="267005"/>
          </a:xfrm>
          <a:prstGeom prst="ellipse">
            <a:avLst/>
          </a:prstGeom>
          <a:solidFill>
            <a:srgbClr val="A882FF"/>
          </a:solidFill>
          <a:ln/>
          <a:effectLst>
            <a:outerShdw blurRad="12700" dist="12700" dir="16200000" algn="bl" rotWithShape="0">
              <a:srgbClr val="A882FF">
                <a:alpha val="30000"/>
              </a:srgbClr>
            </a:outerShdw>
          </a:effectLst>
        </p:spPr>
      </p:sp>
      <p:sp>
        <p:nvSpPr>
          <p:cNvPr id="108" name="Text 90"/>
          <p:cNvSpPr txBox="1"/>
          <p:nvPr/>
        </p:nvSpPr>
        <p:spPr>
          <a:xfrm>
            <a:off x="5923483" y="4662526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1889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0644" y="1228954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80644" y="158191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694944" y="1335024"/>
            <a:ext cx="114300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6851" y="1304849"/>
            <a:ext cx="10689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(Headings)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80644" y="1584655"/>
            <a:ext cx="2076602" cy="1057046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11" name="Shape 7"/>
          <p:cNvSpPr/>
          <p:nvPr/>
        </p:nvSpPr>
        <p:spPr>
          <a:xfrm>
            <a:off x="580644" y="2632558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80644" y="2634386"/>
            <a:ext cx="2076602" cy="113385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Shape 9"/>
          <p:cNvSpPr/>
          <p:nvPr/>
        </p:nvSpPr>
        <p:spPr>
          <a:xfrm>
            <a:off x="694944" y="3110789"/>
            <a:ext cx="1848002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4" name="Shape 10"/>
          <p:cNvSpPr/>
          <p:nvPr/>
        </p:nvSpPr>
        <p:spPr>
          <a:xfrm>
            <a:off x="694944" y="3411626"/>
            <a:ext cx="1848002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5" name="Shape 11"/>
          <p:cNvSpPr/>
          <p:nvPr/>
        </p:nvSpPr>
        <p:spPr>
          <a:xfrm>
            <a:off x="2811780" y="121889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20924" y="1228954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2820924" y="158191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2644" b="-2644"/>
          <a:stretch/>
        </p:blipFill>
        <p:spPr>
          <a:xfrm>
            <a:off x="2935224" y="1335024"/>
            <a:ext cx="95098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087929" y="1304849"/>
            <a:ext cx="108813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강조 (Emphasis)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820924" y="158465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21" name="Shape 16"/>
          <p:cNvSpPr/>
          <p:nvPr/>
        </p:nvSpPr>
        <p:spPr>
          <a:xfrm>
            <a:off x="2820924" y="267096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2820924" y="2678278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Shape 18"/>
          <p:cNvSpPr/>
          <p:nvPr/>
        </p:nvSpPr>
        <p:spPr>
          <a:xfrm>
            <a:off x="5052060" y="121889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61204" y="1228954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5061204" y="158191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75504" y="1335024"/>
            <a:ext cx="133502" cy="13350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366614" y="1304849"/>
            <a:ext cx="887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리스트 (Lists)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061204" y="158465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29" name="Shape 23"/>
          <p:cNvSpPr/>
          <p:nvPr/>
        </p:nvSpPr>
        <p:spPr>
          <a:xfrm>
            <a:off x="5061204" y="267096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5061204" y="2678278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Shape 25"/>
          <p:cNvSpPr/>
          <p:nvPr/>
        </p:nvSpPr>
        <p:spPr>
          <a:xfrm>
            <a:off x="7292340" y="121889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301484" y="1228954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33" name="Shape 27"/>
          <p:cNvSpPr/>
          <p:nvPr/>
        </p:nvSpPr>
        <p:spPr>
          <a:xfrm>
            <a:off x="7301484" y="158191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7415784" y="1335024"/>
            <a:ext cx="114300" cy="13350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587691" y="1304849"/>
            <a:ext cx="8695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 (Tasks)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301484" y="158465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37" name="Shape 30"/>
          <p:cNvSpPr/>
          <p:nvPr/>
        </p:nvSpPr>
        <p:spPr>
          <a:xfrm>
            <a:off x="7301484" y="267096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8" name="Shape 31"/>
          <p:cNvSpPr/>
          <p:nvPr/>
        </p:nvSpPr>
        <p:spPr>
          <a:xfrm>
            <a:off x="7301484" y="2678278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7415784" y="2988259"/>
            <a:ext cx="3739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7415784" y="3220517"/>
            <a:ext cx="4599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완료됨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9532620" y="121889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9541764" y="1228954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43" name="Shape 36"/>
          <p:cNvSpPr/>
          <p:nvPr/>
        </p:nvSpPr>
        <p:spPr>
          <a:xfrm>
            <a:off x="9541764" y="158191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rcRect t="-1554" b="-1554"/>
          <a:stretch/>
        </p:blipFill>
        <p:spPr>
          <a:xfrm>
            <a:off x="9656064" y="1335024"/>
            <a:ext cx="161849" cy="133502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9875520" y="1304849"/>
            <a:ext cx="58338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코드블록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9541764" y="158465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47" name="Shape 39"/>
          <p:cNvSpPr/>
          <p:nvPr/>
        </p:nvSpPr>
        <p:spPr>
          <a:xfrm>
            <a:off x="9541764" y="267096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8" name="Shape 40"/>
          <p:cNvSpPr/>
          <p:nvPr/>
        </p:nvSpPr>
        <p:spPr>
          <a:xfrm>
            <a:off x="9541764" y="2678278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9" name="Shape 41"/>
          <p:cNvSpPr/>
          <p:nvPr/>
        </p:nvSpPr>
        <p:spPr>
          <a:xfrm>
            <a:off x="9656064" y="3067812"/>
            <a:ext cx="1848002" cy="304495"/>
          </a:xfrm>
          <a:prstGeom prst="roundRect">
            <a:avLst>
              <a:gd name="adj" fmla="val 37538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571500" y="392460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580644" y="3933749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52" name="Shape 44"/>
          <p:cNvSpPr/>
          <p:nvPr/>
        </p:nvSpPr>
        <p:spPr>
          <a:xfrm>
            <a:off x="580644" y="4286707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694944" y="4040734"/>
            <a:ext cx="114300" cy="133502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866851" y="4009644"/>
            <a:ext cx="85953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(Quote)</a:t>
            </a:r>
            <a:endParaRPr lang="en-US" sz="1000" dirty="0"/>
          </a:p>
        </p:txBody>
      </p:sp>
      <p:sp>
        <p:nvSpPr>
          <p:cNvPr id="55" name="Shape 46"/>
          <p:cNvSpPr/>
          <p:nvPr/>
        </p:nvSpPr>
        <p:spPr>
          <a:xfrm>
            <a:off x="580644" y="429036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56" name="Shape 47"/>
          <p:cNvSpPr/>
          <p:nvPr/>
        </p:nvSpPr>
        <p:spPr>
          <a:xfrm>
            <a:off x="580644" y="537667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7" name="Shape 48"/>
          <p:cNvSpPr/>
          <p:nvPr/>
        </p:nvSpPr>
        <p:spPr>
          <a:xfrm>
            <a:off x="580644" y="5383987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8" name="Shape 49"/>
          <p:cNvSpPr/>
          <p:nvPr/>
        </p:nvSpPr>
        <p:spPr>
          <a:xfrm>
            <a:off x="694944" y="5731459"/>
            <a:ext cx="28346" cy="390449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9" name="Shape 50"/>
          <p:cNvSpPr/>
          <p:nvPr/>
        </p:nvSpPr>
        <p:spPr>
          <a:xfrm>
            <a:off x="2811780" y="392460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2820924" y="3933749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61" name="Shape 52"/>
          <p:cNvSpPr/>
          <p:nvPr/>
        </p:nvSpPr>
        <p:spPr>
          <a:xfrm>
            <a:off x="2820924" y="4286707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62" name="Image 7" descr="preencoded.png"/>
          <p:cNvPicPr>
            <a:picLocks noChangeAspect="1"/>
          </p:cNvPicPr>
          <p:nvPr/>
        </p:nvPicPr>
        <p:blipFill>
          <a:blip r:embed="rId10"/>
          <a:srcRect t="-1554" b="-1554"/>
          <a:stretch/>
        </p:blipFill>
        <p:spPr>
          <a:xfrm>
            <a:off x="2935224" y="4040734"/>
            <a:ext cx="161849" cy="133502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3154680" y="4009644"/>
            <a:ext cx="8695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 &amp; 이미지</a:t>
            </a:r>
            <a:endParaRPr lang="en-US" sz="1000" dirty="0"/>
          </a:p>
        </p:txBody>
      </p:sp>
      <p:sp>
        <p:nvSpPr>
          <p:cNvPr id="64" name="Shape 54"/>
          <p:cNvSpPr/>
          <p:nvPr/>
        </p:nvSpPr>
        <p:spPr>
          <a:xfrm>
            <a:off x="2820924" y="429036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65" name="Shape 55"/>
          <p:cNvSpPr/>
          <p:nvPr/>
        </p:nvSpPr>
        <p:spPr>
          <a:xfrm>
            <a:off x="2820924" y="537667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6" name="Shape 56"/>
          <p:cNvSpPr/>
          <p:nvPr/>
        </p:nvSpPr>
        <p:spPr>
          <a:xfrm>
            <a:off x="2820924" y="5383987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7" name="Shape 57"/>
          <p:cNvSpPr/>
          <p:nvPr/>
        </p:nvSpPr>
        <p:spPr>
          <a:xfrm>
            <a:off x="5052060" y="392460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8" name="Shape 58"/>
          <p:cNvSpPr/>
          <p:nvPr/>
        </p:nvSpPr>
        <p:spPr>
          <a:xfrm>
            <a:off x="5061204" y="3933749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69" name="Shape 59"/>
          <p:cNvSpPr/>
          <p:nvPr/>
        </p:nvSpPr>
        <p:spPr>
          <a:xfrm>
            <a:off x="5061204" y="4286707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175504" y="4040734"/>
            <a:ext cx="133502" cy="133502"/>
          </a:xfrm>
          <a:prstGeom prst="rect">
            <a:avLst/>
          </a:prstGeom>
        </p:spPr>
      </p:pic>
      <p:sp>
        <p:nvSpPr>
          <p:cNvPr id="71" name="Text 60"/>
          <p:cNvSpPr txBox="1"/>
          <p:nvPr/>
        </p:nvSpPr>
        <p:spPr>
          <a:xfrm>
            <a:off x="5366614" y="4009644"/>
            <a:ext cx="69768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 (Table)</a:t>
            </a:r>
            <a:endParaRPr lang="en-US" sz="1000" dirty="0"/>
          </a:p>
        </p:txBody>
      </p:sp>
      <p:sp>
        <p:nvSpPr>
          <p:cNvPr id="72" name="Shape 61"/>
          <p:cNvSpPr/>
          <p:nvPr/>
        </p:nvSpPr>
        <p:spPr>
          <a:xfrm>
            <a:off x="5061204" y="429036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73" name="Shape 62"/>
          <p:cNvSpPr/>
          <p:nvPr/>
        </p:nvSpPr>
        <p:spPr>
          <a:xfrm>
            <a:off x="5061204" y="537667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4" name="Shape 63"/>
          <p:cNvSpPr/>
          <p:nvPr/>
        </p:nvSpPr>
        <p:spPr>
          <a:xfrm>
            <a:off x="5061204" y="5383987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5" name="Shape 64"/>
          <p:cNvSpPr/>
          <p:nvPr/>
        </p:nvSpPr>
        <p:spPr>
          <a:xfrm>
            <a:off x="5180990" y="5668366"/>
            <a:ext cx="1114654" cy="256946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6" name="Shape 65"/>
          <p:cNvSpPr/>
          <p:nvPr/>
        </p:nvSpPr>
        <p:spPr>
          <a:xfrm>
            <a:off x="6293815" y="5668366"/>
            <a:ext cx="724205" cy="256946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5180990" y="5925312"/>
            <a:ext cx="1114654" cy="256946"/>
          </a:xfrm>
          <a:prstGeom prst="rect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78" name="Shape 67"/>
          <p:cNvSpPr/>
          <p:nvPr/>
        </p:nvSpPr>
        <p:spPr>
          <a:xfrm>
            <a:off x="6293815" y="5925312"/>
            <a:ext cx="724205" cy="256946"/>
          </a:xfrm>
          <a:prstGeom prst="rect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79" name="Shape 68"/>
          <p:cNvSpPr/>
          <p:nvPr/>
        </p:nvSpPr>
        <p:spPr>
          <a:xfrm>
            <a:off x="7292340" y="392460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0" name="Shape 69"/>
          <p:cNvSpPr/>
          <p:nvPr/>
        </p:nvSpPr>
        <p:spPr>
          <a:xfrm>
            <a:off x="7301484" y="3933749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81" name="Shape 70"/>
          <p:cNvSpPr/>
          <p:nvPr/>
        </p:nvSpPr>
        <p:spPr>
          <a:xfrm>
            <a:off x="7301484" y="4286707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415784" y="4040734"/>
            <a:ext cx="133502" cy="133502"/>
          </a:xfrm>
          <a:prstGeom prst="rect">
            <a:avLst/>
          </a:prstGeom>
        </p:spPr>
      </p:pic>
      <p:sp>
        <p:nvSpPr>
          <p:cNvPr id="83" name="Text 71"/>
          <p:cNvSpPr txBox="1"/>
          <p:nvPr/>
        </p:nvSpPr>
        <p:spPr>
          <a:xfrm>
            <a:off x="7606894" y="4009644"/>
            <a:ext cx="1059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콜아웃 (Callout)</a:t>
            </a:r>
            <a:endParaRPr lang="en-US" sz="1000" dirty="0"/>
          </a:p>
        </p:txBody>
      </p:sp>
      <p:sp>
        <p:nvSpPr>
          <p:cNvPr id="84" name="Shape 72"/>
          <p:cNvSpPr/>
          <p:nvPr/>
        </p:nvSpPr>
        <p:spPr>
          <a:xfrm>
            <a:off x="7301484" y="429036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85" name="Shape 73"/>
          <p:cNvSpPr/>
          <p:nvPr/>
        </p:nvSpPr>
        <p:spPr>
          <a:xfrm>
            <a:off x="7301484" y="537667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6" name="Shape 74"/>
          <p:cNvSpPr/>
          <p:nvPr/>
        </p:nvSpPr>
        <p:spPr>
          <a:xfrm>
            <a:off x="7301484" y="5383987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7" name="Shape 75"/>
          <p:cNvSpPr/>
          <p:nvPr/>
        </p:nvSpPr>
        <p:spPr>
          <a:xfrm>
            <a:off x="7415784" y="5652821"/>
            <a:ext cx="1848002" cy="552298"/>
          </a:xfrm>
          <a:prstGeom prst="roundRect">
            <a:avLst>
              <a:gd name="adj" fmla="val 11418"/>
            </a:avLst>
          </a:prstGeom>
          <a:solidFill>
            <a:srgbClr val="A882FF">
              <a:alpha val="10000"/>
            </a:srgbClr>
          </a:solidFill>
          <a:ln/>
        </p:spPr>
      </p:sp>
      <p:sp>
        <p:nvSpPr>
          <p:cNvPr id="88" name="Shape 76"/>
          <p:cNvSpPr/>
          <p:nvPr/>
        </p:nvSpPr>
        <p:spPr>
          <a:xfrm>
            <a:off x="7415784" y="5652821"/>
            <a:ext cx="38405" cy="552298"/>
          </a:xfrm>
          <a:prstGeom prst="rect">
            <a:avLst/>
          </a:prstGeom>
          <a:solidFill>
            <a:srgbClr val="A882FF"/>
          </a:solidFill>
          <a:ln/>
        </p:spPr>
      </p:sp>
      <p:pic>
        <p:nvPicPr>
          <p:cNvPr id="89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530084" y="5758891"/>
            <a:ext cx="123444" cy="123444"/>
          </a:xfrm>
          <a:prstGeom prst="rect">
            <a:avLst/>
          </a:prstGeom>
        </p:spPr>
      </p:pic>
      <p:sp>
        <p:nvSpPr>
          <p:cNvPr id="90" name="Text 77"/>
          <p:cNvSpPr txBox="1"/>
          <p:nvPr/>
        </p:nvSpPr>
        <p:spPr>
          <a:xfrm>
            <a:off x="7711135" y="5729630"/>
            <a:ext cx="3776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</a:t>
            </a:r>
            <a:endParaRPr lang="en-US" sz="900" dirty="0"/>
          </a:p>
        </p:txBody>
      </p:sp>
      <p:sp>
        <p:nvSpPr>
          <p:cNvPr id="91" name="Shape 78"/>
          <p:cNvSpPr/>
          <p:nvPr/>
        </p:nvSpPr>
        <p:spPr>
          <a:xfrm>
            <a:off x="9532620" y="392460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2" name="Shape 79"/>
          <p:cNvSpPr/>
          <p:nvPr/>
        </p:nvSpPr>
        <p:spPr>
          <a:xfrm>
            <a:off x="9541764" y="3933749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93" name="Shape 80"/>
          <p:cNvSpPr/>
          <p:nvPr/>
        </p:nvSpPr>
        <p:spPr>
          <a:xfrm>
            <a:off x="9541764" y="4286707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94" name="Image 11" descr="preencoded.png"/>
          <p:cNvPicPr>
            <a:picLocks noChangeAspect="1"/>
          </p:cNvPicPr>
          <p:nvPr/>
        </p:nvPicPr>
        <p:blipFill>
          <a:blip r:embed="rId14"/>
          <a:srcRect t="-2644" b="-2644"/>
          <a:stretch/>
        </p:blipFill>
        <p:spPr>
          <a:xfrm>
            <a:off x="9656064" y="4040734"/>
            <a:ext cx="142646" cy="133502"/>
          </a:xfrm>
          <a:prstGeom prst="rect">
            <a:avLst/>
          </a:prstGeom>
        </p:spPr>
      </p:pic>
      <p:sp>
        <p:nvSpPr>
          <p:cNvPr id="95" name="Text 81"/>
          <p:cNvSpPr txBox="1"/>
          <p:nvPr/>
        </p:nvSpPr>
        <p:spPr>
          <a:xfrm>
            <a:off x="9856318" y="4009644"/>
            <a:ext cx="69768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다이어그램</a:t>
            </a:r>
            <a:endParaRPr lang="en-US" sz="1000" dirty="0"/>
          </a:p>
        </p:txBody>
      </p:sp>
      <p:sp>
        <p:nvSpPr>
          <p:cNvPr id="96" name="Shape 82"/>
          <p:cNvSpPr/>
          <p:nvPr/>
        </p:nvSpPr>
        <p:spPr>
          <a:xfrm>
            <a:off x="9541764" y="429036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97" name="Shape 83"/>
          <p:cNvSpPr/>
          <p:nvPr/>
        </p:nvSpPr>
        <p:spPr>
          <a:xfrm>
            <a:off x="9541764" y="537667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8" name="Shape 84"/>
          <p:cNvSpPr/>
          <p:nvPr/>
        </p:nvSpPr>
        <p:spPr>
          <a:xfrm>
            <a:off x="9541764" y="5383987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9" name="Shape 85"/>
          <p:cNvSpPr/>
          <p:nvPr/>
        </p:nvSpPr>
        <p:spPr>
          <a:xfrm>
            <a:off x="10190074" y="5798210"/>
            <a:ext cx="237744" cy="256946"/>
          </a:xfrm>
          <a:prstGeom prst="roundRect">
            <a:avLst>
              <a:gd name="adj" fmla="val 61538"/>
            </a:avLst>
          </a:prstGeom>
          <a:solidFill>
            <a:srgbClr val="222222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0" name="Shape 86"/>
          <p:cNvSpPr/>
          <p:nvPr/>
        </p:nvSpPr>
        <p:spPr>
          <a:xfrm>
            <a:off x="10721340" y="5798210"/>
            <a:ext cx="247802" cy="256946"/>
          </a:xfrm>
          <a:prstGeom prst="roundRect">
            <a:avLst>
              <a:gd name="adj" fmla="val 56770"/>
            </a:avLst>
          </a:prstGeom>
          <a:solidFill>
            <a:srgbClr val="222222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1" name="Text 87"/>
          <p:cNvSpPr txBox="1"/>
          <p:nvPr/>
        </p:nvSpPr>
        <p:spPr>
          <a:xfrm>
            <a:off x="819302" y="381305"/>
            <a:ext cx="1929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 CHEAT SHEET</a:t>
            </a:r>
            <a:endParaRPr lang="en-US" sz="1000" dirty="0"/>
          </a:p>
        </p:txBody>
      </p:sp>
      <p:sp>
        <p:nvSpPr>
          <p:cNvPr id="102" name="Text 88"/>
          <p:cNvSpPr txBox="1"/>
          <p:nvPr/>
        </p:nvSpPr>
        <p:spPr>
          <a:xfrm>
            <a:off x="819302" y="552298"/>
            <a:ext cx="40197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 문법 필수 가이드</a:t>
            </a:r>
            <a:endParaRPr lang="en-US" sz="2700" dirty="0"/>
          </a:p>
        </p:txBody>
      </p:sp>
      <p:sp>
        <p:nvSpPr>
          <p:cNvPr id="103" name="Text 89"/>
          <p:cNvSpPr txBox="1"/>
          <p:nvPr/>
        </p:nvSpPr>
        <p:spPr>
          <a:xfrm>
            <a:off x="694944" y="1858975"/>
            <a:ext cx="5870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제목 1</a:t>
            </a:r>
            <a:endParaRPr lang="en-US" sz="900" dirty="0"/>
          </a:p>
        </p:txBody>
      </p:sp>
      <p:sp>
        <p:nvSpPr>
          <p:cNvPr id="104" name="Text 90"/>
          <p:cNvSpPr txBox="1"/>
          <p:nvPr/>
        </p:nvSpPr>
        <p:spPr>
          <a:xfrm>
            <a:off x="694944" y="2041855"/>
            <a:ext cx="64465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## 제목 2</a:t>
            </a:r>
            <a:endParaRPr lang="en-US" sz="900" dirty="0"/>
          </a:p>
        </p:txBody>
      </p:sp>
      <p:sp>
        <p:nvSpPr>
          <p:cNvPr id="105" name="Text 91"/>
          <p:cNvSpPr txBox="1"/>
          <p:nvPr/>
        </p:nvSpPr>
        <p:spPr>
          <a:xfrm>
            <a:off x="694944" y="2224735"/>
            <a:ext cx="7013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### 제목 3</a:t>
            </a:r>
            <a:endParaRPr lang="en-US" sz="900" dirty="0"/>
          </a:p>
        </p:txBody>
      </p:sp>
      <p:sp>
        <p:nvSpPr>
          <p:cNvPr id="106" name="Text 92"/>
          <p:cNvSpPr txBox="1"/>
          <p:nvPr/>
        </p:nvSpPr>
        <p:spPr>
          <a:xfrm>
            <a:off x="694944" y="2748686"/>
            <a:ext cx="7507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1</a:t>
            </a:r>
            <a:endParaRPr lang="en-US" sz="1600" dirty="0"/>
          </a:p>
        </p:txBody>
      </p:sp>
      <p:sp>
        <p:nvSpPr>
          <p:cNvPr id="107" name="Text 93"/>
          <p:cNvSpPr txBox="1"/>
          <p:nvPr/>
        </p:nvSpPr>
        <p:spPr>
          <a:xfrm>
            <a:off x="694944" y="3116275"/>
            <a:ext cx="6327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2</a:t>
            </a:r>
            <a:endParaRPr lang="en-US" sz="1400" dirty="0"/>
          </a:p>
        </p:txBody>
      </p:sp>
      <p:sp>
        <p:nvSpPr>
          <p:cNvPr id="108" name="Text 94"/>
          <p:cNvSpPr txBox="1"/>
          <p:nvPr/>
        </p:nvSpPr>
        <p:spPr>
          <a:xfrm>
            <a:off x="694944" y="3419856"/>
            <a:ext cx="534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3</a:t>
            </a:r>
            <a:endParaRPr lang="en-US" sz="1200" dirty="0"/>
          </a:p>
        </p:txBody>
      </p:sp>
      <p:sp>
        <p:nvSpPr>
          <p:cNvPr id="109" name="Text 95"/>
          <p:cNvSpPr txBox="1"/>
          <p:nvPr/>
        </p:nvSpPr>
        <p:spPr>
          <a:xfrm>
            <a:off x="2935224" y="1880921"/>
            <a:ext cx="5870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**굵게**</a:t>
            </a:r>
            <a:endParaRPr lang="en-US" sz="900" dirty="0"/>
          </a:p>
        </p:txBody>
      </p:sp>
      <p:sp>
        <p:nvSpPr>
          <p:cNvPr id="110" name="Text 96"/>
          <p:cNvSpPr txBox="1"/>
          <p:nvPr/>
        </p:nvSpPr>
        <p:spPr>
          <a:xfrm>
            <a:off x="2935224" y="2063801"/>
            <a:ext cx="5870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*기울임*</a:t>
            </a:r>
            <a:endParaRPr lang="en-US" sz="900" dirty="0"/>
          </a:p>
        </p:txBody>
      </p:sp>
      <p:sp>
        <p:nvSpPr>
          <p:cNvPr id="111" name="Text 97"/>
          <p:cNvSpPr txBox="1"/>
          <p:nvPr/>
        </p:nvSpPr>
        <p:spPr>
          <a:xfrm>
            <a:off x="2935224" y="2246681"/>
            <a:ext cx="94914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==하이라이트==</a:t>
            </a:r>
            <a:endParaRPr lang="en-US" sz="900" dirty="0"/>
          </a:p>
        </p:txBody>
      </p:sp>
      <p:sp>
        <p:nvSpPr>
          <p:cNvPr id="112" name="Text 98"/>
          <p:cNvSpPr txBox="1"/>
          <p:nvPr/>
        </p:nvSpPr>
        <p:spPr>
          <a:xfrm>
            <a:off x="2935224" y="2928823"/>
            <a:ext cx="345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굵게</a:t>
            </a:r>
            <a:endParaRPr lang="en-US" sz="1000" dirty="0"/>
          </a:p>
        </p:txBody>
      </p:sp>
      <p:sp>
        <p:nvSpPr>
          <p:cNvPr id="113" name="Text 99"/>
          <p:cNvSpPr txBox="1"/>
          <p:nvPr/>
        </p:nvSpPr>
        <p:spPr>
          <a:xfrm>
            <a:off x="2935224" y="3123590"/>
            <a:ext cx="4599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기울임</a:t>
            </a:r>
            <a:endParaRPr lang="en-US" sz="1000" dirty="0"/>
          </a:p>
        </p:txBody>
      </p:sp>
      <p:sp>
        <p:nvSpPr>
          <p:cNvPr id="114" name="Text 100"/>
          <p:cNvSpPr txBox="1"/>
          <p:nvPr/>
        </p:nvSpPr>
        <p:spPr>
          <a:xfrm>
            <a:off x="2935224" y="3317443"/>
            <a:ext cx="6976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</a:t>
            </a:r>
            <a:endParaRPr lang="en-US" sz="1000" dirty="0"/>
          </a:p>
        </p:txBody>
      </p:sp>
      <p:sp>
        <p:nvSpPr>
          <p:cNvPr id="115" name="Text 101"/>
          <p:cNvSpPr txBox="1"/>
          <p:nvPr/>
        </p:nvSpPr>
        <p:spPr>
          <a:xfrm>
            <a:off x="5175504" y="1880921"/>
            <a:ext cx="5870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항목 1</a:t>
            </a:r>
            <a:endParaRPr lang="en-US" sz="900" dirty="0"/>
          </a:p>
        </p:txBody>
      </p:sp>
      <p:sp>
        <p:nvSpPr>
          <p:cNvPr id="116" name="Text 102"/>
          <p:cNvSpPr txBox="1"/>
          <p:nvPr/>
        </p:nvSpPr>
        <p:spPr>
          <a:xfrm>
            <a:off x="5175504" y="2063801"/>
            <a:ext cx="5870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항목 2</a:t>
            </a:r>
            <a:endParaRPr lang="en-US" sz="900" dirty="0"/>
          </a:p>
        </p:txBody>
      </p:sp>
      <p:sp>
        <p:nvSpPr>
          <p:cNvPr id="117" name="Text 103"/>
          <p:cNvSpPr txBox="1"/>
          <p:nvPr/>
        </p:nvSpPr>
        <p:spPr>
          <a:xfrm>
            <a:off x="5175504" y="2246681"/>
            <a:ext cx="64465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1. 순서 1</a:t>
            </a:r>
            <a:endParaRPr lang="en-US" sz="900" dirty="0"/>
          </a:p>
        </p:txBody>
      </p:sp>
      <p:sp>
        <p:nvSpPr>
          <p:cNvPr id="118" name="Text 104"/>
          <p:cNvSpPr txBox="1"/>
          <p:nvPr/>
        </p:nvSpPr>
        <p:spPr>
          <a:xfrm>
            <a:off x="5366614" y="2900477"/>
            <a:ext cx="4498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 1</a:t>
            </a:r>
            <a:endParaRPr lang="en-US" sz="1000" dirty="0"/>
          </a:p>
        </p:txBody>
      </p:sp>
      <p:sp>
        <p:nvSpPr>
          <p:cNvPr id="119" name="Text 105"/>
          <p:cNvSpPr txBox="1"/>
          <p:nvPr/>
        </p:nvSpPr>
        <p:spPr>
          <a:xfrm>
            <a:off x="5366614" y="3113532"/>
            <a:ext cx="4498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 2</a:t>
            </a:r>
            <a:endParaRPr lang="en-US" sz="1000" dirty="0"/>
          </a:p>
        </p:txBody>
      </p:sp>
      <p:sp>
        <p:nvSpPr>
          <p:cNvPr id="120" name="Text 106"/>
          <p:cNvSpPr txBox="1"/>
          <p:nvPr/>
        </p:nvSpPr>
        <p:spPr>
          <a:xfrm>
            <a:off x="5366614" y="3327502"/>
            <a:ext cx="4498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1</a:t>
            </a:r>
            <a:endParaRPr lang="en-US" sz="1000" dirty="0"/>
          </a:p>
        </p:txBody>
      </p:sp>
      <p:sp>
        <p:nvSpPr>
          <p:cNvPr id="121" name="Text 107"/>
          <p:cNvSpPr txBox="1"/>
          <p:nvPr/>
        </p:nvSpPr>
        <p:spPr>
          <a:xfrm>
            <a:off x="7415784" y="1972361"/>
            <a:ext cx="76809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[ ] 할 일</a:t>
            </a:r>
            <a:endParaRPr lang="en-US" sz="900" dirty="0"/>
          </a:p>
        </p:txBody>
      </p:sp>
      <p:sp>
        <p:nvSpPr>
          <p:cNvPr id="122" name="Text 108"/>
          <p:cNvSpPr txBox="1"/>
          <p:nvPr/>
        </p:nvSpPr>
        <p:spPr>
          <a:xfrm>
            <a:off x="7415784" y="2155241"/>
            <a:ext cx="82570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[x] 완료됨</a:t>
            </a:r>
            <a:endParaRPr lang="en-US" sz="900" dirty="0"/>
          </a:p>
        </p:txBody>
      </p:sp>
      <p:sp>
        <p:nvSpPr>
          <p:cNvPr id="123" name="Text 109"/>
          <p:cNvSpPr txBox="1"/>
          <p:nvPr/>
        </p:nvSpPr>
        <p:spPr>
          <a:xfrm>
            <a:off x="9656064" y="1880921"/>
            <a:ext cx="39685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```js</a:t>
            </a:r>
            <a:endParaRPr lang="en-US" sz="900" dirty="0"/>
          </a:p>
        </p:txBody>
      </p:sp>
      <p:sp>
        <p:nvSpPr>
          <p:cNvPr id="124" name="Text 110"/>
          <p:cNvSpPr txBox="1"/>
          <p:nvPr/>
        </p:nvSpPr>
        <p:spPr>
          <a:xfrm>
            <a:off x="9656064" y="2063801"/>
            <a:ext cx="119695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console.log("Hi");</a:t>
            </a:r>
            <a:endParaRPr lang="en-US" sz="900" dirty="0"/>
          </a:p>
        </p:txBody>
      </p:sp>
      <p:sp>
        <p:nvSpPr>
          <p:cNvPr id="125" name="Text 111"/>
          <p:cNvSpPr txBox="1"/>
          <p:nvPr/>
        </p:nvSpPr>
        <p:spPr>
          <a:xfrm>
            <a:off x="9656064" y="2246681"/>
            <a:ext cx="28255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```</a:t>
            </a:r>
            <a:endParaRPr lang="en-US" sz="900" dirty="0"/>
          </a:p>
        </p:txBody>
      </p:sp>
      <p:sp>
        <p:nvSpPr>
          <p:cNvPr id="126" name="Text 112"/>
          <p:cNvSpPr txBox="1"/>
          <p:nvPr/>
        </p:nvSpPr>
        <p:spPr>
          <a:xfrm>
            <a:off x="9722815" y="3162910"/>
            <a:ext cx="4956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DC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console</a:t>
            </a:r>
            <a:endParaRPr lang="en-US" sz="900" dirty="0"/>
          </a:p>
        </p:txBody>
      </p:sp>
      <p:sp>
        <p:nvSpPr>
          <p:cNvPr id="127" name="Text 113"/>
          <p:cNvSpPr txBox="1"/>
          <p:nvPr/>
        </p:nvSpPr>
        <p:spPr>
          <a:xfrm>
            <a:off x="10123322" y="3162910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</a:t>
            </a:r>
            <a:endParaRPr lang="en-US" sz="900" dirty="0"/>
          </a:p>
        </p:txBody>
      </p:sp>
      <p:sp>
        <p:nvSpPr>
          <p:cNvPr id="128" name="Text 114"/>
          <p:cNvSpPr txBox="1"/>
          <p:nvPr/>
        </p:nvSpPr>
        <p:spPr>
          <a:xfrm>
            <a:off x="10180930" y="3162910"/>
            <a:ext cx="267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CDC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log</a:t>
            </a:r>
            <a:endParaRPr lang="en-US" sz="900" dirty="0"/>
          </a:p>
        </p:txBody>
      </p:sp>
      <p:sp>
        <p:nvSpPr>
          <p:cNvPr id="129" name="Text 115"/>
          <p:cNvSpPr txBox="1"/>
          <p:nvPr/>
        </p:nvSpPr>
        <p:spPr>
          <a:xfrm>
            <a:off x="10351922" y="3162910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</a:t>
            </a:r>
            <a:endParaRPr lang="en-US" sz="900" dirty="0"/>
          </a:p>
        </p:txBody>
      </p:sp>
      <p:sp>
        <p:nvSpPr>
          <p:cNvPr id="130" name="Text 116"/>
          <p:cNvSpPr txBox="1"/>
          <p:nvPr/>
        </p:nvSpPr>
        <p:spPr>
          <a:xfrm>
            <a:off x="10409530" y="3162910"/>
            <a:ext cx="324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E917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"Hi"</a:t>
            </a:r>
            <a:endParaRPr lang="en-US" sz="900" dirty="0"/>
          </a:p>
        </p:txBody>
      </p:sp>
      <p:sp>
        <p:nvSpPr>
          <p:cNvPr id="131" name="Text 117"/>
          <p:cNvSpPr txBox="1"/>
          <p:nvPr/>
        </p:nvSpPr>
        <p:spPr>
          <a:xfrm>
            <a:off x="10638130" y="3162910"/>
            <a:ext cx="2103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);</a:t>
            </a:r>
            <a:endParaRPr lang="en-US" sz="900" dirty="0"/>
          </a:p>
        </p:txBody>
      </p:sp>
      <p:sp>
        <p:nvSpPr>
          <p:cNvPr id="132" name="Text 118"/>
          <p:cNvSpPr txBox="1"/>
          <p:nvPr/>
        </p:nvSpPr>
        <p:spPr>
          <a:xfrm>
            <a:off x="694944" y="4678070"/>
            <a:ext cx="100584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&gt; 인용문입니다.</a:t>
            </a:r>
            <a:endParaRPr lang="en-US" sz="900" dirty="0"/>
          </a:p>
        </p:txBody>
      </p:sp>
      <p:sp>
        <p:nvSpPr>
          <p:cNvPr id="133" name="Text 119"/>
          <p:cNvSpPr txBox="1"/>
          <p:nvPr/>
        </p:nvSpPr>
        <p:spPr>
          <a:xfrm>
            <a:off x="694944" y="4860950"/>
            <a:ext cx="82570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&gt; 중첩도가능</a:t>
            </a:r>
            <a:endParaRPr lang="en-US" sz="900" dirty="0"/>
          </a:p>
        </p:txBody>
      </p:sp>
      <p:sp>
        <p:nvSpPr>
          <p:cNvPr id="134" name="Text 120"/>
          <p:cNvSpPr txBox="1"/>
          <p:nvPr/>
        </p:nvSpPr>
        <p:spPr>
          <a:xfrm>
            <a:off x="819302" y="5731459"/>
            <a:ext cx="8503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인용문입니다.</a:t>
            </a:r>
            <a:endParaRPr lang="en-US" sz="1000" dirty="0"/>
          </a:p>
        </p:txBody>
      </p:sp>
      <p:sp>
        <p:nvSpPr>
          <p:cNvPr id="135" name="Text 121"/>
          <p:cNvSpPr txBox="1"/>
          <p:nvPr/>
        </p:nvSpPr>
        <p:spPr>
          <a:xfrm>
            <a:off x="819302" y="5925312"/>
            <a:ext cx="6976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중첩도가능</a:t>
            </a:r>
            <a:endParaRPr lang="en-US" sz="1000" dirty="0"/>
          </a:p>
        </p:txBody>
      </p:sp>
      <p:sp>
        <p:nvSpPr>
          <p:cNvPr id="136" name="Text 122"/>
          <p:cNvSpPr txBox="1"/>
          <p:nvPr/>
        </p:nvSpPr>
        <p:spPr>
          <a:xfrm>
            <a:off x="2935224" y="4586630"/>
            <a:ext cx="89154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[[내부 링크]]</a:t>
            </a:r>
            <a:endParaRPr lang="en-US" sz="900" dirty="0"/>
          </a:p>
        </p:txBody>
      </p:sp>
      <p:sp>
        <p:nvSpPr>
          <p:cNvPr id="137" name="Text 123"/>
          <p:cNvSpPr txBox="1"/>
          <p:nvPr/>
        </p:nvSpPr>
        <p:spPr>
          <a:xfrm>
            <a:off x="2935224" y="4769510"/>
            <a:ext cx="100584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![[이미지.png]]</a:t>
            </a:r>
            <a:endParaRPr lang="en-US" sz="900" dirty="0"/>
          </a:p>
        </p:txBody>
      </p:sp>
      <p:sp>
        <p:nvSpPr>
          <p:cNvPr id="138" name="Text 124"/>
          <p:cNvSpPr txBox="1"/>
          <p:nvPr/>
        </p:nvSpPr>
        <p:spPr>
          <a:xfrm>
            <a:off x="2935224" y="4952390"/>
            <a:ext cx="76809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[외부](url)</a:t>
            </a:r>
            <a:endParaRPr lang="en-US" sz="900" dirty="0"/>
          </a:p>
        </p:txBody>
      </p:sp>
      <p:sp>
        <p:nvSpPr>
          <p:cNvPr id="139" name="Text 125"/>
          <p:cNvSpPr txBox="1"/>
          <p:nvPr/>
        </p:nvSpPr>
        <p:spPr>
          <a:xfrm>
            <a:off x="2935224" y="5650992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링크</a:t>
            </a:r>
            <a:endParaRPr lang="en-US" sz="1000" dirty="0"/>
          </a:p>
        </p:txBody>
      </p:sp>
      <p:sp>
        <p:nvSpPr>
          <p:cNvPr id="140" name="Text 126"/>
          <p:cNvSpPr txBox="1"/>
          <p:nvPr/>
        </p:nvSpPr>
        <p:spPr>
          <a:xfrm>
            <a:off x="2935224" y="5845759"/>
            <a:ext cx="7754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(이미지 삽입됨)</a:t>
            </a:r>
            <a:endParaRPr lang="en-US" sz="800" dirty="0"/>
          </a:p>
        </p:txBody>
      </p:sp>
      <p:sp>
        <p:nvSpPr>
          <p:cNvPr id="141" name="Text 127"/>
          <p:cNvSpPr txBox="1"/>
          <p:nvPr/>
        </p:nvSpPr>
        <p:spPr>
          <a:xfrm>
            <a:off x="2935224" y="6005779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EB1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링크</a:t>
            </a:r>
            <a:endParaRPr lang="en-US" sz="1000" dirty="0"/>
          </a:p>
        </p:txBody>
      </p:sp>
      <p:sp>
        <p:nvSpPr>
          <p:cNvPr id="142" name="Text 128"/>
          <p:cNvSpPr txBox="1"/>
          <p:nvPr/>
        </p:nvSpPr>
        <p:spPr>
          <a:xfrm>
            <a:off x="5175504" y="4586630"/>
            <a:ext cx="89154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| 헤더 | 값 |</a:t>
            </a:r>
            <a:endParaRPr lang="en-US" sz="900" dirty="0"/>
          </a:p>
        </p:txBody>
      </p:sp>
      <p:sp>
        <p:nvSpPr>
          <p:cNvPr id="143" name="Text 129"/>
          <p:cNvSpPr txBox="1"/>
          <p:nvPr/>
        </p:nvSpPr>
        <p:spPr>
          <a:xfrm>
            <a:off x="5175504" y="4769510"/>
            <a:ext cx="82570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| --- | -- |</a:t>
            </a:r>
            <a:endParaRPr lang="en-US" sz="900" dirty="0"/>
          </a:p>
        </p:txBody>
      </p:sp>
      <p:sp>
        <p:nvSpPr>
          <p:cNvPr id="144" name="Text 130"/>
          <p:cNvSpPr txBox="1"/>
          <p:nvPr/>
        </p:nvSpPr>
        <p:spPr>
          <a:xfrm>
            <a:off x="5175504" y="4952390"/>
            <a:ext cx="64465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| A | B |</a:t>
            </a:r>
            <a:endParaRPr lang="en-US" sz="900" dirty="0"/>
          </a:p>
        </p:txBody>
      </p:sp>
      <p:sp>
        <p:nvSpPr>
          <p:cNvPr id="145" name="Text 131"/>
          <p:cNvSpPr txBox="1"/>
          <p:nvPr/>
        </p:nvSpPr>
        <p:spPr>
          <a:xfrm>
            <a:off x="5631790" y="5711342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</a:t>
            </a:r>
            <a:endParaRPr lang="en-US" sz="900" dirty="0"/>
          </a:p>
        </p:txBody>
      </p:sp>
      <p:sp>
        <p:nvSpPr>
          <p:cNvPr id="146" name="Text 132"/>
          <p:cNvSpPr txBox="1"/>
          <p:nvPr/>
        </p:nvSpPr>
        <p:spPr>
          <a:xfrm>
            <a:off x="6600139" y="5711342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</a:t>
            </a:r>
            <a:endParaRPr lang="en-US" sz="900" dirty="0"/>
          </a:p>
        </p:txBody>
      </p:sp>
      <p:sp>
        <p:nvSpPr>
          <p:cNvPr id="147" name="Text 133"/>
          <p:cNvSpPr txBox="1"/>
          <p:nvPr/>
        </p:nvSpPr>
        <p:spPr>
          <a:xfrm>
            <a:off x="5702198" y="5968289"/>
            <a:ext cx="162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900" dirty="0"/>
          </a:p>
        </p:txBody>
      </p:sp>
      <p:sp>
        <p:nvSpPr>
          <p:cNvPr id="148" name="Text 134"/>
          <p:cNvSpPr txBox="1"/>
          <p:nvPr/>
        </p:nvSpPr>
        <p:spPr>
          <a:xfrm>
            <a:off x="6614770" y="5968289"/>
            <a:ext cx="162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900" dirty="0"/>
          </a:p>
        </p:txBody>
      </p:sp>
      <p:sp>
        <p:nvSpPr>
          <p:cNvPr id="149" name="Text 135"/>
          <p:cNvSpPr txBox="1"/>
          <p:nvPr/>
        </p:nvSpPr>
        <p:spPr>
          <a:xfrm>
            <a:off x="7415784" y="4678070"/>
            <a:ext cx="64465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&gt; [!note]</a:t>
            </a:r>
            <a:endParaRPr lang="en-US" sz="900" dirty="0"/>
          </a:p>
        </p:txBody>
      </p:sp>
      <p:sp>
        <p:nvSpPr>
          <p:cNvPr id="150" name="Text 136"/>
          <p:cNvSpPr txBox="1"/>
          <p:nvPr/>
        </p:nvSpPr>
        <p:spPr>
          <a:xfrm>
            <a:off x="7415784" y="4860950"/>
            <a:ext cx="76809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&gt; 내용 작성</a:t>
            </a:r>
            <a:endParaRPr lang="en-US" sz="900" dirty="0"/>
          </a:p>
        </p:txBody>
      </p:sp>
      <p:sp>
        <p:nvSpPr>
          <p:cNvPr id="151" name="Text 137"/>
          <p:cNvSpPr txBox="1"/>
          <p:nvPr/>
        </p:nvSpPr>
        <p:spPr>
          <a:xfrm>
            <a:off x="7530084" y="595000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작성</a:t>
            </a:r>
            <a:endParaRPr lang="en-US" sz="900" dirty="0"/>
          </a:p>
        </p:txBody>
      </p:sp>
      <p:sp>
        <p:nvSpPr>
          <p:cNvPr id="152" name="Text 138"/>
          <p:cNvSpPr txBox="1"/>
          <p:nvPr/>
        </p:nvSpPr>
        <p:spPr>
          <a:xfrm>
            <a:off x="9656064" y="4495190"/>
            <a:ext cx="7013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```mermaid</a:t>
            </a:r>
            <a:endParaRPr lang="en-US" sz="900" dirty="0"/>
          </a:p>
        </p:txBody>
      </p:sp>
      <p:sp>
        <p:nvSpPr>
          <p:cNvPr id="153" name="Text 139"/>
          <p:cNvSpPr txBox="1"/>
          <p:nvPr/>
        </p:nvSpPr>
        <p:spPr>
          <a:xfrm>
            <a:off x="9656064" y="4678070"/>
            <a:ext cx="5870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graph LR</a:t>
            </a:r>
            <a:endParaRPr lang="en-US" sz="900" dirty="0"/>
          </a:p>
        </p:txBody>
      </p:sp>
      <p:sp>
        <p:nvSpPr>
          <p:cNvPr id="154" name="Text 140"/>
          <p:cNvSpPr txBox="1"/>
          <p:nvPr/>
        </p:nvSpPr>
        <p:spPr>
          <a:xfrm>
            <a:off x="9656064" y="4860950"/>
            <a:ext cx="52029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 --&gt; B</a:t>
            </a:r>
            <a:endParaRPr lang="en-US" sz="900" dirty="0"/>
          </a:p>
        </p:txBody>
      </p:sp>
      <p:sp>
        <p:nvSpPr>
          <p:cNvPr id="155" name="Text 141"/>
          <p:cNvSpPr txBox="1"/>
          <p:nvPr/>
        </p:nvSpPr>
        <p:spPr>
          <a:xfrm>
            <a:off x="9656064" y="5043830"/>
            <a:ext cx="28255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```</a:t>
            </a:r>
            <a:endParaRPr lang="en-US" sz="900" dirty="0"/>
          </a:p>
        </p:txBody>
      </p:sp>
      <p:sp>
        <p:nvSpPr>
          <p:cNvPr id="156" name="Text 142"/>
          <p:cNvSpPr txBox="1"/>
          <p:nvPr/>
        </p:nvSpPr>
        <p:spPr>
          <a:xfrm>
            <a:off x="10275113" y="5845759"/>
            <a:ext cx="1472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800" dirty="0"/>
          </a:p>
        </p:txBody>
      </p:sp>
      <p:pic>
        <p:nvPicPr>
          <p:cNvPr id="157" name="Image 12" descr="preencoded.png"/>
          <p:cNvPicPr>
            <a:picLocks noChangeAspect="1"/>
          </p:cNvPicPr>
          <p:nvPr/>
        </p:nvPicPr>
        <p:blipFill>
          <a:blip r:embed="rId15"/>
          <a:srcRect t="-1359" b="-1359"/>
          <a:stretch/>
        </p:blipFill>
        <p:spPr>
          <a:xfrm>
            <a:off x="10521086" y="5868619"/>
            <a:ext cx="105156" cy="123444"/>
          </a:xfrm>
          <a:prstGeom prst="rect">
            <a:avLst/>
          </a:prstGeom>
        </p:spPr>
      </p:pic>
      <p:sp>
        <p:nvSpPr>
          <p:cNvPr id="158" name="Text 143"/>
          <p:cNvSpPr txBox="1"/>
          <p:nvPr/>
        </p:nvSpPr>
        <p:spPr>
          <a:xfrm>
            <a:off x="10807294" y="5845759"/>
            <a:ext cx="1563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18895"/>
            <a:ext cx="2619756" cy="2048256"/>
          </a:xfrm>
          <a:prstGeom prst="roundRect">
            <a:avLst>
              <a:gd name="adj" fmla="val 2492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3349" y="138074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82FF">
              <a:alpha val="15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800100" y="1466698"/>
            <a:ext cx="209398" cy="1719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3349" y="2143354"/>
            <a:ext cx="2295144" cy="362102"/>
          </a:xfrm>
          <a:prstGeom prst="roundRect">
            <a:avLst>
              <a:gd name="adj" fmla="val 39872"/>
            </a:avLst>
          </a:prstGeom>
          <a:solidFill>
            <a:srgbClr val="1616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381451" y="1218895"/>
            <a:ext cx="2619756" cy="2048256"/>
          </a:xfrm>
          <a:prstGeom prst="roundRect">
            <a:avLst>
              <a:gd name="adj" fmla="val 2492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543300" y="138074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82FF">
              <a:alpha val="15000"/>
            </a:srgbClr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29254" y="1466698"/>
            <a:ext cx="171907" cy="17190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543300" y="2143354"/>
            <a:ext cx="2295144" cy="543154"/>
          </a:xfrm>
          <a:prstGeom prst="roundRect">
            <a:avLst>
              <a:gd name="adj" fmla="val 17721"/>
            </a:avLst>
          </a:prstGeom>
          <a:solidFill>
            <a:srgbClr val="1616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191402" y="1218895"/>
            <a:ext cx="2619756" cy="2048256"/>
          </a:xfrm>
          <a:prstGeom prst="roundRect">
            <a:avLst>
              <a:gd name="adj" fmla="val 2492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353251" y="138074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82FF">
              <a:alpha val="15000"/>
            </a:srgbClr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39205" y="1466698"/>
            <a:ext cx="171907" cy="17190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53251" y="2143354"/>
            <a:ext cx="2295144" cy="362102"/>
          </a:xfrm>
          <a:prstGeom prst="roundRect">
            <a:avLst>
              <a:gd name="adj" fmla="val 39872"/>
            </a:avLst>
          </a:prstGeom>
          <a:solidFill>
            <a:srgbClr val="1616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9001354" y="1218895"/>
            <a:ext cx="2619756" cy="2048256"/>
          </a:xfrm>
          <a:prstGeom prst="roundRect">
            <a:avLst>
              <a:gd name="adj" fmla="val 2492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9163202" y="138074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82FF">
              <a:alpha val="15000"/>
            </a:srgbClr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2725" b="-2725"/>
          <a:stretch/>
        </p:blipFill>
        <p:spPr>
          <a:xfrm>
            <a:off x="9262872" y="1466698"/>
            <a:ext cx="142646" cy="171907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163202" y="2143354"/>
            <a:ext cx="2295144" cy="362102"/>
          </a:xfrm>
          <a:prstGeom prst="roundRect">
            <a:avLst>
              <a:gd name="adj" fmla="val 39872"/>
            </a:avLst>
          </a:prstGeom>
          <a:solidFill>
            <a:srgbClr val="1616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819302" y="381305"/>
            <a:ext cx="1739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KNOWLEDGE NETWORK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819302" y="552298"/>
            <a:ext cx="48865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간 연결의 힘 링크 &amp; 백링크</a:t>
            </a:r>
            <a:endParaRPr lang="en-US" sz="2700" dirty="0"/>
          </a:p>
        </p:txBody>
      </p:sp>
      <p:sp>
        <p:nvSpPr>
          <p:cNvPr id="23" name="Text 16"/>
          <p:cNvSpPr txBox="1"/>
          <p:nvPr/>
        </p:nvSpPr>
        <p:spPr>
          <a:xfrm>
            <a:off x="733349" y="1837944"/>
            <a:ext cx="1848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링크 (Internal Link)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838505" y="2257654"/>
            <a:ext cx="89154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[[노트 제목]]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33349" y="2563978"/>
            <a:ext cx="238749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기본적인 연결 방식입니다. 클릭 시 해당 노트로 이동하며, 없는 제목 입력 시 새 노트가 생성됩니다.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3543300" y="1837944"/>
            <a:ext cx="106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헤딩/블록 링크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3648456" y="2257654"/>
            <a:ext cx="89154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[[노트#헤딩]]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3648456" y="2440534"/>
            <a:ext cx="100584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[[노트^블록ID]]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3543300" y="2746858"/>
            <a:ext cx="23682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전체가 아닌 특정 문단(헤딩)이나 블록으로 정밀하게 연결하여 문맥을 구체화합니다.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6353251" y="1837944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임베드 (Embed)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6458407" y="2257654"/>
            <a:ext cx="94914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![[노트 제목]]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6353251" y="2563978"/>
            <a:ext cx="234909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 앞에 느낌표(!)를 붙이면 해당 노트나 이미지의 내용을 현재 문서 안에 직접 불러와 보여줍니다.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9163202" y="1837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별칭 (Alias)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267444" y="2257654"/>
            <a:ext cx="16157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[[노트 제목|보여줄 이름]]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9163202" y="2563978"/>
            <a:ext cx="236829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'인공지능' 노트에 [[AI|인공지능]]처럼 링크를 걸어, 문맥에 맞게 텍스트를 다르게 표시합니다.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571500" y="3546043"/>
            <a:ext cx="11048695" cy="2933395"/>
          </a:xfrm>
          <a:prstGeom prst="roundRect">
            <a:avLst>
              <a:gd name="adj" fmla="val 1619"/>
            </a:avLst>
          </a:prstGeom>
          <a:solidFill>
            <a:srgbClr val="141419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l="-3425" r="-3425"/>
          <a:stretch/>
        </p:blipFill>
        <p:spPr>
          <a:xfrm>
            <a:off x="771754" y="3791102"/>
            <a:ext cx="142646" cy="13350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90295" y="3745382"/>
            <a:ext cx="26179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LINK STRUCTURE VISUALIZATION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7646213" y="5903366"/>
            <a:ext cx="3781044" cy="381305"/>
          </a:xfrm>
          <a:prstGeom prst="roundRect">
            <a:avLst>
              <a:gd name="adj" fmla="val 47962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0" name="Shape 32"/>
          <p:cNvSpPr/>
          <p:nvPr/>
        </p:nvSpPr>
        <p:spPr>
          <a:xfrm>
            <a:off x="7788859" y="6052414"/>
            <a:ext cx="75895" cy="75895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7922362" y="5998464"/>
            <a:ext cx="12536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백링크 (들어오는 연결)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9225382" y="6052414"/>
            <a:ext cx="75895" cy="75895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9358884" y="5998464"/>
            <a:ext cx="5779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노트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9984334" y="6052414"/>
            <a:ext cx="75895" cy="75895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10117836" y="5998464"/>
            <a:ext cx="12536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아웃고잉 (나가는 연결)</a:t>
            </a:r>
            <a:endParaRPr lang="en-US" sz="9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80644" y="3555187"/>
            <a:ext cx="11030407" cy="2915107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2787091" y="4428439"/>
            <a:ext cx="952805" cy="952805"/>
          </a:xfrm>
          <a:prstGeom prst="ellipse">
            <a:avLst/>
          </a:prstGeom>
          <a:solidFill>
            <a:srgbClr val="2D2D35"/>
          </a:solidFill>
          <a:ln w="25400">
            <a:solidFill>
              <a:srgbClr val="60A5FA"/>
            </a:solidFill>
            <a:prstDash val="solid"/>
          </a:ln>
          <a:effectLst>
            <a:outerShdw blurRad="190500" dist="1016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3134563" y="4679899"/>
            <a:ext cx="256946" cy="22860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3022092" y="5013655"/>
            <a:ext cx="5779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서적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2787091" y="5447995"/>
            <a:ext cx="952805" cy="952805"/>
          </a:xfrm>
          <a:prstGeom prst="ellipse">
            <a:avLst/>
          </a:prstGeom>
          <a:solidFill>
            <a:srgbClr val="2D2D35"/>
          </a:solidFill>
          <a:ln w="25400">
            <a:solidFill>
              <a:srgbClr val="60A5FA"/>
            </a:solidFill>
            <a:prstDash val="solid"/>
          </a:ln>
          <a:effectLst>
            <a:outerShdw blurRad="190500" dist="1016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3162910" y="5699455"/>
            <a:ext cx="200254" cy="22860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2965399" y="6033211"/>
            <a:ext cx="6922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데일리 노트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8452714" y="4370832"/>
            <a:ext cx="952805" cy="952805"/>
          </a:xfrm>
          <a:prstGeom prst="ellipse">
            <a:avLst/>
          </a:prstGeom>
          <a:solidFill>
            <a:srgbClr val="2D2D35"/>
          </a:solidFill>
          <a:ln w="25400">
            <a:solidFill>
              <a:srgbClr val="34D399"/>
            </a:solidFill>
            <a:prstDash val="solid"/>
          </a:ln>
          <a:effectLst>
            <a:outerShdw blurRad="190500" dist="1016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8843162" y="4622292"/>
            <a:ext cx="171907" cy="228600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8649310" y="4955134"/>
            <a:ext cx="6537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A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7901330" y="5010912"/>
            <a:ext cx="952805" cy="952805"/>
          </a:xfrm>
          <a:prstGeom prst="ellipse">
            <a:avLst/>
          </a:prstGeom>
          <a:solidFill>
            <a:srgbClr val="2D2D35"/>
          </a:solidFill>
          <a:ln w="25400">
            <a:solidFill>
              <a:srgbClr val="34D399"/>
            </a:solidFill>
            <a:prstDash val="solid"/>
          </a:ln>
          <a:effectLst>
            <a:outerShdw blurRad="190500" dist="1016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3"/>
          <a:srcRect l="-57" r="-57"/>
          <a:stretch/>
        </p:blipFill>
        <p:spPr>
          <a:xfrm>
            <a:off x="8277149" y="5262372"/>
            <a:ext cx="200254" cy="228600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8135417" y="5596128"/>
            <a:ext cx="5779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정의</a:t>
            </a:r>
            <a:endParaRPr lang="en-US" sz="900" dirty="0"/>
          </a:p>
        </p:txBody>
      </p:sp>
      <p:sp>
        <p:nvSpPr>
          <p:cNvPr id="59" name="Shape 46"/>
          <p:cNvSpPr/>
          <p:nvPr/>
        </p:nvSpPr>
        <p:spPr>
          <a:xfrm>
            <a:off x="8452714" y="5651906"/>
            <a:ext cx="952805" cy="952805"/>
          </a:xfrm>
          <a:prstGeom prst="ellipse">
            <a:avLst/>
          </a:prstGeom>
          <a:solidFill>
            <a:srgbClr val="2D2D35"/>
          </a:solidFill>
          <a:ln w="25400">
            <a:solidFill>
              <a:srgbClr val="34D399"/>
            </a:solidFill>
            <a:prstDash val="solid"/>
          </a:ln>
          <a:effectLst>
            <a:outerShdw blurRad="190500" dist="1016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4"/>
          <a:srcRect t="-45" b="-45"/>
          <a:stretch/>
        </p:blipFill>
        <p:spPr>
          <a:xfrm>
            <a:off x="8800186" y="5903366"/>
            <a:ext cx="256946" cy="228600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8651138" y="6236208"/>
            <a:ext cx="6537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X</a:t>
            </a:r>
            <a:endParaRPr lang="en-US" sz="900" dirty="0"/>
          </a:p>
        </p:txBody>
      </p:sp>
      <p:sp>
        <p:nvSpPr>
          <p:cNvPr id="62" name="Shape 48"/>
          <p:cNvSpPr/>
          <p:nvPr/>
        </p:nvSpPr>
        <p:spPr>
          <a:xfrm>
            <a:off x="5429707" y="4344314"/>
            <a:ext cx="1333195" cy="1333195"/>
          </a:xfrm>
          <a:prstGeom prst="ellipse">
            <a:avLst/>
          </a:prstGeom>
          <a:solidFill>
            <a:srgbClr val="A882FF">
              <a:alpha val="10000"/>
            </a:srgbClr>
          </a:solidFill>
          <a:ln w="25400">
            <a:solidFill>
              <a:srgbClr val="A882FF"/>
            </a:solidFill>
            <a:prstDash val="solid"/>
          </a:ln>
          <a:effectLst>
            <a:outerShdw blurRad="292100" dist="12700" dir="16200000" algn="bl" rotWithShape="0">
              <a:srgbClr val="A882FF">
                <a:alpha val="20000"/>
              </a:srgbClr>
            </a:outerShdw>
          </a:effectLst>
        </p:spPr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943600" y="4620463"/>
            <a:ext cx="304495" cy="304495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5809183" y="5068519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노트</a:t>
            </a:r>
            <a:endParaRPr lang="en-US" sz="1100" dirty="0"/>
          </a:p>
        </p:txBody>
      </p:sp>
      <p:sp>
        <p:nvSpPr>
          <p:cNvPr id="65" name="Text 50"/>
          <p:cNvSpPr txBox="1"/>
          <p:nvPr/>
        </p:nvSpPr>
        <p:spPr>
          <a:xfrm>
            <a:off x="5950915" y="5335524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Topic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114300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828800"/>
            <a:ext cx="3534156" cy="2657246"/>
          </a:xfrm>
          <a:prstGeom prst="roundRect">
            <a:avLst>
              <a:gd name="adj" fmla="val 197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9244" y="20665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20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938174" y="2180844"/>
            <a:ext cx="200254" cy="228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30598" y="1828800"/>
            <a:ext cx="3534156" cy="2657246"/>
          </a:xfrm>
          <a:prstGeom prst="roundRect">
            <a:avLst>
              <a:gd name="adj" fmla="val 197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68342" y="20665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82642" y="2180844"/>
            <a:ext cx="228600" cy="228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568342" y="3783787"/>
            <a:ext cx="3057754" cy="457200"/>
          </a:xfrm>
          <a:prstGeom prst="roundRect">
            <a:avLst>
              <a:gd name="adj" fmla="val 16667"/>
            </a:avLst>
          </a:prstGeom>
          <a:solidFill>
            <a:srgbClr val="111827">
              <a:alpha val="50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8089697" y="1828800"/>
            <a:ext cx="3534156" cy="2657246"/>
          </a:xfrm>
          <a:prstGeom prst="roundRect">
            <a:avLst>
              <a:gd name="adj" fmla="val 197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328355" y="20665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42655" y="2180844"/>
            <a:ext cx="228600" cy="228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71500" y="4707331"/>
            <a:ext cx="11048695" cy="2076602"/>
          </a:xfrm>
          <a:prstGeom prst="roundRect">
            <a:avLst>
              <a:gd name="adj" fmla="val 3232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9244" y="494599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95198" y="5060290"/>
            <a:ext cx="286207" cy="228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09244" y="5574182"/>
            <a:ext cx="4819802" cy="972007"/>
          </a:xfrm>
          <a:prstGeom prst="roundRect">
            <a:avLst>
              <a:gd name="adj" fmla="val 7378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Shape 12"/>
          <p:cNvSpPr/>
          <p:nvPr/>
        </p:nvSpPr>
        <p:spPr>
          <a:xfrm>
            <a:off x="809244" y="5574182"/>
            <a:ext cx="28346" cy="972007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20" name="Shape 13"/>
          <p:cNvSpPr/>
          <p:nvPr/>
        </p:nvSpPr>
        <p:spPr>
          <a:xfrm>
            <a:off x="6562649" y="5574182"/>
            <a:ext cx="4819802" cy="972007"/>
          </a:xfrm>
          <a:prstGeom prst="roundRect">
            <a:avLst>
              <a:gd name="adj" fmla="val 7378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6562649" y="5574182"/>
            <a:ext cx="28346" cy="972007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819302" y="381305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TAGS &amp; PROPERTIES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819302" y="562356"/>
            <a:ext cx="39721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태그와 속성 활용법</a:t>
            </a:r>
            <a:endParaRPr lang="en-US" sz="3600" dirty="0"/>
          </a:p>
        </p:txBody>
      </p:sp>
      <p:sp>
        <p:nvSpPr>
          <p:cNvPr id="24" name="Text 17"/>
          <p:cNvSpPr txBox="1"/>
          <p:nvPr/>
        </p:nvSpPr>
        <p:spPr>
          <a:xfrm>
            <a:off x="819302" y="1248156"/>
            <a:ext cx="45537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유연한 분류를 위한 태그와 구조화된 데이터를 위한 속성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09244" y="2667305"/>
            <a:ext cx="11247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 (Tags)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809244" y="3029407"/>
            <a:ext cx="3091586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내 어디서나 #으로 빠르게 입력할 수 있습니다. 주제나 상태를 유연하게 표시하며, 중첩 태그를 지원합니다.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809244" y="4008730"/>
            <a:ext cx="705002" cy="237744"/>
          </a:xfrm>
          <a:prstGeom prst="roundRect">
            <a:avLst>
              <a:gd name="adj" fmla="val 184615"/>
            </a:avLst>
          </a:prstGeom>
          <a:solidFill>
            <a:srgbClr val="A882FF">
              <a:alpha val="20000"/>
            </a:srgbClr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886054" y="4027932"/>
            <a:ext cx="650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#아이디어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1548994" y="4008730"/>
            <a:ext cx="838505" cy="237744"/>
          </a:xfrm>
          <a:prstGeom prst="roundRect">
            <a:avLst>
              <a:gd name="adj" fmla="val 184615"/>
            </a:avLst>
          </a:prstGeom>
          <a:solidFill>
            <a:srgbClr val="A882FF">
              <a:alpha val="20000"/>
            </a:srgbClr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1624889" y="4027932"/>
            <a:ext cx="7836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#프로젝트/A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4568342" y="2667305"/>
            <a:ext cx="16861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속성 (Properties)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4568342" y="3029407"/>
            <a:ext cx="304403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상단에 위치하며 날짜, 체크박스, URL 등 정해진 형식의 데이터를 관리합니다. (YAML Frontmatter 기반)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645152" y="3850538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status: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4996282" y="3850538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4645152" y="4003243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created: 2024-01-12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8328355" y="2667305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방법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8328355" y="3029407"/>
            <a:ext cx="3148279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필터, 그래프 뷰의 그룹 색상 지정, 그리고 Dataview 플러그인을 통한 자동 리스트 생성의 핵심 기준이 됩니다.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1419149" y="4935931"/>
            <a:ext cx="22009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 vs 속성: 역할의 차이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1419149" y="5212994"/>
            <a:ext cx="5091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기능은 비슷해 보이지만 용도가 다릅니다. 명확히 구분해서 사용하면 관리가 쉬워집니다.</a:t>
            </a:r>
            <a:endParaRPr lang="en-US" sz="10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981151" y="5777179"/>
            <a:ext cx="152705" cy="171907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209751" y="5726887"/>
            <a:ext cx="1357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 (Labeling)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981151" y="6022238"/>
            <a:ext cx="1919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노트는 무엇에 관한 것인가?"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981151" y="6212434"/>
            <a:ext cx="3176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주제, 키워드, 느슨한 연결 고리가 필요할 때 사용하세요.</a:t>
            </a:r>
            <a:endParaRPr lang="en-US" sz="10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6010351" y="5970118"/>
            <a:ext cx="171907" cy="190195"/>
          </a:xfrm>
          <a:prstGeom prst="rect">
            <a:avLst/>
          </a:prstGeom>
        </p:spPr>
      </p:pic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6734556" y="5777179"/>
            <a:ext cx="152705" cy="171907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6963156" y="5726887"/>
            <a:ext cx="1014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속성 (Data)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6734556" y="6022238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노트의 상태나 형식은 무엇인가?"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6734556" y="6212434"/>
            <a:ext cx="3615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마감일, 진행 상태, 저자 등 구조화된 값이 필요할 때 사용하세요.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18895"/>
            <a:ext cx="2619756" cy="1809598"/>
          </a:xfrm>
          <a:prstGeom prst="roundRect">
            <a:avLst>
              <a:gd name="adj" fmla="val 3191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3349" y="138074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82FF">
              <a:alpha val="15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9302" y="1466698"/>
            <a:ext cx="171907" cy="1719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3349" y="2143354"/>
            <a:ext cx="2295144" cy="304495"/>
          </a:xfrm>
          <a:prstGeom prst="roundRect">
            <a:avLst>
              <a:gd name="adj" fmla="val 56306"/>
            </a:avLst>
          </a:prstGeom>
          <a:solidFill>
            <a:srgbClr val="1616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381451" y="1218895"/>
            <a:ext cx="2619756" cy="1809598"/>
          </a:xfrm>
          <a:prstGeom prst="roundRect">
            <a:avLst>
              <a:gd name="adj" fmla="val 3191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543300" y="138074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82FF">
              <a:alpha val="15000"/>
            </a:srgbClr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29254" y="1466698"/>
            <a:ext cx="171907" cy="17190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543300" y="2143354"/>
            <a:ext cx="2295144" cy="304495"/>
          </a:xfrm>
          <a:prstGeom prst="roundRect">
            <a:avLst>
              <a:gd name="adj" fmla="val 56306"/>
            </a:avLst>
          </a:prstGeom>
          <a:solidFill>
            <a:srgbClr val="1616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191402" y="1218895"/>
            <a:ext cx="2619756" cy="1809598"/>
          </a:xfrm>
          <a:prstGeom prst="roundRect">
            <a:avLst>
              <a:gd name="adj" fmla="val 3191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353251" y="138074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82FF">
              <a:alpha val="15000"/>
            </a:srgbClr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39205" y="1466698"/>
            <a:ext cx="171907" cy="17190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53251" y="2143354"/>
            <a:ext cx="2295144" cy="304495"/>
          </a:xfrm>
          <a:prstGeom prst="roundRect">
            <a:avLst>
              <a:gd name="adj" fmla="val 56306"/>
            </a:avLst>
          </a:prstGeom>
          <a:solidFill>
            <a:srgbClr val="1616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9001354" y="1218895"/>
            <a:ext cx="2619756" cy="1809598"/>
          </a:xfrm>
          <a:prstGeom prst="roundRect">
            <a:avLst>
              <a:gd name="adj" fmla="val 3191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9163202" y="138074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82FF">
              <a:alpha val="15000"/>
            </a:srgbClr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2222" b="-2222"/>
          <a:stretch/>
        </p:blipFill>
        <p:spPr>
          <a:xfrm>
            <a:off x="9272930" y="1466698"/>
            <a:ext cx="123444" cy="171907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163202" y="2143354"/>
            <a:ext cx="2295144" cy="304495"/>
          </a:xfrm>
          <a:prstGeom prst="roundRect">
            <a:avLst>
              <a:gd name="adj" fmla="val 56306"/>
            </a:avLst>
          </a:prstGeom>
          <a:solidFill>
            <a:srgbClr val="1616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819302" y="381305"/>
            <a:ext cx="2091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KNOWLEDGE VISUALIZATION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819302" y="552298"/>
            <a:ext cx="37060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 뷰 지식의 시각화</a:t>
            </a:r>
            <a:endParaRPr lang="en-US" sz="2700" dirty="0"/>
          </a:p>
        </p:txBody>
      </p:sp>
      <p:sp>
        <p:nvSpPr>
          <p:cNvPr id="23" name="Text 16"/>
          <p:cNvSpPr txBox="1"/>
          <p:nvPr/>
        </p:nvSpPr>
        <p:spPr>
          <a:xfrm>
            <a:off x="733349" y="1837944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그래프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838505" y="2210105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조망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33349" y="2514600"/>
            <a:ext cx="234909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보관소 내 모든 노트의 연결 상태를 한눈에 파악하여 지식의 분포와 구조를 확인합니다.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3543300" y="1837944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그래프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3648456" y="2210105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문맥 집중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3543300" y="2514600"/>
            <a:ext cx="232074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보고 있는 노트를 중심으로 연결된 노트들만 표시하여 깊이 있는 탐색을 돕습니다.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6353251" y="1837944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 및 그룹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458407" y="2210105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6353251" y="2514600"/>
            <a:ext cx="234909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태그, 폴더별로 색상을 지정하거나 특정 조건의 노트를 숨겨 의미 있는 패턴을 발견합니다.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9163202" y="1837944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인사이트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267444" y="2210105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발견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9163202" y="2514600"/>
            <a:ext cx="234909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관련된 토픽 클러스터를 찾거나, 연결되지 않은 고립된 노트(Orphan)를 찾아 연결합니다.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71500" y="3256178"/>
            <a:ext cx="11048695" cy="3228746"/>
          </a:xfrm>
          <a:prstGeom prst="roundRect">
            <a:avLst>
              <a:gd name="adj" fmla="val 1337"/>
            </a:avLst>
          </a:prstGeom>
          <a:solidFill>
            <a:srgbClr val="1A1A20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l="-19594" r="-19594"/>
          <a:stretch/>
        </p:blipFill>
        <p:spPr>
          <a:xfrm>
            <a:off x="2676449" y="3265322"/>
            <a:ext cx="8934602" cy="320954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6676949" y="4979822"/>
            <a:ext cx="1333195" cy="304495"/>
          </a:xfrm>
          <a:prstGeom prst="roundRect">
            <a:avLst>
              <a:gd name="adj" fmla="val 56306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782105" y="5094122"/>
            <a:ext cx="75895" cy="75895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6915607" y="5046574"/>
            <a:ext cx="10771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Topic Cluster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8486546" y="6217920"/>
            <a:ext cx="1304849" cy="304495"/>
          </a:xfrm>
          <a:prstGeom prst="roundRect">
            <a:avLst>
              <a:gd name="adj" fmla="val 56306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591702" y="6332220"/>
            <a:ext cx="75895" cy="75895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8725205" y="6284671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Related Sub-topic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4200754" y="4123030"/>
            <a:ext cx="1067105" cy="304495"/>
          </a:xfrm>
          <a:prstGeom prst="roundRect">
            <a:avLst>
              <a:gd name="adj" fmla="val 56306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6464">
                <a:alpha val="3000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4304995" y="4237330"/>
            <a:ext cx="75895" cy="75895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4438498" y="4189781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Orphan (고립)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580644" y="3265322"/>
            <a:ext cx="2095805" cy="3209544"/>
          </a:xfrm>
          <a:prstGeom prst="rect">
            <a:avLst/>
          </a:prstGeom>
          <a:solidFill>
            <a:srgbClr val="1E1E23">
              <a:alpha val="80000"/>
            </a:srgbClr>
          </a:solidFill>
          <a:ln/>
        </p:spPr>
      </p:sp>
      <p:sp>
        <p:nvSpPr>
          <p:cNvPr id="47" name="Shape 39"/>
          <p:cNvSpPr/>
          <p:nvPr/>
        </p:nvSpPr>
        <p:spPr>
          <a:xfrm>
            <a:off x="2667305" y="3265322"/>
            <a:ext cx="9144" cy="32095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8" name="Shape 40"/>
          <p:cNvSpPr/>
          <p:nvPr/>
        </p:nvSpPr>
        <p:spPr>
          <a:xfrm>
            <a:off x="724205" y="4475988"/>
            <a:ext cx="18004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409444" y="3690518"/>
            <a:ext cx="114300" cy="114300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724205" y="5453482"/>
            <a:ext cx="18004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1" name="Shape 42"/>
          <p:cNvSpPr/>
          <p:nvPr/>
        </p:nvSpPr>
        <p:spPr>
          <a:xfrm>
            <a:off x="724205" y="6580937"/>
            <a:ext cx="18004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724205" y="3408883"/>
            <a:ext cx="534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FILTERS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724205" y="3655771"/>
            <a:ext cx="8540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Search files...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724205" y="3896258"/>
            <a:ext cx="6345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Tags only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724205" y="4135831"/>
            <a:ext cx="5870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Orphans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724205" y="4624121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GROUPS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724205" y="4871923"/>
            <a:ext cx="7772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AI &amp; Tech</a:t>
            </a:r>
            <a:endParaRPr lang="en-US" sz="900" dirty="0"/>
          </a:p>
        </p:txBody>
      </p:sp>
      <p:sp>
        <p:nvSpPr>
          <p:cNvPr id="58" name="Text 49"/>
          <p:cNvSpPr txBox="1"/>
          <p:nvPr/>
        </p:nvSpPr>
        <p:spPr>
          <a:xfrm>
            <a:off x="724205" y="5111496"/>
            <a:ext cx="9491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Productivity</a:t>
            </a:r>
            <a:endParaRPr lang="en-US" sz="900" dirty="0"/>
          </a:p>
        </p:txBody>
      </p:sp>
      <p:sp>
        <p:nvSpPr>
          <p:cNvPr id="59" name="Text 50"/>
          <p:cNvSpPr txBox="1"/>
          <p:nvPr/>
        </p:nvSpPr>
        <p:spPr>
          <a:xfrm>
            <a:off x="724205" y="5599786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DISPLAY</a:t>
            </a:r>
            <a:endParaRPr lang="en-US" sz="900" dirty="0"/>
          </a:p>
        </p:txBody>
      </p:sp>
      <p:sp>
        <p:nvSpPr>
          <p:cNvPr id="60" name="Text 51"/>
          <p:cNvSpPr txBox="1"/>
          <p:nvPr/>
        </p:nvSpPr>
        <p:spPr>
          <a:xfrm>
            <a:off x="724205" y="5846674"/>
            <a:ext cx="6537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 size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724205" y="6201461"/>
            <a:ext cx="9107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Link thickness</a:t>
            </a:r>
            <a:endParaRPr lang="en-US" sz="900" dirty="0"/>
          </a:p>
        </p:txBody>
      </p:sp>
      <p:sp>
        <p:nvSpPr>
          <p:cNvPr id="62" name="Shape 53"/>
          <p:cNvSpPr/>
          <p:nvPr/>
        </p:nvSpPr>
        <p:spPr>
          <a:xfrm>
            <a:off x="2295144" y="3920947"/>
            <a:ext cx="228600" cy="133502"/>
          </a:xfrm>
          <a:prstGeom prst="roundRect">
            <a:avLst>
              <a:gd name="adj" fmla="val 489238"/>
            </a:avLst>
          </a:prstGeom>
          <a:solidFill>
            <a:srgbClr val="333333"/>
          </a:solidFill>
          <a:ln/>
        </p:spPr>
      </p:sp>
      <p:sp>
        <p:nvSpPr>
          <p:cNvPr id="63" name="Shape 54"/>
          <p:cNvSpPr/>
          <p:nvPr/>
        </p:nvSpPr>
        <p:spPr>
          <a:xfrm>
            <a:off x="2409444" y="3940150"/>
            <a:ext cx="95098" cy="950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Shape 55"/>
          <p:cNvSpPr/>
          <p:nvPr/>
        </p:nvSpPr>
        <p:spPr>
          <a:xfrm>
            <a:off x="2295144" y="4160520"/>
            <a:ext cx="228600" cy="133502"/>
          </a:xfrm>
          <a:prstGeom prst="roundRect">
            <a:avLst>
              <a:gd name="adj" fmla="val 489238"/>
            </a:avLst>
          </a:prstGeom>
          <a:solidFill>
            <a:srgbClr val="A882FF"/>
          </a:solidFill>
          <a:ln/>
        </p:spPr>
      </p:sp>
      <p:sp>
        <p:nvSpPr>
          <p:cNvPr id="65" name="Shape 56"/>
          <p:cNvSpPr/>
          <p:nvPr/>
        </p:nvSpPr>
        <p:spPr>
          <a:xfrm>
            <a:off x="2409444" y="4179722"/>
            <a:ext cx="95098" cy="950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6" name="Shape 57"/>
          <p:cNvSpPr/>
          <p:nvPr/>
        </p:nvSpPr>
        <p:spPr>
          <a:xfrm>
            <a:off x="724205" y="6087161"/>
            <a:ext cx="1800454" cy="38405"/>
          </a:xfrm>
          <a:prstGeom prst="roundRect">
            <a:avLst>
              <a:gd name="adj" fmla="val 1190470"/>
            </a:avLst>
          </a:prstGeom>
          <a:solidFill>
            <a:srgbClr val="333333"/>
          </a:solidFill>
          <a:ln/>
        </p:spPr>
      </p:sp>
      <p:sp>
        <p:nvSpPr>
          <p:cNvPr id="67" name="Shape 58"/>
          <p:cNvSpPr/>
          <p:nvPr/>
        </p:nvSpPr>
        <p:spPr>
          <a:xfrm>
            <a:off x="1804111" y="6058814"/>
            <a:ext cx="95098" cy="9509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68" name="Shape 59"/>
          <p:cNvSpPr/>
          <p:nvPr/>
        </p:nvSpPr>
        <p:spPr>
          <a:xfrm>
            <a:off x="724205" y="6441034"/>
            <a:ext cx="1800454" cy="38405"/>
          </a:xfrm>
          <a:prstGeom prst="roundRect">
            <a:avLst>
              <a:gd name="adj" fmla="val 1190470"/>
            </a:avLst>
          </a:prstGeom>
          <a:solidFill>
            <a:srgbClr val="333333"/>
          </a:solidFill>
          <a:ln/>
        </p:spPr>
      </p:sp>
      <p:sp>
        <p:nvSpPr>
          <p:cNvPr id="69" name="Shape 60"/>
          <p:cNvSpPr/>
          <p:nvPr/>
        </p:nvSpPr>
        <p:spPr>
          <a:xfrm>
            <a:off x="1804111" y="6412687"/>
            <a:ext cx="95098" cy="95098"/>
          </a:xfrm>
          <a:prstGeom prst="ellipse">
            <a:avLst/>
          </a:prstGeom>
          <a:solidFill>
            <a:srgbClr val="6B728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9302" y="381305"/>
            <a:ext cx="1938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ESSENTIAL CORE PLUGINS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9302" y="552298"/>
            <a:ext cx="39154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코어 플러그인 5가지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71500" y="1276502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" y="1514246"/>
            <a:ext cx="1151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명령어 팔레트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" y="1815998"/>
            <a:ext cx="1257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COMMAND PALETTE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87852" y="1514246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3497580" y="1638605"/>
            <a:ext cx="256946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244" y="2143354"/>
            <a:ext cx="31135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 없이 옵시디언의 모든 기능을 검색하고 실행할 수 있는 만능 도구입니다. 설정, 플러그인 기능, 테마 변경 등을 빠르게 수행합니다.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09244" y="3258007"/>
            <a:ext cx="990295" cy="267005"/>
          </a:xfrm>
          <a:prstGeom prst="roundRect">
            <a:avLst>
              <a:gd name="adj" fmla="val 73385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2174" r="-2174"/>
          <a:stretch/>
        </p:blipFill>
        <p:spPr>
          <a:xfrm>
            <a:off x="895198" y="3338474"/>
            <a:ext cx="123444" cy="1051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19556" y="3305556"/>
            <a:ext cx="781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Cmd/Ctrl + P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330598" y="1276502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68342" y="1514246"/>
            <a:ext cx="8275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퀵 스위처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68342" y="1815998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SWITCHER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146950" y="1514246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60A5FA">
              <a:alpha val="10000"/>
            </a:srgbClr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70394" y="1638605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568342" y="2143354"/>
            <a:ext cx="315102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보관소 내의 다른 노트로 순식간에 이동합니다. 파일명을 입력하면 실시간으로 검색하여 키보드만으로 문서를 전환할 수 있습니다.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568342" y="3258007"/>
            <a:ext cx="990295" cy="267005"/>
          </a:xfrm>
          <a:prstGeom prst="roundRect">
            <a:avLst>
              <a:gd name="adj" fmla="val 73385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l="-2174" r="-2174"/>
          <a:stretch/>
        </p:blipFill>
        <p:spPr>
          <a:xfrm>
            <a:off x="4654296" y="3338474"/>
            <a:ext cx="123444" cy="1051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778654" y="3305556"/>
            <a:ext cx="781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Cmd/Ctrl + O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8089697" y="1276502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328355" y="1514246"/>
            <a:ext cx="8275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 뷰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8328355" y="1815998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 VIEW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0906049" y="1514246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34D399">
              <a:alpha val="10000"/>
            </a:srgbClr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29493" y="1638605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328355" y="2143354"/>
            <a:ext cx="315102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간의 연결 상태를 시각적인 네트워크 그래프로 보여줍니다. 지식의 클러스터를 파악하고 고립된 노트를 발견하는 데 유용합니다.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8328355" y="3258007"/>
            <a:ext cx="990295" cy="267005"/>
          </a:xfrm>
          <a:prstGeom prst="roundRect">
            <a:avLst>
              <a:gd name="adj" fmla="val 73385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rcRect l="-2174" r="-2174"/>
          <a:stretch/>
        </p:blipFill>
        <p:spPr>
          <a:xfrm>
            <a:off x="8413394" y="3338474"/>
            <a:ext cx="123444" cy="10515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537753" y="3305556"/>
            <a:ext cx="781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Cmd/Ctrl + G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571500" y="3991356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809244" y="4229100"/>
            <a:ext cx="98938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데일리 노트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809244" y="4529938"/>
            <a:ext cx="848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 NOTES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3387852" y="4229100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F472B6">
              <a:alpha val="10000"/>
            </a:srgbClr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3525926" y="4352544"/>
            <a:ext cx="200254" cy="2286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09244" y="4858207"/>
            <a:ext cx="302757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날짜의 노트를 자동으로 생성합니다. 매일의 할 일, 아이디어, 일기를 기록하는 저널링 워크플로우의 핵심입니다.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809244" y="5971946"/>
            <a:ext cx="1162202" cy="267005"/>
          </a:xfrm>
          <a:prstGeom prst="roundRect">
            <a:avLst>
              <a:gd name="adj" fmla="val 73385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9"/>
          <a:srcRect l="-783" r="-783"/>
          <a:stretch/>
        </p:blipFill>
        <p:spPr>
          <a:xfrm>
            <a:off x="895198" y="6053328"/>
            <a:ext cx="66751" cy="105156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61949" y="6019495"/>
            <a:ext cx="10104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리본 아이콘 클릭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4330598" y="3991356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4568342" y="4229100"/>
            <a:ext cx="61722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</a:t>
            </a:r>
            <a:endParaRPr lang="en-US" sz="1300" dirty="0"/>
          </a:p>
        </p:txBody>
      </p:sp>
      <p:sp>
        <p:nvSpPr>
          <p:cNvPr id="45" name="Text 34"/>
          <p:cNvSpPr txBox="1"/>
          <p:nvPr/>
        </p:nvSpPr>
        <p:spPr>
          <a:xfrm>
            <a:off x="4568342" y="4529938"/>
            <a:ext cx="771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TEMPLATES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7146950" y="4229100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FBBF24">
              <a:alpha val="10000"/>
            </a:srgbClr>
          </a:solidFill>
          <a:ln/>
        </p:spPr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7270394" y="4352544"/>
            <a:ext cx="228600" cy="228600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4568342" y="4858207"/>
            <a:ext cx="315102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미리 만들어둔 서식(회의록, 독서 노트 등)을 현재 노트에 빠르게 삽입합니다. 반복적인 작성 시간을 획기적으로 줄여줍니다.</a:t>
            </a:r>
            <a:endParaRPr lang="en-US" sz="1000" dirty="0"/>
          </a:p>
        </p:txBody>
      </p:sp>
      <p:sp>
        <p:nvSpPr>
          <p:cNvPr id="49" name="Shape 37"/>
          <p:cNvSpPr/>
          <p:nvPr/>
        </p:nvSpPr>
        <p:spPr>
          <a:xfrm>
            <a:off x="4568342" y="5971946"/>
            <a:ext cx="1619402" cy="267005"/>
          </a:xfrm>
          <a:prstGeom prst="roundRect">
            <a:avLst>
              <a:gd name="adj" fmla="val 73385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1"/>
          <a:srcRect l="-2174" r="-2174"/>
          <a:stretch/>
        </p:blipFill>
        <p:spPr>
          <a:xfrm>
            <a:off x="4654296" y="6053328"/>
            <a:ext cx="123444" cy="105156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4778654" y="6019495"/>
            <a:ext cx="1410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명령어: Insert template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8089697" y="3991356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3" name="Text 40"/>
          <p:cNvSpPr txBox="1"/>
          <p:nvPr/>
        </p:nvSpPr>
        <p:spPr>
          <a:xfrm>
            <a:off x="8328355" y="4229100"/>
            <a:ext cx="8275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방법</a:t>
            </a:r>
            <a:endParaRPr lang="en-US" sz="1300" dirty="0"/>
          </a:p>
        </p:txBody>
      </p:sp>
      <p:sp>
        <p:nvSpPr>
          <p:cNvPr id="54" name="Text 41"/>
          <p:cNvSpPr txBox="1"/>
          <p:nvPr/>
        </p:nvSpPr>
        <p:spPr>
          <a:xfrm>
            <a:off x="8328355" y="4529938"/>
            <a:ext cx="10771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 TO ENABLE</a:t>
            </a:r>
            <a:endParaRPr lang="en-US" sz="900" dirty="0"/>
          </a:p>
        </p:txBody>
      </p:sp>
      <p:sp>
        <p:nvSpPr>
          <p:cNvPr id="55" name="Shape 42"/>
          <p:cNvSpPr/>
          <p:nvPr/>
        </p:nvSpPr>
        <p:spPr>
          <a:xfrm>
            <a:off x="10906049" y="4229100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9CA3AF">
              <a:alpha val="10000"/>
            </a:srgbClr>
          </a:solidFill>
          <a:ln/>
        </p:spPr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029493" y="4352544"/>
            <a:ext cx="228600" cy="228600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8328355" y="4858207"/>
            <a:ext cx="315102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기능들은 옵시디언 설치 시 기본적으로 포함되어 있습니다. 설정 &gt; 코어 플러그인 메뉴에서 각 항목의 스위치를 켜서(ON) 활성화할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9302" y="381305"/>
            <a:ext cx="2072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7 COMMUNITY PLUGINS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9302" y="552298"/>
            <a:ext cx="4638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커뮤니티 플러그인 Top 7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71500" y="1218895"/>
            <a:ext cx="2648102" cy="2553005"/>
          </a:xfrm>
          <a:prstGeom prst="roundRect">
            <a:avLst>
              <a:gd name="adj" fmla="val 1871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2551" y="139994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082" r="-1082"/>
          <a:stretch/>
        </p:blipFill>
        <p:spPr>
          <a:xfrm>
            <a:off x="862279" y="1500530"/>
            <a:ext cx="161849" cy="1810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2551" y="1895551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Dataview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52551" y="2143354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QUERY ENGINE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752551" y="2358238"/>
            <a:ext cx="236829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보관소를 데이터베이스처럼 활용합니다. 간단한 쿼리로 노트 목록, 테이블, 작업 리스트를 동적으로 생성합니다.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372307" y="1218895"/>
            <a:ext cx="2648102" cy="2553005"/>
          </a:xfrm>
          <a:prstGeom prst="roundRect">
            <a:avLst>
              <a:gd name="adj" fmla="val 1871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52444" y="139994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505" r="-505"/>
          <a:stretch/>
        </p:blipFill>
        <p:spPr>
          <a:xfrm>
            <a:off x="3629254" y="1500530"/>
            <a:ext cx="228600" cy="1810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52444" y="1895551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Templater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552444" y="2143354"/>
            <a:ext cx="1286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POWERFUL TEMPLATES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3552444" y="2358238"/>
            <a:ext cx="228234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템플릿보다 훨씬 강력합니다. 자바스크립트를 사용해 날짜 계산, 커서 위치 지정 등 동적인 서식을 만듭니다.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172200" y="1218895"/>
            <a:ext cx="2648102" cy="2553005"/>
          </a:xfrm>
          <a:prstGeom prst="roundRect">
            <a:avLst>
              <a:gd name="adj" fmla="val 1871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3251" y="139994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1082" r="-1082"/>
          <a:stretch/>
        </p:blipFill>
        <p:spPr>
          <a:xfrm>
            <a:off x="6462979" y="1500530"/>
            <a:ext cx="161849" cy="1810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53251" y="1895551"/>
            <a:ext cx="534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353251" y="2143354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 MANAGEMENT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6353251" y="2358238"/>
            <a:ext cx="234909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옵시디언 전체의 할 일을 관리합니다. 마감일, 우선순위, 반복 일정 등을 설정하고 쿼리로 모아볼 수 있습니다.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973007" y="1218895"/>
            <a:ext cx="2648102" cy="2553005"/>
          </a:xfrm>
          <a:prstGeom prst="roundRect">
            <a:avLst>
              <a:gd name="adj" fmla="val 1871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153144" y="139994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082" r="-1082"/>
          <a:stretch/>
        </p:blipFill>
        <p:spPr>
          <a:xfrm>
            <a:off x="9262872" y="1500530"/>
            <a:ext cx="161849" cy="18105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153144" y="1895551"/>
            <a:ext cx="1562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Calendar / Periodic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9153144" y="2143354"/>
            <a:ext cx="1191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JOURNALING SYSTEM</a:t>
            </a:r>
            <a:endParaRPr lang="en-US" sz="800" dirty="0"/>
          </a:p>
        </p:txBody>
      </p:sp>
      <p:sp>
        <p:nvSpPr>
          <p:cNvPr id="30" name="Text 23"/>
          <p:cNvSpPr txBox="1"/>
          <p:nvPr/>
        </p:nvSpPr>
        <p:spPr>
          <a:xfrm>
            <a:off x="9153144" y="2358238"/>
            <a:ext cx="232989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사이드바에 달력을 표시하고, 주간/월간 노트를 체계적으로 관리하여 회고와 계획 루틴을 돕습니다.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71500" y="3924605"/>
            <a:ext cx="2648102" cy="2553005"/>
          </a:xfrm>
          <a:prstGeom prst="roundRect">
            <a:avLst>
              <a:gd name="adj" fmla="val 1871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52551" y="410565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EC4899">
              <a:alpha val="10000"/>
            </a:srgbClr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2221" y="4205326"/>
            <a:ext cx="181051" cy="181051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52551" y="4600346"/>
            <a:ext cx="924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Excalidraw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752551" y="4848149"/>
            <a:ext cx="1239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WHITEBOARD</a:t>
            </a:r>
            <a:endParaRPr lang="en-US" sz="800" dirty="0"/>
          </a:p>
        </p:txBody>
      </p:sp>
      <p:sp>
        <p:nvSpPr>
          <p:cNvPr id="36" name="Text 28"/>
          <p:cNvSpPr txBox="1"/>
          <p:nvPr/>
        </p:nvSpPr>
        <p:spPr>
          <a:xfrm>
            <a:off x="752551" y="5063947"/>
            <a:ext cx="232074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안에 손그림 스타일의 다이어그램을 그립니다. 텍스트와 그림을 자유롭게 오가며 시각적 사고를 확장합니다.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3372307" y="3924605"/>
            <a:ext cx="2648102" cy="2553005"/>
          </a:xfrm>
          <a:prstGeom prst="roundRect">
            <a:avLst>
              <a:gd name="adj" fmla="val 1871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552444" y="410565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F97316">
              <a:alpha val="10000"/>
            </a:srgbClr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l="-1082" r="-1082"/>
          <a:stretch/>
        </p:blipFill>
        <p:spPr>
          <a:xfrm>
            <a:off x="3662172" y="4205326"/>
            <a:ext cx="161849" cy="181051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552444" y="4600346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Obsidian Git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3552444" y="4848149"/>
            <a:ext cx="1619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 CONTROL &amp; BACKUP</a:t>
            </a:r>
            <a:endParaRPr lang="en-US" sz="800" dirty="0"/>
          </a:p>
        </p:txBody>
      </p:sp>
      <p:sp>
        <p:nvSpPr>
          <p:cNvPr id="42" name="Text 33"/>
          <p:cNvSpPr txBox="1"/>
          <p:nvPr/>
        </p:nvSpPr>
        <p:spPr>
          <a:xfrm>
            <a:off x="3552444" y="5063947"/>
            <a:ext cx="234909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리포지토리에 노트를 자동으로 백업합니다. 버전 관리가 가능하여 변경 이력을 추적하고 복구할 수 있습니다.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6172200" y="3924605"/>
            <a:ext cx="2648102" cy="2553005"/>
          </a:xfrm>
          <a:prstGeom prst="roundRect">
            <a:avLst>
              <a:gd name="adj" fmla="val 1871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353251" y="410565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6366F1">
              <a:alpha val="10000"/>
            </a:srgbClr>
          </a:solidFill>
          <a:ln/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52921" y="4205326"/>
            <a:ext cx="181051" cy="181051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6353251" y="460034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Tables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6353251" y="4848149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EASIER TABLE EDITING</a:t>
            </a:r>
            <a:endParaRPr lang="en-US" sz="800" dirty="0"/>
          </a:p>
        </p:txBody>
      </p:sp>
      <p:sp>
        <p:nvSpPr>
          <p:cNvPr id="48" name="Text 38"/>
          <p:cNvSpPr txBox="1"/>
          <p:nvPr/>
        </p:nvSpPr>
        <p:spPr>
          <a:xfrm>
            <a:off x="6353251" y="5063947"/>
            <a:ext cx="237744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 표 작성을 엑셀처럼 쉽게 만듭니다. 탭 키로 이동, 자동 정렬, 수식 계산 등 편집 기능을 대폭 강화합니다.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8973007" y="3924605"/>
            <a:ext cx="2648102" cy="2553005"/>
          </a:xfrm>
          <a:prstGeom prst="roundRect">
            <a:avLst>
              <a:gd name="adj" fmla="val 187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9153144" y="410565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9CA3AF">
              <a:alpha val="10000"/>
            </a:srgbClr>
          </a:solidFill>
          <a:ln/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253728" y="4205326"/>
            <a:ext cx="181051" cy="181051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9153144" y="4600346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방법</a:t>
            </a:r>
            <a:endParaRPr lang="en-US" sz="1200" dirty="0"/>
          </a:p>
        </p:txBody>
      </p:sp>
      <p:sp>
        <p:nvSpPr>
          <p:cNvPr id="53" name="Text 42"/>
          <p:cNvSpPr txBox="1"/>
          <p:nvPr/>
        </p:nvSpPr>
        <p:spPr>
          <a:xfrm>
            <a:off x="9153144" y="4848149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 TO INSTALL</a:t>
            </a:r>
            <a:endParaRPr lang="en-US" sz="800" dirty="0"/>
          </a:p>
        </p:txBody>
      </p:sp>
      <p:sp>
        <p:nvSpPr>
          <p:cNvPr id="54" name="Text 43"/>
          <p:cNvSpPr txBox="1"/>
          <p:nvPr/>
        </p:nvSpPr>
        <p:spPr>
          <a:xfrm>
            <a:off x="9153144" y="5063947"/>
            <a:ext cx="2311603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Settings &gt; Community Plugins 1. 'Turn on' 클릭 (안전 모드 해제) 2. 'Browse' 버튼 클릭 3. 플러그인 검색 및 Install/Enable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18895"/>
            <a:ext cx="2619756" cy="2533802"/>
          </a:xfrm>
          <a:prstGeom prst="roundRect">
            <a:avLst>
              <a:gd name="adj" fmla="val 1628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0644" y="1228954"/>
            <a:ext cx="2600554" cy="418795"/>
          </a:xfrm>
          <a:prstGeom prst="rect">
            <a:avLst/>
          </a:prstGeom>
          <a:solidFill>
            <a:srgbClr val="A882FF">
              <a:alpha val="1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80644" y="1638605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428" r="-428"/>
          <a:stretch/>
        </p:blipFill>
        <p:spPr>
          <a:xfrm>
            <a:off x="733349" y="1360627"/>
            <a:ext cx="161849" cy="14264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72007" y="1324051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 팔레트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0644" y="1645920"/>
            <a:ext cx="2600554" cy="99029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11" name="Shape 7"/>
          <p:cNvSpPr/>
          <p:nvPr/>
        </p:nvSpPr>
        <p:spPr>
          <a:xfrm>
            <a:off x="580644" y="2627071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80644" y="2632558"/>
            <a:ext cx="2600554" cy="11146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Shape 9"/>
          <p:cNvSpPr/>
          <p:nvPr/>
        </p:nvSpPr>
        <p:spPr>
          <a:xfrm>
            <a:off x="1402690" y="3034894"/>
            <a:ext cx="485546" cy="304495"/>
          </a:xfrm>
          <a:prstGeom prst="roundRect">
            <a:avLst>
              <a:gd name="adj" fmla="val 56306"/>
            </a:avLst>
          </a:prstGeom>
          <a:noFill/>
          <a:ln w="12700">
            <a:solidFill>
              <a:srgbClr val="4A4A5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1506931" y="3075127"/>
            <a:ext cx="3794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Ctrl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082089" y="3034894"/>
            <a:ext cx="286207" cy="304495"/>
          </a:xfrm>
          <a:prstGeom prst="roundRect">
            <a:avLst>
              <a:gd name="adj" fmla="val 63898"/>
            </a:avLst>
          </a:prstGeom>
          <a:noFill/>
          <a:ln w="127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2186330" y="3075127"/>
            <a:ext cx="1792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381451" y="1218895"/>
            <a:ext cx="2619756" cy="2533802"/>
          </a:xfrm>
          <a:prstGeom prst="roundRect">
            <a:avLst>
              <a:gd name="adj" fmla="val 1628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390595" y="1228954"/>
            <a:ext cx="2600554" cy="418795"/>
          </a:xfrm>
          <a:prstGeom prst="rect">
            <a:avLst/>
          </a:prstGeom>
          <a:solidFill>
            <a:srgbClr val="A882FF">
              <a:alpha val="15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3390595" y="1638605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43300" y="1360627"/>
            <a:ext cx="142646" cy="14264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762756" y="1324051"/>
            <a:ext cx="69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퀵 스위처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390595" y="1645920"/>
            <a:ext cx="2600554" cy="99029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23" name="Shape 18"/>
          <p:cNvSpPr/>
          <p:nvPr/>
        </p:nvSpPr>
        <p:spPr>
          <a:xfrm>
            <a:off x="3390595" y="2627071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3390595" y="2632558"/>
            <a:ext cx="2600554" cy="11146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Shape 20"/>
          <p:cNvSpPr/>
          <p:nvPr/>
        </p:nvSpPr>
        <p:spPr>
          <a:xfrm>
            <a:off x="4212641" y="3034894"/>
            <a:ext cx="485546" cy="304495"/>
          </a:xfrm>
          <a:prstGeom prst="roundRect">
            <a:avLst>
              <a:gd name="adj" fmla="val 56306"/>
            </a:avLst>
          </a:prstGeom>
          <a:noFill/>
          <a:ln w="12700">
            <a:solidFill>
              <a:srgbClr val="4A4A5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4316882" y="3075127"/>
            <a:ext cx="3794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Ctrl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891126" y="3034894"/>
            <a:ext cx="286207" cy="304495"/>
          </a:xfrm>
          <a:prstGeom prst="roundRect">
            <a:avLst>
              <a:gd name="adj" fmla="val 63898"/>
            </a:avLst>
          </a:prstGeom>
          <a:noFill/>
          <a:ln w="127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4996282" y="3075127"/>
            <a:ext cx="1792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O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191402" y="1218895"/>
            <a:ext cx="2619756" cy="2533802"/>
          </a:xfrm>
          <a:prstGeom prst="roundRect">
            <a:avLst>
              <a:gd name="adj" fmla="val 1628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200546" y="1228954"/>
            <a:ext cx="2600554" cy="418795"/>
          </a:xfrm>
          <a:prstGeom prst="rect">
            <a:avLst/>
          </a:prstGeom>
          <a:solidFill>
            <a:srgbClr val="A882FF">
              <a:alpha val="15000"/>
            </a:srgbClr>
          </a:solidFill>
          <a:ln/>
        </p:spPr>
      </p:sp>
      <p:sp>
        <p:nvSpPr>
          <p:cNvPr id="31" name="Shape 26"/>
          <p:cNvSpPr/>
          <p:nvPr/>
        </p:nvSpPr>
        <p:spPr>
          <a:xfrm>
            <a:off x="6200546" y="1638605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 l="-428" r="-428"/>
          <a:stretch/>
        </p:blipFill>
        <p:spPr>
          <a:xfrm>
            <a:off x="6353251" y="1360627"/>
            <a:ext cx="161849" cy="14264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590995" y="1324051"/>
            <a:ext cx="5568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노트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200546" y="1645920"/>
            <a:ext cx="2600554" cy="99029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35" name="Shape 29"/>
          <p:cNvSpPr/>
          <p:nvPr/>
        </p:nvSpPr>
        <p:spPr>
          <a:xfrm>
            <a:off x="6200546" y="2627071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6200546" y="2632558"/>
            <a:ext cx="2600554" cy="11146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7" name="Shape 31"/>
          <p:cNvSpPr/>
          <p:nvPr/>
        </p:nvSpPr>
        <p:spPr>
          <a:xfrm>
            <a:off x="7022592" y="3034894"/>
            <a:ext cx="485546" cy="304495"/>
          </a:xfrm>
          <a:prstGeom prst="roundRect">
            <a:avLst>
              <a:gd name="adj" fmla="val 56306"/>
            </a:avLst>
          </a:prstGeom>
          <a:noFill/>
          <a:ln w="12700">
            <a:solidFill>
              <a:srgbClr val="4A4A5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32"/>
          <p:cNvSpPr txBox="1"/>
          <p:nvPr/>
        </p:nvSpPr>
        <p:spPr>
          <a:xfrm>
            <a:off x="7126834" y="3075127"/>
            <a:ext cx="3794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Ctrl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7701077" y="3034894"/>
            <a:ext cx="286207" cy="304495"/>
          </a:xfrm>
          <a:prstGeom prst="roundRect">
            <a:avLst>
              <a:gd name="adj" fmla="val 63898"/>
            </a:avLst>
          </a:prstGeom>
          <a:noFill/>
          <a:ln w="127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4"/>
          <p:cNvSpPr txBox="1"/>
          <p:nvPr/>
        </p:nvSpPr>
        <p:spPr>
          <a:xfrm>
            <a:off x="7806233" y="3075127"/>
            <a:ext cx="1792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N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9001354" y="1218895"/>
            <a:ext cx="2619756" cy="2533802"/>
          </a:xfrm>
          <a:prstGeom prst="roundRect">
            <a:avLst>
              <a:gd name="adj" fmla="val 1628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9010498" y="1228954"/>
            <a:ext cx="2600554" cy="418795"/>
          </a:xfrm>
          <a:prstGeom prst="rect">
            <a:avLst/>
          </a:prstGeom>
          <a:solidFill>
            <a:srgbClr val="A882FF">
              <a:alpha val="15000"/>
            </a:srgbClr>
          </a:solidFill>
          <a:ln/>
        </p:spPr>
      </p:sp>
      <p:sp>
        <p:nvSpPr>
          <p:cNvPr id="43" name="Shape 37"/>
          <p:cNvSpPr/>
          <p:nvPr/>
        </p:nvSpPr>
        <p:spPr>
          <a:xfrm>
            <a:off x="9010498" y="1638605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63202" y="1360627"/>
            <a:ext cx="142646" cy="142646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381744" y="1324051"/>
            <a:ext cx="8613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탭에 열기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9010498" y="1645920"/>
            <a:ext cx="2600554" cy="99029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47" name="Shape 40"/>
          <p:cNvSpPr/>
          <p:nvPr/>
        </p:nvSpPr>
        <p:spPr>
          <a:xfrm>
            <a:off x="9010498" y="2627071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8" name="Shape 41"/>
          <p:cNvSpPr/>
          <p:nvPr/>
        </p:nvSpPr>
        <p:spPr>
          <a:xfrm>
            <a:off x="9010498" y="2632558"/>
            <a:ext cx="2600554" cy="11146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9" name="Shape 42"/>
          <p:cNvSpPr/>
          <p:nvPr/>
        </p:nvSpPr>
        <p:spPr>
          <a:xfrm>
            <a:off x="9458554" y="3034894"/>
            <a:ext cx="485546" cy="304495"/>
          </a:xfrm>
          <a:prstGeom prst="roundRect">
            <a:avLst>
              <a:gd name="adj" fmla="val 56306"/>
            </a:avLst>
          </a:prstGeom>
          <a:noFill/>
          <a:ln w="12700">
            <a:solidFill>
              <a:srgbClr val="4A4A5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Text 43"/>
          <p:cNvSpPr txBox="1"/>
          <p:nvPr/>
        </p:nvSpPr>
        <p:spPr>
          <a:xfrm>
            <a:off x="9562795" y="3075127"/>
            <a:ext cx="3794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Ctrl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10137038" y="3034894"/>
            <a:ext cx="552298" cy="304495"/>
          </a:xfrm>
          <a:prstGeom prst="roundRect">
            <a:avLst>
              <a:gd name="adj" fmla="val 56306"/>
            </a:avLst>
          </a:prstGeom>
          <a:noFill/>
          <a:ln w="12700">
            <a:solidFill>
              <a:srgbClr val="4A4A5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2" name="Text 45"/>
          <p:cNvSpPr txBox="1"/>
          <p:nvPr/>
        </p:nvSpPr>
        <p:spPr>
          <a:xfrm>
            <a:off x="10242194" y="3075127"/>
            <a:ext cx="44622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Shift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10885018" y="3034894"/>
            <a:ext cx="286207" cy="304495"/>
          </a:xfrm>
          <a:prstGeom prst="roundRect">
            <a:avLst>
              <a:gd name="adj" fmla="val 63898"/>
            </a:avLst>
          </a:prstGeom>
          <a:noFill/>
          <a:ln w="127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4" name="Text 47"/>
          <p:cNvSpPr txBox="1"/>
          <p:nvPr/>
        </p:nvSpPr>
        <p:spPr>
          <a:xfrm>
            <a:off x="10990174" y="3075127"/>
            <a:ext cx="1792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N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571500" y="3943807"/>
            <a:ext cx="2619756" cy="2533802"/>
          </a:xfrm>
          <a:prstGeom prst="roundRect">
            <a:avLst>
              <a:gd name="adj" fmla="val 1628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580644" y="3952951"/>
            <a:ext cx="2600554" cy="418795"/>
          </a:xfrm>
          <a:prstGeom prst="rect">
            <a:avLst/>
          </a:prstGeom>
          <a:solidFill>
            <a:srgbClr val="A882FF">
              <a:alpha val="15000"/>
            </a:srgbClr>
          </a:solidFill>
          <a:ln/>
        </p:spPr>
      </p:sp>
      <p:sp>
        <p:nvSpPr>
          <p:cNvPr id="57" name="Shape 50"/>
          <p:cNvSpPr/>
          <p:nvPr/>
        </p:nvSpPr>
        <p:spPr>
          <a:xfrm>
            <a:off x="580644" y="4362602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3349" y="4085539"/>
            <a:ext cx="142646" cy="142646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952805" y="4048049"/>
            <a:ext cx="69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검색</a:t>
            </a:r>
            <a:endParaRPr lang="en-US" sz="1100" dirty="0"/>
          </a:p>
        </p:txBody>
      </p:sp>
      <p:sp>
        <p:nvSpPr>
          <p:cNvPr id="60" name="Shape 52"/>
          <p:cNvSpPr/>
          <p:nvPr/>
        </p:nvSpPr>
        <p:spPr>
          <a:xfrm>
            <a:off x="580644" y="4369918"/>
            <a:ext cx="2600554" cy="99029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61" name="Shape 53"/>
          <p:cNvSpPr/>
          <p:nvPr/>
        </p:nvSpPr>
        <p:spPr>
          <a:xfrm>
            <a:off x="580644" y="5351069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2" name="Shape 54"/>
          <p:cNvSpPr/>
          <p:nvPr/>
        </p:nvSpPr>
        <p:spPr>
          <a:xfrm>
            <a:off x="580644" y="5356555"/>
            <a:ext cx="2600554" cy="11146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3" name="Shape 55"/>
          <p:cNvSpPr/>
          <p:nvPr/>
        </p:nvSpPr>
        <p:spPr>
          <a:xfrm>
            <a:off x="1028700" y="5759806"/>
            <a:ext cx="485546" cy="304495"/>
          </a:xfrm>
          <a:prstGeom prst="roundRect">
            <a:avLst>
              <a:gd name="adj" fmla="val 56306"/>
            </a:avLst>
          </a:prstGeom>
          <a:noFill/>
          <a:ln w="12700">
            <a:solidFill>
              <a:srgbClr val="4A4A5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4" name="Text 56"/>
          <p:cNvSpPr txBox="1"/>
          <p:nvPr/>
        </p:nvSpPr>
        <p:spPr>
          <a:xfrm>
            <a:off x="1133856" y="5799125"/>
            <a:ext cx="3794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Ctrl</a:t>
            </a:r>
            <a:endParaRPr lang="en-US" sz="1000" dirty="0"/>
          </a:p>
        </p:txBody>
      </p:sp>
      <p:sp>
        <p:nvSpPr>
          <p:cNvPr id="65" name="Shape 57"/>
          <p:cNvSpPr/>
          <p:nvPr/>
        </p:nvSpPr>
        <p:spPr>
          <a:xfrm>
            <a:off x="1708099" y="5759806"/>
            <a:ext cx="552298" cy="304495"/>
          </a:xfrm>
          <a:prstGeom prst="roundRect">
            <a:avLst>
              <a:gd name="adj" fmla="val 56306"/>
            </a:avLst>
          </a:prstGeom>
          <a:noFill/>
          <a:ln w="12700">
            <a:solidFill>
              <a:srgbClr val="4A4A5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6" name="Text 58"/>
          <p:cNvSpPr txBox="1"/>
          <p:nvPr/>
        </p:nvSpPr>
        <p:spPr>
          <a:xfrm>
            <a:off x="1812341" y="5799125"/>
            <a:ext cx="44622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Shift</a:t>
            </a:r>
            <a:endParaRPr lang="en-US" sz="1000" dirty="0"/>
          </a:p>
        </p:txBody>
      </p:sp>
      <p:sp>
        <p:nvSpPr>
          <p:cNvPr id="67" name="Shape 59"/>
          <p:cNvSpPr/>
          <p:nvPr/>
        </p:nvSpPr>
        <p:spPr>
          <a:xfrm>
            <a:off x="2455164" y="5759806"/>
            <a:ext cx="286207" cy="304495"/>
          </a:xfrm>
          <a:prstGeom prst="roundRect">
            <a:avLst>
              <a:gd name="adj" fmla="val 63898"/>
            </a:avLst>
          </a:prstGeom>
          <a:noFill/>
          <a:ln w="127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8" name="Text 60"/>
          <p:cNvSpPr txBox="1"/>
          <p:nvPr/>
        </p:nvSpPr>
        <p:spPr>
          <a:xfrm>
            <a:off x="2560320" y="5799125"/>
            <a:ext cx="1792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F</a:t>
            </a:r>
            <a:endParaRPr lang="en-US" sz="1000" dirty="0"/>
          </a:p>
        </p:txBody>
      </p:sp>
      <p:sp>
        <p:nvSpPr>
          <p:cNvPr id="69" name="Shape 61"/>
          <p:cNvSpPr/>
          <p:nvPr/>
        </p:nvSpPr>
        <p:spPr>
          <a:xfrm>
            <a:off x="3381451" y="3943807"/>
            <a:ext cx="2619756" cy="2533802"/>
          </a:xfrm>
          <a:prstGeom prst="roundRect">
            <a:avLst>
              <a:gd name="adj" fmla="val 1628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3390595" y="3952951"/>
            <a:ext cx="2600554" cy="418795"/>
          </a:xfrm>
          <a:prstGeom prst="rect">
            <a:avLst/>
          </a:prstGeom>
          <a:solidFill>
            <a:srgbClr val="A882FF">
              <a:alpha val="15000"/>
            </a:srgbClr>
          </a:solidFill>
          <a:ln/>
        </p:spPr>
      </p:sp>
      <p:sp>
        <p:nvSpPr>
          <p:cNvPr id="71" name="Shape 63"/>
          <p:cNvSpPr/>
          <p:nvPr/>
        </p:nvSpPr>
        <p:spPr>
          <a:xfrm>
            <a:off x="3390595" y="4362602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72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543300" y="4085539"/>
            <a:ext cx="142646" cy="142646"/>
          </a:xfrm>
          <a:prstGeom prst="rect">
            <a:avLst/>
          </a:prstGeom>
        </p:spPr>
      </p:pic>
      <p:sp>
        <p:nvSpPr>
          <p:cNvPr id="73" name="Text 64"/>
          <p:cNvSpPr txBox="1"/>
          <p:nvPr/>
        </p:nvSpPr>
        <p:spPr>
          <a:xfrm>
            <a:off x="3762756" y="4048049"/>
            <a:ext cx="994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노트 찾기</a:t>
            </a:r>
            <a:endParaRPr lang="en-US" sz="1100" dirty="0"/>
          </a:p>
        </p:txBody>
      </p:sp>
      <p:sp>
        <p:nvSpPr>
          <p:cNvPr id="74" name="Shape 65"/>
          <p:cNvSpPr/>
          <p:nvPr/>
        </p:nvSpPr>
        <p:spPr>
          <a:xfrm>
            <a:off x="3390595" y="4369918"/>
            <a:ext cx="2600554" cy="99029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75" name="Shape 66"/>
          <p:cNvSpPr/>
          <p:nvPr/>
        </p:nvSpPr>
        <p:spPr>
          <a:xfrm>
            <a:off x="3390595" y="5351069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6" name="Shape 67"/>
          <p:cNvSpPr/>
          <p:nvPr/>
        </p:nvSpPr>
        <p:spPr>
          <a:xfrm>
            <a:off x="3390595" y="5356555"/>
            <a:ext cx="2600554" cy="11146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7" name="Shape 68"/>
          <p:cNvSpPr/>
          <p:nvPr/>
        </p:nvSpPr>
        <p:spPr>
          <a:xfrm>
            <a:off x="4212641" y="5759806"/>
            <a:ext cx="485546" cy="304495"/>
          </a:xfrm>
          <a:prstGeom prst="roundRect">
            <a:avLst>
              <a:gd name="adj" fmla="val 56306"/>
            </a:avLst>
          </a:prstGeom>
          <a:noFill/>
          <a:ln w="12700">
            <a:solidFill>
              <a:srgbClr val="4A4A5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8" name="Text 69"/>
          <p:cNvSpPr txBox="1"/>
          <p:nvPr/>
        </p:nvSpPr>
        <p:spPr>
          <a:xfrm>
            <a:off x="4316882" y="5799125"/>
            <a:ext cx="3794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Ctrl</a:t>
            </a:r>
            <a:endParaRPr lang="en-US" sz="1000" dirty="0"/>
          </a:p>
        </p:txBody>
      </p:sp>
      <p:sp>
        <p:nvSpPr>
          <p:cNvPr id="79" name="Shape 70"/>
          <p:cNvSpPr/>
          <p:nvPr/>
        </p:nvSpPr>
        <p:spPr>
          <a:xfrm>
            <a:off x="4891126" y="5759806"/>
            <a:ext cx="286207" cy="304495"/>
          </a:xfrm>
          <a:prstGeom prst="roundRect">
            <a:avLst>
              <a:gd name="adj" fmla="val 63898"/>
            </a:avLst>
          </a:prstGeom>
          <a:noFill/>
          <a:ln w="127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0" name="Text 71"/>
          <p:cNvSpPr txBox="1"/>
          <p:nvPr/>
        </p:nvSpPr>
        <p:spPr>
          <a:xfrm>
            <a:off x="4996282" y="5799125"/>
            <a:ext cx="1792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F</a:t>
            </a:r>
            <a:endParaRPr lang="en-US" sz="1000" dirty="0"/>
          </a:p>
        </p:txBody>
      </p:sp>
      <p:sp>
        <p:nvSpPr>
          <p:cNvPr id="81" name="Shape 72"/>
          <p:cNvSpPr/>
          <p:nvPr/>
        </p:nvSpPr>
        <p:spPr>
          <a:xfrm>
            <a:off x="6191402" y="3943807"/>
            <a:ext cx="2619756" cy="2533802"/>
          </a:xfrm>
          <a:prstGeom prst="roundRect">
            <a:avLst>
              <a:gd name="adj" fmla="val 1628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2" name="Shape 73"/>
          <p:cNvSpPr/>
          <p:nvPr/>
        </p:nvSpPr>
        <p:spPr>
          <a:xfrm>
            <a:off x="6200546" y="3952951"/>
            <a:ext cx="2600554" cy="418795"/>
          </a:xfrm>
          <a:prstGeom prst="rect">
            <a:avLst/>
          </a:prstGeom>
          <a:solidFill>
            <a:srgbClr val="A882FF">
              <a:alpha val="15000"/>
            </a:srgbClr>
          </a:solidFill>
          <a:ln/>
        </p:spPr>
      </p:sp>
      <p:sp>
        <p:nvSpPr>
          <p:cNvPr id="83" name="Shape 74"/>
          <p:cNvSpPr/>
          <p:nvPr/>
        </p:nvSpPr>
        <p:spPr>
          <a:xfrm>
            <a:off x="6200546" y="4362602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4" name="Image 7" descr="preencoded.png"/>
          <p:cNvPicPr>
            <a:picLocks noChangeAspect="1"/>
          </p:cNvPicPr>
          <p:nvPr/>
        </p:nvPicPr>
        <p:blipFill>
          <a:blip r:embed="rId9"/>
          <a:srcRect l="-428" r="-428"/>
          <a:stretch/>
        </p:blipFill>
        <p:spPr>
          <a:xfrm>
            <a:off x="6353251" y="4085539"/>
            <a:ext cx="161849" cy="142646"/>
          </a:xfrm>
          <a:prstGeom prst="rect">
            <a:avLst/>
          </a:prstGeom>
        </p:spPr>
      </p:pic>
      <p:sp>
        <p:nvSpPr>
          <p:cNvPr id="85" name="Text 75"/>
          <p:cNvSpPr txBox="1"/>
          <p:nvPr/>
        </p:nvSpPr>
        <p:spPr>
          <a:xfrm>
            <a:off x="6590995" y="4048049"/>
            <a:ext cx="10140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읽기/편집 전환</a:t>
            </a:r>
            <a:endParaRPr lang="en-US" sz="1100" dirty="0"/>
          </a:p>
        </p:txBody>
      </p:sp>
      <p:sp>
        <p:nvSpPr>
          <p:cNvPr id="86" name="Shape 76"/>
          <p:cNvSpPr/>
          <p:nvPr/>
        </p:nvSpPr>
        <p:spPr>
          <a:xfrm>
            <a:off x="6200546" y="4369918"/>
            <a:ext cx="2600554" cy="99029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87" name="Shape 77"/>
          <p:cNvSpPr/>
          <p:nvPr/>
        </p:nvSpPr>
        <p:spPr>
          <a:xfrm>
            <a:off x="6200546" y="5351069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8" name="Shape 78"/>
          <p:cNvSpPr/>
          <p:nvPr/>
        </p:nvSpPr>
        <p:spPr>
          <a:xfrm>
            <a:off x="6200546" y="5356555"/>
            <a:ext cx="2600554" cy="11146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9" name="Shape 79"/>
          <p:cNvSpPr/>
          <p:nvPr/>
        </p:nvSpPr>
        <p:spPr>
          <a:xfrm>
            <a:off x="7022592" y="5759806"/>
            <a:ext cx="485546" cy="304495"/>
          </a:xfrm>
          <a:prstGeom prst="roundRect">
            <a:avLst>
              <a:gd name="adj" fmla="val 56306"/>
            </a:avLst>
          </a:prstGeom>
          <a:noFill/>
          <a:ln w="12700">
            <a:solidFill>
              <a:srgbClr val="4A4A5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0" name="Text 80"/>
          <p:cNvSpPr txBox="1"/>
          <p:nvPr/>
        </p:nvSpPr>
        <p:spPr>
          <a:xfrm>
            <a:off x="7126834" y="5799125"/>
            <a:ext cx="3794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Ctrl</a:t>
            </a:r>
            <a:endParaRPr lang="en-US" sz="1000" dirty="0"/>
          </a:p>
        </p:txBody>
      </p:sp>
      <p:sp>
        <p:nvSpPr>
          <p:cNvPr id="91" name="Shape 81"/>
          <p:cNvSpPr/>
          <p:nvPr/>
        </p:nvSpPr>
        <p:spPr>
          <a:xfrm>
            <a:off x="7701077" y="5759806"/>
            <a:ext cx="286207" cy="304495"/>
          </a:xfrm>
          <a:prstGeom prst="roundRect">
            <a:avLst>
              <a:gd name="adj" fmla="val 63898"/>
            </a:avLst>
          </a:prstGeom>
          <a:noFill/>
          <a:ln w="127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2" name="Text 82"/>
          <p:cNvSpPr txBox="1"/>
          <p:nvPr/>
        </p:nvSpPr>
        <p:spPr>
          <a:xfrm>
            <a:off x="7806233" y="5799125"/>
            <a:ext cx="1792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</a:t>
            </a:r>
            <a:endParaRPr lang="en-US" sz="1000" dirty="0"/>
          </a:p>
        </p:txBody>
      </p:sp>
      <p:sp>
        <p:nvSpPr>
          <p:cNvPr id="93" name="Shape 83"/>
          <p:cNvSpPr/>
          <p:nvPr/>
        </p:nvSpPr>
        <p:spPr>
          <a:xfrm>
            <a:off x="9001354" y="3943807"/>
            <a:ext cx="2619756" cy="2533802"/>
          </a:xfrm>
          <a:prstGeom prst="roundRect">
            <a:avLst>
              <a:gd name="adj" fmla="val 1628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4" name="Shape 84"/>
          <p:cNvSpPr/>
          <p:nvPr/>
        </p:nvSpPr>
        <p:spPr>
          <a:xfrm>
            <a:off x="9010498" y="3952951"/>
            <a:ext cx="2600554" cy="418795"/>
          </a:xfrm>
          <a:prstGeom prst="rect">
            <a:avLst/>
          </a:prstGeom>
          <a:solidFill>
            <a:srgbClr val="A882FF">
              <a:alpha val="15000"/>
            </a:srgbClr>
          </a:solidFill>
          <a:ln/>
        </p:spPr>
      </p:sp>
      <p:sp>
        <p:nvSpPr>
          <p:cNvPr id="95" name="Shape 85"/>
          <p:cNvSpPr/>
          <p:nvPr/>
        </p:nvSpPr>
        <p:spPr>
          <a:xfrm>
            <a:off x="9010498" y="4362602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96" name="Image 8" descr="preencoded.png"/>
          <p:cNvPicPr>
            <a:picLocks noChangeAspect="1"/>
          </p:cNvPicPr>
          <p:nvPr/>
        </p:nvPicPr>
        <p:blipFill>
          <a:blip r:embed="rId10"/>
          <a:srcRect t="-870" b="-870"/>
          <a:stretch/>
        </p:blipFill>
        <p:spPr>
          <a:xfrm>
            <a:off x="9163202" y="4085539"/>
            <a:ext cx="105156" cy="142646"/>
          </a:xfrm>
          <a:prstGeom prst="rect">
            <a:avLst/>
          </a:prstGeom>
        </p:spPr>
      </p:pic>
      <p:sp>
        <p:nvSpPr>
          <p:cNvPr id="97" name="Text 86"/>
          <p:cNvSpPr txBox="1"/>
          <p:nvPr/>
        </p:nvSpPr>
        <p:spPr>
          <a:xfrm>
            <a:off x="9344254" y="4048049"/>
            <a:ext cx="9189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굵게 / 기울임</a:t>
            </a:r>
            <a:endParaRPr lang="en-US" sz="1100" dirty="0"/>
          </a:p>
        </p:txBody>
      </p:sp>
      <p:sp>
        <p:nvSpPr>
          <p:cNvPr id="98" name="Shape 87"/>
          <p:cNvSpPr/>
          <p:nvPr/>
        </p:nvSpPr>
        <p:spPr>
          <a:xfrm>
            <a:off x="9010498" y="4369918"/>
            <a:ext cx="2600554" cy="99029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99" name="Shape 88"/>
          <p:cNvSpPr/>
          <p:nvPr/>
        </p:nvSpPr>
        <p:spPr>
          <a:xfrm>
            <a:off x="9010498" y="5351069"/>
            <a:ext cx="26005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0" name="Shape 89"/>
          <p:cNvSpPr/>
          <p:nvPr/>
        </p:nvSpPr>
        <p:spPr>
          <a:xfrm>
            <a:off x="9010498" y="5356555"/>
            <a:ext cx="2600554" cy="11146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1" name="Shape 90"/>
          <p:cNvSpPr/>
          <p:nvPr/>
        </p:nvSpPr>
        <p:spPr>
          <a:xfrm>
            <a:off x="9568282" y="5759806"/>
            <a:ext cx="485546" cy="304495"/>
          </a:xfrm>
          <a:prstGeom prst="roundRect">
            <a:avLst>
              <a:gd name="adj" fmla="val 56306"/>
            </a:avLst>
          </a:prstGeom>
          <a:noFill/>
          <a:ln w="12700">
            <a:solidFill>
              <a:srgbClr val="4A4A5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2" name="Text 91"/>
          <p:cNvSpPr txBox="1"/>
          <p:nvPr/>
        </p:nvSpPr>
        <p:spPr>
          <a:xfrm>
            <a:off x="9672523" y="5799125"/>
            <a:ext cx="3794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Ctrl</a:t>
            </a:r>
            <a:endParaRPr lang="en-US" sz="1000" dirty="0"/>
          </a:p>
        </p:txBody>
      </p:sp>
      <p:sp>
        <p:nvSpPr>
          <p:cNvPr id="103" name="Shape 92"/>
          <p:cNvSpPr/>
          <p:nvPr/>
        </p:nvSpPr>
        <p:spPr>
          <a:xfrm>
            <a:off x="10246766" y="5759806"/>
            <a:ext cx="286207" cy="304495"/>
          </a:xfrm>
          <a:prstGeom prst="roundRect">
            <a:avLst>
              <a:gd name="adj" fmla="val 63898"/>
            </a:avLst>
          </a:prstGeom>
          <a:noFill/>
          <a:ln w="127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4" name="Text 93"/>
          <p:cNvSpPr txBox="1"/>
          <p:nvPr/>
        </p:nvSpPr>
        <p:spPr>
          <a:xfrm>
            <a:off x="10351922" y="5799125"/>
            <a:ext cx="1792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B</a:t>
            </a:r>
            <a:endParaRPr lang="en-US" sz="1000" dirty="0"/>
          </a:p>
        </p:txBody>
      </p:sp>
      <p:sp>
        <p:nvSpPr>
          <p:cNvPr id="105" name="Shape 94"/>
          <p:cNvSpPr/>
          <p:nvPr/>
        </p:nvSpPr>
        <p:spPr>
          <a:xfrm>
            <a:off x="10775290" y="5759806"/>
            <a:ext cx="286207" cy="304495"/>
          </a:xfrm>
          <a:prstGeom prst="roundRect">
            <a:avLst>
              <a:gd name="adj" fmla="val 63898"/>
            </a:avLst>
          </a:prstGeom>
          <a:noFill/>
          <a:ln w="12700">
            <a:solidFill>
              <a:srgbClr val="8B5CF6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6" name="Text 95"/>
          <p:cNvSpPr txBox="1"/>
          <p:nvPr/>
        </p:nvSpPr>
        <p:spPr>
          <a:xfrm>
            <a:off x="10880446" y="5799125"/>
            <a:ext cx="1792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I</a:t>
            </a:r>
            <a:endParaRPr lang="en-US" sz="1000" dirty="0"/>
          </a:p>
        </p:txBody>
      </p:sp>
      <p:sp>
        <p:nvSpPr>
          <p:cNvPr id="107" name="Text 96"/>
          <p:cNvSpPr txBox="1"/>
          <p:nvPr/>
        </p:nvSpPr>
        <p:spPr>
          <a:xfrm>
            <a:off x="819302" y="381305"/>
            <a:ext cx="1748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ESSENTIAL SHORTCUTS</a:t>
            </a:r>
            <a:endParaRPr lang="en-US" sz="1000" dirty="0"/>
          </a:p>
        </p:txBody>
      </p:sp>
      <p:sp>
        <p:nvSpPr>
          <p:cNvPr id="108" name="Text 97"/>
          <p:cNvSpPr txBox="1"/>
          <p:nvPr/>
        </p:nvSpPr>
        <p:spPr>
          <a:xfrm>
            <a:off x="819302" y="552298"/>
            <a:ext cx="47439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사용하는 필수 단축키 모음</a:t>
            </a:r>
            <a:endParaRPr lang="en-US" sz="2700" dirty="0"/>
          </a:p>
        </p:txBody>
      </p:sp>
      <p:sp>
        <p:nvSpPr>
          <p:cNvPr id="109" name="Text 98"/>
          <p:cNvSpPr txBox="1"/>
          <p:nvPr/>
        </p:nvSpPr>
        <p:spPr>
          <a:xfrm>
            <a:off x="1367942" y="1943100"/>
            <a:ext cx="11265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기능과 설정을</a:t>
            </a:r>
            <a:endParaRPr lang="en-US" sz="1000" dirty="0"/>
          </a:p>
        </p:txBody>
      </p:sp>
      <p:sp>
        <p:nvSpPr>
          <p:cNvPr id="110" name="Text 99"/>
          <p:cNvSpPr txBox="1"/>
          <p:nvPr/>
        </p:nvSpPr>
        <p:spPr>
          <a:xfrm>
            <a:off x="1505102" y="2125066"/>
            <a:ext cx="8503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검색하고 실행</a:t>
            </a:r>
            <a:endParaRPr lang="en-US" sz="1000" dirty="0"/>
          </a:p>
        </p:txBody>
      </p:sp>
      <p:sp>
        <p:nvSpPr>
          <p:cNvPr id="111" name="Text 100"/>
          <p:cNvSpPr txBox="1"/>
          <p:nvPr/>
        </p:nvSpPr>
        <p:spPr>
          <a:xfrm>
            <a:off x="1943100" y="3085186"/>
            <a:ext cx="1892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sp>
        <p:nvSpPr>
          <p:cNvPr id="112" name="Text 101"/>
          <p:cNvSpPr txBox="1"/>
          <p:nvPr/>
        </p:nvSpPr>
        <p:spPr>
          <a:xfrm>
            <a:off x="4118458" y="1943100"/>
            <a:ext cx="12499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이름을 검색하여</a:t>
            </a:r>
            <a:endParaRPr lang="en-US" sz="1000" dirty="0"/>
          </a:p>
        </p:txBody>
      </p:sp>
      <p:sp>
        <p:nvSpPr>
          <p:cNvPr id="113" name="Text 102"/>
          <p:cNvSpPr txBox="1"/>
          <p:nvPr/>
        </p:nvSpPr>
        <p:spPr>
          <a:xfrm>
            <a:off x="4375404" y="2125066"/>
            <a:ext cx="7360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빠르게 이동</a:t>
            </a:r>
            <a:endParaRPr lang="en-US" sz="1000" dirty="0"/>
          </a:p>
        </p:txBody>
      </p:sp>
      <p:sp>
        <p:nvSpPr>
          <p:cNvPr id="114" name="Text 103"/>
          <p:cNvSpPr txBox="1"/>
          <p:nvPr/>
        </p:nvSpPr>
        <p:spPr>
          <a:xfrm>
            <a:off x="4753051" y="3085186"/>
            <a:ext cx="1892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sp>
        <p:nvSpPr>
          <p:cNvPr id="115" name="Text 104"/>
          <p:cNvSpPr txBox="1"/>
          <p:nvPr/>
        </p:nvSpPr>
        <p:spPr>
          <a:xfrm>
            <a:off x="7048195" y="1943100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빈 노트를</a:t>
            </a:r>
            <a:endParaRPr lang="en-US" sz="1000" dirty="0"/>
          </a:p>
        </p:txBody>
      </p:sp>
      <p:sp>
        <p:nvSpPr>
          <p:cNvPr id="116" name="Text 105"/>
          <p:cNvSpPr txBox="1"/>
          <p:nvPr/>
        </p:nvSpPr>
        <p:spPr>
          <a:xfrm>
            <a:off x="7244791" y="2125066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생성</a:t>
            </a:r>
            <a:endParaRPr lang="en-US" sz="1000" dirty="0"/>
          </a:p>
        </p:txBody>
      </p:sp>
      <p:sp>
        <p:nvSpPr>
          <p:cNvPr id="117" name="Text 106"/>
          <p:cNvSpPr txBox="1"/>
          <p:nvPr/>
        </p:nvSpPr>
        <p:spPr>
          <a:xfrm>
            <a:off x="7563002" y="3085186"/>
            <a:ext cx="1892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sp>
        <p:nvSpPr>
          <p:cNvPr id="118" name="Text 107"/>
          <p:cNvSpPr txBox="1"/>
          <p:nvPr/>
        </p:nvSpPr>
        <p:spPr>
          <a:xfrm>
            <a:off x="9797796" y="1943100"/>
            <a:ext cx="11265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링크나 노트를</a:t>
            </a:r>
            <a:endParaRPr lang="en-US" sz="1000" dirty="0"/>
          </a:p>
        </p:txBody>
      </p:sp>
      <p:sp>
        <p:nvSpPr>
          <p:cNvPr id="119" name="Text 108"/>
          <p:cNvSpPr txBox="1"/>
          <p:nvPr/>
        </p:nvSpPr>
        <p:spPr>
          <a:xfrm>
            <a:off x="9813341" y="2125066"/>
            <a:ext cx="10972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탭(패널)에 열기</a:t>
            </a:r>
            <a:endParaRPr lang="en-US" sz="1000" dirty="0"/>
          </a:p>
        </p:txBody>
      </p:sp>
      <p:sp>
        <p:nvSpPr>
          <p:cNvPr id="120" name="Text 109"/>
          <p:cNvSpPr txBox="1"/>
          <p:nvPr/>
        </p:nvSpPr>
        <p:spPr>
          <a:xfrm>
            <a:off x="9998964" y="3085186"/>
            <a:ext cx="1892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sp>
        <p:nvSpPr>
          <p:cNvPr id="121" name="Text 110"/>
          <p:cNvSpPr txBox="1"/>
          <p:nvPr/>
        </p:nvSpPr>
        <p:spPr>
          <a:xfrm>
            <a:off x="10746943" y="3085186"/>
            <a:ext cx="1892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sp>
        <p:nvSpPr>
          <p:cNvPr id="122" name="Text 111"/>
          <p:cNvSpPr txBox="1"/>
          <p:nvPr/>
        </p:nvSpPr>
        <p:spPr>
          <a:xfrm>
            <a:off x="1565453" y="4667098"/>
            <a:ext cx="7360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보관소 내의</a:t>
            </a:r>
            <a:endParaRPr lang="en-US" sz="1000" dirty="0"/>
          </a:p>
        </p:txBody>
      </p:sp>
      <p:sp>
        <p:nvSpPr>
          <p:cNvPr id="123" name="Text 112"/>
          <p:cNvSpPr txBox="1"/>
          <p:nvPr/>
        </p:nvSpPr>
        <p:spPr>
          <a:xfrm>
            <a:off x="1350569" y="4849063"/>
            <a:ext cx="1164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파일 내용 검색</a:t>
            </a:r>
            <a:endParaRPr lang="en-US" sz="1000" dirty="0"/>
          </a:p>
        </p:txBody>
      </p:sp>
      <p:sp>
        <p:nvSpPr>
          <p:cNvPr id="124" name="Text 113"/>
          <p:cNvSpPr txBox="1"/>
          <p:nvPr/>
        </p:nvSpPr>
        <p:spPr>
          <a:xfrm>
            <a:off x="1570025" y="5809183"/>
            <a:ext cx="1892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sp>
        <p:nvSpPr>
          <p:cNvPr id="125" name="Text 114"/>
          <p:cNvSpPr txBox="1"/>
          <p:nvPr/>
        </p:nvSpPr>
        <p:spPr>
          <a:xfrm>
            <a:off x="2317090" y="5809183"/>
            <a:ext cx="1892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sp>
        <p:nvSpPr>
          <p:cNvPr id="126" name="Text 115"/>
          <p:cNvSpPr txBox="1"/>
          <p:nvPr/>
        </p:nvSpPr>
        <p:spPr>
          <a:xfrm>
            <a:off x="4082796" y="4667098"/>
            <a:ext cx="13167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보고 있는 노트 내</a:t>
            </a:r>
            <a:endParaRPr lang="en-US" sz="1000" dirty="0"/>
          </a:p>
        </p:txBody>
      </p:sp>
      <p:sp>
        <p:nvSpPr>
          <p:cNvPr id="127" name="Text 116"/>
          <p:cNvSpPr txBox="1"/>
          <p:nvPr/>
        </p:nvSpPr>
        <p:spPr>
          <a:xfrm>
            <a:off x="4375404" y="4849063"/>
            <a:ext cx="7360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검색</a:t>
            </a:r>
            <a:endParaRPr lang="en-US" sz="1000" dirty="0"/>
          </a:p>
        </p:txBody>
      </p:sp>
      <p:sp>
        <p:nvSpPr>
          <p:cNvPr id="128" name="Text 117"/>
          <p:cNvSpPr txBox="1"/>
          <p:nvPr/>
        </p:nvSpPr>
        <p:spPr>
          <a:xfrm>
            <a:off x="4753051" y="5809183"/>
            <a:ext cx="1892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sp>
        <p:nvSpPr>
          <p:cNvPr id="129" name="Text 118"/>
          <p:cNvSpPr txBox="1"/>
          <p:nvPr/>
        </p:nvSpPr>
        <p:spPr>
          <a:xfrm>
            <a:off x="6910121" y="4667098"/>
            <a:ext cx="1278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모드와 읽기 모드</a:t>
            </a:r>
            <a:endParaRPr lang="en-US" sz="1000" dirty="0"/>
          </a:p>
        </p:txBody>
      </p:sp>
      <p:sp>
        <p:nvSpPr>
          <p:cNvPr id="130" name="Text 119"/>
          <p:cNvSpPr txBox="1"/>
          <p:nvPr/>
        </p:nvSpPr>
        <p:spPr>
          <a:xfrm>
            <a:off x="7184441" y="4849063"/>
            <a:ext cx="7360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빠르게 전환</a:t>
            </a:r>
            <a:endParaRPr lang="en-US" sz="1000" dirty="0"/>
          </a:p>
        </p:txBody>
      </p:sp>
      <p:sp>
        <p:nvSpPr>
          <p:cNvPr id="131" name="Text 120"/>
          <p:cNvSpPr txBox="1"/>
          <p:nvPr/>
        </p:nvSpPr>
        <p:spPr>
          <a:xfrm>
            <a:off x="7563002" y="5809183"/>
            <a:ext cx="1892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sp>
        <p:nvSpPr>
          <p:cNvPr id="132" name="Text 121"/>
          <p:cNvSpPr txBox="1"/>
          <p:nvPr/>
        </p:nvSpPr>
        <p:spPr>
          <a:xfrm>
            <a:off x="9857232" y="4667098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강조 서식</a:t>
            </a:r>
            <a:endParaRPr lang="en-US" sz="1000" dirty="0"/>
          </a:p>
        </p:txBody>
      </p:sp>
      <p:sp>
        <p:nvSpPr>
          <p:cNvPr id="133" name="Text 122"/>
          <p:cNvSpPr txBox="1"/>
          <p:nvPr/>
        </p:nvSpPr>
        <p:spPr>
          <a:xfrm>
            <a:off x="9917582" y="4849063"/>
            <a:ext cx="887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(Bold / Italic)</a:t>
            </a:r>
            <a:endParaRPr lang="en-US" sz="1000" dirty="0"/>
          </a:p>
        </p:txBody>
      </p:sp>
      <p:sp>
        <p:nvSpPr>
          <p:cNvPr id="134" name="Text 123"/>
          <p:cNvSpPr txBox="1"/>
          <p:nvPr/>
        </p:nvSpPr>
        <p:spPr>
          <a:xfrm>
            <a:off x="10108692" y="5809183"/>
            <a:ext cx="1892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000" dirty="0"/>
          </a:p>
        </p:txBody>
      </p:sp>
      <p:sp>
        <p:nvSpPr>
          <p:cNvPr id="135" name="Text 124"/>
          <p:cNvSpPr txBox="1"/>
          <p:nvPr/>
        </p:nvSpPr>
        <p:spPr>
          <a:xfrm>
            <a:off x="10620756" y="5797296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9302" y="381305"/>
            <a:ext cx="14246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WORKFLOW &amp; TIPS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9302" y="552298"/>
            <a:ext cx="60012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활용 팁과 워크플로우 5단계 가이드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71500" y="1276502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37560" y="1200607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4330598" y="1276502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97573" y="1200607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Shape 8"/>
          <p:cNvSpPr/>
          <p:nvPr/>
        </p:nvSpPr>
        <p:spPr>
          <a:xfrm>
            <a:off x="8089697" y="1276502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856671" y="1200607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4200" dirty="0"/>
          </a:p>
        </p:txBody>
      </p:sp>
      <p:sp>
        <p:nvSpPr>
          <p:cNvPr id="13" name="Shape 10"/>
          <p:cNvSpPr/>
          <p:nvPr/>
        </p:nvSpPr>
        <p:spPr>
          <a:xfrm>
            <a:off x="571500" y="3991356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37560" y="3914546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4200" dirty="0"/>
          </a:p>
        </p:txBody>
      </p:sp>
      <p:sp>
        <p:nvSpPr>
          <p:cNvPr id="15" name="Shape 12"/>
          <p:cNvSpPr/>
          <p:nvPr/>
        </p:nvSpPr>
        <p:spPr>
          <a:xfrm>
            <a:off x="4330598" y="3991356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97573" y="3914546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4200" dirty="0"/>
          </a:p>
        </p:txBody>
      </p:sp>
      <p:sp>
        <p:nvSpPr>
          <p:cNvPr id="17" name="Shape 14"/>
          <p:cNvSpPr/>
          <p:nvPr/>
        </p:nvSpPr>
        <p:spPr>
          <a:xfrm>
            <a:off x="8089697" y="3991356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856671" y="3914546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4200" dirty="0"/>
          </a:p>
        </p:txBody>
      </p:sp>
      <p:sp>
        <p:nvSpPr>
          <p:cNvPr id="19" name="Shape 16"/>
          <p:cNvSpPr/>
          <p:nvPr/>
        </p:nvSpPr>
        <p:spPr>
          <a:xfrm>
            <a:off x="809244" y="15142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2746" y="1647749"/>
            <a:ext cx="190195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09244" y="2124151"/>
            <a:ext cx="1429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가볍게 시작하기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809244" y="2486254"/>
            <a:ext cx="3151022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구조 대신 5개의 핵심 노트로 시작하세요. Inbox(수집함), Daily Note(일일 기록), Ideas(아이디어), MOC(지도), Projects(프로젝트)만 있으면 충분합니다.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68342" y="15142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1845" y="1647749"/>
            <a:ext cx="190195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568342" y="2124151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캡처 루틴 만들기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568342" y="2486254"/>
            <a:ext cx="3151022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생각나는 즉시 기록하는 것이 중요합니다. 모바일 위젯이나 단축키를 활용해 데일리 노트에 빠르게 메모하고, 하루를 마감할 때 적절한 폴더로 이동시키며 정리합니다.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328355" y="15142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8460943" y="1647749"/>
            <a:ext cx="190195" cy="19019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328355" y="2124151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활용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328355" y="2486254"/>
            <a:ext cx="314187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 노트 양식을 템플릿으로 만드세요. 독서 노트, 회의록, 프로젝트 기획서 등 자주 쓰는 구조를 미리 정의해두면 고민하는 시간을 줄일 수 있습니다.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09244" y="4229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52805" y="4362602"/>
            <a:ext cx="171907" cy="19019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09244" y="4839005"/>
            <a:ext cx="2638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주기적 노트 (Periodic Notes)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809244" y="5201107"/>
            <a:ext cx="314187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기록을 회고하는 시스템을 만드세요. Daily Note를 모아 주간 리뷰(Weekly)를 작성하고, 이를 바탕으로 월간 계획을 세우면 지식이 자연스럽게 연결됩니다.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568342" y="4229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01845" y="4362602"/>
            <a:ext cx="190195" cy="19019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568342" y="4839005"/>
            <a:ext cx="19531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대시보드(Home) 구축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4568342" y="5201107"/>
            <a:ext cx="310347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시작 페이지를 만드세요. 자주 찾는 노트 링크, 현재 진행 중인 프로젝트, 오늘 할 일을 모아둔 대시보드를 시작 화면으로 설정하여 집중력을 높이세요.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8328355" y="4229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37169" y="4362602"/>
            <a:ext cx="237744" cy="19019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328355" y="4839005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연결의 정원 가꾸기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8328355" y="5201107"/>
            <a:ext cx="3065983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노트는 작성이 끝이 아닙니다. 틈틈이 과거 노트를 열어보고 새로운 깨달음과 링크([[ ]])를 연결하세요. 지식 정원은 지속적인 관심으로 풍성해집니다.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63624"/>
            <a:ext cx="11048695" cy="666598"/>
          </a:xfrm>
          <a:prstGeom prst="roundRect">
            <a:avLst>
              <a:gd name="adj" fmla="val 23516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04795" y="1725473"/>
            <a:ext cx="9144" cy="3429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9244" y="1725473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2222" b="-2222"/>
          <a:stretch/>
        </p:blipFill>
        <p:spPr>
          <a:xfrm>
            <a:off x="918972" y="1811426"/>
            <a:ext cx="123444" cy="1719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05049" y="1763878"/>
            <a:ext cx="552298" cy="267005"/>
          </a:xfrm>
          <a:prstGeom prst="roundRect">
            <a:avLst>
              <a:gd name="adj" fmla="val 48924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1082" r="-1082"/>
          <a:stretch/>
        </p:blipFill>
        <p:spPr>
          <a:xfrm>
            <a:off x="6967728" y="1806854"/>
            <a:ext cx="161849" cy="18105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429500" y="1763878"/>
            <a:ext cx="352044" cy="267005"/>
          </a:xfrm>
          <a:prstGeom prst="roundRect">
            <a:avLst>
              <a:gd name="adj" fmla="val 48924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71500" y="2382926"/>
            <a:ext cx="11048695" cy="666598"/>
          </a:xfrm>
          <a:prstGeom prst="roundRect">
            <a:avLst>
              <a:gd name="adj" fmla="val 23516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704795" y="2544775"/>
            <a:ext cx="9144" cy="3429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9"/>
          <p:cNvSpPr/>
          <p:nvPr/>
        </p:nvSpPr>
        <p:spPr>
          <a:xfrm>
            <a:off x="809244" y="2544775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5198" y="2630729"/>
            <a:ext cx="171907" cy="17190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905049" y="2583180"/>
            <a:ext cx="552298" cy="267005"/>
          </a:xfrm>
          <a:prstGeom prst="roundRect">
            <a:avLst>
              <a:gd name="adj" fmla="val 48924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l="-1082" r="-1082"/>
          <a:stretch/>
        </p:blipFill>
        <p:spPr>
          <a:xfrm>
            <a:off x="6967728" y="2626157"/>
            <a:ext cx="161849" cy="181051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429500" y="2583180"/>
            <a:ext cx="352044" cy="267005"/>
          </a:xfrm>
          <a:prstGeom prst="roundRect">
            <a:avLst>
              <a:gd name="adj" fmla="val 48924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71500" y="3202229"/>
            <a:ext cx="11048695" cy="666598"/>
          </a:xfrm>
          <a:prstGeom prst="roundRect">
            <a:avLst>
              <a:gd name="adj" fmla="val 23516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2704795" y="3364078"/>
            <a:ext cx="9144" cy="3429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809244" y="3364078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886054" y="3450031"/>
            <a:ext cx="190195" cy="171907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2905049" y="3402482"/>
            <a:ext cx="552298" cy="267005"/>
          </a:xfrm>
          <a:prstGeom prst="roundRect">
            <a:avLst>
              <a:gd name="adj" fmla="val 48924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rcRect l="-1082" r="-1082"/>
          <a:stretch/>
        </p:blipFill>
        <p:spPr>
          <a:xfrm>
            <a:off x="6967728" y="3445459"/>
            <a:ext cx="161849" cy="181051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429500" y="3402482"/>
            <a:ext cx="352044" cy="267005"/>
          </a:xfrm>
          <a:prstGeom prst="roundRect">
            <a:avLst>
              <a:gd name="adj" fmla="val 48924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571500" y="4021531"/>
            <a:ext cx="11048695" cy="666598"/>
          </a:xfrm>
          <a:prstGeom prst="roundRect">
            <a:avLst>
              <a:gd name="adj" fmla="val 23516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2704795" y="4183380"/>
            <a:ext cx="9144" cy="3429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19"/>
          <p:cNvSpPr/>
          <p:nvPr/>
        </p:nvSpPr>
        <p:spPr>
          <a:xfrm>
            <a:off x="809244" y="4183380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5198" y="4269334"/>
            <a:ext cx="171907" cy="171907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2905049" y="4221785"/>
            <a:ext cx="552298" cy="267005"/>
          </a:xfrm>
          <a:prstGeom prst="roundRect">
            <a:avLst>
              <a:gd name="adj" fmla="val 48924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rcRect l="-1082" r="-1082"/>
          <a:stretch/>
        </p:blipFill>
        <p:spPr>
          <a:xfrm>
            <a:off x="6967728" y="4263847"/>
            <a:ext cx="161849" cy="181051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7429500" y="4221785"/>
            <a:ext cx="352044" cy="267005"/>
          </a:xfrm>
          <a:prstGeom prst="roundRect">
            <a:avLst>
              <a:gd name="adj" fmla="val 48924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571500" y="4840834"/>
            <a:ext cx="11048695" cy="666598"/>
          </a:xfrm>
          <a:prstGeom prst="roundRect">
            <a:avLst>
              <a:gd name="adj" fmla="val 23516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2704795" y="5002682"/>
            <a:ext cx="9144" cy="3429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5" name="Shape 24"/>
          <p:cNvSpPr/>
          <p:nvPr/>
        </p:nvSpPr>
        <p:spPr>
          <a:xfrm>
            <a:off x="809244" y="5002682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95198" y="5087722"/>
            <a:ext cx="171907" cy="171907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2905049" y="5040173"/>
            <a:ext cx="552298" cy="267005"/>
          </a:xfrm>
          <a:prstGeom prst="roundRect">
            <a:avLst>
              <a:gd name="adj" fmla="val 48924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5"/>
          <a:srcRect l="-1082" r="-1082"/>
          <a:stretch/>
        </p:blipFill>
        <p:spPr>
          <a:xfrm>
            <a:off x="6967728" y="5083150"/>
            <a:ext cx="161849" cy="181051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7429500" y="5040173"/>
            <a:ext cx="352044" cy="267005"/>
          </a:xfrm>
          <a:prstGeom prst="roundRect">
            <a:avLst>
              <a:gd name="adj" fmla="val 48924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40" name="Shape 27"/>
          <p:cNvSpPr/>
          <p:nvPr/>
        </p:nvSpPr>
        <p:spPr>
          <a:xfrm>
            <a:off x="571500" y="6023153"/>
            <a:ext cx="11048695" cy="457200"/>
          </a:xfrm>
          <a:prstGeom prst="roundRect">
            <a:avLst>
              <a:gd name="adj" fmla="val 33333"/>
            </a:avLst>
          </a:prstGeom>
          <a:solidFill>
            <a:srgbClr val="A882FF">
              <a:alpha val="10000"/>
            </a:srgbClr>
          </a:solidFill>
          <a:ln w="12700">
            <a:solidFill>
              <a:srgbClr val="A882FF">
                <a:alpha val="30000"/>
              </a:srgbClr>
            </a:solidFill>
            <a:prstDash val="solid"/>
          </a:ln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71754" y="6154826"/>
            <a:ext cx="190195" cy="190195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819302" y="381305"/>
            <a:ext cx="2862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PRACTICES &amp; TROUBLESHOOTING</a:t>
            </a:r>
            <a:endParaRPr lang="en-US" sz="1000" dirty="0"/>
          </a:p>
        </p:txBody>
      </p:sp>
      <p:sp>
        <p:nvSpPr>
          <p:cNvPr id="43" name="Text 29"/>
          <p:cNvSpPr txBox="1"/>
          <p:nvPr/>
        </p:nvSpPr>
        <p:spPr>
          <a:xfrm>
            <a:off x="819302" y="552298"/>
            <a:ext cx="3296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주의사항과 문제 해결</a:t>
            </a:r>
            <a:endParaRPr lang="en-US" sz="2700" dirty="0"/>
          </a:p>
        </p:txBody>
      </p:sp>
      <p:sp>
        <p:nvSpPr>
          <p:cNvPr id="44" name="Text 30"/>
          <p:cNvSpPr txBox="1"/>
          <p:nvPr/>
        </p:nvSpPr>
        <p:spPr>
          <a:xfrm>
            <a:off x="1266444" y="1783080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플러그인</a:t>
            </a:r>
            <a:endParaRPr lang="en-US" sz="1200" dirty="0"/>
          </a:p>
        </p:txBody>
      </p:sp>
      <p:sp>
        <p:nvSpPr>
          <p:cNvPr id="45" name="Text 31"/>
          <p:cNvSpPr txBox="1"/>
          <p:nvPr/>
        </p:nvSpPr>
        <p:spPr>
          <a:xfrm>
            <a:off x="2991002" y="1811426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DON'T</a:t>
            </a:r>
            <a:endParaRPr lang="en-US" sz="900" dirty="0"/>
          </a:p>
        </p:txBody>
      </p:sp>
      <p:sp>
        <p:nvSpPr>
          <p:cNvPr id="46" name="Text 32"/>
          <p:cNvSpPr txBox="1"/>
          <p:nvPr/>
        </p:nvSpPr>
        <p:spPr>
          <a:xfrm>
            <a:off x="3546043" y="1786738"/>
            <a:ext cx="27953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수십 개 설치충돌 및 속도 저하 원인</a:t>
            </a:r>
            <a:endParaRPr lang="en-US" sz="1100" dirty="0"/>
          </a:p>
        </p:txBody>
      </p:sp>
      <p:sp>
        <p:nvSpPr>
          <p:cNvPr id="47" name="Text 33"/>
          <p:cNvSpPr txBox="1"/>
          <p:nvPr/>
        </p:nvSpPr>
        <p:spPr>
          <a:xfrm>
            <a:off x="7515454" y="1811426"/>
            <a:ext cx="267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</a:t>
            </a:r>
            <a:endParaRPr lang="en-US" sz="900" dirty="0"/>
          </a:p>
        </p:txBody>
      </p:sp>
      <p:sp>
        <p:nvSpPr>
          <p:cNvPr id="48" name="Text 34"/>
          <p:cNvSpPr txBox="1"/>
          <p:nvPr/>
        </p:nvSpPr>
        <p:spPr>
          <a:xfrm>
            <a:off x="7869326" y="1786738"/>
            <a:ext cx="25758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필요할 때 하나씩 추가안정적인 환경 유지</a:t>
            </a:r>
            <a:endParaRPr lang="en-US" sz="1100" dirty="0"/>
          </a:p>
        </p:txBody>
      </p:sp>
      <p:sp>
        <p:nvSpPr>
          <p:cNvPr id="49" name="Text 35"/>
          <p:cNvSpPr txBox="1"/>
          <p:nvPr/>
        </p:nvSpPr>
        <p:spPr>
          <a:xfrm>
            <a:off x="1266444" y="2602382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동기화</a:t>
            </a:r>
            <a:endParaRPr lang="en-US" sz="1200" dirty="0"/>
          </a:p>
        </p:txBody>
      </p:sp>
      <p:sp>
        <p:nvSpPr>
          <p:cNvPr id="50" name="Text 36"/>
          <p:cNvSpPr txBox="1"/>
          <p:nvPr/>
        </p:nvSpPr>
        <p:spPr>
          <a:xfrm>
            <a:off x="2991002" y="2630729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DON'T</a:t>
            </a:r>
            <a:endParaRPr lang="en-US" sz="900" dirty="0"/>
          </a:p>
        </p:txBody>
      </p:sp>
      <p:sp>
        <p:nvSpPr>
          <p:cNvPr id="51" name="Text 37"/>
          <p:cNvSpPr txBox="1"/>
          <p:nvPr/>
        </p:nvSpPr>
        <p:spPr>
          <a:xfrm>
            <a:off x="3546043" y="2605126"/>
            <a:ext cx="3090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iCloud + Dropbox 중복파일 충돌 및 데이터 손실</a:t>
            </a:r>
            <a:endParaRPr lang="en-US" sz="1100" dirty="0"/>
          </a:p>
        </p:txBody>
      </p:sp>
      <p:sp>
        <p:nvSpPr>
          <p:cNvPr id="52" name="Text 38"/>
          <p:cNvSpPr txBox="1"/>
          <p:nvPr/>
        </p:nvSpPr>
        <p:spPr>
          <a:xfrm>
            <a:off x="7515454" y="2630729"/>
            <a:ext cx="267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</a:t>
            </a:r>
            <a:endParaRPr lang="en-US" sz="900" dirty="0"/>
          </a:p>
        </p:txBody>
      </p:sp>
      <p:sp>
        <p:nvSpPr>
          <p:cNvPr id="53" name="Text 39"/>
          <p:cNvSpPr txBox="1"/>
          <p:nvPr/>
        </p:nvSpPr>
        <p:spPr>
          <a:xfrm>
            <a:off x="7869326" y="2605126"/>
            <a:ext cx="29379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서비스 사용 권장Obsidian Sync 또는 Git</a:t>
            </a:r>
            <a:endParaRPr lang="en-US" sz="1100" dirty="0"/>
          </a:p>
        </p:txBody>
      </p:sp>
      <p:sp>
        <p:nvSpPr>
          <p:cNvPr id="54" name="Text 40"/>
          <p:cNvSpPr txBox="1"/>
          <p:nvPr/>
        </p:nvSpPr>
        <p:spPr>
          <a:xfrm>
            <a:off x="1266444" y="342168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파일명</a:t>
            </a:r>
            <a:endParaRPr lang="en-US" sz="1200" dirty="0"/>
          </a:p>
        </p:txBody>
      </p:sp>
      <p:sp>
        <p:nvSpPr>
          <p:cNvPr id="55" name="Text 41"/>
          <p:cNvSpPr txBox="1"/>
          <p:nvPr/>
        </p:nvSpPr>
        <p:spPr>
          <a:xfrm>
            <a:off x="2991002" y="3450031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DON'T</a:t>
            </a:r>
            <a:endParaRPr lang="en-US" sz="900" dirty="0"/>
          </a:p>
        </p:txBody>
      </p:sp>
      <p:sp>
        <p:nvSpPr>
          <p:cNvPr id="56" name="Text 42"/>
          <p:cNvSpPr txBox="1"/>
          <p:nvPr/>
        </p:nvSpPr>
        <p:spPr>
          <a:xfrm>
            <a:off x="3546043" y="3424428"/>
            <a:ext cx="27852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특수문자(#, ^, []) 포함링크 오류 발생 가능성</a:t>
            </a:r>
            <a:endParaRPr lang="en-US" sz="1100" dirty="0"/>
          </a:p>
        </p:txBody>
      </p:sp>
      <p:sp>
        <p:nvSpPr>
          <p:cNvPr id="57" name="Text 43"/>
          <p:cNvSpPr txBox="1"/>
          <p:nvPr/>
        </p:nvSpPr>
        <p:spPr>
          <a:xfrm>
            <a:off x="7515454" y="3450031"/>
            <a:ext cx="267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</a:t>
            </a:r>
            <a:endParaRPr lang="en-US" sz="900" dirty="0"/>
          </a:p>
        </p:txBody>
      </p:sp>
      <p:sp>
        <p:nvSpPr>
          <p:cNvPr id="58" name="Text 44"/>
          <p:cNvSpPr txBox="1"/>
          <p:nvPr/>
        </p:nvSpPr>
        <p:spPr>
          <a:xfrm>
            <a:off x="7869326" y="3424428"/>
            <a:ext cx="26709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날짜, ID, 키워드 위주운영체제 호환성 확보</a:t>
            </a:r>
            <a:endParaRPr lang="en-US" sz="1100" dirty="0"/>
          </a:p>
        </p:txBody>
      </p:sp>
      <p:sp>
        <p:nvSpPr>
          <p:cNvPr id="59" name="Text 45"/>
          <p:cNvSpPr txBox="1"/>
          <p:nvPr/>
        </p:nvSpPr>
        <p:spPr>
          <a:xfrm>
            <a:off x="1266444" y="4240073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최적화</a:t>
            </a:r>
            <a:endParaRPr lang="en-US" sz="1200" dirty="0"/>
          </a:p>
        </p:txBody>
      </p:sp>
      <p:sp>
        <p:nvSpPr>
          <p:cNvPr id="60" name="Text 46"/>
          <p:cNvSpPr txBox="1"/>
          <p:nvPr/>
        </p:nvSpPr>
        <p:spPr>
          <a:xfrm>
            <a:off x="2991002" y="4269334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DON'T</a:t>
            </a:r>
            <a:endParaRPr lang="en-US" sz="900" dirty="0"/>
          </a:p>
        </p:txBody>
      </p:sp>
      <p:sp>
        <p:nvSpPr>
          <p:cNvPr id="61" name="Text 47"/>
          <p:cNvSpPr txBox="1"/>
          <p:nvPr/>
        </p:nvSpPr>
        <p:spPr>
          <a:xfrm>
            <a:off x="3546043" y="4243730"/>
            <a:ext cx="30614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파일을 그래프에 표시렉 유발 및 시각적 혼란</a:t>
            </a:r>
            <a:endParaRPr lang="en-US" sz="1100" dirty="0"/>
          </a:p>
        </p:txBody>
      </p:sp>
      <p:sp>
        <p:nvSpPr>
          <p:cNvPr id="62" name="Text 48"/>
          <p:cNvSpPr txBox="1"/>
          <p:nvPr/>
        </p:nvSpPr>
        <p:spPr>
          <a:xfrm>
            <a:off x="7515454" y="4269334"/>
            <a:ext cx="267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</a:t>
            </a:r>
            <a:endParaRPr lang="en-US" sz="900" dirty="0"/>
          </a:p>
        </p:txBody>
      </p:sp>
      <p:sp>
        <p:nvSpPr>
          <p:cNvPr id="63" name="Text 49"/>
          <p:cNvSpPr txBox="1"/>
          <p:nvPr/>
        </p:nvSpPr>
        <p:spPr>
          <a:xfrm>
            <a:off x="7869326" y="4243730"/>
            <a:ext cx="27285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필터로 범위 제한하기폴더/태그로 보기 설정</a:t>
            </a:r>
            <a:endParaRPr lang="en-US" sz="1100" dirty="0"/>
          </a:p>
        </p:txBody>
      </p:sp>
      <p:sp>
        <p:nvSpPr>
          <p:cNvPr id="64" name="Text 50"/>
          <p:cNvSpPr txBox="1"/>
          <p:nvPr/>
        </p:nvSpPr>
        <p:spPr>
          <a:xfrm>
            <a:off x="1266444" y="5059375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백업 전략</a:t>
            </a:r>
            <a:endParaRPr lang="en-US" sz="1200" dirty="0"/>
          </a:p>
        </p:txBody>
      </p:sp>
      <p:sp>
        <p:nvSpPr>
          <p:cNvPr id="65" name="Text 51"/>
          <p:cNvSpPr txBox="1"/>
          <p:nvPr/>
        </p:nvSpPr>
        <p:spPr>
          <a:xfrm>
            <a:off x="2991002" y="5087722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DON'T</a:t>
            </a:r>
            <a:endParaRPr lang="en-US" sz="900" dirty="0"/>
          </a:p>
        </p:txBody>
      </p:sp>
      <p:sp>
        <p:nvSpPr>
          <p:cNvPr id="66" name="Text 52"/>
          <p:cNvSpPr txBox="1"/>
          <p:nvPr/>
        </p:nvSpPr>
        <p:spPr>
          <a:xfrm>
            <a:off x="3546043" y="5063033"/>
            <a:ext cx="30614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저장만 전적으로 신뢰실수 삭제 시 복구 난감</a:t>
            </a:r>
            <a:endParaRPr lang="en-US" sz="1100" dirty="0"/>
          </a:p>
        </p:txBody>
      </p:sp>
      <p:sp>
        <p:nvSpPr>
          <p:cNvPr id="67" name="Text 53"/>
          <p:cNvSpPr txBox="1"/>
          <p:nvPr/>
        </p:nvSpPr>
        <p:spPr>
          <a:xfrm>
            <a:off x="7515454" y="5087722"/>
            <a:ext cx="267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</a:t>
            </a:r>
            <a:endParaRPr lang="en-US" sz="900" dirty="0"/>
          </a:p>
        </p:txBody>
      </p:sp>
      <p:sp>
        <p:nvSpPr>
          <p:cNvPr id="68" name="Text 54"/>
          <p:cNvSpPr txBox="1"/>
          <p:nvPr/>
        </p:nvSpPr>
        <p:spPr>
          <a:xfrm>
            <a:off x="7869326" y="5063033"/>
            <a:ext cx="27953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3-2-1 백업 규칙 실천Git 커밋 또는 정기 압축</a:t>
            </a:r>
            <a:endParaRPr lang="en-US" sz="1100" dirty="0"/>
          </a:p>
        </p:txBody>
      </p:sp>
      <p:sp>
        <p:nvSpPr>
          <p:cNvPr id="69" name="Text 55"/>
          <p:cNvSpPr txBox="1"/>
          <p:nvPr/>
        </p:nvSpPr>
        <p:spPr>
          <a:xfrm>
            <a:off x="1076249" y="6147511"/>
            <a:ext cx="86758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9D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 Tip: 문제가 발생했을 때는 설정 &gt; 커뮤니티 플러그인 &gt; 제한 모드(Restricted Mode)를 켜서 플러그인 문제인지 기본 앱 문제인지 먼저 확인하세요.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1351483"/>
            <a:ext cx="181051" cy="18105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3920033"/>
            <a:ext cx="3562502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1754" y="412028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899770" y="4234586"/>
            <a:ext cx="200254" cy="2286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317797" y="3920033"/>
            <a:ext cx="3562502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518050" y="412028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4617720" y="4234586"/>
            <a:ext cx="256946" cy="2286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064094" y="3920033"/>
            <a:ext cx="3562502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8264347" y="412028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350301" y="4234586"/>
            <a:ext cx="286207" cy="2286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71500" y="5187391"/>
            <a:ext cx="11048695" cy="819302"/>
          </a:xfrm>
          <a:prstGeom prst="roundRect">
            <a:avLst>
              <a:gd name="adj" fmla="val 15573"/>
            </a:avLst>
          </a:prstGeom>
          <a:solidFill>
            <a:srgbClr val="34D399">
              <a:alpha val="5000"/>
            </a:srgbClr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66851" y="540593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4D399">
              <a:alpha val="10000"/>
            </a:srgbClr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6521" y="5506517"/>
            <a:ext cx="181051" cy="181051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5279746" y="5426964"/>
            <a:ext cx="1352398" cy="342900"/>
          </a:xfrm>
          <a:prstGeom prst="roundRect">
            <a:avLst>
              <a:gd name="adj" fmla="val 148148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 t="-1359" b="-1359"/>
          <a:stretch/>
        </p:blipFill>
        <p:spPr>
          <a:xfrm>
            <a:off x="5423306" y="5534863"/>
            <a:ext cx="105156" cy="123444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603443" y="5493715"/>
            <a:ext cx="9893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Dataview 쿼리</a:t>
            </a:r>
            <a:endParaRPr lang="en-US" sz="1000" dirty="0"/>
          </a:p>
        </p:txBody>
      </p:sp>
      <p:sp>
        <p:nvSpPr>
          <p:cNvPr id="21" name="Shape 12"/>
          <p:cNvSpPr/>
          <p:nvPr/>
        </p:nvSpPr>
        <p:spPr>
          <a:xfrm>
            <a:off x="6740957" y="5426964"/>
            <a:ext cx="1505102" cy="342900"/>
          </a:xfrm>
          <a:prstGeom prst="roundRect">
            <a:avLst>
              <a:gd name="adj" fmla="val 148148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 t="-2012" b="-2012"/>
          <a:stretch/>
        </p:blipFill>
        <p:spPr>
          <a:xfrm>
            <a:off x="6883603" y="5534863"/>
            <a:ext cx="133502" cy="123444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093915" y="5493715"/>
            <a:ext cx="111282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마인드맵</a:t>
            </a:r>
            <a:endParaRPr lang="en-US" sz="1000" dirty="0"/>
          </a:p>
        </p:txBody>
      </p:sp>
      <p:sp>
        <p:nvSpPr>
          <p:cNvPr id="24" name="Shape 14"/>
          <p:cNvSpPr/>
          <p:nvPr/>
        </p:nvSpPr>
        <p:spPr>
          <a:xfrm>
            <a:off x="8351215" y="5426964"/>
            <a:ext cx="1285646" cy="342900"/>
          </a:xfrm>
          <a:prstGeom prst="roundRect">
            <a:avLst>
              <a:gd name="adj" fmla="val 148148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493862" y="5534863"/>
            <a:ext cx="123444" cy="123444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8694115" y="5493715"/>
            <a:ext cx="90342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Base</a:t>
            </a:r>
            <a:endParaRPr lang="en-US" sz="1000" dirty="0"/>
          </a:p>
        </p:txBody>
      </p:sp>
      <p:sp>
        <p:nvSpPr>
          <p:cNvPr id="27" name="Shape 16"/>
          <p:cNvSpPr/>
          <p:nvPr/>
        </p:nvSpPr>
        <p:spPr>
          <a:xfrm>
            <a:off x="9751162" y="5426964"/>
            <a:ext cx="1580998" cy="342900"/>
          </a:xfrm>
          <a:prstGeom prst="roundRect">
            <a:avLst>
              <a:gd name="adj" fmla="val 148148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893808" y="5534863"/>
            <a:ext cx="123444" cy="123444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10094062" y="5493715"/>
            <a:ext cx="119877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Obsidian Publish</a:t>
            </a:r>
            <a:endParaRPr lang="en-US" sz="1000" dirty="0"/>
          </a:p>
        </p:txBody>
      </p:sp>
      <p:sp>
        <p:nvSpPr>
          <p:cNvPr id="30" name="Text 18"/>
          <p:cNvSpPr txBox="1"/>
          <p:nvPr/>
        </p:nvSpPr>
        <p:spPr>
          <a:xfrm>
            <a:off x="819302" y="381305"/>
            <a:ext cx="1976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STEPS &amp; RESOURCES</a:t>
            </a:r>
            <a:endParaRPr lang="en-US" sz="1000" dirty="0"/>
          </a:p>
        </p:txBody>
      </p:sp>
      <p:sp>
        <p:nvSpPr>
          <p:cNvPr id="31" name="Text 19"/>
          <p:cNvSpPr txBox="1"/>
          <p:nvPr/>
        </p:nvSpPr>
        <p:spPr>
          <a:xfrm>
            <a:off x="819302" y="552298"/>
            <a:ext cx="30769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 및 다음 단계</a:t>
            </a:r>
            <a:endParaRPr lang="en-US" sz="2700" dirty="0"/>
          </a:p>
        </p:txBody>
      </p:sp>
      <p:sp>
        <p:nvSpPr>
          <p:cNvPr id="32" name="Text 20"/>
          <p:cNvSpPr txBox="1"/>
          <p:nvPr/>
        </p:nvSpPr>
        <p:spPr>
          <a:xfrm>
            <a:off x="847649" y="1304849"/>
            <a:ext cx="34427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바로 시작하기 (4-Step Action Plan)</a:t>
            </a:r>
            <a:endParaRPr lang="en-US" sz="1400" dirty="0"/>
          </a:p>
        </p:txBody>
      </p:sp>
      <p:sp>
        <p:nvSpPr>
          <p:cNvPr id="33" name="Text 21"/>
          <p:cNvSpPr txBox="1"/>
          <p:nvPr/>
        </p:nvSpPr>
        <p:spPr>
          <a:xfrm>
            <a:off x="1380744" y="4123944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문서 (Help)</a:t>
            </a:r>
            <a:endParaRPr lang="en-US" sz="1200" dirty="0"/>
          </a:p>
        </p:txBody>
      </p:sp>
      <p:sp>
        <p:nvSpPr>
          <p:cNvPr id="34" name="Text 22"/>
          <p:cNvSpPr txBox="1"/>
          <p:nvPr/>
        </p:nvSpPr>
        <p:spPr>
          <a:xfrm>
            <a:off x="1380744" y="4390949"/>
            <a:ext cx="16632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기능별 상세 가이드 (한글 지원)</a:t>
            </a:r>
            <a:endParaRPr lang="en-US" sz="9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774643" y="4282135"/>
            <a:ext cx="152705" cy="15270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5127955" y="4123944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유튜브</a:t>
            </a:r>
            <a:endParaRPr lang="en-US" sz="1200" dirty="0"/>
          </a:p>
        </p:txBody>
      </p:sp>
      <p:sp>
        <p:nvSpPr>
          <p:cNvPr id="37" name="Text 24"/>
          <p:cNvSpPr txBox="1"/>
          <p:nvPr/>
        </p:nvSpPr>
        <p:spPr>
          <a:xfrm>
            <a:off x="5127955" y="4390949"/>
            <a:ext cx="14346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LYT, 북트레싱 등 튜토리얼</a:t>
            </a:r>
            <a:endParaRPr lang="en-US" sz="90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521854" y="4282135"/>
            <a:ext cx="152705" cy="152705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8874252" y="4123944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포럼</a:t>
            </a:r>
            <a:endParaRPr lang="en-US" sz="1200" dirty="0"/>
          </a:p>
        </p:txBody>
      </p:sp>
      <p:sp>
        <p:nvSpPr>
          <p:cNvPr id="40" name="Text 26"/>
          <p:cNvSpPr txBox="1"/>
          <p:nvPr/>
        </p:nvSpPr>
        <p:spPr>
          <a:xfrm>
            <a:off x="8874252" y="4390949"/>
            <a:ext cx="15590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Obsidian Forum / Discord</a:t>
            </a:r>
            <a:endParaRPr lang="en-US" sz="90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268151" y="4282135"/>
            <a:ext cx="152705" cy="152705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1362456" y="5396789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심화 주제</a:t>
            </a:r>
            <a:endParaRPr lang="en-US" sz="1300" dirty="0"/>
          </a:p>
        </p:txBody>
      </p:sp>
      <p:sp>
        <p:nvSpPr>
          <p:cNvPr id="43" name="Text 28"/>
          <p:cNvSpPr txBox="1"/>
          <p:nvPr/>
        </p:nvSpPr>
        <p:spPr>
          <a:xfrm>
            <a:off x="1362456" y="5644591"/>
            <a:ext cx="1276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익숙해지면 도전해보세요</a:t>
            </a:r>
            <a:endParaRPr lang="en-US" sz="900" dirty="0"/>
          </a:p>
        </p:txBody>
      </p:sp>
      <p:sp>
        <p:nvSpPr>
          <p:cNvPr id="44" name="Shape 29"/>
          <p:cNvSpPr/>
          <p:nvPr/>
        </p:nvSpPr>
        <p:spPr>
          <a:xfrm>
            <a:off x="571500" y="1769364"/>
            <a:ext cx="11048695" cy="1742846"/>
          </a:xfrm>
          <a:prstGeom prst="roundRect">
            <a:avLst>
              <a:gd name="adj" fmla="val 4587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Shape 30"/>
          <p:cNvSpPr/>
          <p:nvPr/>
        </p:nvSpPr>
        <p:spPr>
          <a:xfrm>
            <a:off x="1152144" y="2630729"/>
            <a:ext cx="9887407" cy="1920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6" name="Text 31"/>
          <p:cNvSpPr txBox="1"/>
          <p:nvPr/>
        </p:nvSpPr>
        <p:spPr>
          <a:xfrm>
            <a:off x="4325112" y="6225235"/>
            <a:ext cx="36694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"지식은 저장하는 것이 아니라, 연결하는 것입니다."</a:t>
            </a:r>
            <a:endParaRPr lang="en-US" sz="1300" dirty="0"/>
          </a:p>
        </p:txBody>
      </p:sp>
      <p:sp>
        <p:nvSpPr>
          <p:cNvPr id="47" name="Shape 32"/>
          <p:cNvSpPr/>
          <p:nvPr/>
        </p:nvSpPr>
        <p:spPr>
          <a:xfrm>
            <a:off x="1390802" y="2064715"/>
            <a:ext cx="476402" cy="476402"/>
          </a:xfrm>
          <a:prstGeom prst="ellipse">
            <a:avLst/>
          </a:prstGeom>
          <a:solidFill>
            <a:srgbClr val="1F1F23"/>
          </a:solidFill>
          <a:ln w="25400">
            <a:solidFill>
              <a:srgbClr val="A882FF"/>
            </a:solidFill>
            <a:prstDash val="solid"/>
          </a:ln>
          <a:effectLst>
            <a:outerShdw blurRad="139700" dist="12700" dir="16200000" algn="bl" rotWithShape="0">
              <a:srgbClr val="A882FF">
                <a:alpha val="30000"/>
              </a:srgbClr>
            </a:outerShdw>
          </a:effectLst>
        </p:spPr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538021" y="2212848"/>
            <a:ext cx="181051" cy="181051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1201522" y="2655418"/>
            <a:ext cx="9665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&amp; 보관소</a:t>
            </a:r>
            <a:endParaRPr lang="en-US" sz="1100" dirty="0"/>
          </a:p>
        </p:txBody>
      </p:sp>
      <p:sp>
        <p:nvSpPr>
          <p:cNvPr id="50" name="Text 34"/>
          <p:cNvSpPr txBox="1"/>
          <p:nvPr/>
        </p:nvSpPr>
        <p:spPr>
          <a:xfrm>
            <a:off x="991210" y="2873045"/>
            <a:ext cx="13624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Obsidian.md 다운로드 및 Vault 생성</a:t>
            </a:r>
            <a:endParaRPr lang="en-US" sz="900" dirty="0"/>
          </a:p>
        </p:txBody>
      </p:sp>
      <p:sp>
        <p:nvSpPr>
          <p:cNvPr id="51" name="Shape 35"/>
          <p:cNvSpPr/>
          <p:nvPr/>
        </p:nvSpPr>
        <p:spPr>
          <a:xfrm>
            <a:off x="2180844" y="1988820"/>
            <a:ext cx="190195" cy="190195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2" name="Text 36"/>
          <p:cNvSpPr txBox="1"/>
          <p:nvPr/>
        </p:nvSpPr>
        <p:spPr>
          <a:xfrm>
            <a:off x="2241194" y="1997964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53" name="Shape 37"/>
          <p:cNvSpPr/>
          <p:nvPr/>
        </p:nvSpPr>
        <p:spPr>
          <a:xfrm>
            <a:off x="4369003" y="2064715"/>
            <a:ext cx="476402" cy="476402"/>
          </a:xfrm>
          <a:prstGeom prst="ellipse">
            <a:avLst/>
          </a:prstGeom>
          <a:solidFill>
            <a:srgbClr val="1F1F23"/>
          </a:solidFill>
          <a:ln w="25400">
            <a:solidFill>
              <a:srgbClr val="A882FF"/>
            </a:solidFill>
            <a:prstDash val="solid"/>
          </a:ln>
          <a:effectLst>
            <a:outerShdw blurRad="139700" dist="12700" dir="16200000" algn="bl" rotWithShape="0">
              <a:srgbClr val="A882FF">
                <a:alpha val="30000"/>
              </a:srgbClr>
            </a:outerShdw>
          </a:effectLst>
        </p:spPr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5"/>
          <a:srcRect l="-1082" r="-1082"/>
          <a:stretch/>
        </p:blipFill>
        <p:spPr>
          <a:xfrm>
            <a:off x="4526280" y="2212848"/>
            <a:ext cx="161849" cy="181051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4253789" y="265541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데일리 노트</a:t>
            </a:r>
            <a:endParaRPr lang="en-US" sz="1100" dirty="0"/>
          </a:p>
        </p:txBody>
      </p:sp>
      <p:sp>
        <p:nvSpPr>
          <p:cNvPr id="56" name="Text 39"/>
          <p:cNvSpPr txBox="1"/>
          <p:nvPr/>
        </p:nvSpPr>
        <p:spPr>
          <a:xfrm>
            <a:off x="3948379" y="2873045"/>
            <a:ext cx="14100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날짜의 노트에 할 일 기록하기</a:t>
            </a:r>
            <a:endParaRPr lang="en-US" sz="900" dirty="0"/>
          </a:p>
        </p:txBody>
      </p:sp>
      <p:sp>
        <p:nvSpPr>
          <p:cNvPr id="57" name="Shape 40"/>
          <p:cNvSpPr/>
          <p:nvPr/>
        </p:nvSpPr>
        <p:spPr>
          <a:xfrm>
            <a:off x="5159045" y="1988820"/>
            <a:ext cx="190195" cy="190195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8" name="Text 41"/>
          <p:cNvSpPr txBox="1"/>
          <p:nvPr/>
        </p:nvSpPr>
        <p:spPr>
          <a:xfrm>
            <a:off x="5219395" y="1997964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Shape 42"/>
          <p:cNvSpPr/>
          <p:nvPr/>
        </p:nvSpPr>
        <p:spPr>
          <a:xfrm>
            <a:off x="7347204" y="2064715"/>
            <a:ext cx="476402" cy="476402"/>
          </a:xfrm>
          <a:prstGeom prst="ellipse">
            <a:avLst/>
          </a:prstGeom>
          <a:solidFill>
            <a:srgbClr val="1F1F23"/>
          </a:solidFill>
          <a:ln w="25400">
            <a:solidFill>
              <a:srgbClr val="A882FF"/>
            </a:solidFill>
            <a:prstDash val="solid"/>
          </a:ln>
          <a:effectLst>
            <a:outerShdw blurRad="139700" dist="12700" dir="16200000" algn="bl" rotWithShape="0">
              <a:srgbClr val="A882FF">
                <a:alpha val="30000"/>
              </a:srgbClr>
            </a:outerShdw>
          </a:effectLst>
        </p:spPr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6"/>
          <a:srcRect l="-505" r="-505"/>
          <a:stretch/>
        </p:blipFill>
        <p:spPr>
          <a:xfrm>
            <a:off x="7470648" y="2212848"/>
            <a:ext cx="228600" cy="181051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7211873" y="2655418"/>
            <a:ext cx="8613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링크 연결</a:t>
            </a:r>
            <a:endParaRPr lang="en-US" sz="1100" dirty="0"/>
          </a:p>
        </p:txBody>
      </p:sp>
      <p:sp>
        <p:nvSpPr>
          <p:cNvPr id="62" name="Text 44"/>
          <p:cNvSpPr txBox="1"/>
          <p:nvPr/>
        </p:nvSpPr>
        <p:spPr>
          <a:xfrm>
            <a:off x="6986016" y="2873045"/>
            <a:ext cx="1286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[[관심사]] 링크로 새 노트 만들기</a:t>
            </a:r>
            <a:endParaRPr lang="en-US" sz="900" dirty="0"/>
          </a:p>
        </p:txBody>
      </p:sp>
      <p:sp>
        <p:nvSpPr>
          <p:cNvPr id="63" name="Shape 45"/>
          <p:cNvSpPr/>
          <p:nvPr/>
        </p:nvSpPr>
        <p:spPr>
          <a:xfrm>
            <a:off x="8137246" y="1988820"/>
            <a:ext cx="190195" cy="190195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4" name="Text 46"/>
          <p:cNvSpPr txBox="1"/>
          <p:nvPr/>
        </p:nvSpPr>
        <p:spPr>
          <a:xfrm>
            <a:off x="8197596" y="1997964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65" name="Shape 47"/>
          <p:cNvSpPr/>
          <p:nvPr/>
        </p:nvSpPr>
        <p:spPr>
          <a:xfrm>
            <a:off x="10324490" y="2064715"/>
            <a:ext cx="476402" cy="476402"/>
          </a:xfrm>
          <a:prstGeom prst="ellipse">
            <a:avLst/>
          </a:prstGeom>
          <a:solidFill>
            <a:srgbClr val="1F1F23"/>
          </a:solidFill>
          <a:ln w="25400">
            <a:solidFill>
              <a:srgbClr val="A882FF"/>
            </a:solidFill>
            <a:prstDash val="solid"/>
          </a:ln>
          <a:effectLst>
            <a:outerShdw blurRad="139700" dist="12700" dir="16200000" algn="bl" rotWithShape="0">
              <a:srgbClr val="A882FF">
                <a:alpha val="30000"/>
              </a:srgbClr>
            </a:outerShdw>
          </a:effectLst>
        </p:spPr>
      </p:sp>
      <p:pic>
        <p:nvPicPr>
          <p:cNvPr id="66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472623" y="2212848"/>
            <a:ext cx="181051" cy="181051"/>
          </a:xfrm>
          <a:prstGeom prst="rect">
            <a:avLst/>
          </a:prstGeom>
        </p:spPr>
      </p:pic>
      <p:sp>
        <p:nvSpPr>
          <p:cNvPr id="67" name="Text 48"/>
          <p:cNvSpPr txBox="1"/>
          <p:nvPr/>
        </p:nvSpPr>
        <p:spPr>
          <a:xfrm>
            <a:off x="10210190" y="265541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 확인</a:t>
            </a:r>
            <a:endParaRPr lang="en-US" sz="1100" dirty="0"/>
          </a:p>
        </p:txBody>
      </p:sp>
      <p:sp>
        <p:nvSpPr>
          <p:cNvPr id="68" name="Text 49"/>
          <p:cNvSpPr txBox="1"/>
          <p:nvPr/>
        </p:nvSpPr>
        <p:spPr>
          <a:xfrm>
            <a:off x="9936785" y="2873045"/>
            <a:ext cx="13432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연결된 지식의 시작점 시각화</a:t>
            </a:r>
            <a:endParaRPr lang="en-US" sz="900" dirty="0"/>
          </a:p>
        </p:txBody>
      </p:sp>
      <p:sp>
        <p:nvSpPr>
          <p:cNvPr id="69" name="Shape 50"/>
          <p:cNvSpPr/>
          <p:nvPr/>
        </p:nvSpPr>
        <p:spPr>
          <a:xfrm>
            <a:off x="11115446" y="1988820"/>
            <a:ext cx="190195" cy="190195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0" name="Text 51"/>
          <p:cNvSpPr txBox="1"/>
          <p:nvPr/>
        </p:nvSpPr>
        <p:spPr>
          <a:xfrm>
            <a:off x="11175797" y="1997964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24805" y="547726"/>
            <a:ext cx="1143000" cy="1143000"/>
          </a:xfrm>
          <a:prstGeom prst="roundRect">
            <a:avLst>
              <a:gd name="adj" fmla="val 16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6" b="-16"/>
          <a:stretch/>
        </p:blipFill>
        <p:spPr>
          <a:xfrm>
            <a:off x="5738774" y="833018"/>
            <a:ext cx="714146" cy="571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446020" y="4710074"/>
            <a:ext cx="2562149" cy="1600200"/>
          </a:xfrm>
          <a:prstGeom prst="roundRect">
            <a:avLst>
              <a:gd name="adj" fmla="val 544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3545129" y="5024628"/>
            <a:ext cx="362102" cy="28620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234026" y="4710074"/>
            <a:ext cx="4515307" cy="1600200"/>
          </a:xfrm>
          <a:prstGeom prst="roundRect">
            <a:avLst>
              <a:gd name="adj" fmla="val 544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l="-266" r="-266"/>
          <a:stretch/>
        </p:blipFill>
        <p:spPr>
          <a:xfrm>
            <a:off x="7328002" y="5024628"/>
            <a:ext cx="323698" cy="286207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815791" y="1986077"/>
            <a:ext cx="47055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WORKFLOW FOR RESEARCHERS</a:t>
            </a:r>
            <a:endParaRPr lang="en-US" sz="1500" dirty="0"/>
          </a:p>
        </p:txBody>
      </p:sp>
      <p:sp>
        <p:nvSpPr>
          <p:cNvPr id="11" name="Text 5"/>
          <p:cNvSpPr txBox="1"/>
          <p:nvPr/>
        </p:nvSpPr>
        <p:spPr>
          <a:xfrm>
            <a:off x="3064154" y="2281428"/>
            <a:ext cx="649681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연구자를 위한 심화 활용법</a:t>
            </a:r>
            <a:endParaRPr lang="en-US" sz="4500" dirty="0"/>
          </a:p>
        </p:txBody>
      </p:sp>
      <p:sp>
        <p:nvSpPr>
          <p:cNvPr id="12" name="Text 6"/>
          <p:cNvSpPr txBox="1"/>
          <p:nvPr/>
        </p:nvSpPr>
        <p:spPr>
          <a:xfrm>
            <a:off x="4301338" y="3300070"/>
            <a:ext cx="3762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문헌정리 · 일정관리 · 프로젝트 관리를</a:t>
            </a:r>
            <a:endParaRPr lang="en-US" sz="1800" dirty="0"/>
          </a:p>
        </p:txBody>
      </p:sp>
      <p:sp>
        <p:nvSpPr>
          <p:cNvPr id="13" name="Text 7"/>
          <p:cNvSpPr txBox="1"/>
          <p:nvPr/>
        </p:nvSpPr>
        <p:spPr>
          <a:xfrm>
            <a:off x="4527194" y="3672230"/>
            <a:ext cx="33147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통합된 흐름으로 연결하다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3461918" y="5462626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대상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2836469" y="5719572"/>
            <a:ext cx="19248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대학원생 / 연구원 / PI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041794" y="5462626"/>
            <a:ext cx="1004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워크플로우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5624474" y="5719572"/>
            <a:ext cx="38770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 연동 · 문헌 노트 · 프로젝트 · 논문 집필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4753966" y="6362395"/>
            <a:ext cx="2786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Academic Knowledge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18895"/>
            <a:ext cx="2619756" cy="1943100"/>
          </a:xfrm>
          <a:prstGeom prst="roundRect">
            <a:avLst>
              <a:gd name="adj" fmla="val 2768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3349" y="138074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82FF">
              <a:alpha val="15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800100" y="1466698"/>
            <a:ext cx="209398" cy="1719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3349" y="2143354"/>
            <a:ext cx="523951" cy="267005"/>
          </a:xfrm>
          <a:prstGeom prst="roundRect">
            <a:avLst>
              <a:gd name="adj" fmla="val 48924"/>
            </a:avLst>
          </a:prstGeom>
          <a:solidFill>
            <a:srgbClr val="16161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304849" y="2143354"/>
            <a:ext cx="809244" cy="267005"/>
          </a:xfrm>
          <a:prstGeom prst="roundRect">
            <a:avLst>
              <a:gd name="adj" fmla="val 48924"/>
            </a:avLst>
          </a:prstGeom>
          <a:solidFill>
            <a:srgbClr val="16161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81451" y="1218895"/>
            <a:ext cx="2619756" cy="1943100"/>
          </a:xfrm>
          <a:prstGeom prst="roundRect">
            <a:avLst>
              <a:gd name="adj" fmla="val 2768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43300" y="138074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82FF">
              <a:alpha val="15000"/>
            </a:srgbClr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3619195" y="1466698"/>
            <a:ext cx="190195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543300" y="2143354"/>
            <a:ext cx="466344" cy="267005"/>
          </a:xfrm>
          <a:prstGeom prst="roundRect">
            <a:avLst>
              <a:gd name="adj" fmla="val 48924"/>
            </a:avLst>
          </a:prstGeom>
          <a:solidFill>
            <a:srgbClr val="16161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058107" y="2143354"/>
            <a:ext cx="523951" cy="267005"/>
          </a:xfrm>
          <a:prstGeom prst="roundRect">
            <a:avLst>
              <a:gd name="adj" fmla="val 48924"/>
            </a:avLst>
          </a:prstGeom>
          <a:solidFill>
            <a:srgbClr val="16161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1402" y="1218895"/>
            <a:ext cx="2619756" cy="1943100"/>
          </a:xfrm>
          <a:prstGeom prst="roundRect">
            <a:avLst>
              <a:gd name="adj" fmla="val 2768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53251" y="138074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82FF">
              <a:alpha val="15000"/>
            </a:srgbClr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429146" y="1466698"/>
            <a:ext cx="190195" cy="171907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53251" y="2143354"/>
            <a:ext cx="638251" cy="267005"/>
          </a:xfrm>
          <a:prstGeom prst="roundRect">
            <a:avLst>
              <a:gd name="adj" fmla="val 48924"/>
            </a:avLst>
          </a:prstGeom>
          <a:solidFill>
            <a:srgbClr val="16161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039051" y="2143354"/>
            <a:ext cx="466344" cy="267005"/>
          </a:xfrm>
          <a:prstGeom prst="roundRect">
            <a:avLst>
              <a:gd name="adj" fmla="val 48924"/>
            </a:avLst>
          </a:prstGeom>
          <a:solidFill>
            <a:srgbClr val="16161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001354" y="1218895"/>
            <a:ext cx="2619756" cy="1943100"/>
          </a:xfrm>
          <a:prstGeom prst="roundRect">
            <a:avLst>
              <a:gd name="adj" fmla="val 2768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163202" y="138074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882FF">
              <a:alpha val="15000"/>
            </a:srgbClr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9239098" y="1466698"/>
            <a:ext cx="190195" cy="171907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9163202" y="2143354"/>
            <a:ext cx="523951" cy="267005"/>
          </a:xfrm>
          <a:prstGeom prst="roundRect">
            <a:avLst>
              <a:gd name="adj" fmla="val 48924"/>
            </a:avLst>
          </a:prstGeom>
          <a:solidFill>
            <a:srgbClr val="16161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9734702" y="2143354"/>
            <a:ext cx="523951" cy="267005"/>
          </a:xfrm>
          <a:prstGeom prst="roundRect">
            <a:avLst>
              <a:gd name="adj" fmla="val 48924"/>
            </a:avLst>
          </a:prstGeom>
          <a:solidFill>
            <a:srgbClr val="16161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819302" y="381305"/>
            <a:ext cx="24533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ACADEMIC RESEARCH WORKFLOW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819302" y="552298"/>
            <a:ext cx="56967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연구자 워크플로우 개요 통합 프로세스</a:t>
            </a:r>
            <a:endParaRPr lang="en-US" sz="2700" dirty="0"/>
          </a:p>
        </p:txBody>
      </p:sp>
      <p:sp>
        <p:nvSpPr>
          <p:cNvPr id="27" name="Text 20"/>
          <p:cNvSpPr txBox="1"/>
          <p:nvPr/>
        </p:nvSpPr>
        <p:spPr>
          <a:xfrm>
            <a:off x="733349" y="1837944"/>
            <a:ext cx="1057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수집 &amp; 입력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819302" y="2219249"/>
            <a:ext cx="4389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Zotero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390802" y="2219249"/>
            <a:ext cx="7242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Web Clipper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733349" y="2476195"/>
            <a:ext cx="230154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및 자료를 수집하고 메타데이터를 정리합니다. Zotero에서 Better BibTeX 키를 생성합니다.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3543300" y="1837944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문헌 처리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3629254" y="2219249"/>
            <a:ext cx="381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PDF++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4143146" y="2219249"/>
            <a:ext cx="4389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ZotLit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3543300" y="2476195"/>
            <a:ext cx="236829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PDF를 읽으며 하이라이트하고, 옵시디언으로 문헌 노트를 자동 생성하여 주석을 연결합니다.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6353251" y="1837944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프로젝트 관리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6439205" y="2219249"/>
            <a:ext cx="553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Projects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7125005" y="2219249"/>
            <a:ext cx="381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Tasks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6353251" y="2476195"/>
            <a:ext cx="228234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단계를 추적하고 마감일을 관리합니다. 실험과 집필 일정을 통합 관리합니다.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9163202" y="1837944"/>
            <a:ext cx="1057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집필 &amp; 산출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9249156" y="2219249"/>
            <a:ext cx="4389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Pandoc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9820656" y="2219249"/>
            <a:ext cx="4389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82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9163202" y="2476195"/>
            <a:ext cx="23682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마크다운으로 초안을 작성하고 인용을 삽입한 뒤, Word나 PDF로 최종 변환합니다.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571500" y="3397910"/>
            <a:ext cx="11048695" cy="3086100"/>
          </a:xfrm>
          <a:prstGeom prst="roundRect">
            <a:avLst>
              <a:gd name="adj" fmla="val 1463"/>
            </a:avLst>
          </a:prstGeom>
          <a:solidFill>
            <a:srgbClr val="141419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rcRect l="-4247" r="-4247"/>
          <a:stretch/>
        </p:blipFill>
        <p:spPr>
          <a:xfrm>
            <a:off x="771754" y="3643884"/>
            <a:ext cx="181051" cy="133502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028700" y="3598164"/>
            <a:ext cx="16559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 PIPELINE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8118043" y="5903366"/>
            <a:ext cx="3305556" cy="381305"/>
          </a:xfrm>
          <a:prstGeom prst="roundRect">
            <a:avLst>
              <a:gd name="adj" fmla="val 47962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7" name="Shape 39"/>
          <p:cNvSpPr/>
          <p:nvPr/>
        </p:nvSpPr>
        <p:spPr>
          <a:xfrm>
            <a:off x="8261604" y="6052414"/>
            <a:ext cx="75895" cy="75895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8" name="Text 40"/>
          <p:cNvSpPr txBox="1"/>
          <p:nvPr/>
        </p:nvSpPr>
        <p:spPr>
          <a:xfrm>
            <a:off x="8395106" y="5998464"/>
            <a:ext cx="5779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자료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9020556" y="6052414"/>
            <a:ext cx="75895" cy="75895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0" name="Text 42"/>
          <p:cNvSpPr txBox="1"/>
          <p:nvPr/>
        </p:nvSpPr>
        <p:spPr>
          <a:xfrm>
            <a:off x="9154058" y="5998464"/>
            <a:ext cx="5486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옵시디언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9744761" y="6052414"/>
            <a:ext cx="75895" cy="75895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2" name="Text 44"/>
          <p:cNvSpPr txBox="1"/>
          <p:nvPr/>
        </p:nvSpPr>
        <p:spPr>
          <a:xfrm>
            <a:off x="9878263" y="5998464"/>
            <a:ext cx="435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endParaRPr lang="en-US" sz="900" dirty="0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10114" y="6033211"/>
            <a:ext cx="114300" cy="114300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10719511" y="6014009"/>
            <a:ext cx="648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루프</a:t>
            </a:r>
            <a:endParaRPr lang="en-US" sz="900" dirty="0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80644" y="3407969"/>
            <a:ext cx="11030407" cy="3066898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1914754" y="4413809"/>
            <a:ext cx="1047902" cy="1047902"/>
          </a:xfrm>
          <a:prstGeom prst="ellipse">
            <a:avLst/>
          </a:prstGeom>
          <a:solidFill>
            <a:srgbClr val="2D2D35"/>
          </a:solidFill>
          <a:ln w="25400">
            <a:solidFill>
              <a:srgbClr val="60A5FA"/>
            </a:solidFill>
            <a:prstDash val="solid"/>
          </a:ln>
          <a:effectLst>
            <a:outerShdw blurRad="190500" dist="1016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11"/>
          <a:srcRect t="-817" b="-817"/>
          <a:stretch/>
        </p:blipFill>
        <p:spPr>
          <a:xfrm>
            <a:off x="2318918" y="4678070"/>
            <a:ext cx="237744" cy="276149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2049170" y="5084064"/>
            <a:ext cx="878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(Zotero)</a:t>
            </a:r>
            <a:endParaRPr lang="en-US" sz="1000" dirty="0"/>
          </a:p>
        </p:txBody>
      </p:sp>
      <p:sp>
        <p:nvSpPr>
          <p:cNvPr id="59" name="Text 48"/>
          <p:cNvSpPr txBox="1"/>
          <p:nvPr/>
        </p:nvSpPr>
        <p:spPr>
          <a:xfrm>
            <a:off x="2262226" y="4194353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900" dirty="0"/>
          </a:p>
        </p:txBody>
      </p:sp>
      <p:sp>
        <p:nvSpPr>
          <p:cNvPr id="60" name="Shape 49"/>
          <p:cNvSpPr/>
          <p:nvPr/>
        </p:nvSpPr>
        <p:spPr>
          <a:xfrm>
            <a:off x="4200754" y="4413809"/>
            <a:ext cx="1047902" cy="1047902"/>
          </a:xfrm>
          <a:prstGeom prst="ellipse">
            <a:avLst/>
          </a:prstGeom>
          <a:solidFill>
            <a:srgbClr val="2D2D35"/>
          </a:solidFill>
          <a:ln w="25400">
            <a:solidFill>
              <a:srgbClr val="818CF8"/>
            </a:solidFill>
            <a:prstDash val="solid"/>
          </a:ln>
          <a:effectLst>
            <a:outerShdw blurRad="190500" dist="1016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2"/>
          <a:srcRect t="-1013" b="-1013"/>
          <a:stretch/>
        </p:blipFill>
        <p:spPr>
          <a:xfrm>
            <a:off x="4572000" y="4678070"/>
            <a:ext cx="304495" cy="276149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4460443" y="5084064"/>
            <a:ext cx="6309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읽기/주석</a:t>
            </a:r>
            <a:endParaRPr lang="en-US" sz="1000" dirty="0"/>
          </a:p>
        </p:txBody>
      </p:sp>
      <p:sp>
        <p:nvSpPr>
          <p:cNvPr id="63" name="Text 51"/>
          <p:cNvSpPr txBox="1"/>
          <p:nvPr/>
        </p:nvSpPr>
        <p:spPr>
          <a:xfrm>
            <a:off x="4548226" y="4194353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900" dirty="0"/>
          </a:p>
        </p:txBody>
      </p:sp>
      <p:sp>
        <p:nvSpPr>
          <p:cNvPr id="64" name="Shape 52"/>
          <p:cNvSpPr/>
          <p:nvPr/>
        </p:nvSpPr>
        <p:spPr>
          <a:xfrm>
            <a:off x="8962949" y="4413809"/>
            <a:ext cx="1047902" cy="1047902"/>
          </a:xfrm>
          <a:prstGeom prst="ellipse">
            <a:avLst/>
          </a:prstGeom>
          <a:solidFill>
            <a:srgbClr val="2D2D35"/>
          </a:solidFill>
          <a:ln w="25400">
            <a:solidFill>
              <a:srgbClr val="34D399"/>
            </a:solidFill>
            <a:prstDash val="solid"/>
          </a:ln>
          <a:effectLst>
            <a:outerShdw blurRad="190500" dist="1016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348826" y="4678070"/>
            <a:ext cx="276149" cy="276149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9223553" y="5084064"/>
            <a:ext cx="6309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계획/실행</a:t>
            </a:r>
            <a:endParaRPr lang="en-US" sz="1000" dirty="0"/>
          </a:p>
        </p:txBody>
      </p:sp>
      <p:sp>
        <p:nvSpPr>
          <p:cNvPr id="67" name="Text 54"/>
          <p:cNvSpPr txBox="1"/>
          <p:nvPr/>
        </p:nvSpPr>
        <p:spPr>
          <a:xfrm>
            <a:off x="9310421" y="4194353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900" dirty="0"/>
          </a:p>
        </p:txBody>
      </p:sp>
      <p:sp>
        <p:nvSpPr>
          <p:cNvPr id="68" name="Shape 55"/>
          <p:cNvSpPr/>
          <p:nvPr/>
        </p:nvSpPr>
        <p:spPr>
          <a:xfrm>
            <a:off x="10392156" y="4413809"/>
            <a:ext cx="1047902" cy="1047902"/>
          </a:xfrm>
          <a:prstGeom prst="ellipse">
            <a:avLst/>
          </a:prstGeom>
          <a:solidFill>
            <a:srgbClr val="2D2D35"/>
          </a:solidFill>
          <a:ln w="25400">
            <a:solidFill>
              <a:srgbClr val="FBBF24"/>
            </a:solidFill>
            <a:prstDash val="solid"/>
          </a:ln>
          <a:effectLst>
            <a:outerShdw blurRad="190500" dist="1016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 r:embed="rId14"/>
          <a:srcRect t="-333" b="-333"/>
          <a:stretch/>
        </p:blipFill>
        <p:spPr>
          <a:xfrm>
            <a:off x="10744200" y="4678070"/>
            <a:ext cx="342900" cy="276149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10651846" y="5084064"/>
            <a:ext cx="6309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집필/제출</a:t>
            </a:r>
            <a:endParaRPr lang="en-US" sz="1000" dirty="0"/>
          </a:p>
        </p:txBody>
      </p:sp>
      <p:sp>
        <p:nvSpPr>
          <p:cNvPr id="71" name="Text 57"/>
          <p:cNvSpPr txBox="1"/>
          <p:nvPr/>
        </p:nvSpPr>
        <p:spPr>
          <a:xfrm>
            <a:off x="10739628" y="4194353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</a:t>
            </a:r>
            <a:endParaRPr lang="en-US" sz="900" dirty="0"/>
          </a:p>
        </p:txBody>
      </p:sp>
      <p:sp>
        <p:nvSpPr>
          <p:cNvPr id="72" name="Shape 58"/>
          <p:cNvSpPr/>
          <p:nvPr/>
        </p:nvSpPr>
        <p:spPr>
          <a:xfrm>
            <a:off x="5381244" y="4222699"/>
            <a:ext cx="1429207" cy="1429207"/>
          </a:xfrm>
          <a:prstGeom prst="ellipse">
            <a:avLst/>
          </a:prstGeom>
          <a:solidFill>
            <a:srgbClr val="A882FF">
              <a:alpha val="10000"/>
            </a:srgbClr>
          </a:solidFill>
          <a:ln w="25400">
            <a:solidFill>
              <a:srgbClr val="A882FF"/>
            </a:solidFill>
            <a:prstDash val="solid"/>
          </a:ln>
          <a:effectLst>
            <a:outerShdw blurRad="330200" dist="12700" dir="16200000" algn="bl" rotWithShape="0">
              <a:srgbClr val="A882FF">
                <a:alpha val="25000"/>
              </a:srgbClr>
            </a:outerShdw>
          </a:effectLst>
        </p:spPr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905195" y="4518050"/>
            <a:ext cx="381305" cy="381305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5793638" y="5052060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합성</a:t>
            </a:r>
            <a:endParaRPr lang="en-US" sz="1200" dirty="0"/>
          </a:p>
        </p:txBody>
      </p:sp>
      <p:sp>
        <p:nvSpPr>
          <p:cNvPr id="75" name="Text 60"/>
          <p:cNvSpPr txBox="1"/>
          <p:nvPr/>
        </p:nvSpPr>
        <p:spPr>
          <a:xfrm>
            <a:off x="5693054" y="5309006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Literature Note</a:t>
            </a:r>
            <a:endParaRPr lang="en-US" sz="900" dirty="0"/>
          </a:p>
        </p:txBody>
      </p:sp>
      <p:sp>
        <p:nvSpPr>
          <p:cNvPr id="76" name="Text 61"/>
          <p:cNvSpPr txBox="1"/>
          <p:nvPr/>
        </p:nvSpPr>
        <p:spPr>
          <a:xfrm>
            <a:off x="5942686" y="3956609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9302" y="381305"/>
            <a:ext cx="1700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WORKFLOW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9302" y="552298"/>
            <a:ext cx="63724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 연동 완벽 가이드 ZotLit 플러그인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71500" y="1276502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37560" y="1200607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4330598" y="1276502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97573" y="1200607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Shape 8"/>
          <p:cNvSpPr/>
          <p:nvPr/>
        </p:nvSpPr>
        <p:spPr>
          <a:xfrm>
            <a:off x="8089697" y="1276502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856671" y="1200607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4200" dirty="0"/>
          </a:p>
        </p:txBody>
      </p:sp>
      <p:sp>
        <p:nvSpPr>
          <p:cNvPr id="13" name="Shape 10"/>
          <p:cNvSpPr/>
          <p:nvPr/>
        </p:nvSpPr>
        <p:spPr>
          <a:xfrm>
            <a:off x="571500" y="3991356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37560" y="3914546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4200" dirty="0"/>
          </a:p>
        </p:txBody>
      </p:sp>
      <p:sp>
        <p:nvSpPr>
          <p:cNvPr id="15" name="Shape 12"/>
          <p:cNvSpPr/>
          <p:nvPr/>
        </p:nvSpPr>
        <p:spPr>
          <a:xfrm>
            <a:off x="4330598" y="3991356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97573" y="3914546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4200" dirty="0"/>
          </a:p>
        </p:txBody>
      </p:sp>
      <p:sp>
        <p:nvSpPr>
          <p:cNvPr id="17" name="Shape 14"/>
          <p:cNvSpPr/>
          <p:nvPr/>
        </p:nvSpPr>
        <p:spPr>
          <a:xfrm>
            <a:off x="8089697" y="3991356"/>
            <a:ext cx="3534156" cy="2486254"/>
          </a:xfrm>
          <a:prstGeom prst="roundRect">
            <a:avLst>
              <a:gd name="adj" fmla="val 2255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856671" y="3914546"/>
            <a:ext cx="1019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4200" dirty="0"/>
          </a:p>
        </p:txBody>
      </p:sp>
      <p:sp>
        <p:nvSpPr>
          <p:cNvPr id="19" name="Shape 16"/>
          <p:cNvSpPr/>
          <p:nvPr/>
        </p:nvSpPr>
        <p:spPr>
          <a:xfrm>
            <a:off x="809244" y="15142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2746" y="1647749"/>
            <a:ext cx="190195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09244" y="2124151"/>
            <a:ext cx="11622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 설정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809244" y="2486254"/>
            <a:ext cx="263713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Better BibTeX 플러그인을 설치하여 인용 키(Citekey)를 자동 생성합니다. 형식은 author_year(예: kim_2024)를 추천합니다.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68342" y="15142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25619" y="1647749"/>
            <a:ext cx="142646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568342" y="2124151"/>
            <a:ext cx="11055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ZotLit 설치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568342" y="2486254"/>
            <a:ext cx="22082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Obsidian 설정 &gt; 커뮤니티 플러그인.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4568342" y="2691994"/>
            <a:ext cx="294162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'ZotLit'을 검색하여 설치하고 활성화합니다. (기존 Citations 플러그인보다 빠르고 강력합니다)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328355" y="15142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4718" y="1647749"/>
            <a:ext cx="142646" cy="19019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328355" y="2124151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설정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8328355" y="2486254"/>
            <a:ext cx="315102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ZotLit 설정에서 문헌 노트 템플릿이 저장될 폴더를 지정합니다. 메타데이터(저자, 연도, 저널 등)가 포함된 템플릿 파일을 연결합니다.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809244" y="4229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929030" y="4362602"/>
            <a:ext cx="219456" cy="19019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09244" y="4839005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 등록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09244" y="5201107"/>
            <a:ext cx="315102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&gt; 단축키. 'ZotLit: Create new note' 명령에 편한 단축키(예: Cmd+Shift+L)를 지정하여 빠르게 호출합니다.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568342" y="4229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01845" y="4362602"/>
            <a:ext cx="190195" cy="19019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568342" y="4839005"/>
            <a:ext cx="1534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문헌 검색 및 생성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4568342" y="5201107"/>
            <a:ext cx="315102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단축키를 누르고 Zotero 라이브러리의 논문 제목이나 저자를 검색합니다. 엔터를 누르면 지정된 템플릿에 맞춰 문헌 노트가 즉시 생성됩니다.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8328355" y="4229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882FF">
              <a:alpha val="10000"/>
            </a:srgbClr>
          </a:solidFill>
          <a:ln/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37169" y="4362602"/>
            <a:ext cx="237744" cy="19019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8328355" y="4839005"/>
            <a:ext cx="1133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및 연결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8328355" y="5201107"/>
            <a:ext cx="308427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문헌 노트에 요약과 메모를 작성합니다. 원자 노트나 프로젝트 노트에서 [[@citekey]] 형태로 링크하여 지식망을 확장합니다.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18895"/>
            <a:ext cx="3534156" cy="5257800"/>
          </a:xfrm>
          <a:prstGeom prst="roundRect">
            <a:avLst>
              <a:gd name="adj" fmla="val 837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0644" y="1228954"/>
            <a:ext cx="3514954" cy="466344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80644" y="1686154"/>
            <a:ext cx="35149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733349" y="1380744"/>
            <a:ext cx="114300" cy="152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23544" y="1343254"/>
            <a:ext cx="1724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YAML 메타데이터 템플릿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80644" y="1695298"/>
            <a:ext cx="3514954" cy="2391156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11" name="Shape 7"/>
          <p:cNvSpPr/>
          <p:nvPr/>
        </p:nvSpPr>
        <p:spPr>
          <a:xfrm>
            <a:off x="580644" y="4077310"/>
            <a:ext cx="35149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4330598" y="1218895"/>
            <a:ext cx="3534156" cy="5257800"/>
          </a:xfrm>
          <a:prstGeom prst="roundRect">
            <a:avLst>
              <a:gd name="adj" fmla="val 837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39742" y="1228954"/>
            <a:ext cx="3514954" cy="466344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4339742" y="1686154"/>
            <a:ext cx="35149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4492447" y="1380744"/>
            <a:ext cx="171907" cy="152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40250" y="1343254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주석(Annotation) 구조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39742" y="1695298"/>
            <a:ext cx="3514954" cy="2391156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18" name="Shape 13"/>
          <p:cNvSpPr/>
          <p:nvPr/>
        </p:nvSpPr>
        <p:spPr>
          <a:xfrm>
            <a:off x="4339742" y="4077310"/>
            <a:ext cx="35149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8089697" y="1218895"/>
            <a:ext cx="3534156" cy="5257800"/>
          </a:xfrm>
          <a:prstGeom prst="roundRect">
            <a:avLst>
              <a:gd name="adj" fmla="val 837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99755" y="1228954"/>
            <a:ext cx="3514954" cy="466344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8099755" y="1686154"/>
            <a:ext cx="35149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51546" y="1380744"/>
            <a:ext cx="152705" cy="152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480146" y="134325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Dataview 문헌 인덱스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099755" y="1695298"/>
            <a:ext cx="3514954" cy="2391156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25" name="Shape 19"/>
          <p:cNvSpPr/>
          <p:nvPr/>
        </p:nvSpPr>
        <p:spPr>
          <a:xfrm>
            <a:off x="8099755" y="4077310"/>
            <a:ext cx="35149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19302" y="381305"/>
            <a:ext cx="1700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WORKFLOW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819302" y="552298"/>
            <a:ext cx="57442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문헌 노트 자동화 템플릿 &amp; 메타데이터</a:t>
            </a:r>
            <a:endParaRPr lang="en-US" sz="2700" dirty="0"/>
          </a:p>
        </p:txBody>
      </p:sp>
      <p:sp>
        <p:nvSpPr>
          <p:cNvPr id="28" name="Text 22"/>
          <p:cNvSpPr txBox="1"/>
          <p:nvPr/>
        </p:nvSpPr>
        <p:spPr>
          <a:xfrm>
            <a:off x="733349" y="1867205"/>
            <a:ext cx="2971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---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733349" y="2048256"/>
            <a:ext cx="152613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category: "literature"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733349" y="2229307"/>
            <a:ext cx="139263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citekey: {{citekey}}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733349" y="2411273"/>
            <a:ext cx="106893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status: #unread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733349" y="2592324"/>
            <a:ext cx="113568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tags: [{{tags}}]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733349" y="2774290"/>
            <a:ext cx="10122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year: {{year}}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733349" y="2955341"/>
            <a:ext cx="139263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authors: {{authors}}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733349" y="3137306"/>
            <a:ext cx="2971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---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33349" y="3499409"/>
            <a:ext cx="139263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ZotLit 템플릿 예시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733349" y="3681374"/>
            <a:ext cx="10122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&gt; [!cite] Info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733349" y="3862426"/>
            <a:ext cx="126918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&gt; {{bibliography}}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4492447" y="1867205"/>
            <a:ext cx="9454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Annotations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4492447" y="2048256"/>
            <a:ext cx="106893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% 색상별 분류 %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4492447" y="2229307"/>
            <a:ext cx="17830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{% for a in annotations %}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4492447" y="2411273"/>
            <a:ext cx="159288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### {{a.colorCategory}}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4492447" y="2592324"/>
            <a:ext cx="152613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&gt; [!quote] {{a.color}}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4492447" y="2774290"/>
            <a:ext cx="8787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&gt; {{a.text}}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4492447" y="2955341"/>
            <a:ext cx="12024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&gt; [[{{pdfLink}}]]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4492447" y="3318358"/>
            <a:ext cx="159288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**Note:** {{a.comment}}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4492447" y="3499409"/>
            <a:ext cx="8787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{% endfor %}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8251546" y="1867205"/>
            <a:ext cx="81198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```dataview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8251546" y="2048256"/>
            <a:ext cx="4215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TABLE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8251546" y="2229307"/>
            <a:ext cx="12024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title AS "Title",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8251546" y="2411273"/>
            <a:ext cx="139263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authors AS "Author",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8251546" y="2592324"/>
            <a:ext cx="106893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year AS "Year",</a:t>
            </a:r>
            <a:endParaRPr lang="en-US" sz="1000" dirty="0"/>
          </a:p>
        </p:txBody>
      </p:sp>
      <p:sp>
        <p:nvSpPr>
          <p:cNvPr id="53" name="Text 47"/>
          <p:cNvSpPr txBox="1"/>
          <p:nvPr/>
        </p:nvSpPr>
        <p:spPr>
          <a:xfrm>
            <a:off x="8251546" y="2774290"/>
            <a:ext cx="126918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status AS "Status"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8251546" y="2955341"/>
            <a:ext cx="12024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FROM "Literature"</a:t>
            </a:r>
            <a:endParaRPr lang="en-US" sz="1000" dirty="0"/>
          </a:p>
        </p:txBody>
      </p:sp>
      <p:sp>
        <p:nvSpPr>
          <p:cNvPr id="55" name="Text 49"/>
          <p:cNvSpPr txBox="1"/>
          <p:nvPr/>
        </p:nvSpPr>
        <p:spPr>
          <a:xfrm>
            <a:off x="8251546" y="3137306"/>
            <a:ext cx="184983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WHERE contains(tags, "#AI")</a:t>
            </a:r>
            <a:endParaRPr lang="en-US" sz="1000" dirty="0"/>
          </a:p>
        </p:txBody>
      </p:sp>
      <p:sp>
        <p:nvSpPr>
          <p:cNvPr id="56" name="Text 50"/>
          <p:cNvSpPr txBox="1"/>
          <p:nvPr/>
        </p:nvSpPr>
        <p:spPr>
          <a:xfrm>
            <a:off x="8251546" y="3318358"/>
            <a:ext cx="10122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SORT year DESC</a:t>
            </a:r>
            <a:endParaRPr lang="en-US" sz="1000" dirty="0"/>
          </a:p>
        </p:txBody>
      </p:sp>
      <p:sp>
        <p:nvSpPr>
          <p:cNvPr id="57" name="Text 51"/>
          <p:cNvSpPr txBox="1"/>
          <p:nvPr/>
        </p:nvSpPr>
        <p:spPr>
          <a:xfrm>
            <a:off x="8251546" y="3499409"/>
            <a:ext cx="29718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```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580644" y="4086454"/>
            <a:ext cx="3514954" cy="2381098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733349" y="4229100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PROPERTIES VIEW</a:t>
            </a:r>
            <a:endParaRPr lang="en-US" sz="900" dirty="0"/>
          </a:p>
        </p:txBody>
      </p:sp>
      <p:sp>
        <p:nvSpPr>
          <p:cNvPr id="60" name="Text 54"/>
          <p:cNvSpPr txBox="1"/>
          <p:nvPr/>
        </p:nvSpPr>
        <p:spPr>
          <a:xfrm>
            <a:off x="733349" y="4486046"/>
            <a:ext cx="5971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1495044" y="4466844"/>
            <a:ext cx="676656" cy="228600"/>
          </a:xfrm>
          <a:prstGeom prst="roundRect">
            <a:avLst>
              <a:gd name="adj" fmla="val 66667"/>
            </a:avLst>
          </a:prstGeom>
          <a:solidFill>
            <a:srgbClr val="2A2A30"/>
          </a:solidFill>
          <a:ln/>
        </p:spPr>
      </p:sp>
      <p:sp>
        <p:nvSpPr>
          <p:cNvPr id="62" name="Text 56"/>
          <p:cNvSpPr txBox="1"/>
          <p:nvPr/>
        </p:nvSpPr>
        <p:spPr>
          <a:xfrm>
            <a:off x="1571854" y="4486046"/>
            <a:ext cx="6153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literature</a:t>
            </a:r>
            <a:endParaRPr lang="en-US" sz="900" dirty="0"/>
          </a:p>
        </p:txBody>
      </p:sp>
      <p:sp>
        <p:nvSpPr>
          <p:cNvPr id="63" name="Text 57"/>
          <p:cNvSpPr txBox="1"/>
          <p:nvPr/>
        </p:nvSpPr>
        <p:spPr>
          <a:xfrm>
            <a:off x="733349" y="4783226"/>
            <a:ext cx="5111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citekey</a:t>
            </a:r>
            <a:endParaRPr lang="en-US" sz="900" dirty="0"/>
          </a:p>
        </p:txBody>
      </p:sp>
      <p:sp>
        <p:nvSpPr>
          <p:cNvPr id="64" name="Shape 58"/>
          <p:cNvSpPr/>
          <p:nvPr/>
        </p:nvSpPr>
        <p:spPr>
          <a:xfrm>
            <a:off x="1495044" y="4764024"/>
            <a:ext cx="1009498" cy="228600"/>
          </a:xfrm>
          <a:prstGeom prst="roundRect">
            <a:avLst>
              <a:gd name="adj" fmla="val 66667"/>
            </a:avLst>
          </a:prstGeom>
          <a:solidFill>
            <a:srgbClr val="2A2A30"/>
          </a:solidFill>
          <a:ln/>
        </p:spPr>
      </p:sp>
      <p:sp>
        <p:nvSpPr>
          <p:cNvPr id="65" name="Text 59"/>
          <p:cNvSpPr txBox="1"/>
          <p:nvPr/>
        </p:nvSpPr>
        <p:spPr>
          <a:xfrm>
            <a:off x="1571854" y="4783226"/>
            <a:ext cx="9491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@Kim_2024_AI</a:t>
            </a:r>
            <a:endParaRPr lang="en-US" sz="900" dirty="0"/>
          </a:p>
        </p:txBody>
      </p:sp>
      <p:sp>
        <p:nvSpPr>
          <p:cNvPr id="66" name="Text 60"/>
          <p:cNvSpPr txBox="1"/>
          <p:nvPr/>
        </p:nvSpPr>
        <p:spPr>
          <a:xfrm>
            <a:off x="733349" y="5080406"/>
            <a:ext cx="4443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</a:t>
            </a:r>
            <a:endParaRPr lang="en-US" sz="900" dirty="0"/>
          </a:p>
        </p:txBody>
      </p:sp>
      <p:sp>
        <p:nvSpPr>
          <p:cNvPr id="67" name="Shape 61"/>
          <p:cNvSpPr/>
          <p:nvPr/>
        </p:nvSpPr>
        <p:spPr>
          <a:xfrm>
            <a:off x="1495044" y="5061204"/>
            <a:ext cx="590702" cy="228600"/>
          </a:xfrm>
          <a:prstGeom prst="roundRect">
            <a:avLst>
              <a:gd name="adj" fmla="val 66667"/>
            </a:avLst>
          </a:prstGeom>
          <a:solidFill>
            <a:srgbClr val="A882FF">
              <a:alpha val="20000"/>
            </a:srgbClr>
          </a:solidFill>
          <a:ln/>
        </p:spPr>
      </p:sp>
      <p:sp>
        <p:nvSpPr>
          <p:cNvPr id="68" name="Text 62"/>
          <p:cNvSpPr txBox="1"/>
          <p:nvPr/>
        </p:nvSpPr>
        <p:spPr>
          <a:xfrm>
            <a:off x="1552651" y="5080406"/>
            <a:ext cx="5678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#unread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733349" y="5377586"/>
            <a:ext cx="3493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year</a:t>
            </a:r>
            <a:endParaRPr lang="en-US" sz="900" dirty="0"/>
          </a:p>
        </p:txBody>
      </p:sp>
      <p:sp>
        <p:nvSpPr>
          <p:cNvPr id="70" name="Shape 64"/>
          <p:cNvSpPr/>
          <p:nvPr/>
        </p:nvSpPr>
        <p:spPr>
          <a:xfrm>
            <a:off x="1495044" y="5359298"/>
            <a:ext cx="428854" cy="228600"/>
          </a:xfrm>
          <a:prstGeom prst="roundRect">
            <a:avLst>
              <a:gd name="adj" fmla="val 66667"/>
            </a:avLst>
          </a:prstGeom>
          <a:solidFill>
            <a:srgbClr val="2A2A30"/>
          </a:solidFill>
          <a:ln/>
        </p:spPr>
      </p:sp>
      <p:sp>
        <p:nvSpPr>
          <p:cNvPr id="71" name="Text 65"/>
          <p:cNvSpPr txBox="1"/>
          <p:nvPr/>
        </p:nvSpPr>
        <p:spPr>
          <a:xfrm>
            <a:off x="1571854" y="5377586"/>
            <a:ext cx="3685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</a:t>
            </a:r>
            <a:endParaRPr lang="en-US" sz="900" dirty="0"/>
          </a:p>
        </p:txBody>
      </p:sp>
      <p:sp>
        <p:nvSpPr>
          <p:cNvPr id="72" name="Shape 66"/>
          <p:cNvSpPr/>
          <p:nvPr/>
        </p:nvSpPr>
        <p:spPr>
          <a:xfrm>
            <a:off x="733349" y="5732374"/>
            <a:ext cx="3209544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3" name="Shape 67"/>
          <p:cNvSpPr/>
          <p:nvPr/>
        </p:nvSpPr>
        <p:spPr>
          <a:xfrm>
            <a:off x="733349" y="5894222"/>
            <a:ext cx="3209544" cy="495605"/>
          </a:xfrm>
          <a:prstGeom prst="roundRect">
            <a:avLst>
              <a:gd name="adj" fmla="val 14192"/>
            </a:avLst>
          </a:prstGeom>
          <a:solidFill>
            <a:srgbClr val="60A5FA">
              <a:alpha val="10000"/>
            </a:srgbClr>
          </a:solidFill>
          <a:ln/>
        </p:spPr>
      </p:sp>
      <p:sp>
        <p:nvSpPr>
          <p:cNvPr id="74" name="Shape 68"/>
          <p:cNvSpPr/>
          <p:nvPr/>
        </p:nvSpPr>
        <p:spPr>
          <a:xfrm>
            <a:off x="733349" y="5894222"/>
            <a:ext cx="38405" cy="495605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75" name="Image 4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886054" y="5993892"/>
            <a:ext cx="105156" cy="114300"/>
          </a:xfrm>
          <a:prstGeom prst="rect">
            <a:avLst/>
          </a:prstGeom>
        </p:spPr>
      </p:pic>
      <p:sp>
        <p:nvSpPr>
          <p:cNvPr id="76" name="Text 69"/>
          <p:cNvSpPr txBox="1"/>
          <p:nvPr/>
        </p:nvSpPr>
        <p:spPr>
          <a:xfrm>
            <a:off x="1028700" y="5960974"/>
            <a:ext cx="314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Cite</a:t>
            </a:r>
            <a:endParaRPr lang="en-US" sz="900" dirty="0"/>
          </a:p>
        </p:txBody>
      </p:sp>
      <p:sp>
        <p:nvSpPr>
          <p:cNvPr id="77" name="Text 70"/>
          <p:cNvSpPr txBox="1"/>
          <p:nvPr/>
        </p:nvSpPr>
        <p:spPr>
          <a:xfrm>
            <a:off x="886054" y="6151169"/>
            <a:ext cx="2457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Kim, J. et al. (2024). "AI Workflow..." Nature.</a:t>
            </a:r>
            <a:endParaRPr lang="en-US" sz="900" dirty="0"/>
          </a:p>
        </p:txBody>
      </p:sp>
      <p:sp>
        <p:nvSpPr>
          <p:cNvPr id="78" name="Shape 71"/>
          <p:cNvSpPr/>
          <p:nvPr/>
        </p:nvSpPr>
        <p:spPr>
          <a:xfrm>
            <a:off x="4339742" y="4086454"/>
            <a:ext cx="3514954" cy="2381098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9" name="Shape 72"/>
          <p:cNvSpPr/>
          <p:nvPr/>
        </p:nvSpPr>
        <p:spPr>
          <a:xfrm>
            <a:off x="4492447" y="4466844"/>
            <a:ext cx="3209544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0" name="Text 73"/>
          <p:cNvSpPr txBox="1"/>
          <p:nvPr/>
        </p:nvSpPr>
        <p:spPr>
          <a:xfrm>
            <a:off x="4492447" y="4238244"/>
            <a:ext cx="12911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Yellow (Core Idea)</a:t>
            </a:r>
            <a:endParaRPr lang="en-US" sz="1000" dirty="0"/>
          </a:p>
        </p:txBody>
      </p:sp>
      <p:sp>
        <p:nvSpPr>
          <p:cNvPr id="81" name="Shape 74"/>
          <p:cNvSpPr/>
          <p:nvPr/>
        </p:nvSpPr>
        <p:spPr>
          <a:xfrm>
            <a:off x="4492447" y="4552798"/>
            <a:ext cx="3209544" cy="495605"/>
          </a:xfrm>
          <a:prstGeom prst="roundRect">
            <a:avLst>
              <a:gd name="adj" fmla="val 14192"/>
            </a:avLst>
          </a:prstGeom>
          <a:solidFill>
            <a:srgbClr val="EAB308">
              <a:alpha val="10000"/>
            </a:srgbClr>
          </a:solidFill>
          <a:ln/>
        </p:spPr>
      </p:sp>
      <p:sp>
        <p:nvSpPr>
          <p:cNvPr id="82" name="Shape 75"/>
          <p:cNvSpPr/>
          <p:nvPr/>
        </p:nvSpPr>
        <p:spPr>
          <a:xfrm>
            <a:off x="4492447" y="4552798"/>
            <a:ext cx="38405" cy="495605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83" name="Text 76"/>
          <p:cNvSpPr txBox="1"/>
          <p:nvPr/>
        </p:nvSpPr>
        <p:spPr>
          <a:xfrm>
            <a:off x="4645152" y="4619549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Quote</a:t>
            </a:r>
            <a:endParaRPr lang="en-US" sz="900" dirty="0"/>
          </a:p>
        </p:txBody>
      </p:sp>
      <p:sp>
        <p:nvSpPr>
          <p:cNvPr id="84" name="Text 77"/>
          <p:cNvSpPr txBox="1"/>
          <p:nvPr/>
        </p:nvSpPr>
        <p:spPr>
          <a:xfrm>
            <a:off x="4645152" y="4809744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"LLM의 환각 현상은 RAG로 완화된다."</a:t>
            </a:r>
            <a:endParaRPr lang="en-US" sz="900" dirty="0"/>
          </a:p>
        </p:txBody>
      </p:sp>
      <p:sp>
        <p:nvSpPr>
          <p:cNvPr id="85" name="Text 78"/>
          <p:cNvSpPr txBox="1"/>
          <p:nvPr/>
        </p:nvSpPr>
        <p:spPr>
          <a:xfrm>
            <a:off x="6505956" y="4809744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p.12</a:t>
            </a:r>
            <a:endParaRPr lang="en-US" sz="900" dirty="0"/>
          </a:p>
        </p:txBody>
      </p:sp>
      <p:sp>
        <p:nvSpPr>
          <p:cNvPr id="86" name="Shape 79"/>
          <p:cNvSpPr/>
          <p:nvPr/>
        </p:nvSpPr>
        <p:spPr>
          <a:xfrm>
            <a:off x="4492447" y="5162702"/>
            <a:ext cx="19202" cy="152705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87" name="Text 80"/>
          <p:cNvSpPr txBox="1"/>
          <p:nvPr/>
        </p:nvSpPr>
        <p:spPr>
          <a:xfrm>
            <a:off x="4587545" y="5152644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Note:</a:t>
            </a:r>
            <a:endParaRPr lang="en-US" sz="900" dirty="0"/>
          </a:p>
        </p:txBody>
      </p:sp>
      <p:sp>
        <p:nvSpPr>
          <p:cNvPr id="88" name="Text 81"/>
          <p:cNvSpPr txBox="1"/>
          <p:nvPr/>
        </p:nvSpPr>
        <p:spPr>
          <a:xfrm>
            <a:off x="4890211" y="5152644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부분이 핵심 논거임.</a:t>
            </a:r>
            <a:endParaRPr lang="en-US" sz="900" dirty="0"/>
          </a:p>
        </p:txBody>
      </p:sp>
      <p:sp>
        <p:nvSpPr>
          <p:cNvPr id="89" name="Shape 82"/>
          <p:cNvSpPr/>
          <p:nvPr/>
        </p:nvSpPr>
        <p:spPr>
          <a:xfrm>
            <a:off x="4492447" y="5695798"/>
            <a:ext cx="3209544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90" name="Text 83"/>
          <p:cNvSpPr txBox="1"/>
          <p:nvPr/>
        </p:nvSpPr>
        <p:spPr>
          <a:xfrm>
            <a:off x="4492447" y="5467198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 (Critique)</a:t>
            </a:r>
            <a:endParaRPr lang="en-US" sz="1000" dirty="0"/>
          </a:p>
        </p:txBody>
      </p:sp>
      <p:sp>
        <p:nvSpPr>
          <p:cNvPr id="91" name="Shape 84"/>
          <p:cNvSpPr/>
          <p:nvPr/>
        </p:nvSpPr>
        <p:spPr>
          <a:xfrm>
            <a:off x="4492447" y="5781751"/>
            <a:ext cx="3209544" cy="495605"/>
          </a:xfrm>
          <a:prstGeom prst="roundRect">
            <a:avLst>
              <a:gd name="adj" fmla="val 14192"/>
            </a:avLst>
          </a:prstGeom>
          <a:solidFill>
            <a:srgbClr val="EF4444">
              <a:alpha val="10000"/>
            </a:srgbClr>
          </a:solidFill>
          <a:ln/>
        </p:spPr>
      </p:sp>
      <p:sp>
        <p:nvSpPr>
          <p:cNvPr id="92" name="Shape 85"/>
          <p:cNvSpPr/>
          <p:nvPr/>
        </p:nvSpPr>
        <p:spPr>
          <a:xfrm>
            <a:off x="4492447" y="5781751"/>
            <a:ext cx="38405" cy="49560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3" name="Text 86"/>
          <p:cNvSpPr txBox="1"/>
          <p:nvPr/>
        </p:nvSpPr>
        <p:spPr>
          <a:xfrm>
            <a:off x="4645152" y="5848502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Quote</a:t>
            </a:r>
            <a:endParaRPr lang="en-US" sz="900" dirty="0"/>
          </a:p>
        </p:txBody>
      </p:sp>
      <p:sp>
        <p:nvSpPr>
          <p:cNvPr id="94" name="Text 87"/>
          <p:cNvSpPr txBox="1"/>
          <p:nvPr/>
        </p:nvSpPr>
        <p:spPr>
          <a:xfrm>
            <a:off x="4645152" y="6038698"/>
            <a:ext cx="1762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"데이터 전처리는 수동으로 진행..."</a:t>
            </a:r>
            <a:endParaRPr lang="en-US" sz="900" dirty="0"/>
          </a:p>
        </p:txBody>
      </p:sp>
      <p:sp>
        <p:nvSpPr>
          <p:cNvPr id="95" name="Text 88"/>
          <p:cNvSpPr txBox="1"/>
          <p:nvPr/>
        </p:nvSpPr>
        <p:spPr>
          <a:xfrm>
            <a:off x="6312103" y="6038698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p.15</a:t>
            </a:r>
            <a:endParaRPr lang="en-US" sz="900" dirty="0"/>
          </a:p>
        </p:txBody>
      </p:sp>
      <p:sp>
        <p:nvSpPr>
          <p:cNvPr id="96" name="Shape 89"/>
          <p:cNvSpPr/>
          <p:nvPr/>
        </p:nvSpPr>
        <p:spPr>
          <a:xfrm>
            <a:off x="4492447" y="6391656"/>
            <a:ext cx="19202" cy="152705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97" name="Text 90"/>
          <p:cNvSpPr txBox="1"/>
          <p:nvPr/>
        </p:nvSpPr>
        <p:spPr>
          <a:xfrm>
            <a:off x="4587545" y="6381598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Note:</a:t>
            </a:r>
            <a:endParaRPr lang="en-US" sz="900" dirty="0"/>
          </a:p>
        </p:txBody>
      </p:sp>
      <p:sp>
        <p:nvSpPr>
          <p:cNvPr id="98" name="Text 91"/>
          <p:cNvSpPr txBox="1"/>
          <p:nvPr/>
        </p:nvSpPr>
        <p:spPr>
          <a:xfrm>
            <a:off x="4890211" y="6381598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가능성 검토 필요.</a:t>
            </a:r>
            <a:endParaRPr lang="en-US" sz="900" dirty="0"/>
          </a:p>
        </p:txBody>
      </p:sp>
      <p:sp>
        <p:nvSpPr>
          <p:cNvPr id="99" name="Shape 92"/>
          <p:cNvSpPr/>
          <p:nvPr/>
        </p:nvSpPr>
        <p:spPr>
          <a:xfrm>
            <a:off x="8099755" y="4086454"/>
            <a:ext cx="3514954" cy="2381098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0" name="Text 93"/>
          <p:cNvSpPr txBox="1"/>
          <p:nvPr/>
        </p:nvSpPr>
        <p:spPr>
          <a:xfrm>
            <a:off x="8251546" y="4229100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DATAVIEW RESULT</a:t>
            </a:r>
            <a:endParaRPr lang="en-US" sz="900" dirty="0"/>
          </a:p>
        </p:txBody>
      </p:sp>
      <p:sp>
        <p:nvSpPr>
          <p:cNvPr id="101" name="Shape 94"/>
          <p:cNvSpPr/>
          <p:nvPr/>
        </p:nvSpPr>
        <p:spPr>
          <a:xfrm>
            <a:off x="8251546" y="4714646"/>
            <a:ext cx="1285646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02" name="Text 95"/>
          <p:cNvSpPr txBox="1"/>
          <p:nvPr/>
        </p:nvSpPr>
        <p:spPr>
          <a:xfrm>
            <a:off x="8328355" y="4505249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Title</a:t>
            </a:r>
            <a:endParaRPr lang="en-US" sz="900" dirty="0"/>
          </a:p>
        </p:txBody>
      </p:sp>
      <p:sp>
        <p:nvSpPr>
          <p:cNvPr id="103" name="Shape 96"/>
          <p:cNvSpPr/>
          <p:nvPr/>
        </p:nvSpPr>
        <p:spPr>
          <a:xfrm>
            <a:off x="9534449" y="4714646"/>
            <a:ext cx="666598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04" name="Text 97"/>
          <p:cNvSpPr txBox="1"/>
          <p:nvPr/>
        </p:nvSpPr>
        <p:spPr>
          <a:xfrm>
            <a:off x="9610344" y="4505249"/>
            <a:ext cx="476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Author</a:t>
            </a:r>
            <a:endParaRPr lang="en-US" sz="900" dirty="0"/>
          </a:p>
        </p:txBody>
      </p:sp>
      <p:sp>
        <p:nvSpPr>
          <p:cNvPr id="105" name="Shape 98"/>
          <p:cNvSpPr/>
          <p:nvPr/>
        </p:nvSpPr>
        <p:spPr>
          <a:xfrm>
            <a:off x="10197389" y="4714646"/>
            <a:ext cx="504749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06" name="Text 99"/>
          <p:cNvSpPr txBox="1"/>
          <p:nvPr/>
        </p:nvSpPr>
        <p:spPr>
          <a:xfrm>
            <a:off x="10274198" y="4505249"/>
            <a:ext cx="333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Year</a:t>
            </a:r>
            <a:endParaRPr lang="en-US" sz="900" dirty="0"/>
          </a:p>
        </p:txBody>
      </p:sp>
      <p:sp>
        <p:nvSpPr>
          <p:cNvPr id="107" name="Shape 100"/>
          <p:cNvSpPr/>
          <p:nvPr/>
        </p:nvSpPr>
        <p:spPr>
          <a:xfrm>
            <a:off x="10696651" y="4714646"/>
            <a:ext cx="771754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08" name="Text 101"/>
          <p:cNvSpPr txBox="1"/>
          <p:nvPr/>
        </p:nvSpPr>
        <p:spPr>
          <a:xfrm>
            <a:off x="10772546" y="4505249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</a:t>
            </a:r>
            <a:endParaRPr lang="en-US" sz="900" dirty="0"/>
          </a:p>
        </p:txBody>
      </p:sp>
      <p:sp>
        <p:nvSpPr>
          <p:cNvPr id="109" name="Shape 102"/>
          <p:cNvSpPr/>
          <p:nvPr/>
        </p:nvSpPr>
        <p:spPr>
          <a:xfrm>
            <a:off x="8251546" y="5138928"/>
            <a:ext cx="1285646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0" name="Text 103"/>
          <p:cNvSpPr txBox="1"/>
          <p:nvPr/>
        </p:nvSpPr>
        <p:spPr>
          <a:xfrm>
            <a:off x="8328355" y="4762195"/>
            <a:ext cx="7818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Workflow Optimization</a:t>
            </a:r>
            <a:endParaRPr lang="en-US" sz="900" dirty="0"/>
          </a:p>
        </p:txBody>
      </p:sp>
      <p:sp>
        <p:nvSpPr>
          <p:cNvPr id="111" name="Shape 104"/>
          <p:cNvSpPr/>
          <p:nvPr/>
        </p:nvSpPr>
        <p:spPr>
          <a:xfrm>
            <a:off x="9534449" y="5138928"/>
            <a:ext cx="666598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2" name="Text 105"/>
          <p:cNvSpPr txBox="1"/>
          <p:nvPr/>
        </p:nvSpPr>
        <p:spPr>
          <a:xfrm>
            <a:off x="9610344" y="4848149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Kim, J.</a:t>
            </a:r>
            <a:endParaRPr lang="en-US" sz="900" dirty="0"/>
          </a:p>
        </p:txBody>
      </p:sp>
      <p:sp>
        <p:nvSpPr>
          <p:cNvPr id="113" name="Shape 106"/>
          <p:cNvSpPr/>
          <p:nvPr/>
        </p:nvSpPr>
        <p:spPr>
          <a:xfrm>
            <a:off x="10197389" y="5138928"/>
            <a:ext cx="504749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4" name="Text 107"/>
          <p:cNvSpPr txBox="1"/>
          <p:nvPr/>
        </p:nvSpPr>
        <p:spPr>
          <a:xfrm>
            <a:off x="10274198" y="4848149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</a:t>
            </a:r>
            <a:endParaRPr lang="en-US" sz="900" dirty="0"/>
          </a:p>
        </p:txBody>
      </p:sp>
      <p:sp>
        <p:nvSpPr>
          <p:cNvPr id="115" name="Shape 108"/>
          <p:cNvSpPr/>
          <p:nvPr/>
        </p:nvSpPr>
        <p:spPr>
          <a:xfrm>
            <a:off x="10696651" y="5138928"/>
            <a:ext cx="771754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6" name="Text 109"/>
          <p:cNvSpPr txBox="1"/>
          <p:nvPr/>
        </p:nvSpPr>
        <p:spPr>
          <a:xfrm>
            <a:off x="10772546" y="4848149"/>
            <a:ext cx="534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#unread</a:t>
            </a:r>
            <a:endParaRPr lang="en-US" sz="900" dirty="0"/>
          </a:p>
        </p:txBody>
      </p:sp>
      <p:sp>
        <p:nvSpPr>
          <p:cNvPr id="117" name="Shape 110"/>
          <p:cNvSpPr/>
          <p:nvPr/>
        </p:nvSpPr>
        <p:spPr>
          <a:xfrm>
            <a:off x="8251546" y="5567782"/>
            <a:ext cx="1285646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8" name="Text 111"/>
          <p:cNvSpPr txBox="1"/>
          <p:nvPr/>
        </p:nvSpPr>
        <p:spPr>
          <a:xfrm>
            <a:off x="8328355" y="5191049"/>
            <a:ext cx="7525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Obsidian for Research</a:t>
            </a:r>
            <a:endParaRPr lang="en-US" sz="900" dirty="0"/>
          </a:p>
        </p:txBody>
      </p:sp>
      <p:sp>
        <p:nvSpPr>
          <p:cNvPr id="119" name="Shape 112"/>
          <p:cNvSpPr/>
          <p:nvPr/>
        </p:nvSpPr>
        <p:spPr>
          <a:xfrm>
            <a:off x="9534449" y="5567782"/>
            <a:ext cx="666598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0" name="Text 113"/>
          <p:cNvSpPr txBox="1"/>
          <p:nvPr/>
        </p:nvSpPr>
        <p:spPr>
          <a:xfrm>
            <a:off x="9610344" y="5277002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Lee, S.</a:t>
            </a:r>
            <a:endParaRPr lang="en-US" sz="900" dirty="0"/>
          </a:p>
        </p:txBody>
      </p:sp>
      <p:sp>
        <p:nvSpPr>
          <p:cNvPr id="121" name="Shape 114"/>
          <p:cNvSpPr/>
          <p:nvPr/>
        </p:nvSpPr>
        <p:spPr>
          <a:xfrm>
            <a:off x="10197389" y="5567782"/>
            <a:ext cx="504749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2" name="Text 115"/>
          <p:cNvSpPr txBox="1"/>
          <p:nvPr/>
        </p:nvSpPr>
        <p:spPr>
          <a:xfrm>
            <a:off x="10274198" y="5277002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</a:t>
            </a:r>
            <a:endParaRPr lang="en-US" sz="900" dirty="0"/>
          </a:p>
        </p:txBody>
      </p:sp>
      <p:sp>
        <p:nvSpPr>
          <p:cNvPr id="123" name="Shape 116"/>
          <p:cNvSpPr/>
          <p:nvPr/>
        </p:nvSpPr>
        <p:spPr>
          <a:xfrm>
            <a:off x="10696651" y="5567782"/>
            <a:ext cx="771754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4" name="Text 117"/>
          <p:cNvSpPr txBox="1"/>
          <p:nvPr/>
        </p:nvSpPr>
        <p:spPr>
          <a:xfrm>
            <a:off x="10772546" y="5277002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#reading</a:t>
            </a:r>
            <a:endParaRPr lang="en-US" sz="900" dirty="0"/>
          </a:p>
        </p:txBody>
      </p:sp>
      <p:sp>
        <p:nvSpPr>
          <p:cNvPr id="125" name="Text 118"/>
          <p:cNvSpPr txBox="1"/>
          <p:nvPr/>
        </p:nvSpPr>
        <p:spPr>
          <a:xfrm>
            <a:off x="8328355" y="5619902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Zettelkasten Method</a:t>
            </a:r>
            <a:endParaRPr lang="en-US" sz="900" dirty="0"/>
          </a:p>
        </p:txBody>
      </p:sp>
      <p:sp>
        <p:nvSpPr>
          <p:cNvPr id="126" name="Text 119"/>
          <p:cNvSpPr txBox="1"/>
          <p:nvPr/>
        </p:nvSpPr>
        <p:spPr>
          <a:xfrm>
            <a:off x="9610344" y="5619902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Ahrens</a:t>
            </a:r>
            <a:endParaRPr lang="en-US" sz="900" dirty="0"/>
          </a:p>
        </p:txBody>
      </p:sp>
      <p:sp>
        <p:nvSpPr>
          <p:cNvPr id="127" name="Text 120"/>
          <p:cNvSpPr txBox="1"/>
          <p:nvPr/>
        </p:nvSpPr>
        <p:spPr>
          <a:xfrm>
            <a:off x="10274198" y="5619902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</a:t>
            </a:r>
            <a:endParaRPr lang="en-US" sz="900" dirty="0"/>
          </a:p>
        </p:txBody>
      </p:sp>
      <p:sp>
        <p:nvSpPr>
          <p:cNvPr id="128" name="Text 121"/>
          <p:cNvSpPr txBox="1"/>
          <p:nvPr/>
        </p:nvSpPr>
        <p:spPr>
          <a:xfrm>
            <a:off x="10772546" y="5619902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#done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9302" y="381305"/>
            <a:ext cx="2681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READING &amp; ANNOTATION WORKFLOW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9302" y="552298"/>
            <a:ext cx="4953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읽기 &amp; PDF++ 주석 활용법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71500" y="1181405"/>
            <a:ext cx="11048695" cy="3771900"/>
          </a:xfrm>
          <a:prstGeom prst="roundRect">
            <a:avLst>
              <a:gd name="adj" fmla="val 735"/>
            </a:avLst>
          </a:prstGeom>
          <a:solidFill>
            <a:srgbClr val="1E1E24"/>
          </a:solidFill>
          <a:ln w="12700">
            <a:solidFill>
              <a:srgbClr val="333333"/>
            </a:solidFill>
            <a:prstDash val="solid"/>
          </a:ln>
          <a:effectLst>
            <a:outerShdw blurRad="482600" dist="1905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" y="1190549"/>
            <a:ext cx="11030407" cy="161849"/>
          </a:xfrm>
          <a:prstGeom prst="rect">
            <a:avLst/>
          </a:prstGeom>
          <a:solidFill>
            <a:srgbClr val="2A2A30"/>
          </a:solidFill>
          <a:ln/>
        </p:spPr>
      </p:sp>
      <p:sp>
        <p:nvSpPr>
          <p:cNvPr id="9" name="Shape 6"/>
          <p:cNvSpPr/>
          <p:nvPr/>
        </p:nvSpPr>
        <p:spPr>
          <a:xfrm>
            <a:off x="580644" y="1343254"/>
            <a:ext cx="11030407" cy="914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7"/>
          <p:cNvSpPr/>
          <p:nvPr/>
        </p:nvSpPr>
        <p:spPr>
          <a:xfrm>
            <a:off x="733349" y="1218895"/>
            <a:ext cx="95098" cy="9509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8"/>
          <p:cNvSpPr/>
          <p:nvPr/>
        </p:nvSpPr>
        <p:spPr>
          <a:xfrm>
            <a:off x="886054" y="1218895"/>
            <a:ext cx="95098" cy="9509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9"/>
          <p:cNvSpPr/>
          <p:nvPr/>
        </p:nvSpPr>
        <p:spPr>
          <a:xfrm>
            <a:off x="1037844" y="1218895"/>
            <a:ext cx="95098" cy="9509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09590" y="1200607"/>
            <a:ext cx="1257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My Research Vault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10852099" y="1214323"/>
            <a:ext cx="142646" cy="1143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071555" y="1181405"/>
            <a:ext cx="476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Synced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80644" y="1352398"/>
            <a:ext cx="11030407" cy="384779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17" name="Shape 13"/>
          <p:cNvSpPr/>
          <p:nvPr/>
        </p:nvSpPr>
        <p:spPr>
          <a:xfrm>
            <a:off x="580644" y="1352398"/>
            <a:ext cx="6620256" cy="3847795"/>
          </a:xfrm>
          <a:prstGeom prst="rect">
            <a:avLst/>
          </a:prstGeom>
          <a:solidFill>
            <a:srgbClr val="202024"/>
          </a:solidFill>
          <a:ln/>
        </p:spPr>
      </p:sp>
      <p:sp>
        <p:nvSpPr>
          <p:cNvPr id="18" name="Shape 14"/>
          <p:cNvSpPr/>
          <p:nvPr/>
        </p:nvSpPr>
        <p:spPr>
          <a:xfrm>
            <a:off x="7191756" y="1352398"/>
            <a:ext cx="9144" cy="384779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Shape 15"/>
          <p:cNvSpPr/>
          <p:nvPr/>
        </p:nvSpPr>
        <p:spPr>
          <a:xfrm>
            <a:off x="580644" y="1352398"/>
            <a:ext cx="6610198" cy="381305"/>
          </a:xfrm>
          <a:prstGeom prst="rect">
            <a:avLst/>
          </a:prstGeom>
          <a:solidFill>
            <a:srgbClr val="2A2A30"/>
          </a:solidFill>
          <a:ln/>
        </p:spPr>
      </p:sp>
      <p:sp>
        <p:nvSpPr>
          <p:cNvPr id="20" name="Shape 16"/>
          <p:cNvSpPr/>
          <p:nvPr/>
        </p:nvSpPr>
        <p:spPr>
          <a:xfrm>
            <a:off x="580644" y="1724558"/>
            <a:ext cx="6610198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3349" y="1452982"/>
            <a:ext cx="1819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Attention_is_all_you_need.pdf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5575097" y="1481328"/>
            <a:ext cx="105156" cy="1143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93308" y="1452982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6403543" y="1481328"/>
            <a:ext cx="105156" cy="1143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808622" y="1423721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A882FF">
              <a:alpha val="20000"/>
            </a:srgbClr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865315" y="1481328"/>
            <a:ext cx="114300" cy="1143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66851" y="2018995"/>
            <a:ext cx="6038698" cy="2895905"/>
          </a:xfrm>
          <a:prstGeom prst="roundRect">
            <a:avLst>
              <a:gd name="adj" fmla="val 415"/>
            </a:avLst>
          </a:prstGeom>
          <a:solidFill>
            <a:srgbClr val="E5E5E5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1152144" y="2305202"/>
            <a:ext cx="3829507" cy="152705"/>
          </a:xfrm>
          <a:prstGeom prst="roundRect">
            <a:avLst>
              <a:gd name="adj" fmla="val 74850"/>
            </a:avLst>
          </a:prstGeom>
          <a:solidFill>
            <a:srgbClr val="333333"/>
          </a:solidFill>
          <a:ln/>
        </p:spPr>
      </p:sp>
      <p:sp>
        <p:nvSpPr>
          <p:cNvPr id="29" name="Shape 22"/>
          <p:cNvSpPr/>
          <p:nvPr/>
        </p:nvSpPr>
        <p:spPr>
          <a:xfrm>
            <a:off x="1152144" y="2686507"/>
            <a:ext cx="2523744" cy="75895"/>
          </a:xfrm>
          <a:prstGeom prst="roundRect">
            <a:avLst>
              <a:gd name="adj" fmla="val 301206"/>
            </a:avLst>
          </a:prstGeom>
          <a:solidFill>
            <a:srgbClr val="BBBBBB"/>
          </a:solidFill>
          <a:ln/>
        </p:spPr>
      </p:sp>
      <p:sp>
        <p:nvSpPr>
          <p:cNvPr id="30" name="Shape 23"/>
          <p:cNvSpPr/>
          <p:nvPr/>
        </p:nvSpPr>
        <p:spPr>
          <a:xfrm>
            <a:off x="1152144" y="2857500"/>
            <a:ext cx="2523744" cy="75895"/>
          </a:xfrm>
          <a:prstGeom prst="roundRect">
            <a:avLst>
              <a:gd name="adj" fmla="val 301206"/>
            </a:avLst>
          </a:prstGeom>
          <a:solidFill>
            <a:srgbClr val="BBBBBB"/>
          </a:solidFill>
          <a:ln/>
        </p:spPr>
      </p:sp>
      <p:sp>
        <p:nvSpPr>
          <p:cNvPr id="31" name="Shape 24"/>
          <p:cNvSpPr/>
          <p:nvPr/>
        </p:nvSpPr>
        <p:spPr>
          <a:xfrm>
            <a:off x="1152144" y="3029407"/>
            <a:ext cx="2523744" cy="75895"/>
          </a:xfrm>
          <a:prstGeom prst="roundRect">
            <a:avLst>
              <a:gd name="adj" fmla="val 301206"/>
            </a:avLst>
          </a:prstGeom>
          <a:solidFill>
            <a:srgbClr val="BBBBBB"/>
          </a:solidFill>
          <a:ln/>
        </p:spPr>
      </p:sp>
      <p:sp>
        <p:nvSpPr>
          <p:cNvPr id="32" name="Shape 25"/>
          <p:cNvSpPr/>
          <p:nvPr/>
        </p:nvSpPr>
        <p:spPr>
          <a:xfrm>
            <a:off x="1152144" y="3019349"/>
            <a:ext cx="2523744" cy="95098"/>
          </a:xfrm>
          <a:prstGeom prst="roundRect">
            <a:avLst>
              <a:gd name="adj" fmla="val 192307"/>
            </a:avLst>
          </a:prstGeom>
          <a:solidFill>
            <a:srgbClr val="FFD500">
              <a:alpha val="50000"/>
            </a:srgbClr>
          </a:solidFill>
          <a:ln/>
        </p:spPr>
      </p:sp>
      <p:sp>
        <p:nvSpPr>
          <p:cNvPr id="33" name="Shape 26"/>
          <p:cNvSpPr/>
          <p:nvPr/>
        </p:nvSpPr>
        <p:spPr>
          <a:xfrm>
            <a:off x="1152144" y="3200400"/>
            <a:ext cx="1067105" cy="75895"/>
          </a:xfrm>
          <a:prstGeom prst="roundRect">
            <a:avLst>
              <a:gd name="adj" fmla="val 301206"/>
            </a:avLst>
          </a:prstGeom>
          <a:solidFill>
            <a:srgbClr val="BBBBBB"/>
          </a:solidFill>
          <a:ln/>
        </p:spPr>
      </p:sp>
      <p:sp>
        <p:nvSpPr>
          <p:cNvPr id="34" name="Shape 27"/>
          <p:cNvSpPr/>
          <p:nvPr/>
        </p:nvSpPr>
        <p:spPr>
          <a:xfrm>
            <a:off x="3961181" y="2686507"/>
            <a:ext cx="2523744" cy="75895"/>
          </a:xfrm>
          <a:prstGeom prst="roundRect">
            <a:avLst>
              <a:gd name="adj" fmla="val 301206"/>
            </a:avLst>
          </a:prstGeom>
          <a:solidFill>
            <a:srgbClr val="BBBBBB"/>
          </a:solidFill>
          <a:ln/>
        </p:spPr>
      </p:sp>
      <p:sp>
        <p:nvSpPr>
          <p:cNvPr id="35" name="Shape 28"/>
          <p:cNvSpPr/>
          <p:nvPr/>
        </p:nvSpPr>
        <p:spPr>
          <a:xfrm>
            <a:off x="3961181" y="2857500"/>
            <a:ext cx="2523744" cy="75895"/>
          </a:xfrm>
          <a:prstGeom prst="roundRect">
            <a:avLst>
              <a:gd name="adj" fmla="val 301206"/>
            </a:avLst>
          </a:prstGeom>
          <a:solidFill>
            <a:srgbClr val="BBBBBB"/>
          </a:solidFill>
          <a:ln/>
        </p:spPr>
      </p:sp>
      <p:sp>
        <p:nvSpPr>
          <p:cNvPr id="36" name="Shape 29"/>
          <p:cNvSpPr/>
          <p:nvPr/>
        </p:nvSpPr>
        <p:spPr>
          <a:xfrm>
            <a:off x="3961181" y="3029407"/>
            <a:ext cx="2657246" cy="75895"/>
          </a:xfrm>
          <a:prstGeom prst="roundRect">
            <a:avLst>
              <a:gd name="adj" fmla="val 301206"/>
            </a:avLst>
          </a:prstGeom>
          <a:solidFill>
            <a:srgbClr val="BBBBBB"/>
          </a:solidFill>
          <a:ln/>
        </p:spPr>
      </p:sp>
      <p:sp>
        <p:nvSpPr>
          <p:cNvPr id="37" name="Shape 30"/>
          <p:cNvSpPr/>
          <p:nvPr/>
        </p:nvSpPr>
        <p:spPr>
          <a:xfrm>
            <a:off x="1152144" y="3600907"/>
            <a:ext cx="2190902" cy="114300"/>
          </a:xfrm>
          <a:prstGeom prst="roundRect">
            <a:avLst>
              <a:gd name="adj" fmla="val 133333"/>
            </a:avLst>
          </a:prstGeom>
          <a:solidFill>
            <a:srgbClr val="333333"/>
          </a:solidFill>
          <a:ln/>
        </p:spPr>
      </p:sp>
      <p:sp>
        <p:nvSpPr>
          <p:cNvPr id="38" name="Shape 31"/>
          <p:cNvSpPr/>
          <p:nvPr/>
        </p:nvSpPr>
        <p:spPr>
          <a:xfrm>
            <a:off x="1152144" y="3943807"/>
            <a:ext cx="5201107" cy="75895"/>
          </a:xfrm>
          <a:prstGeom prst="roundRect">
            <a:avLst>
              <a:gd name="adj" fmla="val 301206"/>
            </a:avLst>
          </a:prstGeom>
          <a:solidFill>
            <a:srgbClr val="BBBBBB"/>
          </a:solidFill>
          <a:ln/>
        </p:spPr>
      </p:sp>
      <p:sp>
        <p:nvSpPr>
          <p:cNvPr id="39" name="Shape 32"/>
          <p:cNvSpPr/>
          <p:nvPr/>
        </p:nvSpPr>
        <p:spPr>
          <a:xfrm>
            <a:off x="1152144" y="4114800"/>
            <a:ext cx="5201107" cy="75895"/>
          </a:xfrm>
          <a:prstGeom prst="roundRect">
            <a:avLst>
              <a:gd name="adj" fmla="val 301206"/>
            </a:avLst>
          </a:prstGeom>
          <a:solidFill>
            <a:srgbClr val="BBBBBB"/>
          </a:solidFill>
          <a:ln/>
        </p:spPr>
      </p:sp>
      <p:sp>
        <p:nvSpPr>
          <p:cNvPr id="40" name="Shape 33"/>
          <p:cNvSpPr/>
          <p:nvPr/>
        </p:nvSpPr>
        <p:spPr>
          <a:xfrm>
            <a:off x="1152144" y="4105656"/>
            <a:ext cx="4162349" cy="95098"/>
          </a:xfrm>
          <a:prstGeom prst="roundRect">
            <a:avLst>
              <a:gd name="adj" fmla="val 192307"/>
            </a:avLst>
          </a:prstGeom>
          <a:solidFill>
            <a:srgbClr val="FF595E">
              <a:alpha val="50000"/>
            </a:srgbClr>
          </a:solidFill>
          <a:ln/>
        </p:spPr>
      </p:sp>
      <p:sp>
        <p:nvSpPr>
          <p:cNvPr id="41" name="Shape 34"/>
          <p:cNvSpPr/>
          <p:nvPr/>
        </p:nvSpPr>
        <p:spPr>
          <a:xfrm>
            <a:off x="1152144" y="4286707"/>
            <a:ext cx="5201107" cy="75895"/>
          </a:xfrm>
          <a:prstGeom prst="roundRect">
            <a:avLst>
              <a:gd name="adj" fmla="val 301206"/>
            </a:avLst>
          </a:prstGeom>
          <a:solidFill>
            <a:srgbClr val="BBBBBB"/>
          </a:solidFill>
          <a:ln/>
        </p:spPr>
      </p:sp>
      <p:sp>
        <p:nvSpPr>
          <p:cNvPr id="42" name="Shape 35"/>
          <p:cNvSpPr/>
          <p:nvPr/>
        </p:nvSpPr>
        <p:spPr>
          <a:xfrm>
            <a:off x="1152144" y="4457700"/>
            <a:ext cx="5467198" cy="75895"/>
          </a:xfrm>
          <a:prstGeom prst="roundRect">
            <a:avLst>
              <a:gd name="adj" fmla="val 301206"/>
            </a:avLst>
          </a:prstGeom>
          <a:solidFill>
            <a:srgbClr val="BBBBBB"/>
          </a:solidFill>
          <a:ln/>
        </p:spPr>
      </p:sp>
      <p:sp>
        <p:nvSpPr>
          <p:cNvPr id="43" name="Shape 36"/>
          <p:cNvSpPr/>
          <p:nvPr/>
        </p:nvSpPr>
        <p:spPr>
          <a:xfrm>
            <a:off x="1152144" y="4448556"/>
            <a:ext cx="5467198" cy="95098"/>
          </a:xfrm>
          <a:prstGeom prst="roundRect">
            <a:avLst>
              <a:gd name="adj" fmla="val 192307"/>
            </a:avLst>
          </a:prstGeom>
          <a:solidFill>
            <a:srgbClr val="1982FC">
              <a:alpha val="50000"/>
            </a:srgbClr>
          </a:solidFill>
          <a:ln/>
        </p:spPr>
      </p:sp>
      <p:sp>
        <p:nvSpPr>
          <p:cNvPr id="44" name="Shape 37"/>
          <p:cNvSpPr/>
          <p:nvPr/>
        </p:nvSpPr>
        <p:spPr>
          <a:xfrm>
            <a:off x="7199071" y="1352398"/>
            <a:ext cx="4419295" cy="384779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45" name="Shape 38"/>
          <p:cNvSpPr/>
          <p:nvPr/>
        </p:nvSpPr>
        <p:spPr>
          <a:xfrm>
            <a:off x="7199071" y="1858061"/>
            <a:ext cx="4419295" cy="9144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7351776" y="1538021"/>
            <a:ext cx="152705" cy="133502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7580376" y="1505102"/>
            <a:ext cx="23481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D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Lit_Note: Attention is all you need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7351776" y="2018995"/>
            <a:ext cx="4114800" cy="905256"/>
          </a:xfrm>
          <a:prstGeom prst="roundRect">
            <a:avLst>
              <a:gd name="adj" fmla="val 4253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49" name="Shape 41"/>
          <p:cNvSpPr/>
          <p:nvPr/>
        </p:nvSpPr>
        <p:spPr>
          <a:xfrm>
            <a:off x="7351776" y="2018995"/>
            <a:ext cx="38405" cy="905256"/>
          </a:xfrm>
          <a:prstGeom prst="rect">
            <a:avLst/>
          </a:prstGeom>
          <a:solidFill>
            <a:srgbClr val="FFD500"/>
          </a:solidFill>
          <a:ln/>
        </p:spPr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rcRect t="-1958" b="-1958"/>
          <a:stretch/>
        </p:blipFill>
        <p:spPr>
          <a:xfrm>
            <a:off x="7485278" y="2140610"/>
            <a:ext cx="75895" cy="105156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7617866" y="2115007"/>
            <a:ext cx="6885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D5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아이디어</a:t>
            </a:r>
            <a:endParaRPr lang="en-US" sz="800" dirty="0"/>
          </a:p>
        </p:txBody>
      </p:sp>
      <p:sp>
        <p:nvSpPr>
          <p:cNvPr id="52" name="Text 43"/>
          <p:cNvSpPr txBox="1"/>
          <p:nvPr/>
        </p:nvSpPr>
        <p:spPr>
          <a:xfrm>
            <a:off x="7485278" y="2309774"/>
            <a:ext cx="391729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dominant sequence transduction models are based on complex recurrent or convolutional neural networks...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7485278" y="2661818"/>
            <a:ext cx="2866644" cy="171907"/>
          </a:xfrm>
          <a:prstGeom prst="roundRect">
            <a:avLst>
              <a:gd name="adj" fmla="val 88653"/>
            </a:avLst>
          </a:prstGeom>
          <a:solidFill>
            <a:srgbClr val="A882FF">
              <a:alpha val="10000"/>
            </a:srgbClr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7522769" y="2691079"/>
            <a:ext cx="28675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8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[[Attention_is_all_you_need.pdf#page=1&amp;selection=...]]</a:t>
            </a:r>
            <a:endParaRPr lang="en-US" sz="800" dirty="0"/>
          </a:p>
        </p:txBody>
      </p:sp>
      <p:sp>
        <p:nvSpPr>
          <p:cNvPr id="55" name="Shape 46"/>
          <p:cNvSpPr/>
          <p:nvPr/>
        </p:nvSpPr>
        <p:spPr>
          <a:xfrm>
            <a:off x="7351776" y="3076956"/>
            <a:ext cx="4114800" cy="905256"/>
          </a:xfrm>
          <a:prstGeom prst="roundRect">
            <a:avLst>
              <a:gd name="adj" fmla="val 4253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56" name="Shape 47"/>
          <p:cNvSpPr/>
          <p:nvPr/>
        </p:nvSpPr>
        <p:spPr>
          <a:xfrm>
            <a:off x="7351776" y="3076956"/>
            <a:ext cx="38405" cy="905256"/>
          </a:xfrm>
          <a:prstGeom prst="rect">
            <a:avLst/>
          </a:prstGeom>
          <a:solidFill>
            <a:srgbClr val="FF595E"/>
          </a:solidFill>
          <a:ln/>
        </p:spPr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485278" y="3197657"/>
            <a:ext cx="105156" cy="105156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7647127" y="3172054"/>
            <a:ext cx="6025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59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한계점/비판</a:t>
            </a:r>
            <a:endParaRPr lang="en-US" sz="800" dirty="0"/>
          </a:p>
        </p:txBody>
      </p:sp>
      <p:sp>
        <p:nvSpPr>
          <p:cNvPr id="59" name="Text 49"/>
          <p:cNvSpPr txBox="1"/>
          <p:nvPr/>
        </p:nvSpPr>
        <p:spPr>
          <a:xfrm>
            <a:off x="7485278" y="3366821"/>
            <a:ext cx="368869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This inherently sequential nature precludes parallelization within training examples...</a:t>
            </a:r>
            <a:endParaRPr lang="en-US" sz="800" dirty="0"/>
          </a:p>
        </p:txBody>
      </p:sp>
      <p:sp>
        <p:nvSpPr>
          <p:cNvPr id="60" name="Shape 50"/>
          <p:cNvSpPr/>
          <p:nvPr/>
        </p:nvSpPr>
        <p:spPr>
          <a:xfrm>
            <a:off x="7485278" y="3719779"/>
            <a:ext cx="2866644" cy="171907"/>
          </a:xfrm>
          <a:prstGeom prst="roundRect">
            <a:avLst>
              <a:gd name="adj" fmla="val 88653"/>
            </a:avLst>
          </a:prstGeom>
          <a:solidFill>
            <a:srgbClr val="A882FF">
              <a:alpha val="10000"/>
            </a:srgbClr>
          </a:solidFill>
          <a:ln/>
        </p:spPr>
      </p:sp>
      <p:sp>
        <p:nvSpPr>
          <p:cNvPr id="61" name="Text 51"/>
          <p:cNvSpPr txBox="1"/>
          <p:nvPr/>
        </p:nvSpPr>
        <p:spPr>
          <a:xfrm>
            <a:off x="7522769" y="3748126"/>
            <a:ext cx="28675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8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[[Attention_is_all_you_need.pdf#page=2&amp;selection=...]]</a:t>
            </a:r>
            <a:endParaRPr lang="en-US" sz="800" dirty="0"/>
          </a:p>
        </p:txBody>
      </p:sp>
      <p:sp>
        <p:nvSpPr>
          <p:cNvPr id="62" name="Shape 52"/>
          <p:cNvSpPr/>
          <p:nvPr/>
        </p:nvSpPr>
        <p:spPr>
          <a:xfrm>
            <a:off x="7351776" y="4134002"/>
            <a:ext cx="4114800" cy="905256"/>
          </a:xfrm>
          <a:prstGeom prst="roundRect">
            <a:avLst>
              <a:gd name="adj" fmla="val 4253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63" name="Shape 53"/>
          <p:cNvSpPr/>
          <p:nvPr/>
        </p:nvSpPr>
        <p:spPr>
          <a:xfrm>
            <a:off x="7351776" y="4134002"/>
            <a:ext cx="38405" cy="905256"/>
          </a:xfrm>
          <a:prstGeom prst="rect">
            <a:avLst/>
          </a:prstGeom>
          <a:solidFill>
            <a:srgbClr val="1982FC"/>
          </a:solidFill>
          <a:ln/>
        </p:spPr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11"/>
          <a:srcRect l="-1677" r="-1677"/>
          <a:stretch/>
        </p:blipFill>
        <p:spPr>
          <a:xfrm>
            <a:off x="7485278" y="4255618"/>
            <a:ext cx="95098" cy="105156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7637069" y="4229100"/>
            <a:ext cx="5934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82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방법론</a:t>
            </a:r>
            <a:endParaRPr lang="en-US" sz="800" dirty="0"/>
          </a:p>
        </p:txBody>
      </p:sp>
      <p:sp>
        <p:nvSpPr>
          <p:cNvPr id="66" name="Text 55"/>
          <p:cNvSpPr txBox="1"/>
          <p:nvPr/>
        </p:nvSpPr>
        <p:spPr>
          <a:xfrm>
            <a:off x="7485278" y="4424782"/>
            <a:ext cx="391729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propose a new simple network architecture, the Transformer, based solely on attention mechanisms.</a:t>
            </a:r>
            <a:endParaRPr lang="en-US" sz="800" dirty="0"/>
          </a:p>
        </p:txBody>
      </p:sp>
      <p:sp>
        <p:nvSpPr>
          <p:cNvPr id="67" name="Shape 56"/>
          <p:cNvSpPr/>
          <p:nvPr/>
        </p:nvSpPr>
        <p:spPr>
          <a:xfrm>
            <a:off x="7485278" y="4776826"/>
            <a:ext cx="2866644" cy="171907"/>
          </a:xfrm>
          <a:prstGeom prst="roundRect">
            <a:avLst>
              <a:gd name="adj" fmla="val 88653"/>
            </a:avLst>
          </a:prstGeom>
          <a:solidFill>
            <a:srgbClr val="A882FF">
              <a:alpha val="10000"/>
            </a:srgbClr>
          </a:solidFill>
          <a:ln/>
        </p:spPr>
      </p:sp>
      <p:sp>
        <p:nvSpPr>
          <p:cNvPr id="68" name="Text 57"/>
          <p:cNvSpPr txBox="1"/>
          <p:nvPr/>
        </p:nvSpPr>
        <p:spPr>
          <a:xfrm>
            <a:off x="7522769" y="4805172"/>
            <a:ext cx="28675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8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[[Attention_is_all_you_need.pdf#page=2&amp;selection=...]]</a:t>
            </a:r>
            <a:endParaRPr lang="en-US" sz="800" dirty="0"/>
          </a:p>
        </p:txBody>
      </p:sp>
      <p:sp>
        <p:nvSpPr>
          <p:cNvPr id="69" name="Shape 58"/>
          <p:cNvSpPr/>
          <p:nvPr/>
        </p:nvSpPr>
        <p:spPr>
          <a:xfrm>
            <a:off x="571500" y="5143500"/>
            <a:ext cx="2648102" cy="1333195"/>
          </a:xfrm>
          <a:prstGeom prst="roundRect">
            <a:avLst>
              <a:gd name="adj" fmla="val 587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733349" y="5305349"/>
            <a:ext cx="190195" cy="190195"/>
          </a:xfrm>
          <a:prstGeom prst="ellipse">
            <a:avLst/>
          </a:prstGeom>
          <a:solidFill>
            <a:srgbClr val="A882FF"/>
          </a:solidFill>
          <a:ln/>
        </p:spPr>
      </p:sp>
      <p:sp>
        <p:nvSpPr>
          <p:cNvPr id="71" name="Text 60"/>
          <p:cNvSpPr txBox="1"/>
          <p:nvPr/>
        </p:nvSpPr>
        <p:spPr>
          <a:xfrm>
            <a:off x="800100" y="5329123"/>
            <a:ext cx="133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00" dirty="0"/>
          </a:p>
        </p:txBody>
      </p:sp>
      <p:sp>
        <p:nvSpPr>
          <p:cNvPr id="72" name="Text 61"/>
          <p:cNvSpPr txBox="1"/>
          <p:nvPr/>
        </p:nvSpPr>
        <p:spPr>
          <a:xfrm>
            <a:off x="733349" y="5572354"/>
            <a:ext cx="11850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PDF++ 뷰어 통합</a:t>
            </a:r>
            <a:endParaRPr lang="en-US" sz="1100" dirty="0"/>
          </a:p>
        </p:txBody>
      </p:sp>
      <p:sp>
        <p:nvSpPr>
          <p:cNvPr id="73" name="Text 62"/>
          <p:cNvSpPr txBox="1"/>
          <p:nvPr/>
        </p:nvSpPr>
        <p:spPr>
          <a:xfrm>
            <a:off x="733349" y="5817413"/>
            <a:ext cx="23820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Obsidian 내에서 PDF를 직접 열고 읽습니다. 외부 리더기 없이 끊김 없는 워크플로우를 제공합니다.</a:t>
            </a:r>
            <a:endParaRPr lang="en-US" sz="900" dirty="0"/>
          </a:p>
        </p:txBody>
      </p:sp>
      <p:sp>
        <p:nvSpPr>
          <p:cNvPr id="74" name="Shape 63"/>
          <p:cNvSpPr/>
          <p:nvPr/>
        </p:nvSpPr>
        <p:spPr>
          <a:xfrm>
            <a:off x="3372307" y="5143500"/>
            <a:ext cx="2648102" cy="1333195"/>
          </a:xfrm>
          <a:prstGeom prst="roundRect">
            <a:avLst>
              <a:gd name="adj" fmla="val 587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5" name="Shape 64"/>
          <p:cNvSpPr/>
          <p:nvPr/>
        </p:nvSpPr>
        <p:spPr>
          <a:xfrm>
            <a:off x="3534156" y="5305349"/>
            <a:ext cx="190195" cy="190195"/>
          </a:xfrm>
          <a:prstGeom prst="ellipse">
            <a:avLst/>
          </a:prstGeom>
          <a:solidFill>
            <a:srgbClr val="A882FF"/>
          </a:solidFill>
          <a:ln/>
        </p:spPr>
      </p:sp>
      <p:sp>
        <p:nvSpPr>
          <p:cNvPr id="76" name="Text 65"/>
          <p:cNvSpPr txBox="1"/>
          <p:nvPr/>
        </p:nvSpPr>
        <p:spPr>
          <a:xfrm>
            <a:off x="3600907" y="5329123"/>
            <a:ext cx="133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77" name="Text 66"/>
          <p:cNvSpPr txBox="1"/>
          <p:nvPr/>
        </p:nvSpPr>
        <p:spPr>
          <a:xfrm>
            <a:off x="3534156" y="5572354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색상별 의미 부여</a:t>
            </a:r>
            <a:endParaRPr lang="en-US" sz="1100" dirty="0"/>
          </a:p>
        </p:txBody>
      </p:sp>
      <p:sp>
        <p:nvSpPr>
          <p:cNvPr id="78" name="Text 67"/>
          <p:cNvSpPr txBox="1"/>
          <p:nvPr/>
        </p:nvSpPr>
        <p:spPr>
          <a:xfrm>
            <a:off x="3534156" y="5817413"/>
            <a:ext cx="23719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핵심 개념 (Core) ● 비판/한계 (Critique) ● 연구 방법 (Method)</a:t>
            </a:r>
            <a:endParaRPr lang="en-US" sz="900" dirty="0"/>
          </a:p>
        </p:txBody>
      </p:sp>
      <p:sp>
        <p:nvSpPr>
          <p:cNvPr id="79" name="Shape 68"/>
          <p:cNvSpPr/>
          <p:nvPr/>
        </p:nvSpPr>
        <p:spPr>
          <a:xfrm>
            <a:off x="6172200" y="5143500"/>
            <a:ext cx="2648102" cy="1333195"/>
          </a:xfrm>
          <a:prstGeom prst="roundRect">
            <a:avLst>
              <a:gd name="adj" fmla="val 587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0" name="Shape 69"/>
          <p:cNvSpPr/>
          <p:nvPr/>
        </p:nvSpPr>
        <p:spPr>
          <a:xfrm>
            <a:off x="6334049" y="5305349"/>
            <a:ext cx="190195" cy="190195"/>
          </a:xfrm>
          <a:prstGeom prst="ellipse">
            <a:avLst/>
          </a:prstGeom>
          <a:solidFill>
            <a:srgbClr val="A882FF"/>
          </a:solidFill>
          <a:ln/>
        </p:spPr>
      </p:sp>
      <p:sp>
        <p:nvSpPr>
          <p:cNvPr id="81" name="Text 70"/>
          <p:cNvSpPr txBox="1"/>
          <p:nvPr/>
        </p:nvSpPr>
        <p:spPr>
          <a:xfrm>
            <a:off x="6400800" y="5329123"/>
            <a:ext cx="133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00" dirty="0"/>
          </a:p>
        </p:txBody>
      </p:sp>
      <p:sp>
        <p:nvSpPr>
          <p:cNvPr id="82" name="Text 71"/>
          <p:cNvSpPr txBox="1"/>
          <p:nvPr/>
        </p:nvSpPr>
        <p:spPr>
          <a:xfrm>
            <a:off x="6334049" y="5572354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딥링크 &amp; 자동 추출</a:t>
            </a:r>
            <a:endParaRPr lang="en-US" sz="1100" dirty="0"/>
          </a:p>
        </p:txBody>
      </p:sp>
      <p:sp>
        <p:nvSpPr>
          <p:cNvPr id="83" name="Text 72"/>
          <p:cNvSpPr txBox="1"/>
          <p:nvPr/>
        </p:nvSpPr>
        <p:spPr>
          <a:xfrm>
            <a:off x="6334049" y="5817413"/>
            <a:ext cx="23820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 시 문헌 노트에 텍스트와 딥링크가 자동 생성됩니다. 클릭 시 PDF 해당 위치로 즉시 이동합니다.</a:t>
            </a:r>
            <a:endParaRPr lang="en-US" sz="900" dirty="0"/>
          </a:p>
        </p:txBody>
      </p:sp>
      <p:sp>
        <p:nvSpPr>
          <p:cNvPr id="84" name="Shape 73"/>
          <p:cNvSpPr/>
          <p:nvPr/>
        </p:nvSpPr>
        <p:spPr>
          <a:xfrm>
            <a:off x="8973007" y="5143500"/>
            <a:ext cx="2648102" cy="1333195"/>
          </a:xfrm>
          <a:prstGeom prst="roundRect">
            <a:avLst>
              <a:gd name="adj" fmla="val 5879"/>
            </a:avLst>
          </a:prstGeom>
          <a:solidFill>
            <a:srgbClr val="A882FF">
              <a:alpha val="5000"/>
            </a:srgbClr>
          </a:solidFill>
          <a:ln w="12700">
            <a:solidFill>
              <a:srgbClr val="A882FF">
                <a:alpha val="40000"/>
              </a:srgbClr>
            </a:solidFill>
            <a:prstDash val="solid"/>
          </a:ln>
        </p:spPr>
      </p:sp>
      <p:sp>
        <p:nvSpPr>
          <p:cNvPr id="85" name="Shape 74"/>
          <p:cNvSpPr/>
          <p:nvPr/>
        </p:nvSpPr>
        <p:spPr>
          <a:xfrm>
            <a:off x="9134856" y="5305349"/>
            <a:ext cx="190195" cy="190195"/>
          </a:xfrm>
          <a:prstGeom prst="ellipse">
            <a:avLst/>
          </a:prstGeom>
          <a:solidFill>
            <a:srgbClr val="A882FF"/>
          </a:solidFill>
          <a:ln/>
        </p:spPr>
      </p:sp>
      <p:pic>
        <p:nvPicPr>
          <p:cNvPr id="86" name="Image 9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9186977" y="5352898"/>
            <a:ext cx="85954" cy="95098"/>
          </a:xfrm>
          <a:prstGeom prst="rect">
            <a:avLst/>
          </a:prstGeom>
        </p:spPr>
      </p:pic>
      <p:sp>
        <p:nvSpPr>
          <p:cNvPr id="87" name="Text 75"/>
          <p:cNvSpPr txBox="1"/>
          <p:nvPr/>
        </p:nvSpPr>
        <p:spPr>
          <a:xfrm>
            <a:off x="9134856" y="5572354"/>
            <a:ext cx="14804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팁: 주석 모아보기</a:t>
            </a:r>
            <a:endParaRPr lang="en-US" sz="1100" dirty="0"/>
          </a:p>
        </p:txBody>
      </p:sp>
      <p:sp>
        <p:nvSpPr>
          <p:cNvPr id="88" name="Text 76"/>
          <p:cNvSpPr txBox="1"/>
          <p:nvPr/>
        </p:nvSpPr>
        <p:spPr>
          <a:xfrm>
            <a:off x="9134856" y="5817413"/>
            <a:ext cx="241035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PDF++ 사이드바를 활용하면 노트 생성 없이도 모든 주석을 한눈에 보고 드래그 앤 드롭할 수 있습니다.</a:t>
            </a:r>
            <a:endParaRPr lang="en-US" sz="900" dirty="0"/>
          </a:p>
        </p:txBody>
      </p:sp>
      <p:sp>
        <p:nvSpPr>
          <p:cNvPr id="89" name="Shape 77"/>
          <p:cNvSpPr/>
          <p:nvPr/>
        </p:nvSpPr>
        <p:spPr>
          <a:xfrm>
            <a:off x="3322930" y="2495398"/>
            <a:ext cx="1123798" cy="267005"/>
          </a:xfrm>
          <a:prstGeom prst="roundRect">
            <a:avLst>
              <a:gd name="adj" fmla="val 244618"/>
            </a:avLst>
          </a:prstGeom>
          <a:solidFill>
            <a:srgbClr val="333333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0" name="Shape 78"/>
          <p:cNvSpPr/>
          <p:nvPr/>
        </p:nvSpPr>
        <p:spPr>
          <a:xfrm>
            <a:off x="3437230" y="2553005"/>
            <a:ext cx="152705" cy="152705"/>
          </a:xfrm>
          <a:prstGeom prst="ellipse">
            <a:avLst/>
          </a:prstGeom>
          <a:solidFill>
            <a:srgbClr val="FFD500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3685032" y="2553005"/>
            <a:ext cx="152705" cy="152705"/>
          </a:xfrm>
          <a:prstGeom prst="ellipse">
            <a:avLst/>
          </a:prstGeom>
          <a:solidFill>
            <a:srgbClr val="FF595E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3932834" y="2553005"/>
            <a:ext cx="152705" cy="152705"/>
          </a:xfrm>
          <a:prstGeom prst="ellipse">
            <a:avLst/>
          </a:prstGeom>
          <a:solidFill>
            <a:srgbClr val="1982FC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93" name="Shape 81"/>
          <p:cNvSpPr/>
          <p:nvPr/>
        </p:nvSpPr>
        <p:spPr>
          <a:xfrm>
            <a:off x="4180637" y="2553005"/>
            <a:ext cx="152705" cy="152705"/>
          </a:xfrm>
          <a:prstGeom prst="ellipse">
            <a:avLst/>
          </a:prstGeom>
          <a:solidFill>
            <a:srgbClr val="28C840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94" name="Shape 82"/>
          <p:cNvSpPr/>
          <p:nvPr/>
        </p:nvSpPr>
        <p:spPr>
          <a:xfrm>
            <a:off x="3751783" y="2447849"/>
            <a:ext cx="267005" cy="267005"/>
          </a:xfrm>
          <a:prstGeom prst="ellipse">
            <a:avLst/>
          </a:prstGeom>
          <a:solidFill>
            <a:srgbClr val="A882FF"/>
          </a:solidFill>
          <a:ln/>
          <a:effectLst>
            <a:outerShdw blurRad="12700" dist="12700" dir="16200000" algn="bl" rotWithShape="0">
              <a:srgbClr val="A882FF">
                <a:alpha val="30000"/>
              </a:srgbClr>
            </a:outerShdw>
          </a:effectLst>
        </p:spPr>
      </p:sp>
      <p:sp>
        <p:nvSpPr>
          <p:cNvPr id="95" name="Text 83"/>
          <p:cNvSpPr txBox="1"/>
          <p:nvPr/>
        </p:nvSpPr>
        <p:spPr>
          <a:xfrm>
            <a:off x="3845966" y="2481682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96" name="Shape 84"/>
          <p:cNvSpPr/>
          <p:nvPr/>
        </p:nvSpPr>
        <p:spPr>
          <a:xfrm>
            <a:off x="3885286" y="3467405"/>
            <a:ext cx="267005" cy="267005"/>
          </a:xfrm>
          <a:prstGeom prst="ellipse">
            <a:avLst/>
          </a:prstGeom>
          <a:solidFill>
            <a:srgbClr val="A882FF"/>
          </a:solidFill>
          <a:ln/>
          <a:effectLst>
            <a:outerShdw blurRad="12700" dist="12700" dir="16200000" algn="bl" rotWithShape="0">
              <a:srgbClr val="A882FF">
                <a:alpha val="30000"/>
              </a:srgbClr>
            </a:outerShdw>
          </a:effectLst>
        </p:spPr>
      </p:sp>
      <p:sp>
        <p:nvSpPr>
          <p:cNvPr id="97" name="Text 85"/>
          <p:cNvSpPr txBox="1"/>
          <p:nvPr/>
        </p:nvSpPr>
        <p:spPr>
          <a:xfrm>
            <a:off x="3979469" y="3500323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98" name="Shape 86"/>
          <p:cNvSpPr/>
          <p:nvPr/>
        </p:nvSpPr>
        <p:spPr>
          <a:xfrm>
            <a:off x="10963656" y="3276295"/>
            <a:ext cx="267005" cy="267005"/>
          </a:xfrm>
          <a:prstGeom prst="ellipse">
            <a:avLst/>
          </a:prstGeom>
          <a:solidFill>
            <a:srgbClr val="A882FF"/>
          </a:solidFill>
          <a:ln/>
          <a:effectLst>
            <a:outerShdw blurRad="12700" dist="12700" dir="16200000" algn="bl" rotWithShape="0">
              <a:srgbClr val="A882FF">
                <a:alpha val="30000"/>
              </a:srgbClr>
            </a:outerShdw>
          </a:effectLst>
        </p:spPr>
      </p:sp>
      <p:sp>
        <p:nvSpPr>
          <p:cNvPr id="99" name="Text 87"/>
          <p:cNvSpPr txBox="1"/>
          <p:nvPr/>
        </p:nvSpPr>
        <p:spPr>
          <a:xfrm>
            <a:off x="11056925" y="331012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18895"/>
            <a:ext cx="5410505" cy="2933395"/>
          </a:xfrm>
          <a:prstGeom prst="roundRect">
            <a:avLst>
              <a:gd name="adj" fmla="val 1214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0644" y="1228954"/>
            <a:ext cx="5391302" cy="428854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80644" y="1648663"/>
            <a:ext cx="5391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733349" y="1362456"/>
            <a:ext cx="171907" cy="152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81151" y="1324051"/>
            <a:ext cx="1886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노트 속성 (YAML)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80644" y="1657807"/>
            <a:ext cx="2704795" cy="2486254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11" name="Shape 7"/>
          <p:cNvSpPr/>
          <p:nvPr/>
        </p:nvSpPr>
        <p:spPr>
          <a:xfrm>
            <a:off x="3276295" y="1657807"/>
            <a:ext cx="9144" cy="248625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3281782" y="1657807"/>
            <a:ext cx="2695651" cy="24862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Shape 9"/>
          <p:cNvSpPr/>
          <p:nvPr/>
        </p:nvSpPr>
        <p:spPr>
          <a:xfrm>
            <a:off x="4462272" y="2304288"/>
            <a:ext cx="562356" cy="209398"/>
          </a:xfrm>
          <a:prstGeom prst="roundRect">
            <a:avLst>
              <a:gd name="adj" fmla="val 198491"/>
            </a:avLst>
          </a:prstGeom>
          <a:solidFill>
            <a:srgbClr val="3730A3"/>
          </a:solidFill>
          <a:ln/>
        </p:spPr>
      </p:sp>
      <p:sp>
        <p:nvSpPr>
          <p:cNvPr id="14" name="Shape 10"/>
          <p:cNvSpPr/>
          <p:nvPr/>
        </p:nvSpPr>
        <p:spPr>
          <a:xfrm>
            <a:off x="4462272" y="2570378"/>
            <a:ext cx="495605" cy="256946"/>
          </a:xfrm>
          <a:prstGeom prst="roundRect">
            <a:avLst>
              <a:gd name="adj" fmla="val 52722"/>
            </a:avLst>
          </a:prstGeom>
          <a:solidFill>
            <a:srgbClr val="2A2A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462272" y="2879446"/>
            <a:ext cx="819302" cy="256946"/>
          </a:xfrm>
          <a:prstGeom prst="roundRect">
            <a:avLst>
              <a:gd name="adj" fmla="val 52722"/>
            </a:avLst>
          </a:prstGeom>
          <a:solidFill>
            <a:srgbClr val="2A2A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462272" y="3187598"/>
            <a:ext cx="761695" cy="256946"/>
          </a:xfrm>
          <a:prstGeom prst="roundRect">
            <a:avLst>
              <a:gd name="adj" fmla="val 52722"/>
            </a:avLst>
          </a:prstGeom>
          <a:solidFill>
            <a:srgbClr val="2A2A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0605" y="1218895"/>
            <a:ext cx="5410505" cy="2933395"/>
          </a:xfrm>
          <a:prstGeom prst="roundRect">
            <a:avLst>
              <a:gd name="adj" fmla="val 1214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9749" y="1228954"/>
            <a:ext cx="5391302" cy="428854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6219749" y="1648663"/>
            <a:ext cx="5391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6372454" y="1362456"/>
            <a:ext cx="133502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81851" y="1324051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중인 프로젝트 집계 (Dataview)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19749" y="1657807"/>
            <a:ext cx="2704795" cy="2486254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23" name="Shape 18"/>
          <p:cNvSpPr/>
          <p:nvPr/>
        </p:nvSpPr>
        <p:spPr>
          <a:xfrm>
            <a:off x="8915400" y="1657807"/>
            <a:ext cx="9144" cy="248625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8919972" y="1657807"/>
            <a:ext cx="2695651" cy="24862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Shape 20"/>
          <p:cNvSpPr/>
          <p:nvPr/>
        </p:nvSpPr>
        <p:spPr>
          <a:xfrm>
            <a:off x="9072677" y="1886407"/>
            <a:ext cx="599846" cy="314554"/>
          </a:xfrm>
          <a:prstGeom prst="rect">
            <a:avLst/>
          </a:prstGeom>
          <a:solidFill>
            <a:srgbClr val="2D2D35"/>
          </a:solidFill>
          <a:ln/>
        </p:spPr>
      </p:sp>
      <p:sp>
        <p:nvSpPr>
          <p:cNvPr id="26" name="Shape 21"/>
          <p:cNvSpPr/>
          <p:nvPr/>
        </p:nvSpPr>
        <p:spPr>
          <a:xfrm>
            <a:off x="9072677" y="2181758"/>
            <a:ext cx="599846" cy="1920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7" name="Shape 22"/>
          <p:cNvSpPr/>
          <p:nvPr/>
        </p:nvSpPr>
        <p:spPr>
          <a:xfrm>
            <a:off x="9667037" y="1886407"/>
            <a:ext cx="495605" cy="314554"/>
          </a:xfrm>
          <a:prstGeom prst="rect">
            <a:avLst/>
          </a:prstGeom>
          <a:solidFill>
            <a:srgbClr val="2D2D35"/>
          </a:solidFill>
          <a:ln/>
        </p:spPr>
      </p:sp>
      <p:sp>
        <p:nvSpPr>
          <p:cNvPr id="28" name="Shape 23"/>
          <p:cNvSpPr/>
          <p:nvPr/>
        </p:nvSpPr>
        <p:spPr>
          <a:xfrm>
            <a:off x="9667037" y="2181758"/>
            <a:ext cx="495605" cy="1920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9" name="Shape 24"/>
          <p:cNvSpPr/>
          <p:nvPr/>
        </p:nvSpPr>
        <p:spPr>
          <a:xfrm>
            <a:off x="10158984" y="1886407"/>
            <a:ext cx="647395" cy="314554"/>
          </a:xfrm>
          <a:prstGeom prst="rect">
            <a:avLst/>
          </a:prstGeom>
          <a:solidFill>
            <a:srgbClr val="2D2D35"/>
          </a:solidFill>
          <a:ln/>
        </p:spPr>
      </p:sp>
      <p:sp>
        <p:nvSpPr>
          <p:cNvPr id="30" name="Shape 25"/>
          <p:cNvSpPr/>
          <p:nvPr/>
        </p:nvSpPr>
        <p:spPr>
          <a:xfrm>
            <a:off x="10158984" y="2181758"/>
            <a:ext cx="647395" cy="1920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1" name="Shape 26"/>
          <p:cNvSpPr/>
          <p:nvPr/>
        </p:nvSpPr>
        <p:spPr>
          <a:xfrm>
            <a:off x="10803636" y="1886407"/>
            <a:ext cx="771754" cy="314554"/>
          </a:xfrm>
          <a:prstGeom prst="rect">
            <a:avLst/>
          </a:prstGeom>
          <a:solidFill>
            <a:srgbClr val="2D2D35"/>
          </a:solidFill>
          <a:ln/>
        </p:spPr>
      </p:sp>
      <p:sp>
        <p:nvSpPr>
          <p:cNvPr id="32" name="Shape 27"/>
          <p:cNvSpPr/>
          <p:nvPr/>
        </p:nvSpPr>
        <p:spPr>
          <a:xfrm>
            <a:off x="10803636" y="2181758"/>
            <a:ext cx="771754" cy="1920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3" name="Shape 28"/>
          <p:cNvSpPr/>
          <p:nvPr/>
        </p:nvSpPr>
        <p:spPr>
          <a:xfrm>
            <a:off x="9072677" y="2869387"/>
            <a:ext cx="599846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Shape 29"/>
          <p:cNvSpPr/>
          <p:nvPr/>
        </p:nvSpPr>
        <p:spPr>
          <a:xfrm>
            <a:off x="9667037" y="2869387"/>
            <a:ext cx="495605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Shape 30"/>
          <p:cNvSpPr/>
          <p:nvPr/>
        </p:nvSpPr>
        <p:spPr>
          <a:xfrm>
            <a:off x="10158984" y="2869387"/>
            <a:ext cx="647395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6" name="Shape 31"/>
          <p:cNvSpPr/>
          <p:nvPr/>
        </p:nvSpPr>
        <p:spPr>
          <a:xfrm>
            <a:off x="10803636" y="2869387"/>
            <a:ext cx="771754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7" name="Shape 32"/>
          <p:cNvSpPr/>
          <p:nvPr/>
        </p:nvSpPr>
        <p:spPr>
          <a:xfrm>
            <a:off x="9072677" y="3537814"/>
            <a:ext cx="599846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8" name="Shape 33"/>
          <p:cNvSpPr/>
          <p:nvPr/>
        </p:nvSpPr>
        <p:spPr>
          <a:xfrm>
            <a:off x="9667037" y="3537814"/>
            <a:ext cx="495605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9" name="Shape 34"/>
          <p:cNvSpPr/>
          <p:nvPr/>
        </p:nvSpPr>
        <p:spPr>
          <a:xfrm>
            <a:off x="10158984" y="3537814"/>
            <a:ext cx="647395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0" name="Shape 35"/>
          <p:cNvSpPr/>
          <p:nvPr/>
        </p:nvSpPr>
        <p:spPr>
          <a:xfrm>
            <a:off x="10803636" y="3537814"/>
            <a:ext cx="771754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1" name="Shape 36"/>
          <p:cNvSpPr/>
          <p:nvPr/>
        </p:nvSpPr>
        <p:spPr>
          <a:xfrm>
            <a:off x="9072677" y="4209898"/>
            <a:ext cx="599846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2" name="Shape 37"/>
          <p:cNvSpPr/>
          <p:nvPr/>
        </p:nvSpPr>
        <p:spPr>
          <a:xfrm>
            <a:off x="9667037" y="4209898"/>
            <a:ext cx="495605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3" name="Shape 38"/>
          <p:cNvSpPr/>
          <p:nvPr/>
        </p:nvSpPr>
        <p:spPr>
          <a:xfrm>
            <a:off x="10158984" y="4209898"/>
            <a:ext cx="647395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4" name="Shape 39"/>
          <p:cNvSpPr/>
          <p:nvPr/>
        </p:nvSpPr>
        <p:spPr>
          <a:xfrm>
            <a:off x="10803636" y="4209898"/>
            <a:ext cx="771754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5" name="Shape 40"/>
          <p:cNvSpPr/>
          <p:nvPr/>
        </p:nvSpPr>
        <p:spPr>
          <a:xfrm>
            <a:off x="571500" y="4381805"/>
            <a:ext cx="5410505" cy="2933395"/>
          </a:xfrm>
          <a:prstGeom prst="roundRect">
            <a:avLst>
              <a:gd name="adj" fmla="val 1214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580644" y="4390949"/>
            <a:ext cx="5391302" cy="428854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47" name="Shape 42"/>
          <p:cNvSpPr/>
          <p:nvPr/>
        </p:nvSpPr>
        <p:spPr>
          <a:xfrm>
            <a:off x="580644" y="4810658"/>
            <a:ext cx="5391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3349" y="4524451"/>
            <a:ext cx="152705" cy="152705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961949" y="4486046"/>
            <a:ext cx="2362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프로젝트별 할 일 모아보기 (Tasks)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580644" y="4819802"/>
            <a:ext cx="2743200" cy="2486254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51" name="Shape 45"/>
          <p:cNvSpPr/>
          <p:nvPr/>
        </p:nvSpPr>
        <p:spPr>
          <a:xfrm>
            <a:off x="3314700" y="4819802"/>
            <a:ext cx="9144" cy="248625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2" name="Shape 46"/>
          <p:cNvSpPr/>
          <p:nvPr/>
        </p:nvSpPr>
        <p:spPr>
          <a:xfrm>
            <a:off x="3319272" y="4819802"/>
            <a:ext cx="2657246" cy="24862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3" name="Shape 47"/>
          <p:cNvSpPr/>
          <p:nvPr/>
        </p:nvSpPr>
        <p:spPr>
          <a:xfrm>
            <a:off x="3433572" y="5162702"/>
            <a:ext cx="2428646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4" name="Shape 48"/>
          <p:cNvSpPr/>
          <p:nvPr/>
        </p:nvSpPr>
        <p:spPr>
          <a:xfrm>
            <a:off x="6210605" y="4381805"/>
            <a:ext cx="5410505" cy="2933395"/>
          </a:xfrm>
          <a:prstGeom prst="roundRect">
            <a:avLst>
              <a:gd name="adj" fmla="val 1214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blurRad="1905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6219749" y="4390949"/>
            <a:ext cx="5391302" cy="428854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56" name="Shape 50"/>
          <p:cNvSpPr/>
          <p:nvPr/>
        </p:nvSpPr>
        <p:spPr>
          <a:xfrm>
            <a:off x="6219749" y="4810658"/>
            <a:ext cx="5391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6372454" y="4524451"/>
            <a:ext cx="133502" cy="152705"/>
          </a:xfrm>
          <a:prstGeom prst="rect">
            <a:avLst/>
          </a:prstGeom>
        </p:spPr>
      </p:pic>
      <p:sp>
        <p:nvSpPr>
          <p:cNvPr id="58" name="Text 51"/>
          <p:cNvSpPr txBox="1"/>
          <p:nvPr/>
        </p:nvSpPr>
        <p:spPr>
          <a:xfrm>
            <a:off x="6581851" y="4486046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칸반 보드 시각화 (Projects Plugin)</a:t>
            </a:r>
            <a:endParaRPr lang="en-US" sz="1200" dirty="0"/>
          </a:p>
        </p:txBody>
      </p:sp>
      <p:sp>
        <p:nvSpPr>
          <p:cNvPr id="59" name="Shape 52"/>
          <p:cNvSpPr/>
          <p:nvPr/>
        </p:nvSpPr>
        <p:spPr>
          <a:xfrm>
            <a:off x="6219749" y="4819802"/>
            <a:ext cx="5391302" cy="24862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0" name="Shape 53"/>
          <p:cNvSpPr/>
          <p:nvPr/>
        </p:nvSpPr>
        <p:spPr>
          <a:xfrm>
            <a:off x="6372454" y="4972507"/>
            <a:ext cx="1181405" cy="2180844"/>
          </a:xfrm>
          <a:prstGeom prst="roundRect">
            <a:avLst>
              <a:gd name="adj" fmla="val 3745"/>
            </a:avLst>
          </a:prstGeom>
          <a:solidFill>
            <a:srgbClr val="25252B"/>
          </a:solidFill>
          <a:ln/>
        </p:spPr>
      </p:sp>
      <p:sp>
        <p:nvSpPr>
          <p:cNvPr id="61" name="Shape 54"/>
          <p:cNvSpPr/>
          <p:nvPr/>
        </p:nvSpPr>
        <p:spPr>
          <a:xfrm>
            <a:off x="6448349" y="5277002"/>
            <a:ext cx="1028700" cy="1920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2" name="Shape 55"/>
          <p:cNvSpPr/>
          <p:nvPr/>
        </p:nvSpPr>
        <p:spPr>
          <a:xfrm>
            <a:off x="6448349" y="5402275"/>
            <a:ext cx="1028700" cy="323698"/>
          </a:xfrm>
          <a:prstGeom prst="roundRect">
            <a:avLst>
              <a:gd name="adj" fmla="val 33234"/>
            </a:avLst>
          </a:prstGeom>
          <a:solidFill>
            <a:srgbClr val="333333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3" name="Shape 56"/>
          <p:cNvSpPr/>
          <p:nvPr/>
        </p:nvSpPr>
        <p:spPr>
          <a:xfrm>
            <a:off x="6448349" y="5402275"/>
            <a:ext cx="28346" cy="32369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4" name="Shape 57"/>
          <p:cNvSpPr/>
          <p:nvPr/>
        </p:nvSpPr>
        <p:spPr>
          <a:xfrm>
            <a:off x="6448349" y="5802782"/>
            <a:ext cx="1028700" cy="323698"/>
          </a:xfrm>
          <a:prstGeom prst="roundRect">
            <a:avLst>
              <a:gd name="adj" fmla="val 33234"/>
            </a:avLst>
          </a:prstGeom>
          <a:solidFill>
            <a:srgbClr val="333333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5" name="Shape 58"/>
          <p:cNvSpPr/>
          <p:nvPr/>
        </p:nvSpPr>
        <p:spPr>
          <a:xfrm>
            <a:off x="6448349" y="5802782"/>
            <a:ext cx="28346" cy="32369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6" name="Shape 59"/>
          <p:cNvSpPr/>
          <p:nvPr/>
        </p:nvSpPr>
        <p:spPr>
          <a:xfrm>
            <a:off x="7646213" y="4972507"/>
            <a:ext cx="1181405" cy="2180844"/>
          </a:xfrm>
          <a:prstGeom prst="roundRect">
            <a:avLst>
              <a:gd name="adj" fmla="val 3745"/>
            </a:avLst>
          </a:prstGeom>
          <a:solidFill>
            <a:srgbClr val="25252B"/>
          </a:solidFill>
          <a:ln/>
        </p:spPr>
      </p:sp>
      <p:sp>
        <p:nvSpPr>
          <p:cNvPr id="67" name="Shape 60"/>
          <p:cNvSpPr/>
          <p:nvPr/>
        </p:nvSpPr>
        <p:spPr>
          <a:xfrm>
            <a:off x="7722108" y="5277002"/>
            <a:ext cx="1028700" cy="1920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8" name="Shape 61"/>
          <p:cNvSpPr/>
          <p:nvPr/>
        </p:nvSpPr>
        <p:spPr>
          <a:xfrm>
            <a:off x="7722108" y="5402275"/>
            <a:ext cx="1028700" cy="495605"/>
          </a:xfrm>
          <a:prstGeom prst="roundRect">
            <a:avLst>
              <a:gd name="adj" fmla="val 14192"/>
            </a:avLst>
          </a:prstGeom>
          <a:solidFill>
            <a:srgbClr val="333333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9" name="Shape 62"/>
          <p:cNvSpPr/>
          <p:nvPr/>
        </p:nvSpPr>
        <p:spPr>
          <a:xfrm>
            <a:off x="7722108" y="5402275"/>
            <a:ext cx="28346" cy="495605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0" name="Shape 63"/>
          <p:cNvSpPr/>
          <p:nvPr/>
        </p:nvSpPr>
        <p:spPr>
          <a:xfrm>
            <a:off x="7722108" y="5973775"/>
            <a:ext cx="1028700" cy="323698"/>
          </a:xfrm>
          <a:prstGeom prst="roundRect">
            <a:avLst>
              <a:gd name="adj" fmla="val 33234"/>
            </a:avLst>
          </a:prstGeom>
          <a:solidFill>
            <a:srgbClr val="333333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1" name="Shape 64"/>
          <p:cNvSpPr/>
          <p:nvPr/>
        </p:nvSpPr>
        <p:spPr>
          <a:xfrm>
            <a:off x="7722108" y="5973775"/>
            <a:ext cx="28346" cy="32369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2" name="Shape 65"/>
          <p:cNvSpPr/>
          <p:nvPr/>
        </p:nvSpPr>
        <p:spPr>
          <a:xfrm>
            <a:off x="8919972" y="4972507"/>
            <a:ext cx="1181405" cy="2180844"/>
          </a:xfrm>
          <a:prstGeom prst="roundRect">
            <a:avLst>
              <a:gd name="adj" fmla="val 3745"/>
            </a:avLst>
          </a:prstGeom>
          <a:solidFill>
            <a:srgbClr val="25252B"/>
          </a:solidFill>
          <a:ln/>
        </p:spPr>
      </p:sp>
      <p:sp>
        <p:nvSpPr>
          <p:cNvPr id="73" name="Shape 66"/>
          <p:cNvSpPr/>
          <p:nvPr/>
        </p:nvSpPr>
        <p:spPr>
          <a:xfrm>
            <a:off x="8995867" y="5277002"/>
            <a:ext cx="1028700" cy="1920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4" name="Text 67"/>
          <p:cNvSpPr txBox="1"/>
          <p:nvPr/>
        </p:nvSpPr>
        <p:spPr>
          <a:xfrm>
            <a:off x="819302" y="381305"/>
            <a:ext cx="2548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 PROJECT MANAGEMENT</a:t>
            </a:r>
            <a:endParaRPr lang="en-US" sz="1000" dirty="0"/>
          </a:p>
        </p:txBody>
      </p:sp>
      <p:sp>
        <p:nvSpPr>
          <p:cNvPr id="75" name="Text 68"/>
          <p:cNvSpPr txBox="1"/>
          <p:nvPr/>
        </p:nvSpPr>
        <p:spPr>
          <a:xfrm>
            <a:off x="819302" y="552298"/>
            <a:ext cx="65151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프로젝트 관리 Projects + Dataview</a:t>
            </a:r>
            <a:endParaRPr lang="en-US" sz="2700" dirty="0"/>
          </a:p>
        </p:txBody>
      </p:sp>
      <p:sp>
        <p:nvSpPr>
          <p:cNvPr id="76" name="Text 69"/>
          <p:cNvSpPr txBox="1"/>
          <p:nvPr/>
        </p:nvSpPr>
        <p:spPr>
          <a:xfrm>
            <a:off x="733349" y="2105863"/>
            <a:ext cx="3127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---</a:t>
            </a:r>
            <a:endParaRPr lang="en-US" sz="1000" dirty="0"/>
          </a:p>
        </p:txBody>
      </p:sp>
      <p:sp>
        <p:nvSpPr>
          <p:cNvPr id="77" name="Text 70"/>
          <p:cNvSpPr txBox="1"/>
          <p:nvPr/>
        </p:nvSpPr>
        <p:spPr>
          <a:xfrm>
            <a:off x="733349" y="2311603"/>
            <a:ext cx="9985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tags: project</a:t>
            </a:r>
            <a:endParaRPr lang="en-US" sz="1000" dirty="0"/>
          </a:p>
        </p:txBody>
      </p:sp>
      <p:sp>
        <p:nvSpPr>
          <p:cNvPr id="78" name="Text 71"/>
          <p:cNvSpPr txBox="1"/>
          <p:nvPr/>
        </p:nvSpPr>
        <p:spPr>
          <a:xfrm>
            <a:off x="733349" y="2517343"/>
            <a:ext cx="223662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status: doing # backlog, doing, review</a:t>
            </a:r>
            <a:endParaRPr lang="en-US" sz="1000" dirty="0"/>
          </a:p>
        </p:txBody>
      </p:sp>
      <p:sp>
        <p:nvSpPr>
          <p:cNvPr id="79" name="Text 72"/>
          <p:cNvSpPr txBox="1"/>
          <p:nvPr/>
        </p:nvSpPr>
        <p:spPr>
          <a:xfrm>
            <a:off x="733349" y="2928823"/>
            <a:ext cx="147492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deadline: 2026-05-30</a:t>
            </a:r>
            <a:endParaRPr lang="en-US" sz="1000" dirty="0"/>
          </a:p>
        </p:txBody>
      </p:sp>
      <p:sp>
        <p:nvSpPr>
          <p:cNvPr id="80" name="Text 73"/>
          <p:cNvSpPr txBox="1"/>
          <p:nvPr/>
        </p:nvSpPr>
        <p:spPr>
          <a:xfrm>
            <a:off x="733349" y="3134563"/>
            <a:ext cx="9985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PI: Prof. Kim</a:t>
            </a:r>
            <a:endParaRPr lang="en-US" sz="1000" dirty="0"/>
          </a:p>
        </p:txBody>
      </p:sp>
      <p:sp>
        <p:nvSpPr>
          <p:cNvPr id="81" name="Text 74"/>
          <p:cNvSpPr txBox="1"/>
          <p:nvPr/>
        </p:nvSpPr>
        <p:spPr>
          <a:xfrm>
            <a:off x="733349" y="3340303"/>
            <a:ext cx="12746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stage: experiment</a:t>
            </a:r>
            <a:endParaRPr lang="en-US" sz="1000" dirty="0"/>
          </a:p>
        </p:txBody>
      </p:sp>
      <p:sp>
        <p:nvSpPr>
          <p:cNvPr id="82" name="Text 75"/>
          <p:cNvSpPr txBox="1"/>
          <p:nvPr/>
        </p:nvSpPr>
        <p:spPr>
          <a:xfrm>
            <a:off x="733349" y="3546043"/>
            <a:ext cx="3127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---</a:t>
            </a:r>
            <a:endParaRPr lang="en-US" sz="1000" dirty="0"/>
          </a:p>
        </p:txBody>
      </p:sp>
      <p:pic>
        <p:nvPicPr>
          <p:cNvPr id="83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3471977" y="2346350"/>
            <a:ext cx="114300" cy="133502"/>
          </a:xfrm>
          <a:prstGeom prst="rect">
            <a:avLst/>
          </a:prstGeom>
        </p:spPr>
      </p:pic>
      <p:sp>
        <p:nvSpPr>
          <p:cNvPr id="84" name="Text 76"/>
          <p:cNvSpPr txBox="1"/>
          <p:nvPr/>
        </p:nvSpPr>
        <p:spPr>
          <a:xfrm>
            <a:off x="3700577" y="2311603"/>
            <a:ext cx="3739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Tags</a:t>
            </a:r>
            <a:endParaRPr lang="en-US" sz="1000" dirty="0"/>
          </a:p>
        </p:txBody>
      </p:sp>
      <p:sp>
        <p:nvSpPr>
          <p:cNvPr id="85" name="Text 77"/>
          <p:cNvSpPr txBox="1"/>
          <p:nvPr/>
        </p:nvSpPr>
        <p:spPr>
          <a:xfrm>
            <a:off x="4519879" y="2323490"/>
            <a:ext cx="534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#project</a:t>
            </a:r>
            <a:endParaRPr lang="en-US" sz="900" dirty="0"/>
          </a:p>
        </p:txBody>
      </p:sp>
      <p:pic>
        <p:nvPicPr>
          <p:cNvPr id="8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461918" y="2634386"/>
            <a:ext cx="133502" cy="133502"/>
          </a:xfrm>
          <a:prstGeom prst="rect">
            <a:avLst/>
          </a:prstGeom>
        </p:spPr>
      </p:pic>
      <p:sp>
        <p:nvSpPr>
          <p:cNvPr id="87" name="Text 78"/>
          <p:cNvSpPr txBox="1"/>
          <p:nvPr/>
        </p:nvSpPr>
        <p:spPr>
          <a:xfrm>
            <a:off x="3700577" y="2599639"/>
            <a:ext cx="478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</a:t>
            </a:r>
            <a:endParaRPr lang="en-US" sz="1000" dirty="0"/>
          </a:p>
        </p:txBody>
      </p:sp>
      <p:sp>
        <p:nvSpPr>
          <p:cNvPr id="88" name="Text 79"/>
          <p:cNvSpPr txBox="1"/>
          <p:nvPr/>
        </p:nvSpPr>
        <p:spPr>
          <a:xfrm>
            <a:off x="4548226" y="2627986"/>
            <a:ext cx="4215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doing</a:t>
            </a:r>
            <a:endParaRPr lang="en-US" sz="1000" dirty="0"/>
          </a:p>
        </p:txBody>
      </p:sp>
      <p:pic>
        <p:nvPicPr>
          <p:cNvPr id="89" name="Image 7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3471977" y="2943454"/>
            <a:ext cx="114300" cy="133502"/>
          </a:xfrm>
          <a:prstGeom prst="rect">
            <a:avLst/>
          </a:prstGeom>
        </p:spPr>
      </p:pic>
      <p:sp>
        <p:nvSpPr>
          <p:cNvPr id="90" name="Text 80"/>
          <p:cNvSpPr txBox="1"/>
          <p:nvPr/>
        </p:nvSpPr>
        <p:spPr>
          <a:xfrm>
            <a:off x="3700577" y="2907792"/>
            <a:ext cx="6409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Deadline</a:t>
            </a:r>
            <a:endParaRPr lang="en-US" sz="1000" dirty="0"/>
          </a:p>
        </p:txBody>
      </p:sp>
      <p:sp>
        <p:nvSpPr>
          <p:cNvPr id="91" name="Text 81"/>
          <p:cNvSpPr txBox="1"/>
          <p:nvPr/>
        </p:nvSpPr>
        <p:spPr>
          <a:xfrm>
            <a:off x="4548226" y="2936138"/>
            <a:ext cx="7452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2026-05-30</a:t>
            </a:r>
            <a:endParaRPr lang="en-US" sz="1000" dirty="0"/>
          </a:p>
        </p:txBody>
      </p:sp>
      <p:pic>
        <p:nvPicPr>
          <p:cNvPr id="92" name="Image 8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3471977" y="3251606"/>
            <a:ext cx="114300" cy="133502"/>
          </a:xfrm>
          <a:prstGeom prst="rect">
            <a:avLst/>
          </a:prstGeom>
        </p:spPr>
      </p:pic>
      <p:sp>
        <p:nvSpPr>
          <p:cNvPr id="93" name="Text 82"/>
          <p:cNvSpPr txBox="1"/>
          <p:nvPr/>
        </p:nvSpPr>
        <p:spPr>
          <a:xfrm>
            <a:off x="3700577" y="3216859"/>
            <a:ext cx="2212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</a:t>
            </a:r>
            <a:endParaRPr lang="en-US" sz="1000" dirty="0"/>
          </a:p>
        </p:txBody>
      </p:sp>
      <p:sp>
        <p:nvSpPr>
          <p:cNvPr id="94" name="Text 83"/>
          <p:cNvSpPr txBox="1"/>
          <p:nvPr/>
        </p:nvSpPr>
        <p:spPr>
          <a:xfrm>
            <a:off x="4548226" y="3245206"/>
            <a:ext cx="6885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Prof. Kim</a:t>
            </a:r>
            <a:endParaRPr lang="en-US" sz="1000" dirty="0"/>
          </a:p>
        </p:txBody>
      </p:sp>
      <p:sp>
        <p:nvSpPr>
          <p:cNvPr id="95" name="Text 84"/>
          <p:cNvSpPr txBox="1"/>
          <p:nvPr/>
        </p:nvSpPr>
        <p:spPr>
          <a:xfrm>
            <a:off x="6372454" y="2517343"/>
            <a:ext cx="20939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TABLE status, deadline, stage</a:t>
            </a:r>
            <a:endParaRPr lang="en-US" sz="1000" dirty="0"/>
          </a:p>
        </p:txBody>
      </p:sp>
      <p:sp>
        <p:nvSpPr>
          <p:cNvPr id="96" name="Text 85"/>
          <p:cNvSpPr txBox="1"/>
          <p:nvPr/>
        </p:nvSpPr>
        <p:spPr>
          <a:xfrm>
            <a:off x="6372454" y="2723083"/>
            <a:ext cx="9985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FROM #project</a:t>
            </a:r>
            <a:endParaRPr lang="en-US" sz="1000" dirty="0"/>
          </a:p>
        </p:txBody>
      </p:sp>
      <p:sp>
        <p:nvSpPr>
          <p:cNvPr id="97" name="Text 86"/>
          <p:cNvSpPr txBox="1"/>
          <p:nvPr/>
        </p:nvSpPr>
        <p:spPr>
          <a:xfrm>
            <a:off x="6372454" y="2928823"/>
            <a:ext cx="16175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WHERE status != "done"</a:t>
            </a:r>
            <a:endParaRPr lang="en-US" sz="1000" dirty="0"/>
          </a:p>
        </p:txBody>
      </p:sp>
      <p:sp>
        <p:nvSpPr>
          <p:cNvPr id="98" name="Text 87"/>
          <p:cNvSpPr txBox="1"/>
          <p:nvPr/>
        </p:nvSpPr>
        <p:spPr>
          <a:xfrm>
            <a:off x="6372454" y="3134563"/>
            <a:ext cx="12746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SORT deadline ASC</a:t>
            </a:r>
            <a:endParaRPr lang="en-US" sz="1000" dirty="0"/>
          </a:p>
        </p:txBody>
      </p:sp>
      <p:sp>
        <p:nvSpPr>
          <p:cNvPr id="99" name="Text 88"/>
          <p:cNvSpPr txBox="1"/>
          <p:nvPr/>
        </p:nvSpPr>
        <p:spPr>
          <a:xfrm>
            <a:off x="9129370" y="1943100"/>
            <a:ext cx="3108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</a:t>
            </a:r>
            <a:endParaRPr lang="en-US" sz="900" dirty="0"/>
          </a:p>
        </p:txBody>
      </p:sp>
      <p:sp>
        <p:nvSpPr>
          <p:cNvPr id="100" name="Text 89"/>
          <p:cNvSpPr txBox="1"/>
          <p:nvPr/>
        </p:nvSpPr>
        <p:spPr>
          <a:xfrm>
            <a:off x="9723730" y="1943100"/>
            <a:ext cx="4727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</a:t>
            </a:r>
            <a:endParaRPr lang="en-US" sz="900" dirty="0"/>
          </a:p>
        </p:txBody>
      </p:sp>
      <p:sp>
        <p:nvSpPr>
          <p:cNvPr id="101" name="Text 90"/>
          <p:cNvSpPr txBox="1"/>
          <p:nvPr/>
        </p:nvSpPr>
        <p:spPr>
          <a:xfrm>
            <a:off x="10216591" y="1943100"/>
            <a:ext cx="6254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Deadline</a:t>
            </a:r>
            <a:endParaRPr lang="en-US" sz="900" dirty="0"/>
          </a:p>
        </p:txBody>
      </p:sp>
      <p:sp>
        <p:nvSpPr>
          <p:cNvPr id="102" name="Text 91"/>
          <p:cNvSpPr txBox="1"/>
          <p:nvPr/>
        </p:nvSpPr>
        <p:spPr>
          <a:xfrm>
            <a:off x="10861243" y="1943100"/>
            <a:ext cx="4251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</a:t>
            </a:r>
            <a:endParaRPr lang="en-US" sz="900" dirty="0"/>
          </a:p>
        </p:txBody>
      </p:sp>
      <p:sp>
        <p:nvSpPr>
          <p:cNvPr id="103" name="Text 92"/>
          <p:cNvSpPr txBox="1"/>
          <p:nvPr/>
        </p:nvSpPr>
        <p:spPr>
          <a:xfrm>
            <a:off x="9129370" y="2259482"/>
            <a:ext cx="57790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🧬 Genome Study</a:t>
            </a:r>
            <a:endParaRPr lang="en-US" sz="900" dirty="0"/>
          </a:p>
        </p:txBody>
      </p:sp>
      <p:sp>
        <p:nvSpPr>
          <p:cNvPr id="104" name="Text 93"/>
          <p:cNvSpPr txBox="1"/>
          <p:nvPr/>
        </p:nvSpPr>
        <p:spPr>
          <a:xfrm>
            <a:off x="9723730" y="2442362"/>
            <a:ext cx="4251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doing</a:t>
            </a:r>
            <a:endParaRPr lang="en-US" sz="900" dirty="0"/>
          </a:p>
        </p:txBody>
      </p:sp>
      <p:sp>
        <p:nvSpPr>
          <p:cNvPr id="105" name="Text 94"/>
          <p:cNvSpPr txBox="1"/>
          <p:nvPr/>
        </p:nvSpPr>
        <p:spPr>
          <a:xfrm>
            <a:off x="10216591" y="2350922"/>
            <a:ext cx="58704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2026-02-15</a:t>
            </a:r>
            <a:endParaRPr lang="en-US" sz="900" dirty="0"/>
          </a:p>
        </p:txBody>
      </p:sp>
      <p:sp>
        <p:nvSpPr>
          <p:cNvPr id="106" name="Text 95"/>
          <p:cNvSpPr txBox="1"/>
          <p:nvPr/>
        </p:nvSpPr>
        <p:spPr>
          <a:xfrm>
            <a:off x="10861243" y="2350922"/>
            <a:ext cx="55869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Analysis</a:t>
            </a:r>
            <a:endParaRPr lang="en-US" sz="900" dirty="0"/>
          </a:p>
        </p:txBody>
      </p:sp>
      <p:sp>
        <p:nvSpPr>
          <p:cNvPr id="107" name="Text 96"/>
          <p:cNvSpPr txBox="1"/>
          <p:nvPr/>
        </p:nvSpPr>
        <p:spPr>
          <a:xfrm>
            <a:off x="9129370" y="2931566"/>
            <a:ext cx="44439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AI Model Dev</a:t>
            </a:r>
            <a:endParaRPr lang="en-US" sz="900" dirty="0"/>
          </a:p>
        </p:txBody>
      </p:sp>
      <p:sp>
        <p:nvSpPr>
          <p:cNvPr id="108" name="Text 97"/>
          <p:cNvSpPr txBox="1"/>
          <p:nvPr/>
        </p:nvSpPr>
        <p:spPr>
          <a:xfrm>
            <a:off x="9723730" y="3114446"/>
            <a:ext cx="4251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doing</a:t>
            </a:r>
            <a:endParaRPr lang="en-US" sz="900" dirty="0"/>
          </a:p>
        </p:txBody>
      </p:sp>
      <p:sp>
        <p:nvSpPr>
          <p:cNvPr id="109" name="Text 98"/>
          <p:cNvSpPr txBox="1"/>
          <p:nvPr/>
        </p:nvSpPr>
        <p:spPr>
          <a:xfrm>
            <a:off x="10216591" y="3023006"/>
            <a:ext cx="58704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2026-05-30</a:t>
            </a:r>
            <a:endParaRPr lang="en-US" sz="900" dirty="0"/>
          </a:p>
        </p:txBody>
      </p:sp>
      <p:sp>
        <p:nvSpPr>
          <p:cNvPr id="110" name="Text 99"/>
          <p:cNvSpPr txBox="1"/>
          <p:nvPr/>
        </p:nvSpPr>
        <p:spPr>
          <a:xfrm>
            <a:off x="10861243" y="3114446"/>
            <a:ext cx="7488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Experiment</a:t>
            </a:r>
            <a:endParaRPr lang="en-US" sz="900" dirty="0"/>
          </a:p>
        </p:txBody>
      </p:sp>
      <p:sp>
        <p:nvSpPr>
          <p:cNvPr id="111" name="Text 100"/>
          <p:cNvSpPr txBox="1"/>
          <p:nvPr/>
        </p:nvSpPr>
        <p:spPr>
          <a:xfrm>
            <a:off x="9129370" y="3604565"/>
            <a:ext cx="50109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Review Paper</a:t>
            </a:r>
            <a:endParaRPr lang="en-US" sz="900" dirty="0"/>
          </a:p>
        </p:txBody>
      </p:sp>
      <p:sp>
        <p:nvSpPr>
          <p:cNvPr id="112" name="Text 101"/>
          <p:cNvSpPr txBox="1"/>
          <p:nvPr/>
        </p:nvSpPr>
        <p:spPr>
          <a:xfrm>
            <a:off x="9723730" y="3787445"/>
            <a:ext cx="4727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review</a:t>
            </a:r>
            <a:endParaRPr lang="en-US" sz="900" dirty="0"/>
          </a:p>
        </p:txBody>
      </p:sp>
      <p:sp>
        <p:nvSpPr>
          <p:cNvPr id="113" name="Text 102"/>
          <p:cNvSpPr txBox="1"/>
          <p:nvPr/>
        </p:nvSpPr>
        <p:spPr>
          <a:xfrm>
            <a:off x="10216591" y="3696005"/>
            <a:ext cx="58704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2026-06-10</a:t>
            </a:r>
            <a:endParaRPr lang="en-US" sz="900" dirty="0"/>
          </a:p>
        </p:txBody>
      </p:sp>
      <p:sp>
        <p:nvSpPr>
          <p:cNvPr id="114" name="Text 103"/>
          <p:cNvSpPr txBox="1"/>
          <p:nvPr/>
        </p:nvSpPr>
        <p:spPr>
          <a:xfrm>
            <a:off x="10861243" y="3787445"/>
            <a:ext cx="5586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Drafting</a:t>
            </a:r>
            <a:endParaRPr lang="en-US" sz="900" dirty="0"/>
          </a:p>
        </p:txBody>
      </p:sp>
      <p:sp>
        <p:nvSpPr>
          <p:cNvPr id="115" name="Text 104"/>
          <p:cNvSpPr txBox="1"/>
          <p:nvPr/>
        </p:nvSpPr>
        <p:spPr>
          <a:xfrm>
            <a:off x="733349" y="5473598"/>
            <a:ext cx="6556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```tasks</a:t>
            </a:r>
            <a:endParaRPr lang="en-US" sz="1000" dirty="0"/>
          </a:p>
        </p:txBody>
      </p:sp>
      <p:sp>
        <p:nvSpPr>
          <p:cNvPr id="116" name="Text 105"/>
          <p:cNvSpPr txBox="1"/>
          <p:nvPr/>
        </p:nvSpPr>
        <p:spPr>
          <a:xfrm>
            <a:off x="733349" y="5679338"/>
            <a:ext cx="6556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not done</a:t>
            </a:r>
            <a:endParaRPr lang="en-US" sz="1000" dirty="0"/>
          </a:p>
        </p:txBody>
      </p:sp>
      <p:sp>
        <p:nvSpPr>
          <p:cNvPr id="117" name="Text 106"/>
          <p:cNvSpPr txBox="1"/>
          <p:nvPr/>
        </p:nvSpPr>
        <p:spPr>
          <a:xfrm>
            <a:off x="733349" y="5885078"/>
            <a:ext cx="23701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path includes "Projects/AI_Model"</a:t>
            </a:r>
            <a:endParaRPr lang="en-US" sz="1000" dirty="0"/>
          </a:p>
        </p:txBody>
      </p:sp>
      <p:sp>
        <p:nvSpPr>
          <p:cNvPr id="118" name="Text 107"/>
          <p:cNvSpPr txBox="1"/>
          <p:nvPr/>
        </p:nvSpPr>
        <p:spPr>
          <a:xfrm>
            <a:off x="733349" y="6090818"/>
            <a:ext cx="12079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sort by priority</a:t>
            </a:r>
            <a:endParaRPr lang="en-US" sz="1000" dirty="0"/>
          </a:p>
        </p:txBody>
      </p:sp>
      <p:sp>
        <p:nvSpPr>
          <p:cNvPr id="119" name="Text 108"/>
          <p:cNvSpPr txBox="1"/>
          <p:nvPr/>
        </p:nvSpPr>
        <p:spPr>
          <a:xfrm>
            <a:off x="733349" y="6297473"/>
            <a:ext cx="78912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short mode</a:t>
            </a:r>
            <a:endParaRPr lang="en-US" sz="1000" dirty="0"/>
          </a:p>
        </p:txBody>
      </p:sp>
      <p:sp>
        <p:nvSpPr>
          <p:cNvPr id="120" name="Text 109"/>
          <p:cNvSpPr txBox="1"/>
          <p:nvPr/>
        </p:nvSpPr>
        <p:spPr>
          <a:xfrm>
            <a:off x="733349" y="6503213"/>
            <a:ext cx="3127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```</a:t>
            </a:r>
            <a:endParaRPr lang="en-US" sz="1000" dirty="0"/>
          </a:p>
        </p:txBody>
      </p:sp>
      <p:sp>
        <p:nvSpPr>
          <p:cNvPr id="121" name="Text 110"/>
          <p:cNvSpPr txBox="1"/>
          <p:nvPr/>
        </p:nvSpPr>
        <p:spPr>
          <a:xfrm>
            <a:off x="3433572" y="4934102"/>
            <a:ext cx="11868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8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Projects/AI_Model</a:t>
            </a:r>
            <a:endParaRPr lang="en-US" sz="900" dirty="0"/>
          </a:p>
        </p:txBody>
      </p:sp>
      <p:sp>
        <p:nvSpPr>
          <p:cNvPr id="122" name="Text 111"/>
          <p:cNvSpPr txBox="1"/>
          <p:nvPr/>
        </p:nvSpPr>
        <p:spPr>
          <a:xfrm>
            <a:off x="3448202" y="5240426"/>
            <a:ext cx="2596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🔺</a:t>
            </a:r>
            <a:endParaRPr lang="en-US" sz="1000" dirty="0"/>
          </a:p>
        </p:txBody>
      </p:sp>
      <p:sp>
        <p:nvSpPr>
          <p:cNvPr id="123" name="Text 112"/>
          <p:cNvSpPr txBox="1"/>
          <p:nvPr/>
        </p:nvSpPr>
        <p:spPr>
          <a:xfrm>
            <a:off x="3700577" y="5240426"/>
            <a:ext cx="14026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코드 작성</a:t>
            </a:r>
            <a:endParaRPr lang="en-US" sz="1000" dirty="0"/>
          </a:p>
        </p:txBody>
      </p:sp>
      <p:sp>
        <p:nvSpPr>
          <p:cNvPr id="124" name="Text 113"/>
          <p:cNvSpPr txBox="1"/>
          <p:nvPr/>
        </p:nvSpPr>
        <p:spPr>
          <a:xfrm>
            <a:off x="5410505" y="5257800"/>
            <a:ext cx="5285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📅 today</a:t>
            </a:r>
            <a:endParaRPr lang="en-US" sz="800" dirty="0"/>
          </a:p>
        </p:txBody>
      </p:sp>
      <p:sp>
        <p:nvSpPr>
          <p:cNvPr id="125" name="Text 114"/>
          <p:cNvSpPr txBox="1"/>
          <p:nvPr/>
        </p:nvSpPr>
        <p:spPr>
          <a:xfrm>
            <a:off x="3448202" y="5491886"/>
            <a:ext cx="2596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🔼</a:t>
            </a:r>
            <a:endParaRPr lang="en-US" sz="1000" dirty="0"/>
          </a:p>
        </p:txBody>
      </p:sp>
      <p:sp>
        <p:nvSpPr>
          <p:cNvPr id="126" name="Text 115"/>
          <p:cNvSpPr txBox="1"/>
          <p:nvPr/>
        </p:nvSpPr>
        <p:spPr>
          <a:xfrm>
            <a:off x="3700577" y="5491886"/>
            <a:ext cx="12115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하이퍼파라미터 튜닝</a:t>
            </a:r>
            <a:endParaRPr lang="en-US" sz="1000" dirty="0"/>
          </a:p>
        </p:txBody>
      </p:sp>
      <p:sp>
        <p:nvSpPr>
          <p:cNvPr id="127" name="Text 116"/>
          <p:cNvSpPr txBox="1"/>
          <p:nvPr/>
        </p:nvSpPr>
        <p:spPr>
          <a:xfrm>
            <a:off x="5567782" y="5509260"/>
            <a:ext cx="375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📅 Fri</a:t>
            </a:r>
            <a:endParaRPr lang="en-US" sz="800" dirty="0"/>
          </a:p>
        </p:txBody>
      </p:sp>
      <p:sp>
        <p:nvSpPr>
          <p:cNvPr id="128" name="Text 117"/>
          <p:cNvSpPr txBox="1"/>
          <p:nvPr/>
        </p:nvSpPr>
        <p:spPr>
          <a:xfrm>
            <a:off x="3448202" y="5743346"/>
            <a:ext cx="2596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🔽</a:t>
            </a:r>
            <a:endParaRPr lang="en-US" sz="1000" dirty="0"/>
          </a:p>
        </p:txBody>
      </p:sp>
      <p:sp>
        <p:nvSpPr>
          <p:cNvPr id="129" name="Text 118"/>
          <p:cNvSpPr txBox="1"/>
          <p:nvPr/>
        </p:nvSpPr>
        <p:spPr>
          <a:xfrm>
            <a:off x="3700577" y="574334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보고서 작성</a:t>
            </a:r>
            <a:endParaRPr lang="en-US" sz="1000" dirty="0"/>
          </a:p>
        </p:txBody>
      </p:sp>
      <p:sp>
        <p:nvSpPr>
          <p:cNvPr id="130" name="Text 119"/>
          <p:cNvSpPr txBox="1"/>
          <p:nvPr/>
        </p:nvSpPr>
        <p:spPr>
          <a:xfrm>
            <a:off x="5190134" y="5760720"/>
            <a:ext cx="7571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📅 next week</a:t>
            </a:r>
            <a:endParaRPr lang="en-US" sz="800" dirty="0"/>
          </a:p>
        </p:txBody>
      </p:sp>
      <p:sp>
        <p:nvSpPr>
          <p:cNvPr id="131" name="Text 120"/>
          <p:cNvSpPr txBox="1"/>
          <p:nvPr/>
        </p:nvSpPr>
        <p:spPr>
          <a:xfrm>
            <a:off x="6448349" y="5048402"/>
            <a:ext cx="9582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📝 Backlog (2)</a:t>
            </a:r>
            <a:endParaRPr lang="en-US" sz="900" dirty="0"/>
          </a:p>
        </p:txBody>
      </p:sp>
      <p:sp>
        <p:nvSpPr>
          <p:cNvPr id="132" name="Text 121"/>
          <p:cNvSpPr txBox="1"/>
          <p:nvPr/>
        </p:nvSpPr>
        <p:spPr>
          <a:xfrm>
            <a:off x="6553505" y="5479085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문헌 조사 보완</a:t>
            </a:r>
            <a:endParaRPr lang="en-US" sz="900" dirty="0"/>
          </a:p>
        </p:txBody>
      </p:sp>
      <p:sp>
        <p:nvSpPr>
          <p:cNvPr id="133" name="Text 122"/>
          <p:cNvSpPr txBox="1"/>
          <p:nvPr/>
        </p:nvSpPr>
        <p:spPr>
          <a:xfrm>
            <a:off x="6553505" y="5878678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확보</a:t>
            </a:r>
            <a:endParaRPr lang="en-US" sz="900" dirty="0"/>
          </a:p>
        </p:txBody>
      </p:sp>
      <p:sp>
        <p:nvSpPr>
          <p:cNvPr id="134" name="Text 123"/>
          <p:cNvSpPr txBox="1"/>
          <p:nvPr/>
        </p:nvSpPr>
        <p:spPr>
          <a:xfrm>
            <a:off x="7722108" y="5048402"/>
            <a:ext cx="8348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🔥 Doing (2)</a:t>
            </a:r>
            <a:endParaRPr lang="en-US" sz="900" dirty="0"/>
          </a:p>
        </p:txBody>
      </p:sp>
      <p:sp>
        <p:nvSpPr>
          <p:cNvPr id="135" name="Text 124"/>
          <p:cNvSpPr txBox="1"/>
          <p:nvPr/>
        </p:nvSpPr>
        <p:spPr>
          <a:xfrm>
            <a:off x="7827264" y="5479085"/>
            <a:ext cx="8860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Genome 데이터 정제</a:t>
            </a:r>
            <a:endParaRPr lang="en-US" sz="900" dirty="0"/>
          </a:p>
        </p:txBody>
      </p:sp>
      <p:sp>
        <p:nvSpPr>
          <p:cNvPr id="136" name="Text 125"/>
          <p:cNvSpPr txBox="1"/>
          <p:nvPr/>
        </p:nvSpPr>
        <p:spPr>
          <a:xfrm>
            <a:off x="7827264" y="6050585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모델 학습</a:t>
            </a:r>
            <a:endParaRPr lang="en-US" sz="900" dirty="0"/>
          </a:p>
        </p:txBody>
      </p:sp>
      <p:sp>
        <p:nvSpPr>
          <p:cNvPr id="137" name="Text 126"/>
          <p:cNvSpPr txBox="1"/>
          <p:nvPr/>
        </p:nvSpPr>
        <p:spPr>
          <a:xfrm>
            <a:off x="8995867" y="5048402"/>
            <a:ext cx="7964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Done (1)</a:t>
            </a:r>
            <a:endParaRPr lang="en-US" sz="900" dirty="0"/>
          </a:p>
        </p:txBody>
      </p:sp>
      <p:sp>
        <p:nvSpPr>
          <p:cNvPr id="138" name="Shape 127"/>
          <p:cNvSpPr/>
          <p:nvPr/>
        </p:nvSpPr>
        <p:spPr>
          <a:xfrm>
            <a:off x="8995867" y="5402275"/>
            <a:ext cx="1028700" cy="323698"/>
          </a:xfrm>
          <a:prstGeom prst="roundRect">
            <a:avLst>
              <a:gd name="adj" fmla="val 33234"/>
            </a:avLst>
          </a:prstGeom>
          <a:solidFill>
            <a:srgbClr val="333333">
              <a:alpha val="60000"/>
            </a:srgbClr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9" name="Shape 128"/>
          <p:cNvSpPr/>
          <p:nvPr/>
        </p:nvSpPr>
        <p:spPr>
          <a:xfrm>
            <a:off x="8995867" y="5402275"/>
            <a:ext cx="28346" cy="32369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0" name="Text 129"/>
          <p:cNvSpPr txBox="1"/>
          <p:nvPr/>
        </p:nvSpPr>
        <p:spPr>
          <a:xfrm>
            <a:off x="9101023" y="5479085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계획서 제출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1889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0644" y="1228954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80644" y="158191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694944" y="1335024"/>
            <a:ext cx="114300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6851" y="1304849"/>
            <a:ext cx="120243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 (Priority)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80644" y="158465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11" name="Shape 7"/>
          <p:cNvSpPr/>
          <p:nvPr/>
        </p:nvSpPr>
        <p:spPr>
          <a:xfrm>
            <a:off x="580644" y="267096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80644" y="2678278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94944" y="2980030"/>
            <a:ext cx="320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94944" y="3220517"/>
            <a:ext cx="320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811780" y="121889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20924" y="1228954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2820924" y="158191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2935224" y="1335024"/>
            <a:ext cx="114300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107131" y="1304849"/>
            <a:ext cx="10497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기한 (Due Date)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820924" y="158465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21" name="Shape 16"/>
          <p:cNvSpPr/>
          <p:nvPr/>
        </p:nvSpPr>
        <p:spPr>
          <a:xfrm>
            <a:off x="2820924" y="267096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2820924" y="2678278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2935224" y="3100730"/>
            <a:ext cx="9774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2026-01-20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52060" y="121889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061204" y="1228954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5061204" y="158191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75504" y="1335024"/>
            <a:ext cx="133502" cy="1335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366614" y="1304849"/>
            <a:ext cx="10972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(Recurring)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061204" y="158465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30" name="Shape 24"/>
          <p:cNvSpPr/>
          <p:nvPr/>
        </p:nvSpPr>
        <p:spPr>
          <a:xfrm>
            <a:off x="5061204" y="267096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5061204" y="2678278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5175504" y="3100730"/>
            <a:ext cx="57790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리뷰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292340" y="121889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301484" y="1228954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35" name="Shape 29"/>
          <p:cNvSpPr/>
          <p:nvPr/>
        </p:nvSpPr>
        <p:spPr>
          <a:xfrm>
            <a:off x="7301484" y="158191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t="-2644" b="-2644"/>
          <a:stretch/>
        </p:blipFill>
        <p:spPr>
          <a:xfrm>
            <a:off x="7415784" y="1335024"/>
            <a:ext cx="95098" cy="13350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568489" y="1304849"/>
            <a:ext cx="887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및 시작일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7301484" y="158465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39" name="Shape 32"/>
          <p:cNvSpPr/>
          <p:nvPr/>
        </p:nvSpPr>
        <p:spPr>
          <a:xfrm>
            <a:off x="7301484" y="267096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0" name="Shape 33"/>
          <p:cNvSpPr/>
          <p:nvPr/>
        </p:nvSpPr>
        <p:spPr>
          <a:xfrm>
            <a:off x="7301484" y="2678278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7415784" y="2980030"/>
            <a:ext cx="6537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계획됨 1/1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7415784" y="3220517"/>
            <a:ext cx="6537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시작함 1/5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9532620" y="121889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9541764" y="1228954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45" name="Shape 38"/>
          <p:cNvSpPr/>
          <p:nvPr/>
        </p:nvSpPr>
        <p:spPr>
          <a:xfrm>
            <a:off x="9541764" y="158191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9656064" y="1335024"/>
            <a:ext cx="114300" cy="133502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9827971" y="1304849"/>
            <a:ext cx="7735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 및 완료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9541764" y="158465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49" name="Shape 41"/>
          <p:cNvSpPr/>
          <p:nvPr/>
        </p:nvSpPr>
        <p:spPr>
          <a:xfrm>
            <a:off x="9541764" y="267096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0" name="Shape 42"/>
          <p:cNvSpPr/>
          <p:nvPr/>
        </p:nvSpPr>
        <p:spPr>
          <a:xfrm>
            <a:off x="9541764" y="2678278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9656064" y="2980030"/>
            <a:ext cx="7589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#paper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9656064" y="3220517"/>
            <a:ext cx="6062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1/10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571500" y="392460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580644" y="3933749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55" name="Shape 47"/>
          <p:cNvSpPr/>
          <p:nvPr/>
        </p:nvSpPr>
        <p:spPr>
          <a:xfrm>
            <a:off x="580644" y="4286707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4944" y="4040734"/>
            <a:ext cx="133502" cy="133502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886054" y="4009644"/>
            <a:ext cx="6592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쿼리: 기본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580644" y="429036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59" name="Shape 50"/>
          <p:cNvSpPr/>
          <p:nvPr/>
        </p:nvSpPr>
        <p:spPr>
          <a:xfrm>
            <a:off x="580644" y="537667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0" name="Shape 51"/>
          <p:cNvSpPr/>
          <p:nvPr/>
        </p:nvSpPr>
        <p:spPr>
          <a:xfrm>
            <a:off x="580644" y="5383987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1" name="Shape 52"/>
          <p:cNvSpPr/>
          <p:nvPr/>
        </p:nvSpPr>
        <p:spPr>
          <a:xfrm>
            <a:off x="694944" y="5696712"/>
            <a:ext cx="1848002" cy="457200"/>
          </a:xfrm>
          <a:prstGeom prst="rect">
            <a:avLst/>
          </a:prstGeom>
          <a:solidFill>
            <a:srgbClr val="FF6B6B">
              <a:alpha val="5000"/>
            </a:srgbClr>
          </a:solidFill>
          <a:ln/>
        </p:spPr>
      </p:sp>
      <p:sp>
        <p:nvSpPr>
          <p:cNvPr id="62" name="Shape 53"/>
          <p:cNvSpPr/>
          <p:nvPr/>
        </p:nvSpPr>
        <p:spPr>
          <a:xfrm>
            <a:off x="694944" y="5696712"/>
            <a:ext cx="28346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3" name="Shape 54"/>
          <p:cNvSpPr/>
          <p:nvPr/>
        </p:nvSpPr>
        <p:spPr>
          <a:xfrm>
            <a:off x="2811780" y="392460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2820924" y="3933749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65" name="Shape 56"/>
          <p:cNvSpPr/>
          <p:nvPr/>
        </p:nvSpPr>
        <p:spPr>
          <a:xfrm>
            <a:off x="2820924" y="4286707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935224" y="4040734"/>
            <a:ext cx="133502" cy="133502"/>
          </a:xfrm>
          <a:prstGeom prst="rect">
            <a:avLst/>
          </a:prstGeom>
        </p:spPr>
      </p:pic>
      <p:sp>
        <p:nvSpPr>
          <p:cNvPr id="67" name="Text 57"/>
          <p:cNvSpPr txBox="1"/>
          <p:nvPr/>
        </p:nvSpPr>
        <p:spPr>
          <a:xfrm>
            <a:off x="3126334" y="4009644"/>
            <a:ext cx="9354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쿼리: 기한 필터</a:t>
            </a:r>
            <a:endParaRPr lang="en-US" sz="1000" dirty="0"/>
          </a:p>
        </p:txBody>
      </p:sp>
      <p:sp>
        <p:nvSpPr>
          <p:cNvPr id="68" name="Shape 58"/>
          <p:cNvSpPr/>
          <p:nvPr/>
        </p:nvSpPr>
        <p:spPr>
          <a:xfrm>
            <a:off x="2820924" y="429036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69" name="Shape 59"/>
          <p:cNvSpPr/>
          <p:nvPr/>
        </p:nvSpPr>
        <p:spPr>
          <a:xfrm>
            <a:off x="2820924" y="537667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0" name="Shape 60"/>
          <p:cNvSpPr/>
          <p:nvPr/>
        </p:nvSpPr>
        <p:spPr>
          <a:xfrm>
            <a:off x="2820924" y="5383987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1" name="Shape 61"/>
          <p:cNvSpPr/>
          <p:nvPr/>
        </p:nvSpPr>
        <p:spPr>
          <a:xfrm>
            <a:off x="2935224" y="5696712"/>
            <a:ext cx="1848002" cy="457200"/>
          </a:xfrm>
          <a:prstGeom prst="rect">
            <a:avLst/>
          </a:prstGeom>
          <a:solidFill>
            <a:srgbClr val="FF6B6B">
              <a:alpha val="5000"/>
            </a:srgbClr>
          </a:solidFill>
          <a:ln/>
        </p:spPr>
      </p:sp>
      <p:sp>
        <p:nvSpPr>
          <p:cNvPr id="72" name="Shape 62"/>
          <p:cNvSpPr/>
          <p:nvPr/>
        </p:nvSpPr>
        <p:spPr>
          <a:xfrm>
            <a:off x="2935224" y="5696712"/>
            <a:ext cx="28346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3" name="Shape 63"/>
          <p:cNvSpPr/>
          <p:nvPr/>
        </p:nvSpPr>
        <p:spPr>
          <a:xfrm>
            <a:off x="5052060" y="392460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5061204" y="3933749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75" name="Shape 65"/>
          <p:cNvSpPr/>
          <p:nvPr/>
        </p:nvSpPr>
        <p:spPr>
          <a:xfrm>
            <a:off x="5061204" y="4286707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76" name="Image 8" descr="preencoded.png"/>
          <p:cNvPicPr>
            <a:picLocks noChangeAspect="1"/>
          </p:cNvPicPr>
          <p:nvPr/>
        </p:nvPicPr>
        <p:blipFill>
          <a:blip r:embed="rId11"/>
          <a:srcRect t="-2644" b="-2644"/>
          <a:stretch/>
        </p:blipFill>
        <p:spPr>
          <a:xfrm>
            <a:off x="5175504" y="4040734"/>
            <a:ext cx="142646" cy="133502"/>
          </a:xfrm>
          <a:prstGeom prst="rect">
            <a:avLst/>
          </a:prstGeom>
        </p:spPr>
      </p:pic>
      <p:sp>
        <p:nvSpPr>
          <p:cNvPr id="77" name="Text 66"/>
          <p:cNvSpPr txBox="1"/>
          <p:nvPr/>
        </p:nvSpPr>
        <p:spPr>
          <a:xfrm>
            <a:off x="5375758" y="4009644"/>
            <a:ext cx="12115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쿼리: 경로(Project)</a:t>
            </a:r>
            <a:endParaRPr lang="en-US" sz="1000" dirty="0"/>
          </a:p>
        </p:txBody>
      </p:sp>
      <p:sp>
        <p:nvSpPr>
          <p:cNvPr id="78" name="Shape 67"/>
          <p:cNvSpPr/>
          <p:nvPr/>
        </p:nvSpPr>
        <p:spPr>
          <a:xfrm>
            <a:off x="5061204" y="429036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79" name="Shape 68"/>
          <p:cNvSpPr/>
          <p:nvPr/>
        </p:nvSpPr>
        <p:spPr>
          <a:xfrm>
            <a:off x="5061204" y="537667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0" name="Shape 69"/>
          <p:cNvSpPr/>
          <p:nvPr/>
        </p:nvSpPr>
        <p:spPr>
          <a:xfrm>
            <a:off x="5061204" y="5383987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1" name="Shape 70"/>
          <p:cNvSpPr/>
          <p:nvPr/>
        </p:nvSpPr>
        <p:spPr>
          <a:xfrm>
            <a:off x="5175504" y="5696712"/>
            <a:ext cx="1848002" cy="457200"/>
          </a:xfrm>
          <a:prstGeom prst="rect">
            <a:avLst/>
          </a:prstGeom>
          <a:solidFill>
            <a:srgbClr val="FF6B6B">
              <a:alpha val="5000"/>
            </a:srgbClr>
          </a:solidFill>
          <a:ln/>
        </p:spPr>
      </p:sp>
      <p:sp>
        <p:nvSpPr>
          <p:cNvPr id="82" name="Shape 71"/>
          <p:cNvSpPr/>
          <p:nvPr/>
        </p:nvSpPr>
        <p:spPr>
          <a:xfrm>
            <a:off x="5175504" y="5696712"/>
            <a:ext cx="28346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3" name="Shape 72"/>
          <p:cNvSpPr/>
          <p:nvPr/>
        </p:nvSpPr>
        <p:spPr>
          <a:xfrm>
            <a:off x="7292340" y="392460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4" name="Shape 73"/>
          <p:cNvSpPr/>
          <p:nvPr/>
        </p:nvSpPr>
        <p:spPr>
          <a:xfrm>
            <a:off x="7301484" y="3933749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85" name="Shape 74"/>
          <p:cNvSpPr/>
          <p:nvPr/>
        </p:nvSpPr>
        <p:spPr>
          <a:xfrm>
            <a:off x="7301484" y="4286707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415784" y="4040734"/>
            <a:ext cx="133502" cy="133502"/>
          </a:xfrm>
          <a:prstGeom prst="rect">
            <a:avLst/>
          </a:prstGeom>
        </p:spPr>
      </p:pic>
      <p:sp>
        <p:nvSpPr>
          <p:cNvPr id="87" name="Text 75"/>
          <p:cNvSpPr txBox="1"/>
          <p:nvPr/>
        </p:nvSpPr>
        <p:spPr>
          <a:xfrm>
            <a:off x="7606894" y="4009644"/>
            <a:ext cx="9354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쿼리: 태그 필터</a:t>
            </a:r>
            <a:endParaRPr lang="en-US" sz="1000" dirty="0"/>
          </a:p>
        </p:txBody>
      </p:sp>
      <p:sp>
        <p:nvSpPr>
          <p:cNvPr id="88" name="Shape 76"/>
          <p:cNvSpPr/>
          <p:nvPr/>
        </p:nvSpPr>
        <p:spPr>
          <a:xfrm>
            <a:off x="7301484" y="429036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89" name="Shape 77"/>
          <p:cNvSpPr/>
          <p:nvPr/>
        </p:nvSpPr>
        <p:spPr>
          <a:xfrm>
            <a:off x="7301484" y="537667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0" name="Shape 78"/>
          <p:cNvSpPr/>
          <p:nvPr/>
        </p:nvSpPr>
        <p:spPr>
          <a:xfrm>
            <a:off x="7301484" y="5383987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1" name="Shape 79"/>
          <p:cNvSpPr/>
          <p:nvPr/>
        </p:nvSpPr>
        <p:spPr>
          <a:xfrm>
            <a:off x="7415784" y="5696712"/>
            <a:ext cx="1848002" cy="457200"/>
          </a:xfrm>
          <a:prstGeom prst="rect">
            <a:avLst/>
          </a:prstGeom>
          <a:solidFill>
            <a:srgbClr val="FF6B6B">
              <a:alpha val="5000"/>
            </a:srgbClr>
          </a:solidFill>
          <a:ln/>
        </p:spPr>
      </p:sp>
      <p:sp>
        <p:nvSpPr>
          <p:cNvPr id="92" name="Shape 80"/>
          <p:cNvSpPr/>
          <p:nvPr/>
        </p:nvSpPr>
        <p:spPr>
          <a:xfrm>
            <a:off x="7415784" y="5696712"/>
            <a:ext cx="28346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3" name="Shape 81"/>
          <p:cNvSpPr/>
          <p:nvPr/>
        </p:nvSpPr>
        <p:spPr>
          <a:xfrm>
            <a:off x="9532620" y="3924605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4" name="Shape 82"/>
          <p:cNvSpPr/>
          <p:nvPr/>
        </p:nvSpPr>
        <p:spPr>
          <a:xfrm>
            <a:off x="9541764" y="3933749"/>
            <a:ext cx="2076602" cy="362102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95" name="Shape 83"/>
          <p:cNvSpPr/>
          <p:nvPr/>
        </p:nvSpPr>
        <p:spPr>
          <a:xfrm>
            <a:off x="9541764" y="4286707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96" name="Image 10" descr="preencoded.png"/>
          <p:cNvPicPr>
            <a:picLocks noChangeAspect="1"/>
          </p:cNvPicPr>
          <p:nvPr/>
        </p:nvPicPr>
        <p:blipFill>
          <a:blip r:embed="rId13"/>
          <a:srcRect t="-2644" b="-2644"/>
          <a:stretch/>
        </p:blipFill>
        <p:spPr>
          <a:xfrm>
            <a:off x="9656064" y="4040734"/>
            <a:ext cx="142646" cy="133502"/>
          </a:xfrm>
          <a:prstGeom prst="rect">
            <a:avLst/>
          </a:prstGeom>
        </p:spPr>
      </p:pic>
      <p:sp>
        <p:nvSpPr>
          <p:cNvPr id="97" name="Text 84"/>
          <p:cNvSpPr txBox="1"/>
          <p:nvPr/>
        </p:nvSpPr>
        <p:spPr>
          <a:xfrm>
            <a:off x="9856318" y="4009644"/>
            <a:ext cx="1059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쿼리: 정렬 &amp; 그룹</a:t>
            </a:r>
            <a:endParaRPr lang="en-US" sz="1000" dirty="0"/>
          </a:p>
        </p:txBody>
      </p:sp>
      <p:sp>
        <p:nvSpPr>
          <p:cNvPr id="98" name="Shape 85"/>
          <p:cNvSpPr/>
          <p:nvPr/>
        </p:nvSpPr>
        <p:spPr>
          <a:xfrm>
            <a:off x="9541764" y="4290365"/>
            <a:ext cx="2076602" cy="1095451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99" name="Shape 86"/>
          <p:cNvSpPr/>
          <p:nvPr/>
        </p:nvSpPr>
        <p:spPr>
          <a:xfrm>
            <a:off x="9541764" y="5376672"/>
            <a:ext cx="2076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0" name="Shape 87"/>
          <p:cNvSpPr/>
          <p:nvPr/>
        </p:nvSpPr>
        <p:spPr>
          <a:xfrm>
            <a:off x="9541764" y="5383987"/>
            <a:ext cx="2076602" cy="108630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1" name="Shape 88"/>
          <p:cNvSpPr/>
          <p:nvPr/>
        </p:nvSpPr>
        <p:spPr>
          <a:xfrm>
            <a:off x="9656064" y="5696712"/>
            <a:ext cx="1848002" cy="457200"/>
          </a:xfrm>
          <a:prstGeom prst="rect">
            <a:avLst/>
          </a:prstGeom>
          <a:solidFill>
            <a:srgbClr val="FF6B6B">
              <a:alpha val="5000"/>
            </a:srgbClr>
          </a:solidFill>
          <a:ln/>
        </p:spPr>
      </p:sp>
      <p:sp>
        <p:nvSpPr>
          <p:cNvPr id="102" name="Shape 89"/>
          <p:cNvSpPr/>
          <p:nvPr/>
        </p:nvSpPr>
        <p:spPr>
          <a:xfrm>
            <a:off x="9656064" y="5696712"/>
            <a:ext cx="28346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3" name="Text 90"/>
          <p:cNvSpPr txBox="1"/>
          <p:nvPr/>
        </p:nvSpPr>
        <p:spPr>
          <a:xfrm>
            <a:off x="819302" y="381305"/>
            <a:ext cx="15956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TASKS PLUGIN GUIDE</a:t>
            </a:r>
            <a:endParaRPr lang="en-US" sz="1000" dirty="0"/>
          </a:p>
        </p:txBody>
      </p:sp>
      <p:sp>
        <p:nvSpPr>
          <p:cNvPr id="104" name="Text 91"/>
          <p:cNvSpPr txBox="1"/>
          <p:nvPr/>
        </p:nvSpPr>
        <p:spPr>
          <a:xfrm>
            <a:off x="819302" y="552298"/>
            <a:ext cx="38487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 &amp; 일정 관리 가이드</a:t>
            </a:r>
            <a:endParaRPr lang="en-US" sz="2700" dirty="0"/>
          </a:p>
        </p:txBody>
      </p:sp>
      <p:sp>
        <p:nvSpPr>
          <p:cNvPr id="105" name="Text 92"/>
          <p:cNvSpPr txBox="1"/>
          <p:nvPr/>
        </p:nvSpPr>
        <p:spPr>
          <a:xfrm>
            <a:off x="694944" y="1862633"/>
            <a:ext cx="92080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[ ] 높음 🔺</a:t>
            </a:r>
            <a:endParaRPr lang="en-US" sz="900" dirty="0"/>
          </a:p>
        </p:txBody>
      </p:sp>
      <p:sp>
        <p:nvSpPr>
          <p:cNvPr id="106" name="Text 93"/>
          <p:cNvSpPr txBox="1"/>
          <p:nvPr/>
        </p:nvSpPr>
        <p:spPr>
          <a:xfrm>
            <a:off x="694944" y="2058314"/>
            <a:ext cx="92080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[ ] 중간 🔼</a:t>
            </a:r>
            <a:endParaRPr lang="en-US" sz="900" dirty="0"/>
          </a:p>
        </p:txBody>
      </p:sp>
      <p:sp>
        <p:nvSpPr>
          <p:cNvPr id="107" name="Text 94"/>
          <p:cNvSpPr txBox="1"/>
          <p:nvPr/>
        </p:nvSpPr>
        <p:spPr>
          <a:xfrm>
            <a:off x="694944" y="2253082"/>
            <a:ext cx="92080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[ ] 낮음 🔽</a:t>
            </a:r>
            <a:endParaRPr lang="en-US" sz="900" dirty="0"/>
          </a:p>
        </p:txBody>
      </p:sp>
      <p:sp>
        <p:nvSpPr>
          <p:cNvPr id="108" name="Text 95"/>
          <p:cNvSpPr txBox="1"/>
          <p:nvPr/>
        </p:nvSpPr>
        <p:spPr>
          <a:xfrm>
            <a:off x="2935224" y="1962302"/>
            <a:ext cx="158739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[ ] 제출 📅 2026-01-20</a:t>
            </a:r>
            <a:endParaRPr lang="en-US" sz="900" dirty="0"/>
          </a:p>
        </p:txBody>
      </p:sp>
      <p:sp>
        <p:nvSpPr>
          <p:cNvPr id="109" name="Text 96"/>
          <p:cNvSpPr txBox="1"/>
          <p:nvPr/>
        </p:nvSpPr>
        <p:spPr>
          <a:xfrm>
            <a:off x="2935224" y="2186330"/>
            <a:ext cx="1295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// 자동완성 팝업 활용</a:t>
            </a:r>
            <a:endParaRPr lang="en-US" sz="900" dirty="0"/>
          </a:p>
        </p:txBody>
      </p:sp>
      <p:sp>
        <p:nvSpPr>
          <p:cNvPr id="110" name="Text 97"/>
          <p:cNvSpPr txBox="1"/>
          <p:nvPr/>
        </p:nvSpPr>
        <p:spPr>
          <a:xfrm>
            <a:off x="5175504" y="1862633"/>
            <a:ext cx="100584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[ ] 주간 리뷰</a:t>
            </a:r>
            <a:endParaRPr lang="en-US" sz="900" dirty="0"/>
          </a:p>
        </p:txBody>
      </p:sp>
      <p:sp>
        <p:nvSpPr>
          <p:cNvPr id="111" name="Text 98"/>
          <p:cNvSpPr txBox="1"/>
          <p:nvPr/>
        </p:nvSpPr>
        <p:spPr>
          <a:xfrm>
            <a:off x="5175504" y="2058314"/>
            <a:ext cx="92080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🔁 every week</a:t>
            </a:r>
            <a:endParaRPr lang="en-US" sz="900" dirty="0"/>
          </a:p>
        </p:txBody>
      </p:sp>
      <p:sp>
        <p:nvSpPr>
          <p:cNvPr id="112" name="Text 99"/>
          <p:cNvSpPr txBox="1"/>
          <p:nvPr/>
        </p:nvSpPr>
        <p:spPr>
          <a:xfrm>
            <a:off x="5175504" y="2253082"/>
            <a:ext cx="10442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🔁 every 2 days</a:t>
            </a:r>
            <a:endParaRPr lang="en-US" sz="900" dirty="0"/>
          </a:p>
        </p:txBody>
      </p:sp>
      <p:sp>
        <p:nvSpPr>
          <p:cNvPr id="113" name="Text 100"/>
          <p:cNvSpPr txBox="1"/>
          <p:nvPr/>
        </p:nvSpPr>
        <p:spPr>
          <a:xfrm>
            <a:off x="7415784" y="1960474"/>
            <a:ext cx="171084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[ ] 계획됨 ⏳ 2026-01-01</a:t>
            </a:r>
            <a:endParaRPr lang="en-US" sz="900" dirty="0"/>
          </a:p>
        </p:txBody>
      </p:sp>
      <p:sp>
        <p:nvSpPr>
          <p:cNvPr id="114" name="Text 101"/>
          <p:cNvSpPr txBox="1"/>
          <p:nvPr/>
        </p:nvSpPr>
        <p:spPr>
          <a:xfrm>
            <a:off x="7415784" y="2155241"/>
            <a:ext cx="171084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[ ] 시작함 🛫 2026-01-05</a:t>
            </a:r>
            <a:endParaRPr lang="en-US" sz="900" dirty="0"/>
          </a:p>
        </p:txBody>
      </p:sp>
      <p:sp>
        <p:nvSpPr>
          <p:cNvPr id="115" name="Text 102"/>
          <p:cNvSpPr txBox="1"/>
          <p:nvPr/>
        </p:nvSpPr>
        <p:spPr>
          <a:xfrm>
            <a:off x="9656064" y="1960474"/>
            <a:ext cx="113019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[ ] 논문 #paper</a:t>
            </a:r>
            <a:endParaRPr lang="en-US" sz="900" dirty="0"/>
          </a:p>
        </p:txBody>
      </p:sp>
      <p:sp>
        <p:nvSpPr>
          <p:cNvPr id="116" name="Text 103"/>
          <p:cNvSpPr txBox="1"/>
          <p:nvPr/>
        </p:nvSpPr>
        <p:spPr>
          <a:xfrm>
            <a:off x="9656064" y="2155241"/>
            <a:ext cx="158739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 [x] 완료 ✅ 2026-01-10</a:t>
            </a:r>
            <a:endParaRPr lang="en-US" sz="900" dirty="0"/>
          </a:p>
        </p:txBody>
      </p:sp>
      <p:sp>
        <p:nvSpPr>
          <p:cNvPr id="117" name="Text 104"/>
          <p:cNvSpPr txBox="1"/>
          <p:nvPr/>
        </p:nvSpPr>
        <p:spPr>
          <a:xfrm>
            <a:off x="694944" y="4470502"/>
            <a:ext cx="5870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```tasks</a:t>
            </a:r>
            <a:endParaRPr lang="en-US" sz="900" dirty="0"/>
          </a:p>
        </p:txBody>
      </p:sp>
      <p:sp>
        <p:nvSpPr>
          <p:cNvPr id="118" name="Text 105"/>
          <p:cNvSpPr txBox="1"/>
          <p:nvPr/>
        </p:nvSpPr>
        <p:spPr>
          <a:xfrm>
            <a:off x="694944" y="4665269"/>
            <a:ext cx="5870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not done</a:t>
            </a:r>
            <a:endParaRPr lang="en-US" sz="900" dirty="0"/>
          </a:p>
        </p:txBody>
      </p:sp>
      <p:sp>
        <p:nvSpPr>
          <p:cNvPr id="119" name="Text 106"/>
          <p:cNvSpPr txBox="1"/>
          <p:nvPr/>
        </p:nvSpPr>
        <p:spPr>
          <a:xfrm>
            <a:off x="694944" y="4860950"/>
            <a:ext cx="76809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no due date</a:t>
            </a:r>
            <a:endParaRPr lang="en-US" sz="900" dirty="0"/>
          </a:p>
        </p:txBody>
      </p:sp>
      <p:sp>
        <p:nvSpPr>
          <p:cNvPr id="120" name="Text 107"/>
          <p:cNvSpPr txBox="1"/>
          <p:nvPr/>
        </p:nvSpPr>
        <p:spPr>
          <a:xfrm>
            <a:off x="694944" y="5055718"/>
            <a:ext cx="28255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```</a:t>
            </a:r>
            <a:endParaRPr lang="en-US" sz="900" dirty="0"/>
          </a:p>
        </p:txBody>
      </p:sp>
      <p:sp>
        <p:nvSpPr>
          <p:cNvPr id="121" name="Text 108"/>
          <p:cNvSpPr txBox="1"/>
          <p:nvPr/>
        </p:nvSpPr>
        <p:spPr>
          <a:xfrm>
            <a:off x="780898" y="5754319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미완료 작업 목록</a:t>
            </a:r>
            <a:endParaRPr lang="en-US" sz="900" dirty="0"/>
          </a:p>
        </p:txBody>
      </p:sp>
      <p:sp>
        <p:nvSpPr>
          <p:cNvPr id="122" name="Text 109"/>
          <p:cNvSpPr txBox="1"/>
          <p:nvPr/>
        </p:nvSpPr>
        <p:spPr>
          <a:xfrm>
            <a:off x="780898" y="5925312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(기한 없는 항목만)</a:t>
            </a:r>
            <a:endParaRPr lang="en-US" sz="900" dirty="0"/>
          </a:p>
        </p:txBody>
      </p:sp>
      <p:sp>
        <p:nvSpPr>
          <p:cNvPr id="123" name="Text 110"/>
          <p:cNvSpPr txBox="1"/>
          <p:nvPr/>
        </p:nvSpPr>
        <p:spPr>
          <a:xfrm>
            <a:off x="2935224" y="4568342"/>
            <a:ext cx="64465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due today</a:t>
            </a:r>
            <a:endParaRPr lang="en-US" sz="900" dirty="0"/>
          </a:p>
        </p:txBody>
      </p:sp>
      <p:sp>
        <p:nvSpPr>
          <p:cNvPr id="124" name="Text 111"/>
          <p:cNvSpPr txBox="1"/>
          <p:nvPr/>
        </p:nvSpPr>
        <p:spPr>
          <a:xfrm>
            <a:off x="2935224" y="4763110"/>
            <a:ext cx="131125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due before next week</a:t>
            </a:r>
            <a:endParaRPr lang="en-US" sz="900" dirty="0"/>
          </a:p>
        </p:txBody>
      </p:sp>
      <p:sp>
        <p:nvSpPr>
          <p:cNvPr id="125" name="Text 112"/>
          <p:cNvSpPr txBox="1"/>
          <p:nvPr/>
        </p:nvSpPr>
        <p:spPr>
          <a:xfrm>
            <a:off x="2935224" y="4957877"/>
            <a:ext cx="131125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due after 2026-01-01</a:t>
            </a:r>
            <a:endParaRPr lang="en-US" sz="900" dirty="0"/>
          </a:p>
        </p:txBody>
      </p:sp>
      <p:sp>
        <p:nvSpPr>
          <p:cNvPr id="126" name="Text 113"/>
          <p:cNvSpPr txBox="1"/>
          <p:nvPr/>
        </p:nvSpPr>
        <p:spPr>
          <a:xfrm>
            <a:off x="3021178" y="5754319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마감</a:t>
            </a:r>
            <a:endParaRPr lang="en-US" sz="900" dirty="0"/>
          </a:p>
        </p:txBody>
      </p:sp>
      <p:sp>
        <p:nvSpPr>
          <p:cNvPr id="127" name="Text 114"/>
          <p:cNvSpPr txBox="1"/>
          <p:nvPr/>
        </p:nvSpPr>
        <p:spPr>
          <a:xfrm>
            <a:off x="3021178" y="5925312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다음주 전 마감</a:t>
            </a:r>
            <a:endParaRPr lang="en-US" sz="900" dirty="0"/>
          </a:p>
        </p:txBody>
      </p:sp>
      <p:sp>
        <p:nvSpPr>
          <p:cNvPr id="128" name="Text 115"/>
          <p:cNvSpPr txBox="1"/>
          <p:nvPr/>
        </p:nvSpPr>
        <p:spPr>
          <a:xfrm>
            <a:off x="5175504" y="4568342"/>
            <a:ext cx="161574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path includes "Project A"</a:t>
            </a:r>
            <a:endParaRPr lang="en-US" sz="900" dirty="0"/>
          </a:p>
        </p:txBody>
      </p:sp>
      <p:sp>
        <p:nvSpPr>
          <p:cNvPr id="129" name="Text 116"/>
          <p:cNvSpPr txBox="1"/>
          <p:nvPr/>
        </p:nvSpPr>
        <p:spPr>
          <a:xfrm>
            <a:off x="5175504" y="4763110"/>
            <a:ext cx="137800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path does not include "Archive"</a:t>
            </a:r>
            <a:endParaRPr lang="en-US" sz="900" dirty="0"/>
          </a:p>
        </p:txBody>
      </p:sp>
      <p:sp>
        <p:nvSpPr>
          <p:cNvPr id="130" name="Text 117"/>
          <p:cNvSpPr txBox="1"/>
          <p:nvPr/>
        </p:nvSpPr>
        <p:spPr>
          <a:xfrm>
            <a:off x="5261458" y="5754319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A 폴더 내</a:t>
            </a:r>
            <a:endParaRPr lang="en-US" sz="900" dirty="0"/>
          </a:p>
        </p:txBody>
      </p:sp>
      <p:sp>
        <p:nvSpPr>
          <p:cNvPr id="131" name="Text 118"/>
          <p:cNvSpPr txBox="1"/>
          <p:nvPr/>
        </p:nvSpPr>
        <p:spPr>
          <a:xfrm>
            <a:off x="5261458" y="5925312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작업만 표시</a:t>
            </a:r>
            <a:endParaRPr lang="en-US" sz="900" dirty="0"/>
          </a:p>
        </p:txBody>
      </p:sp>
      <p:sp>
        <p:nvSpPr>
          <p:cNvPr id="132" name="Text 119"/>
          <p:cNvSpPr txBox="1"/>
          <p:nvPr/>
        </p:nvSpPr>
        <p:spPr>
          <a:xfrm>
            <a:off x="7415784" y="4665269"/>
            <a:ext cx="131125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tag includes #urgent</a:t>
            </a:r>
            <a:endParaRPr lang="en-US" sz="900" dirty="0"/>
          </a:p>
        </p:txBody>
      </p:sp>
      <p:sp>
        <p:nvSpPr>
          <p:cNvPr id="133" name="Text 120"/>
          <p:cNvSpPr txBox="1"/>
          <p:nvPr/>
        </p:nvSpPr>
        <p:spPr>
          <a:xfrm>
            <a:off x="7415784" y="4860950"/>
            <a:ext cx="155905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description includes [!]</a:t>
            </a:r>
            <a:endParaRPr lang="en-US" sz="900" dirty="0"/>
          </a:p>
        </p:txBody>
      </p:sp>
      <p:sp>
        <p:nvSpPr>
          <p:cNvPr id="134" name="Text 121"/>
          <p:cNvSpPr txBox="1"/>
          <p:nvPr/>
        </p:nvSpPr>
        <p:spPr>
          <a:xfrm>
            <a:off x="7501738" y="5754319"/>
            <a:ext cx="1095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#urgent 태그가 있는</a:t>
            </a:r>
            <a:endParaRPr lang="en-US" sz="900" dirty="0"/>
          </a:p>
        </p:txBody>
      </p:sp>
      <p:sp>
        <p:nvSpPr>
          <p:cNvPr id="135" name="Text 122"/>
          <p:cNvSpPr txBox="1"/>
          <p:nvPr/>
        </p:nvSpPr>
        <p:spPr>
          <a:xfrm>
            <a:off x="7501738" y="5925312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 작업만 표시</a:t>
            </a:r>
            <a:endParaRPr lang="en-US" sz="900" dirty="0"/>
          </a:p>
        </p:txBody>
      </p:sp>
      <p:sp>
        <p:nvSpPr>
          <p:cNvPr id="136" name="Text 123"/>
          <p:cNvSpPr txBox="1"/>
          <p:nvPr/>
        </p:nvSpPr>
        <p:spPr>
          <a:xfrm>
            <a:off x="9656064" y="4568342"/>
            <a:ext cx="113019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group by function</a:t>
            </a:r>
            <a:endParaRPr lang="en-US" sz="900" dirty="0"/>
          </a:p>
        </p:txBody>
      </p:sp>
      <p:sp>
        <p:nvSpPr>
          <p:cNvPr id="137" name="Text 124"/>
          <p:cNvSpPr txBox="1"/>
          <p:nvPr/>
        </p:nvSpPr>
        <p:spPr>
          <a:xfrm>
            <a:off x="9656064" y="4763110"/>
            <a:ext cx="107259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sort by priority</a:t>
            </a:r>
            <a:endParaRPr lang="en-US" sz="900" dirty="0"/>
          </a:p>
        </p:txBody>
      </p:sp>
      <p:sp>
        <p:nvSpPr>
          <p:cNvPr id="138" name="Text 125"/>
          <p:cNvSpPr txBox="1"/>
          <p:nvPr/>
        </p:nvSpPr>
        <p:spPr>
          <a:xfrm>
            <a:off x="9656064" y="4957877"/>
            <a:ext cx="76809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sort by due</a:t>
            </a:r>
            <a:endParaRPr lang="en-US" sz="900" dirty="0"/>
          </a:p>
        </p:txBody>
      </p:sp>
      <p:sp>
        <p:nvSpPr>
          <p:cNvPr id="139" name="Text 126"/>
          <p:cNvSpPr txBox="1"/>
          <p:nvPr/>
        </p:nvSpPr>
        <p:spPr>
          <a:xfrm>
            <a:off x="9742018" y="5754319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 높은 순,</a:t>
            </a:r>
            <a:endParaRPr lang="en-US" sz="900" dirty="0"/>
          </a:p>
        </p:txBody>
      </p:sp>
      <p:sp>
        <p:nvSpPr>
          <p:cNvPr id="140" name="Text 127"/>
          <p:cNvSpPr txBox="1"/>
          <p:nvPr/>
        </p:nvSpPr>
        <p:spPr>
          <a:xfrm>
            <a:off x="9742018" y="5925312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기한 임박한 순 정렬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18895"/>
            <a:ext cx="5410505" cy="2514600"/>
          </a:xfrm>
          <a:prstGeom prst="roundRect">
            <a:avLst>
              <a:gd name="adj" fmla="val 16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0644" y="1228954"/>
            <a:ext cx="5391302" cy="428854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80644" y="1648663"/>
            <a:ext cx="5391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3349" y="1362456"/>
            <a:ext cx="152705" cy="152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1949" y="1324051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YAML 메타데이터 설정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987138" y="1324051"/>
            <a:ext cx="780898" cy="228600"/>
          </a:xfrm>
          <a:prstGeom prst="roundRect">
            <a:avLst>
              <a:gd name="adj" fmla="val 66667"/>
            </a:avLst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80644" y="1657807"/>
            <a:ext cx="5391302" cy="144749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12" name="Shape 8"/>
          <p:cNvSpPr/>
          <p:nvPr/>
        </p:nvSpPr>
        <p:spPr>
          <a:xfrm>
            <a:off x="580644" y="3096158"/>
            <a:ext cx="5391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580644" y="3105302"/>
            <a:ext cx="5391302" cy="619049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Shape 10"/>
          <p:cNvSpPr/>
          <p:nvPr/>
        </p:nvSpPr>
        <p:spPr>
          <a:xfrm>
            <a:off x="580644" y="3105302"/>
            <a:ext cx="5391302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Shape 11"/>
          <p:cNvSpPr/>
          <p:nvPr/>
        </p:nvSpPr>
        <p:spPr>
          <a:xfrm>
            <a:off x="6210605" y="1218895"/>
            <a:ext cx="5410505" cy="2514600"/>
          </a:xfrm>
          <a:prstGeom prst="roundRect">
            <a:avLst>
              <a:gd name="adj" fmla="val 16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9749" y="1228954"/>
            <a:ext cx="5391302" cy="428854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6219749" y="1648663"/>
            <a:ext cx="5391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6372454" y="1362456"/>
            <a:ext cx="133502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81851" y="1324051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Pandoc 인용 문법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0891418" y="1324051"/>
            <a:ext cx="514807" cy="228600"/>
          </a:xfrm>
          <a:prstGeom prst="roundRect">
            <a:avLst>
              <a:gd name="adj" fmla="val 66667"/>
            </a:avLst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19749" y="1657807"/>
            <a:ext cx="5391302" cy="163860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22" name="Shape 17"/>
          <p:cNvSpPr/>
          <p:nvPr/>
        </p:nvSpPr>
        <p:spPr>
          <a:xfrm>
            <a:off x="6219749" y="3287268"/>
            <a:ext cx="5391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8390534" y="2076602"/>
            <a:ext cx="276149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Shape 19"/>
          <p:cNvSpPr/>
          <p:nvPr/>
        </p:nvSpPr>
        <p:spPr>
          <a:xfrm>
            <a:off x="8390534" y="2361895"/>
            <a:ext cx="276149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Shape 20"/>
          <p:cNvSpPr/>
          <p:nvPr/>
        </p:nvSpPr>
        <p:spPr>
          <a:xfrm>
            <a:off x="8390534" y="2641702"/>
            <a:ext cx="276149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Shape 21"/>
          <p:cNvSpPr/>
          <p:nvPr/>
        </p:nvSpPr>
        <p:spPr>
          <a:xfrm>
            <a:off x="6219749" y="3295498"/>
            <a:ext cx="5391302" cy="4288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Shape 22"/>
          <p:cNvSpPr/>
          <p:nvPr/>
        </p:nvSpPr>
        <p:spPr>
          <a:xfrm>
            <a:off x="6219749" y="3295498"/>
            <a:ext cx="5391302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Shape 23"/>
          <p:cNvSpPr/>
          <p:nvPr/>
        </p:nvSpPr>
        <p:spPr>
          <a:xfrm>
            <a:off x="571500" y="3962095"/>
            <a:ext cx="5410505" cy="2514600"/>
          </a:xfrm>
          <a:prstGeom prst="roundRect">
            <a:avLst>
              <a:gd name="adj" fmla="val 16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80644" y="3972154"/>
            <a:ext cx="5391302" cy="428854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580644" y="4391863"/>
            <a:ext cx="5391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733349" y="4105656"/>
            <a:ext cx="133502" cy="15270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42746" y="4067251"/>
            <a:ext cx="2029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내보내기 (Obsidian Plugin)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858207" y="4067251"/>
            <a:ext cx="905256" cy="228600"/>
          </a:xfrm>
          <a:prstGeom prst="roundRect">
            <a:avLst>
              <a:gd name="adj" fmla="val 66667"/>
            </a:avLst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80644" y="4401007"/>
            <a:ext cx="5391302" cy="163860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35" name="Shape 29"/>
          <p:cNvSpPr/>
          <p:nvPr/>
        </p:nvSpPr>
        <p:spPr>
          <a:xfrm>
            <a:off x="580644" y="6030468"/>
            <a:ext cx="5391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733349" y="4646981"/>
            <a:ext cx="838505" cy="286207"/>
          </a:xfrm>
          <a:prstGeom prst="roundRect">
            <a:avLst>
              <a:gd name="adj" fmla="val 42599"/>
            </a:avLst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867205" y="4646981"/>
            <a:ext cx="237744" cy="286207"/>
          </a:xfrm>
          <a:prstGeom prst="roundRect">
            <a:avLst>
              <a:gd name="adj" fmla="val 61538"/>
            </a:avLst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33349" y="5405018"/>
            <a:ext cx="5086807" cy="381305"/>
          </a:xfrm>
          <a:prstGeom prst="roundRect">
            <a:avLst>
              <a:gd name="adj" fmla="val 23981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80644" y="6038698"/>
            <a:ext cx="5391302" cy="4288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0" name="Shape 34"/>
          <p:cNvSpPr/>
          <p:nvPr/>
        </p:nvSpPr>
        <p:spPr>
          <a:xfrm>
            <a:off x="580644" y="6038698"/>
            <a:ext cx="5391302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1" name="Shape 35"/>
          <p:cNvSpPr/>
          <p:nvPr/>
        </p:nvSpPr>
        <p:spPr>
          <a:xfrm>
            <a:off x="6210605" y="3962095"/>
            <a:ext cx="5410505" cy="2514600"/>
          </a:xfrm>
          <a:prstGeom prst="roundRect">
            <a:avLst>
              <a:gd name="adj" fmla="val 16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6219749" y="3972154"/>
            <a:ext cx="5391302" cy="428854"/>
          </a:xfrm>
          <a:prstGeom prst="rect">
            <a:avLst/>
          </a:prstGeom>
          <a:solidFill>
            <a:srgbClr val="A882FF">
              <a:alpha val="10000"/>
            </a:srgbClr>
          </a:solidFill>
          <a:ln/>
        </p:spPr>
      </p:sp>
      <p:sp>
        <p:nvSpPr>
          <p:cNvPr id="43" name="Shape 37"/>
          <p:cNvSpPr/>
          <p:nvPr/>
        </p:nvSpPr>
        <p:spPr>
          <a:xfrm>
            <a:off x="6219749" y="4391863"/>
            <a:ext cx="5391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372454" y="4105656"/>
            <a:ext cx="171907" cy="152705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6620256" y="4067251"/>
            <a:ext cx="1886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8B4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터미널 명령어 (Advanced)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11099902" y="4067251"/>
            <a:ext cx="304495" cy="228600"/>
          </a:xfrm>
          <a:prstGeom prst="roundRect">
            <a:avLst>
              <a:gd name="adj" fmla="val 66667"/>
            </a:avLst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219749" y="4401007"/>
            <a:ext cx="5391302" cy="118140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48" name="Shape 41"/>
          <p:cNvSpPr/>
          <p:nvPr/>
        </p:nvSpPr>
        <p:spPr>
          <a:xfrm>
            <a:off x="6219749" y="5573268"/>
            <a:ext cx="5391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9" name="Shape 42"/>
          <p:cNvSpPr/>
          <p:nvPr/>
        </p:nvSpPr>
        <p:spPr>
          <a:xfrm>
            <a:off x="6219749" y="5581498"/>
            <a:ext cx="5391302" cy="886054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0" name="Shape 43"/>
          <p:cNvSpPr/>
          <p:nvPr/>
        </p:nvSpPr>
        <p:spPr>
          <a:xfrm>
            <a:off x="6219749" y="5581498"/>
            <a:ext cx="5391302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819302" y="381305"/>
            <a:ext cx="2472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ACADEMIC WRITING CHEAT SHEET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819302" y="552298"/>
            <a:ext cx="5791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아카데믹 글쓰기 Pandoc &amp; Citation</a:t>
            </a:r>
            <a:endParaRPr lang="en-US" sz="2700" dirty="0"/>
          </a:p>
        </p:txBody>
      </p:sp>
      <p:sp>
        <p:nvSpPr>
          <p:cNvPr id="53" name="Text 46"/>
          <p:cNvSpPr txBox="1"/>
          <p:nvPr/>
        </p:nvSpPr>
        <p:spPr>
          <a:xfrm>
            <a:off x="5053889" y="1352398"/>
            <a:ext cx="734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Frontmatter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733349" y="1837944"/>
            <a:ext cx="3127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---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733349" y="2044598"/>
            <a:ext cx="19604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bibliography: MyLibrary.bib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733349" y="2250338"/>
            <a:ext cx="113202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csl: nature.csl</a:t>
            </a:r>
            <a:endParaRPr lang="en-US" sz="1000" dirty="0"/>
          </a:p>
        </p:txBody>
      </p:sp>
      <p:sp>
        <p:nvSpPr>
          <p:cNvPr id="57" name="Text 50"/>
          <p:cNvSpPr txBox="1"/>
          <p:nvPr/>
        </p:nvSpPr>
        <p:spPr>
          <a:xfrm>
            <a:off x="733349" y="2456078"/>
            <a:ext cx="147492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link-citations: true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733349" y="2661818"/>
            <a:ext cx="3127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---</a:t>
            </a:r>
            <a:endParaRPr lang="en-US" sz="1000" dirty="0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3349" y="3264408"/>
            <a:ext cx="133502" cy="133502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733349" y="3228746"/>
            <a:ext cx="51197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최상단에 작성. BibTeX 파일과 인용 스타일(CSL) 파일 경로를 지정해야 Pandoc이 인식합니다.</a:t>
            </a:r>
            <a:endParaRPr lang="en-US" sz="1000" dirty="0"/>
          </a:p>
        </p:txBody>
      </p:sp>
      <p:sp>
        <p:nvSpPr>
          <p:cNvPr id="61" name="Text 53"/>
          <p:cNvSpPr txBox="1"/>
          <p:nvPr/>
        </p:nvSpPr>
        <p:spPr>
          <a:xfrm>
            <a:off x="10958170" y="1352398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Editing</a:t>
            </a:r>
            <a:endParaRPr lang="en-US" sz="900" dirty="0"/>
          </a:p>
        </p:txBody>
      </p:sp>
      <p:sp>
        <p:nvSpPr>
          <p:cNvPr id="62" name="Text 54"/>
          <p:cNvSpPr txBox="1"/>
          <p:nvPr/>
        </p:nvSpPr>
        <p:spPr>
          <a:xfrm>
            <a:off x="6372454" y="1879092"/>
            <a:ext cx="8787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[@smith2024]</a:t>
            </a:r>
            <a:endParaRPr lang="en-US" sz="1000" dirty="0"/>
          </a:p>
        </p:txBody>
      </p:sp>
      <p:pic>
        <p:nvPicPr>
          <p:cNvPr id="63" name="Image 6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8390534" y="1863547"/>
            <a:ext cx="114300" cy="133502"/>
          </a:xfrm>
          <a:prstGeom prst="rect">
            <a:avLst/>
          </a:prstGeom>
        </p:spPr>
      </p:pic>
      <p:sp>
        <p:nvSpPr>
          <p:cNvPr id="64" name="Text 55"/>
          <p:cNvSpPr txBox="1"/>
          <p:nvPr/>
        </p:nvSpPr>
        <p:spPr>
          <a:xfrm>
            <a:off x="8663940" y="1879092"/>
            <a:ext cx="9454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(Smith, 2024)</a:t>
            </a:r>
            <a:endParaRPr lang="en-US" sz="1000" dirty="0"/>
          </a:p>
        </p:txBody>
      </p:sp>
      <p:sp>
        <p:nvSpPr>
          <p:cNvPr id="65" name="Text 56"/>
          <p:cNvSpPr txBox="1"/>
          <p:nvPr/>
        </p:nvSpPr>
        <p:spPr>
          <a:xfrm>
            <a:off x="6372454" y="2156155"/>
            <a:ext cx="81198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[-@lee2023]</a:t>
            </a:r>
            <a:endParaRPr lang="en-US" sz="1000" dirty="0"/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8390534" y="2144268"/>
            <a:ext cx="114300" cy="133502"/>
          </a:xfrm>
          <a:prstGeom prst="rect">
            <a:avLst/>
          </a:prstGeom>
        </p:spPr>
      </p:pic>
      <p:sp>
        <p:nvSpPr>
          <p:cNvPr id="67" name="Text 57"/>
          <p:cNvSpPr txBox="1"/>
          <p:nvPr/>
        </p:nvSpPr>
        <p:spPr>
          <a:xfrm>
            <a:off x="8663940" y="2156155"/>
            <a:ext cx="4882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(2023)</a:t>
            </a:r>
            <a:endParaRPr lang="en-US" sz="1000" dirty="0"/>
          </a:p>
        </p:txBody>
      </p:sp>
      <p:sp>
        <p:nvSpPr>
          <p:cNvPr id="68" name="Text 58"/>
          <p:cNvSpPr txBox="1"/>
          <p:nvPr/>
        </p:nvSpPr>
        <p:spPr>
          <a:xfrm>
            <a:off x="6372454" y="2435962"/>
            <a:ext cx="9454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@kim2022 says</a:t>
            </a:r>
            <a:endParaRPr lang="en-US" sz="1000" dirty="0"/>
          </a:p>
        </p:txBody>
      </p:sp>
      <p:pic>
        <p:nvPicPr>
          <p:cNvPr id="69" name="Image 8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8390534" y="2424074"/>
            <a:ext cx="114300" cy="133502"/>
          </a:xfrm>
          <a:prstGeom prst="rect">
            <a:avLst/>
          </a:prstGeom>
        </p:spPr>
      </p:pic>
      <p:sp>
        <p:nvSpPr>
          <p:cNvPr id="70" name="Text 59"/>
          <p:cNvSpPr txBox="1"/>
          <p:nvPr/>
        </p:nvSpPr>
        <p:spPr>
          <a:xfrm>
            <a:off x="8663940" y="2435962"/>
            <a:ext cx="106893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Kim (2022) says</a:t>
            </a:r>
            <a:endParaRPr lang="en-US" sz="1000" dirty="0"/>
          </a:p>
        </p:txBody>
      </p:sp>
      <p:sp>
        <p:nvSpPr>
          <p:cNvPr id="71" name="Text 60"/>
          <p:cNvSpPr txBox="1"/>
          <p:nvPr/>
        </p:nvSpPr>
        <p:spPr>
          <a:xfrm>
            <a:off x="6372454" y="2713939"/>
            <a:ext cx="8787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[@a21; @b22]</a:t>
            </a:r>
            <a:endParaRPr lang="en-US" sz="1000" dirty="0"/>
          </a:p>
        </p:txBody>
      </p:sp>
      <p:pic>
        <p:nvPicPr>
          <p:cNvPr id="72" name="Image 9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8390534" y="2703881"/>
            <a:ext cx="114300" cy="133502"/>
          </a:xfrm>
          <a:prstGeom prst="rect">
            <a:avLst/>
          </a:prstGeom>
        </p:spPr>
      </p:pic>
      <p:sp>
        <p:nvSpPr>
          <p:cNvPr id="73" name="Text 61"/>
          <p:cNvSpPr txBox="1"/>
          <p:nvPr/>
        </p:nvSpPr>
        <p:spPr>
          <a:xfrm>
            <a:off x="8663940" y="2713939"/>
            <a:ext cx="126918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(A, 2021; B, 2022)</a:t>
            </a:r>
            <a:endParaRPr lang="en-US" sz="1000" dirty="0"/>
          </a:p>
        </p:txBody>
      </p:sp>
      <p:sp>
        <p:nvSpPr>
          <p:cNvPr id="74" name="Text 62"/>
          <p:cNvSpPr txBox="1"/>
          <p:nvPr/>
        </p:nvSpPr>
        <p:spPr>
          <a:xfrm>
            <a:off x="6372454" y="3419856"/>
            <a:ext cx="4157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Better BibTeX에서 설정한 Citekey를 대괄호 안에 @와 함께 입력합니다.</a:t>
            </a:r>
            <a:endParaRPr lang="en-US" sz="1000" dirty="0"/>
          </a:p>
        </p:txBody>
      </p:sp>
      <p:sp>
        <p:nvSpPr>
          <p:cNvPr id="75" name="Text 63"/>
          <p:cNvSpPr txBox="1"/>
          <p:nvPr/>
        </p:nvSpPr>
        <p:spPr>
          <a:xfrm>
            <a:off x="4924958" y="4095598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Pandoc Plugin</a:t>
            </a:r>
            <a:endParaRPr lang="en-US" sz="900" dirty="0"/>
          </a:p>
        </p:txBody>
      </p:sp>
      <p:sp>
        <p:nvSpPr>
          <p:cNvPr id="76" name="Text 64"/>
          <p:cNvSpPr txBox="1"/>
          <p:nvPr/>
        </p:nvSpPr>
        <p:spPr>
          <a:xfrm>
            <a:off x="819302" y="4723790"/>
            <a:ext cx="76718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Cmd / Ctrl</a:t>
            </a:r>
            <a:endParaRPr lang="en-US" sz="1000" dirty="0"/>
          </a:p>
        </p:txBody>
      </p:sp>
      <p:sp>
        <p:nvSpPr>
          <p:cNvPr id="77" name="Text 65"/>
          <p:cNvSpPr txBox="1"/>
          <p:nvPr/>
        </p:nvSpPr>
        <p:spPr>
          <a:xfrm>
            <a:off x="1686154" y="4723790"/>
            <a:ext cx="16733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+</a:t>
            </a:r>
            <a:endParaRPr lang="en-US" sz="1000" dirty="0"/>
          </a:p>
        </p:txBody>
      </p:sp>
      <p:sp>
        <p:nvSpPr>
          <p:cNvPr id="78" name="Text 66"/>
          <p:cNvSpPr txBox="1"/>
          <p:nvPr/>
        </p:nvSpPr>
        <p:spPr>
          <a:xfrm>
            <a:off x="1952244" y="4723790"/>
            <a:ext cx="16733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</a:t>
            </a:r>
            <a:endParaRPr lang="en-US" sz="1000" dirty="0"/>
          </a:p>
        </p:txBody>
      </p:sp>
      <p:pic>
        <p:nvPicPr>
          <p:cNvPr id="79" name="Image 10" descr="preencoded.png"/>
          <p:cNvPicPr>
            <a:picLocks noChangeAspect="1"/>
          </p:cNvPicPr>
          <p:nvPr/>
        </p:nvPicPr>
        <p:blipFill>
          <a:blip r:embed="rId10"/>
          <a:srcRect l="-837" r="-837"/>
          <a:stretch/>
        </p:blipFill>
        <p:spPr>
          <a:xfrm>
            <a:off x="733349" y="5111496"/>
            <a:ext cx="152705" cy="133502"/>
          </a:xfrm>
          <a:prstGeom prst="rect">
            <a:avLst/>
          </a:prstGeom>
        </p:spPr>
      </p:pic>
      <p:sp>
        <p:nvSpPr>
          <p:cNvPr id="80" name="Text 67"/>
          <p:cNvSpPr txBox="1"/>
          <p:nvPr/>
        </p:nvSpPr>
        <p:spPr>
          <a:xfrm>
            <a:off x="961949" y="5114239"/>
            <a:ext cx="44622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Type:</a:t>
            </a:r>
            <a:endParaRPr lang="en-US" sz="1000" dirty="0"/>
          </a:p>
        </p:txBody>
      </p:sp>
      <p:sp>
        <p:nvSpPr>
          <p:cNvPr id="81" name="Text 68"/>
          <p:cNvSpPr txBox="1"/>
          <p:nvPr/>
        </p:nvSpPr>
        <p:spPr>
          <a:xfrm>
            <a:off x="1304849" y="5114239"/>
            <a:ext cx="6556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"Pandoc"</a:t>
            </a:r>
            <a:endParaRPr lang="en-US" sz="1000" dirty="0"/>
          </a:p>
        </p:txBody>
      </p:sp>
      <p:sp>
        <p:nvSpPr>
          <p:cNvPr id="82" name="Text 69"/>
          <p:cNvSpPr txBox="1"/>
          <p:nvPr/>
        </p:nvSpPr>
        <p:spPr>
          <a:xfrm>
            <a:off x="819302" y="5519318"/>
            <a:ext cx="318942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Pandoc Plugin: Export as Word Document (docx)</a:t>
            </a:r>
            <a:endParaRPr lang="en-US" sz="1000" dirty="0"/>
          </a:p>
        </p:txBody>
      </p:sp>
      <p:pic>
        <p:nvPicPr>
          <p:cNvPr id="83" name="Image 11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733349" y="6198718"/>
            <a:ext cx="114300" cy="133502"/>
          </a:xfrm>
          <a:prstGeom prst="rect">
            <a:avLst/>
          </a:prstGeom>
        </p:spPr>
      </p:pic>
      <p:sp>
        <p:nvSpPr>
          <p:cNvPr id="84" name="Text 70"/>
          <p:cNvSpPr txBox="1"/>
          <p:nvPr/>
        </p:nvSpPr>
        <p:spPr>
          <a:xfrm>
            <a:off x="923544" y="6163056"/>
            <a:ext cx="3605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간편한 방법. Pandoc 플러그인이 설치되어 있어야 합니다.</a:t>
            </a:r>
            <a:endParaRPr lang="en-US" sz="1000" dirty="0"/>
          </a:p>
        </p:txBody>
      </p:sp>
      <p:sp>
        <p:nvSpPr>
          <p:cNvPr id="85" name="Text 71"/>
          <p:cNvSpPr txBox="1"/>
          <p:nvPr/>
        </p:nvSpPr>
        <p:spPr>
          <a:xfrm>
            <a:off x="11165738" y="4095598"/>
            <a:ext cx="257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</a:t>
            </a:r>
            <a:endParaRPr lang="en-US" sz="900" dirty="0"/>
          </a:p>
        </p:txBody>
      </p:sp>
      <p:sp>
        <p:nvSpPr>
          <p:cNvPr id="86" name="Text 72"/>
          <p:cNvSpPr txBox="1"/>
          <p:nvPr/>
        </p:nvSpPr>
        <p:spPr>
          <a:xfrm>
            <a:off x="6372454" y="4581144"/>
            <a:ext cx="516818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1A1A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pandoc input.md -o output.docx --citeproc --bibliography library.bib --csl nature.csl</a:t>
            </a:r>
            <a:endParaRPr lang="en-US" sz="1000" dirty="0"/>
          </a:p>
        </p:txBody>
      </p:sp>
      <p:sp>
        <p:nvSpPr>
          <p:cNvPr id="87" name="Text 73"/>
          <p:cNvSpPr txBox="1"/>
          <p:nvPr/>
        </p:nvSpPr>
        <p:spPr>
          <a:xfrm>
            <a:off x="6372454" y="5705856"/>
            <a:ext cx="2091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--citeproc: 인용 처리 활성화 (필수)</a:t>
            </a:r>
            <a:endParaRPr lang="en-US" sz="1000" dirty="0"/>
          </a:p>
        </p:txBody>
      </p:sp>
      <p:sp>
        <p:nvSpPr>
          <p:cNvPr id="88" name="Text 74"/>
          <p:cNvSpPr txBox="1"/>
          <p:nvPr/>
        </p:nvSpPr>
        <p:spPr>
          <a:xfrm>
            <a:off x="6372454" y="5934456"/>
            <a:ext cx="2395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--csl: 인용 스타일 지정 (Nature, APA 등)</a:t>
            </a:r>
            <a:endParaRPr lang="en-US" sz="1000" dirty="0"/>
          </a:p>
        </p:txBody>
      </p:sp>
      <p:sp>
        <p:nvSpPr>
          <p:cNvPr id="89" name="Text 75"/>
          <p:cNvSpPr txBox="1"/>
          <p:nvPr/>
        </p:nvSpPr>
        <p:spPr>
          <a:xfrm>
            <a:off x="6372454" y="6163056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-o: 출력 파일명 지정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609905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9302" y="381305"/>
            <a:ext cx="2891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ESSENTIAL PLUGINS FOR RESEARCHERS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19302" y="552298"/>
            <a:ext cx="48490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연구자용 필수 플러그인 Top 10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71500" y="1228954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3349" y="1390802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EF4444">
              <a:alpha val="10000"/>
            </a:srgb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833018" y="1476756"/>
            <a:ext cx="142646" cy="1719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71346" y="1455725"/>
            <a:ext cx="5376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ZotLit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33349" y="1819656"/>
            <a:ext cx="18288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Zotero와 옵시디언을 가장 빠르고 강력하게 연동합니다. 문헌 정보를 즉시 가져오고 노트와 동기화합니다.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811780" y="1228954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973629" y="1390802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87171">
              <a:alpha val="10000"/>
            </a:srgb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59582" y="1476756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11626" y="1455725"/>
            <a:ext cx="5660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PDF++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2973629" y="1819656"/>
            <a:ext cx="18288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PDF에 직접 하이라이트하고 주석을 답니다. 해당 주석으로 바로 이동하는 딥링크를 생성하여 문맥을 보존합니다.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052060" y="1228954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213909" y="1390802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t="-2725" b="-2725"/>
          <a:stretch/>
        </p:blipFill>
        <p:spPr>
          <a:xfrm>
            <a:off x="5313578" y="1476756"/>
            <a:ext cx="142646" cy="17190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651906" y="1455725"/>
            <a:ext cx="7754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Dataview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213909" y="1819656"/>
            <a:ext cx="183885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보관소를 데이터베이스처럼 활용합니다. 읽은 논문 목록, 진행 중인 프로젝트를 쿼리로 자동 집계하여 보여줍니다.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7292340" y="1228954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454189" y="1390802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4D399">
              <a:alpha val="10000"/>
            </a:srgbClr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40142" y="1476756"/>
            <a:ext cx="171907" cy="17190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892186" y="1455725"/>
            <a:ext cx="5093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Tasks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7454189" y="1819656"/>
            <a:ext cx="18004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 할 일 관리 도구입니다. 우선순위, 반복, 마감일 설정을 지원하며 프로젝트별 할 일을 모아서 관리합니다.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9532620" y="1228954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9694469" y="1390802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60A5FA">
              <a:alpha val="10000"/>
            </a:srgbClr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10132466" y="1455725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9694469" y="1819656"/>
            <a:ext cx="18288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노트를 칸반 보드, 캘린더, 표 형태로 시각화합니다. 연구 단계별 진행 상황을 한눈에 파악할 수 있습니다.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71500" y="3929177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33349" y="4091026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BBF24">
              <a:alpha val="10000"/>
            </a:srgbClr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t="-2725" b="-2725"/>
          <a:stretch/>
        </p:blipFill>
        <p:spPr>
          <a:xfrm>
            <a:off x="833018" y="4176979"/>
            <a:ext cx="142646" cy="17190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171346" y="4156862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QuickAdd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733349" y="4519879"/>
            <a:ext cx="18288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템플릿 입력을 자동화합니다. 문헌 노트, 아이디어, 실험 로그를 단축키 하나로 규격에 맞춰 생성합니다.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2811780" y="3929177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2973629" y="4091026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2DD4BF">
              <a:alpha val="10000"/>
            </a:srgbClr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059582" y="4176979"/>
            <a:ext cx="171907" cy="171907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411626" y="4156862"/>
            <a:ext cx="10140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Hover Editor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2973629" y="4519879"/>
            <a:ext cx="18288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 위에 마우스를 올리면 팝업 창에서 바로 내용을 확인하고 편집할 수 있습니다. 작업 흐름을 끊지 않습니다.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5052060" y="3929177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5213909" y="409285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472B6">
              <a:alpha val="10000"/>
            </a:srgbClr>
          </a:solidFill>
          <a:ln/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rcRect t="-1310" b="-1310"/>
          <a:stretch/>
        </p:blipFill>
        <p:spPr>
          <a:xfrm>
            <a:off x="5280660" y="4178808"/>
            <a:ext cx="209398" cy="171907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651906" y="4071823"/>
            <a:ext cx="110916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Supercharged Links</a:t>
            </a:r>
            <a:endParaRPr lang="en-US" sz="1100" dirty="0"/>
          </a:p>
        </p:txBody>
      </p:sp>
      <p:sp>
        <p:nvSpPr>
          <p:cNvPr id="45" name="Text 35"/>
          <p:cNvSpPr txBox="1"/>
          <p:nvPr/>
        </p:nvSpPr>
        <p:spPr>
          <a:xfrm>
            <a:off x="5213909" y="4524451"/>
            <a:ext cx="18480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속성에 따라 링크의 스타일을 변경합니다. 상태(읽음/안읽음), 유형(논문/책)을 색상이나 아이콘으로 표시합니다.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7292340" y="3929177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7454189" y="4091026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78BFA">
              <a:alpha val="10000"/>
            </a:srgbClr>
          </a:solidFill>
          <a:ln/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rcRect t="-1310" b="-1310"/>
          <a:stretch/>
        </p:blipFill>
        <p:spPr>
          <a:xfrm>
            <a:off x="7520940" y="4176979"/>
            <a:ext cx="209398" cy="171907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7892186" y="4156862"/>
            <a:ext cx="12902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Callout Manager</a:t>
            </a:r>
            <a:endParaRPr lang="en-US" sz="1100" dirty="0"/>
          </a:p>
        </p:txBody>
      </p:sp>
      <p:sp>
        <p:nvSpPr>
          <p:cNvPr id="50" name="Text 39"/>
          <p:cNvSpPr txBox="1"/>
          <p:nvPr/>
        </p:nvSpPr>
        <p:spPr>
          <a:xfrm>
            <a:off x="7454189" y="4519879"/>
            <a:ext cx="18288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 높은 콜아웃 박스를 쉽게 관리합니다. 연구 노트의 중요 내용, 인용구, 주의사항을 일관된 스타일로 강조합니다.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9532620" y="3929177"/>
            <a:ext cx="2095805" cy="2553005"/>
          </a:xfrm>
          <a:prstGeom prst="roundRect">
            <a:avLst>
              <a:gd name="adj" fmla="val 2380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9694469" y="409285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9CA3AF">
              <a:alpha val="10000"/>
            </a:srgbClr>
          </a:solidFill>
          <a:ln/>
        </p:spPr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2"/>
          <a:srcRect t="-842" b="-842"/>
          <a:stretch/>
        </p:blipFill>
        <p:spPr>
          <a:xfrm>
            <a:off x="9770364" y="4178808"/>
            <a:ext cx="190195" cy="171907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10132466" y="4071823"/>
            <a:ext cx="94731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Custom Attachment</a:t>
            </a:r>
            <a:endParaRPr lang="en-US" sz="1100" dirty="0"/>
          </a:p>
        </p:txBody>
      </p:sp>
      <p:sp>
        <p:nvSpPr>
          <p:cNvPr id="55" name="Text 43"/>
          <p:cNvSpPr txBox="1"/>
          <p:nvPr/>
        </p:nvSpPr>
        <p:spPr>
          <a:xfrm>
            <a:off x="9694469" y="4524451"/>
            <a:ext cx="18288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이미지나 PDF 첨부 파일을 지정된 하위 폴더로 자동 정리하고 이름을 변경합니다. 보관소를 깔끔하게 유지합니다.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57607" cy="114300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828800"/>
            <a:ext cx="3534156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9244" y="2066544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0626" y="2171700"/>
            <a:ext cx="237744" cy="1901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30598" y="1828800"/>
            <a:ext cx="3534156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68342" y="2066544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73498" y="2171700"/>
            <a:ext cx="190195" cy="19019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089697" y="1828800"/>
            <a:ext cx="3534156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328355" y="2066544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8442655" y="2171700"/>
            <a:ext cx="171907" cy="19019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71500" y="4267505"/>
            <a:ext cx="3534156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09244" y="4505249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4400" y="4610405"/>
            <a:ext cx="190195" cy="19019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330598" y="4267505"/>
            <a:ext cx="3534156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568342" y="4505249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C4899">
              <a:alpha val="20000"/>
            </a:srgbClr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73498" y="4610405"/>
            <a:ext cx="190195" cy="190195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089697" y="4267505"/>
            <a:ext cx="3534156" cy="2210105"/>
          </a:xfrm>
          <a:prstGeom prst="roundRect">
            <a:avLst>
              <a:gd name="adj" fmla="val 2853"/>
            </a:avLst>
          </a:prstGeom>
          <a:solidFill>
            <a:srgbClr val="1E1E23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8328355" y="4505249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F4444">
              <a:alpha val="20000"/>
            </a:srgbClr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8442655" y="4610405"/>
            <a:ext cx="171907" cy="19019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19302" y="381305"/>
            <a:ext cx="2367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RESEARCHER'S BEST PRACTICES</a:t>
            </a:r>
            <a:endParaRPr lang="en-US" sz="1000" dirty="0"/>
          </a:p>
        </p:txBody>
      </p:sp>
      <p:sp>
        <p:nvSpPr>
          <p:cNvPr id="24" name="Text 15"/>
          <p:cNvSpPr txBox="1"/>
          <p:nvPr/>
        </p:nvSpPr>
        <p:spPr>
          <a:xfrm>
            <a:off x="819302" y="562356"/>
            <a:ext cx="4096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연구자 실전 팁 모음</a:t>
            </a:r>
            <a:endParaRPr lang="en-US" sz="3600" dirty="0"/>
          </a:p>
        </p:txBody>
      </p:sp>
      <p:sp>
        <p:nvSpPr>
          <p:cNvPr id="25" name="Text 16"/>
          <p:cNvSpPr txBox="1"/>
          <p:nvPr/>
        </p:nvSpPr>
        <p:spPr>
          <a:xfrm>
            <a:off x="819302" y="1248156"/>
            <a:ext cx="47055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효율적이고 지속 가능한 연구 환경을 위한 6가지 핵심 전략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809244" y="2581351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 일관성 유지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809244" y="2915107"/>
            <a:ext cx="3110789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[문헌] → [아이디어] → [원고]로 이어지는 명확한 연결 흐름을 유지하세요. '씨앗 노트'에서 '원자 노트'를 거쳐 '초안'으로 발전시키는 파이프라인이 중요합니다.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4568342" y="2581351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통제된 태그 어휘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4568342" y="2915107"/>
            <a:ext cx="306232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태그와 속성 값을 사전에 정의된 용어로 제한하세요. (예: #status/doing, #type/paper) 무분별한 태그 생성은 검색 효율을 떨어뜨립니다.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8328355" y="2581351"/>
            <a:ext cx="22622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리뷰 (Weekly Review)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8328355" y="2915107"/>
            <a:ext cx="309158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Periodic Notes를 활용해 매주 금요일 연구 진행 상황을 점검하세요. 읽은 논문, 완료한 실험, 작성한 글을 회고하고 다음 주 계획을 수립합니다.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809244" y="5020056"/>
            <a:ext cx="1443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대시보드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809244" y="5352898"/>
            <a:ext cx="310073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Dataview 요약 테이블과 Tasks 쿼리를 포함한 대시보드 노트를 사이드바에 고정하세요. 현재 진행 중인 모든 연구의 현황을 한눈에 파악할 수 있습니다.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4568342" y="5020056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표준화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4568342" y="5352898"/>
            <a:ext cx="312907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문헌 노트, 실험 일지, 회의록, 원고 초안 등 반복되는 문서 양식을 템플릿으로 만드세요. 구조가 잡혀 있으면 기록의 진입 장벽이 낮아집니다.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8328355" y="502005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백업과 버전 관리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8328355" y="5352898"/>
            <a:ext cx="3148279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데이터는 소중합니다. Obsidian Git 플러그인으로 자동 커밋을 설정하여 모든 변경 사항을 기록하고, 클라우드 저장소에 이중 백업하세요.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t="-1" b="-1"/>
          <a:stretch/>
        </p:blipFill>
        <p:spPr>
          <a:xfrm>
            <a:off x="1061720" y="-35560"/>
            <a:ext cx="12191695" cy="6858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1356C83-91DF-4708-9B1E-73FA7DA93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87" y="1400175"/>
            <a:ext cx="10182225" cy="405765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082D265-6B62-4DEB-AC92-747A49373562}"/>
              </a:ext>
            </a:extLst>
          </p:cNvPr>
          <p:cNvSpPr txBox="1"/>
          <p:nvPr/>
        </p:nvSpPr>
        <p:spPr>
          <a:xfrm>
            <a:off x="1524000" y="5709314"/>
            <a:ext cx="7762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Sync your Obsidian Vault on iOS with GitHub, Working Copy, and Apple Shortcuts | Megan Sullivan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hlinkClick r:id="rId6"/>
              </a:rPr>
              <a:t>Obsidian </a:t>
            </a:r>
            <a:r>
              <a:rPr lang="en-US" dirty="0" err="1">
                <a:hlinkClick r:id="rId6"/>
              </a:rPr>
              <a:t>github</a:t>
            </a:r>
            <a:r>
              <a:rPr lang="en-US" dirty="0">
                <a:hlinkClick r:id="rId6"/>
              </a:rPr>
              <a:t> </a:t>
            </a:r>
            <a:r>
              <a:rPr lang="ko-KR" altLang="en-US" dirty="0">
                <a:hlinkClick r:id="rId6"/>
              </a:rPr>
              <a:t>동기화 세팅하기</a:t>
            </a:r>
            <a:r>
              <a:rPr lang="en-US" altLang="ko-KR" dirty="0">
                <a:hlinkClick r:id="rId6"/>
              </a:rPr>
              <a:t>(</a:t>
            </a:r>
            <a:r>
              <a:rPr lang="en-US" dirty="0">
                <a:hlinkClick r:id="rId6"/>
              </a:rPr>
              <a:t>iOS </a:t>
            </a:r>
            <a:r>
              <a:rPr lang="ko-KR" altLang="en-US" dirty="0">
                <a:hlinkClick r:id="rId6"/>
              </a:rPr>
              <a:t>자동화</a:t>
            </a:r>
            <a:r>
              <a:rPr lang="en-US" altLang="ko-KR" dirty="0">
                <a:hlinkClick r:id="rId6"/>
              </a:rPr>
              <a:t>, </a:t>
            </a:r>
            <a:r>
              <a:rPr lang="ko-KR" altLang="en-US" dirty="0" err="1">
                <a:hlinkClick r:id="rId6"/>
              </a:rPr>
              <a:t>단축어</a:t>
            </a:r>
            <a:r>
              <a:rPr lang="ko-KR" altLang="en-US" dirty="0">
                <a:hlinkClick r:id="rId6"/>
              </a:rPr>
              <a:t> 활용</a:t>
            </a:r>
            <a:r>
              <a:rPr lang="en-US" altLang="ko-KR" dirty="0">
                <a:hlinkClick r:id="rId6"/>
              </a:rPr>
              <a:t>) | .</a:t>
            </a:r>
            <a:r>
              <a:rPr lang="en-US" dirty="0" err="1">
                <a:hlinkClick r:id="rId6"/>
              </a:rPr>
              <a:t>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92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4251</Words>
  <Application>Microsoft Office PowerPoint</Application>
  <PresentationFormat>Widescreen</PresentationFormat>
  <Paragraphs>894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Nanum Gothic Coding</vt:lpstr>
      <vt:lpstr>Noto Sans KR</vt:lpstr>
      <vt:lpstr>ui-monospace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Seung-Mo Lee</cp:lastModifiedBy>
  <cp:revision>2</cp:revision>
  <dcterms:created xsi:type="dcterms:W3CDTF">2026-01-12T14:50:03Z</dcterms:created>
  <dcterms:modified xsi:type="dcterms:W3CDTF">2026-02-04T09:37:26Z</dcterms:modified>
</cp:coreProperties>
</file>