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0000" y="144000"/>
            <a:ext cx="11833200" cy="503999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그림 1.  기존 배터리 소재 코팅 공정 및 분말 ALD 코팅 공정 비교
(미코팅 vs. 습식코팅 vs. ALD 코팅 단면 모식도)</a:t>
            </a:r>
          </a:p>
        </p:txBody>
      </p:sp>
      <p:sp>
        <p:nvSpPr>
          <p:cNvPr id="3" name="Oval 2"/>
          <p:cNvSpPr/>
          <p:nvPr/>
        </p:nvSpPr>
        <p:spPr>
          <a:xfrm>
            <a:off x="540000" y="2160000"/>
            <a:ext cx="2880000" cy="2880000"/>
          </a:xfrm>
          <a:prstGeom prst="ellipse">
            <a:avLst/>
          </a:prstGeom>
          <a:solidFill>
            <a:srgbClr val="BDD7EE"/>
          </a:solidFill>
          <a:ln w="254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3420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F497D"/>
                </a:solidFill>
                <a:latin typeface="맑은 고딕"/>
              </a:rPr>
              <a:t>양극재
입자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1440000"/>
            <a:ext cx="2520000" cy="324000"/>
          </a:xfrm>
          <a:prstGeom prst="rect">
            <a:avLst/>
          </a:prstGeom>
          <a:solidFill>
            <a:srgbClr val="595959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① 미코팅 (Bare)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5148000"/>
            <a:ext cx="2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95959"/>
                </a:solidFill>
                <a:latin typeface="맑은 고딕"/>
              </a:rPr>
              <a:t>전해질과 직접 반응
표면 열화 발생</a:t>
            </a:r>
          </a:p>
        </p:txBody>
      </p:sp>
      <p:sp>
        <p:nvSpPr>
          <p:cNvPr id="7" name="Oval 6"/>
          <p:cNvSpPr/>
          <p:nvPr/>
        </p:nvSpPr>
        <p:spPr>
          <a:xfrm>
            <a:off x="3564000" y="1944000"/>
            <a:ext cx="3312000" cy="3312000"/>
          </a:xfrm>
          <a:prstGeom prst="ellipse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780000" y="2160000"/>
            <a:ext cx="2880000" cy="2880000"/>
          </a:xfrm>
          <a:prstGeom prst="ellipse">
            <a:avLst/>
          </a:prstGeom>
          <a:solidFill>
            <a:srgbClr val="BDD7EE"/>
          </a:solidFill>
          <a:ln w="254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80000" y="3420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F497D"/>
                </a:solidFill>
                <a:latin typeface="맑은 고딕"/>
              </a:rPr>
              <a:t>양극재
입자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60000" y="1440000"/>
            <a:ext cx="2520000" cy="324000"/>
          </a:xfrm>
          <a:prstGeom prst="rect">
            <a:avLst/>
          </a:prstGeom>
          <a:solidFill>
            <a:srgbClr val="595959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② Sol-Gel / 습식코팅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0000" y="5148000"/>
            <a:ext cx="2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95959"/>
                </a:solidFill>
                <a:latin typeface="맑은 고딕"/>
              </a:rPr>
              <a:t>불균일 μm급 코팅
Na⁺ 확산 저해</a:t>
            </a:r>
          </a:p>
        </p:txBody>
      </p:sp>
      <p:sp>
        <p:nvSpPr>
          <p:cNvPr id="12" name="Oval 11"/>
          <p:cNvSpPr/>
          <p:nvPr/>
        </p:nvSpPr>
        <p:spPr>
          <a:xfrm>
            <a:off x="6930000" y="2070000"/>
            <a:ext cx="3060000" cy="3060000"/>
          </a:xfrm>
          <a:prstGeom prst="ellipse">
            <a:avLst/>
          </a:prstGeom>
          <a:solidFill>
            <a:srgbClr val="378610"/>
          </a:solidFill>
          <a:ln w="635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20000" y="2160000"/>
            <a:ext cx="2880000" cy="2880000"/>
          </a:xfrm>
          <a:prstGeom prst="ellipse">
            <a:avLst/>
          </a:prstGeom>
          <a:solidFill>
            <a:srgbClr val="BDD7EE"/>
          </a:solidFill>
          <a:ln w="254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20000" y="3420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F497D"/>
                </a:solidFill>
                <a:latin typeface="맑은 고딕"/>
              </a:rPr>
              <a:t>양극재
입자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00000" y="1440000"/>
            <a:ext cx="2520000" cy="324000"/>
          </a:xfrm>
          <a:prstGeom prst="rect">
            <a:avLst/>
          </a:prstGeom>
          <a:solidFill>
            <a:srgbClr val="1F497D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③ ALD 코팅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000" y="5148000"/>
            <a:ext cx="25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95959"/>
                </a:solidFill>
                <a:latin typeface="맑은 고딕"/>
              </a:rPr>
              <a:t>균일 nm급 코팅
계면 부반응 차단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20000" y="5832000"/>
            <a:ext cx="5220000" cy="251999"/>
          </a:xfrm>
          <a:prstGeom prst="rect">
            <a:avLst/>
          </a:prstGeom>
          <a:solidFill>
            <a:srgbClr val="D6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595959"/>
                </a:solidFill>
                <a:latin typeface="맑은 고딕"/>
              </a:rPr>
              <a:t>Sol-Gel: μm급 두꺼운 불균일 코팅  |  ALD: nm급 (1~10 nm) 정밀 균일 코팅  |  ← ALD가 목표 기술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0000" y="6570000"/>
            <a:ext cx="11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95959"/>
                </a:solidFill>
                <a:latin typeface="맑은 고딕"/>
              </a:rPr>
              <a:t>* 회색 원 = 양극재 입자(코어)  /  주황 = 습식코팅층(불균일)  /  초록 = ALD 코팅층(균일)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0000" y="144000"/>
            <a:ext cx="11833200" cy="503999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그림 2.  분말 ALD 공정 및 기타 코팅법에 따른 분말 코팅층 형상 비교
(SEM/TEM 단면 이미지 모식도)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792000"/>
            <a:ext cx="5400000" cy="5220000"/>
          </a:xfrm>
          <a:prstGeom prst="rect">
            <a:avLst/>
          </a:prstGeom>
          <a:solidFill>
            <a:srgbClr val="F8F8F8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0000" y="792000"/>
            <a:ext cx="5400000" cy="324000"/>
          </a:xfrm>
          <a:prstGeom prst="rect">
            <a:avLst/>
          </a:prstGeom>
          <a:solidFill>
            <a:srgbClr val="ED7D3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</a:rPr>
              <a:t>Sol-Gel / 습식코팅</a:t>
            </a:r>
          </a:p>
        </p:txBody>
      </p:sp>
      <p:sp>
        <p:nvSpPr>
          <p:cNvPr id="5" name="Oval 4"/>
          <p:cNvSpPr/>
          <p:nvPr/>
        </p:nvSpPr>
        <p:spPr>
          <a:xfrm>
            <a:off x="756001" y="1296001"/>
            <a:ext cx="1367998" cy="1367998"/>
          </a:xfrm>
          <a:prstGeom prst="ellipse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6001" y="1476001"/>
            <a:ext cx="1007998" cy="1007998"/>
          </a:xfrm>
          <a:prstGeom prst="ellipse">
            <a:avLst/>
          </a:prstGeom>
          <a:solidFill>
            <a:srgbClr val="BDD7EE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124001" y="1296001"/>
            <a:ext cx="1367998" cy="1094398"/>
          </a:xfrm>
          <a:prstGeom prst="ellipse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304001" y="1476001"/>
            <a:ext cx="1007998" cy="1007998"/>
          </a:xfrm>
          <a:prstGeom prst="ellipse">
            <a:avLst/>
          </a:prstGeom>
          <a:solidFill>
            <a:srgbClr val="BDD7EE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92001" y="1296001"/>
            <a:ext cx="1367998" cy="1367998"/>
          </a:xfrm>
          <a:prstGeom prst="ellipse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72001" y="1476001"/>
            <a:ext cx="1007998" cy="1007998"/>
          </a:xfrm>
          <a:prstGeom prst="ellipse">
            <a:avLst/>
          </a:prstGeom>
          <a:solidFill>
            <a:srgbClr val="BDD7EE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60000" y="3348000"/>
            <a:ext cx="2160000" cy="288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맑은 고딕"/>
              </a:rPr>
              <a:t>코팅 두께:
1~5 μm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3780000"/>
            <a:ext cx="50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μm급 두꺼운 코팅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4068000"/>
            <a:ext cx="50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불균일한 두께 분포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4356000"/>
            <a:ext cx="50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입자 간 결착·응집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4644000"/>
            <a:ext cx="50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부분 비피복 발생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00" y="4932000"/>
            <a:ext cx="50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Na⁺ 확산 저해 가능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0000" y="792000"/>
            <a:ext cx="5400000" cy="5220000"/>
          </a:xfrm>
          <a:prstGeom prst="rect">
            <a:avLst/>
          </a:prstGeom>
          <a:solidFill>
            <a:srgbClr val="F8F8F8"/>
          </a:solidFill>
          <a:ln w="2540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0000" y="792000"/>
            <a:ext cx="5400000" cy="324000"/>
          </a:xfrm>
          <a:prstGeom prst="rect">
            <a:avLst/>
          </a:prstGeom>
          <a:solidFill>
            <a:srgbClr val="378610"/>
          </a:solidFill>
          <a:ln w="1905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</a:rPr>
              <a:t>ALD 코팅 (본 과제)</a:t>
            </a:r>
          </a:p>
        </p:txBody>
      </p:sp>
      <p:sp>
        <p:nvSpPr>
          <p:cNvPr id="19" name="Oval 18"/>
          <p:cNvSpPr/>
          <p:nvPr/>
        </p:nvSpPr>
        <p:spPr>
          <a:xfrm>
            <a:off x="6642001" y="1422001"/>
            <a:ext cx="1115998" cy="1115998"/>
          </a:xfrm>
          <a:prstGeom prst="ellipse">
            <a:avLst/>
          </a:prstGeom>
          <a:solidFill>
            <a:srgbClr val="378610"/>
          </a:solidFill>
          <a:ln w="635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696001" y="1476001"/>
            <a:ext cx="1007998" cy="1007998"/>
          </a:xfrm>
          <a:prstGeom prst="ellipse">
            <a:avLst/>
          </a:prstGeom>
          <a:solidFill>
            <a:srgbClr val="BDD7EE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10001" y="1422001"/>
            <a:ext cx="1115998" cy="1115998"/>
          </a:xfrm>
          <a:prstGeom prst="ellipse">
            <a:avLst/>
          </a:prstGeom>
          <a:solidFill>
            <a:srgbClr val="378610"/>
          </a:solidFill>
          <a:ln w="635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64001" y="1476001"/>
            <a:ext cx="1007998" cy="1007998"/>
          </a:xfrm>
          <a:prstGeom prst="ellipse">
            <a:avLst/>
          </a:prstGeom>
          <a:solidFill>
            <a:srgbClr val="BDD7EE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378001" y="1422001"/>
            <a:ext cx="1115998" cy="1115998"/>
          </a:xfrm>
          <a:prstGeom prst="ellipse">
            <a:avLst/>
          </a:prstGeom>
          <a:solidFill>
            <a:srgbClr val="378610"/>
          </a:solidFill>
          <a:ln w="635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32001" y="1476001"/>
            <a:ext cx="1007998" cy="1007998"/>
          </a:xfrm>
          <a:prstGeom prst="ellipse">
            <a:avLst/>
          </a:prstGeom>
          <a:solidFill>
            <a:srgbClr val="BDD7EE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20000" y="3348000"/>
            <a:ext cx="2160000" cy="288000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  <a:latin typeface="맑은 고딕"/>
              </a:rPr>
              <a:t>코팅 두께:
1~10 nm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0000" y="3780000"/>
            <a:ext cx="50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nm급 (1~10 nm) 코팅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80000" y="4068000"/>
            <a:ext cx="50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전 표면 균일 피복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80000" y="4356000"/>
            <a:ext cx="50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개별 입자 독립 코팅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80000" y="4644000"/>
            <a:ext cx="50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100% 피복률 가능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0000" y="4932000"/>
            <a:ext cx="50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Na⁺ 확산 유지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80000" y="3420000"/>
            <a:ext cx="10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F497D"/>
                </a:solidFill>
                <a:latin typeface="맑은 고딕"/>
              </a:rPr>
              <a:t>← 비교 →
ALD 우수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0000" y="144000"/>
            <a:ext cx="11833200" cy="503999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그림 3.  ALD 공정의 자기제한 반응(Self-limiting growth) 메커니즘 및 사이클 도식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0000" y="1980000"/>
            <a:ext cx="2340000" cy="1800000"/>
          </a:xfrm>
          <a:prstGeom prst="roundRect">
            <a:avLst/>
          </a:prstGeom>
          <a:solidFill>
            <a:srgbClr val="E6F0F8"/>
          </a:solidFill>
          <a:ln w="317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0000" y="1980000"/>
            <a:ext cx="2340000" cy="324000"/>
          </a:xfrm>
          <a:prstGeom prst="rect">
            <a:avLst/>
          </a:prstGeom>
          <a:solidFill>
            <a:srgbClr val="2E74B5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① Precursor A
Pulse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" y="2376000"/>
            <a:ext cx="2124000" cy="1296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95959"/>
                </a:solidFill>
                <a:latin typeface="맑은 고딕"/>
              </a:rPr>
              <a:t>금속 전구체(A)를
표면 활성 사이트에
화학흡착 → 포화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754000" y="2880000"/>
            <a:ext cx="252000" cy="0"/>
          </a:xfrm>
          <a:prstGeom prst="line">
            <a:avLst/>
          </a:prstGeom>
          <a:ln w="38100">
            <a:solidFill>
              <a:srgbClr val="ED7D31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988000" y="1980000"/>
            <a:ext cx="2340000" cy="1800000"/>
          </a:xfrm>
          <a:prstGeom prst="roundRect">
            <a:avLst/>
          </a:prstGeom>
          <a:solidFill>
            <a:srgbClr val="D6DCE4"/>
          </a:solidFill>
          <a:ln w="317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988000" y="1980000"/>
            <a:ext cx="2340000" cy="324000"/>
          </a:xfrm>
          <a:prstGeom prst="rect">
            <a:avLst/>
          </a:prstGeom>
          <a:solidFill>
            <a:srgbClr val="595959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② Purge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96000" y="2376000"/>
            <a:ext cx="2124000" cy="1296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95959"/>
                </a:solidFill>
                <a:latin typeface="맑은 고딕"/>
              </a:rPr>
              <a:t>과잉 전구체 및
부산물을 불활성
가스(N₂)로 제거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82000" y="2880000"/>
            <a:ext cx="252000" cy="0"/>
          </a:xfrm>
          <a:prstGeom prst="line">
            <a:avLst/>
          </a:prstGeom>
          <a:ln w="38100">
            <a:solidFill>
              <a:srgbClr val="ED7D31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616000" y="1980000"/>
            <a:ext cx="2340000" cy="1800000"/>
          </a:xfrm>
          <a:prstGeom prst="roundRect">
            <a:avLst/>
          </a:prstGeom>
          <a:solidFill>
            <a:srgbClr val="E2EFDA"/>
          </a:solidFill>
          <a:ln w="3175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16000" y="1980000"/>
            <a:ext cx="2340000" cy="324000"/>
          </a:xfrm>
          <a:prstGeom prst="rect">
            <a:avLst/>
          </a:prstGeom>
          <a:solidFill>
            <a:srgbClr val="378610"/>
          </a:solidFill>
          <a:ln w="1905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③ Reactant B
(H₂O) Pulse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24000" y="2376000"/>
            <a:ext cx="2124000" cy="1296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95959"/>
                </a:solidFill>
                <a:latin typeface="맑은 고딕"/>
              </a:rPr>
              <a:t>H₂O를 공급하여
표면 반응 완료
(산화물 형성)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010000" y="2880000"/>
            <a:ext cx="252000" cy="0"/>
          </a:xfrm>
          <a:prstGeom prst="line">
            <a:avLst/>
          </a:prstGeom>
          <a:ln w="38100">
            <a:solidFill>
              <a:srgbClr val="ED7D31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44000" y="1980000"/>
            <a:ext cx="2340000" cy="1800000"/>
          </a:xfrm>
          <a:prstGeom prst="roundRect">
            <a:avLst/>
          </a:prstGeom>
          <a:solidFill>
            <a:srgbClr val="D6DCE4"/>
          </a:solidFill>
          <a:ln w="317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44000" y="1980000"/>
            <a:ext cx="2340000" cy="324000"/>
          </a:xfrm>
          <a:prstGeom prst="rect">
            <a:avLst/>
          </a:prstGeom>
          <a:solidFill>
            <a:srgbClr val="595959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④ Purge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2000" y="2376000"/>
            <a:ext cx="2124000" cy="1296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95959"/>
                </a:solidFill>
                <a:latin typeface="맑은 고딕"/>
              </a:rPr>
              <a:t>과잉 H₂O 및
부산물 제거
→ 1 사이클 완료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0000" y="4140000"/>
            <a:ext cx="11520000" cy="324000"/>
          </a:xfrm>
          <a:prstGeom prst="rect">
            <a:avLst/>
          </a:prstGeom>
          <a:solidFill>
            <a:srgbClr val="1F497D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↺  위 4단계 사이클 반복  →  1 사이클당 GPC(Growth Per Cycle) = 0.1 ~ 2.0 Å  |  총 두께 = GPC × 사이클 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0000" y="4680000"/>
            <a:ext cx="3780000" cy="1007999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8000" y="4752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78610"/>
                </a:solidFill>
                <a:latin typeface="맑은 고딕"/>
              </a:rPr>
              <a:t>✓ 자기제한 반응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000" y="5112000"/>
            <a:ext cx="36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맑은 고딕"/>
              </a:rPr>
              <a:t>GPC는 pulse 시간과 무관
→ 두께 재현성 완벽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20000" y="4680000"/>
            <a:ext cx="3780000" cy="1007999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28000" y="4752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78610"/>
                </a:solidFill>
                <a:latin typeface="맑은 고딕"/>
              </a:rPr>
              <a:t>✓ 완전 피복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28000" y="5112000"/>
            <a:ext cx="36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맑은 고딕"/>
              </a:rPr>
              <a:t>복잡한 3D 입자 형상도
100% 균일 코팅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80000" y="4680000"/>
            <a:ext cx="3780000" cy="1007999"/>
          </a:xfrm>
          <a:prstGeom prst="roundRect">
            <a:avLst/>
          </a:prstGeom>
          <a:solidFill>
            <a:srgbClr val="E2EFDA"/>
          </a:solidFill>
          <a:ln w="1905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88000" y="4752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378610"/>
                </a:solidFill>
                <a:latin typeface="맑은 고딕"/>
              </a:rPr>
              <a:t>✓ nm 정밀 제어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8000" y="5112000"/>
            <a:ext cx="360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맑은 고딕"/>
              </a:rPr>
              <a:t>사이클 수로
1 nm 이하 제어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0000" y="144000"/>
            <a:ext cx="11833200" cy="503999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그림 4.  산화물 종류별 ALD 공정 윈도우 비교 — 전구체 종류 및 온도 범위
(한국기계연구원 배치식 ALD 장비 측정 예정)</a:t>
            </a:r>
          </a:p>
        </p:txBody>
      </p:sp>
      <p:sp>
        <p:nvSpPr>
          <p:cNvPr id="3" name="Rectangle 2"/>
          <p:cNvSpPr/>
          <p:nvPr/>
        </p:nvSpPr>
        <p:spPr>
          <a:xfrm>
            <a:off x="1800000" y="5580000"/>
            <a:ext cx="9360000" cy="28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20000" y="5688000"/>
            <a:ext cx="57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497D"/>
                </a:solidFill>
                <a:latin typeface="맑은 고딕"/>
              </a:rPr>
              <a:t>공정 온도 (°C)</a:t>
            </a:r>
          </a:p>
        </p:txBody>
      </p:sp>
      <p:sp>
        <p:nvSpPr>
          <p:cNvPr id="5" name="Rectangle 4"/>
          <p:cNvSpPr/>
          <p:nvPr/>
        </p:nvSpPr>
        <p:spPr>
          <a:xfrm>
            <a:off x="1789200" y="5580000"/>
            <a:ext cx="21600" cy="9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12000" y="5688000"/>
            <a:ext cx="57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F497D"/>
                </a:solidFill>
                <a:latin typeface="맑은 고딕"/>
              </a:rPr>
              <a:t>50</a:t>
            </a:r>
          </a:p>
        </p:txBody>
      </p:sp>
      <p:sp>
        <p:nvSpPr>
          <p:cNvPr id="7" name="Rectangle 6"/>
          <p:cNvSpPr/>
          <p:nvPr/>
        </p:nvSpPr>
        <p:spPr>
          <a:xfrm>
            <a:off x="3349200" y="5580000"/>
            <a:ext cx="21600" cy="9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72000" y="5688000"/>
            <a:ext cx="57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F497D"/>
                </a:solidFill>
                <a:latin typeface="맑은 고딕"/>
              </a:rPr>
              <a:t>100</a:t>
            </a:r>
          </a:p>
        </p:txBody>
      </p:sp>
      <p:sp>
        <p:nvSpPr>
          <p:cNvPr id="9" name="Rectangle 8"/>
          <p:cNvSpPr/>
          <p:nvPr/>
        </p:nvSpPr>
        <p:spPr>
          <a:xfrm>
            <a:off x="4909200" y="5580000"/>
            <a:ext cx="21600" cy="9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2000" y="5688000"/>
            <a:ext cx="57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F497D"/>
                </a:solidFill>
                <a:latin typeface="맑은 고딕"/>
              </a:rPr>
              <a:t>150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69200" y="5580000"/>
            <a:ext cx="21600" cy="9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2000" y="5688000"/>
            <a:ext cx="57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F497D"/>
                </a:solidFill>
                <a:latin typeface="맑은 고딕"/>
              </a:rPr>
              <a:t>200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29200" y="5580000"/>
            <a:ext cx="21600" cy="9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52000" y="5688000"/>
            <a:ext cx="57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F497D"/>
                </a:solidFill>
                <a:latin typeface="맑은 고딕"/>
              </a:rPr>
              <a:t>250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89200" y="5580000"/>
            <a:ext cx="21600" cy="9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12000" y="5688000"/>
            <a:ext cx="57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F497D"/>
                </a:solidFill>
                <a:latin typeface="맑은 고딕"/>
              </a:rPr>
              <a:t>300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149200" y="5580000"/>
            <a:ext cx="21600" cy="90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872000" y="5688000"/>
            <a:ext cx="57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F497D"/>
                </a:solidFill>
                <a:latin typeface="맑은 고딕"/>
              </a:rPr>
              <a:t>350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00000" y="1260000"/>
            <a:ext cx="9360000" cy="396000"/>
          </a:xfrm>
          <a:prstGeom prst="rect">
            <a:avLst/>
          </a:prstGeom>
          <a:solidFill>
            <a:srgbClr val="D6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60000" y="1288800"/>
            <a:ext cx="4680000" cy="338400"/>
          </a:xfrm>
          <a:prstGeom prst="rect">
            <a:avLst/>
          </a:prstGeom>
          <a:solidFill>
            <a:srgbClr val="2E74B5"/>
          </a:solidFill>
          <a:ln w="63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100–250°C  ALD Window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000" y="1314000"/>
            <a:ext cx="16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74B5"/>
                </a:solidFill>
                <a:latin typeface="맑은 고딕"/>
              </a:rPr>
              <a:t>Al₂O₃   (TMA / H₂O)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00000" y="1980000"/>
            <a:ext cx="9360000" cy="396000"/>
          </a:xfrm>
          <a:prstGeom prst="rect">
            <a:avLst/>
          </a:prstGeom>
          <a:solidFill>
            <a:srgbClr val="D6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60000" y="2008800"/>
            <a:ext cx="3120000" cy="338400"/>
          </a:xfrm>
          <a:prstGeom prst="rect">
            <a:avLst/>
          </a:prstGeom>
          <a:solidFill>
            <a:srgbClr val="378610"/>
          </a:solidFill>
          <a:ln w="635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100–200°C  ALD Window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000" y="2034000"/>
            <a:ext cx="16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78610"/>
                </a:solidFill>
                <a:latin typeface="맑은 고딕"/>
              </a:rPr>
              <a:t>ZnO   (DEZn / H₂O)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00000" y="2700000"/>
            <a:ext cx="9360000" cy="396000"/>
          </a:xfrm>
          <a:prstGeom prst="rect">
            <a:avLst/>
          </a:prstGeom>
          <a:solidFill>
            <a:srgbClr val="D6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20000" y="2728800"/>
            <a:ext cx="3120000" cy="338400"/>
          </a:xfrm>
          <a:prstGeom prst="rect">
            <a:avLst/>
          </a:prstGeom>
          <a:solidFill>
            <a:srgbClr val="7B2F8E"/>
          </a:solidFill>
          <a:ln w="6350">
            <a:solidFill>
              <a:srgbClr val="7B2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150–250°C  ALD Window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000" y="2754000"/>
            <a:ext cx="16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B2F8E"/>
                </a:solidFill>
                <a:latin typeface="맑은 고딕"/>
              </a:rPr>
              <a:t>V₂O₅   (VTIP / H₂O)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00000" y="3420000"/>
            <a:ext cx="9360000" cy="396000"/>
          </a:xfrm>
          <a:prstGeom prst="rect">
            <a:avLst/>
          </a:prstGeom>
          <a:solidFill>
            <a:srgbClr val="D6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920000" y="3448800"/>
            <a:ext cx="4680000" cy="338400"/>
          </a:xfrm>
          <a:prstGeom prst="rect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150–300°C  ALD Window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000" y="3474000"/>
            <a:ext cx="16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D7D31"/>
                </a:solidFill>
                <a:latin typeface="맑은 고딕"/>
              </a:rPr>
              <a:t>TiO₂   (TTIP / H₂O)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0000" y="4248000"/>
            <a:ext cx="6480000" cy="251999"/>
          </a:xfrm>
          <a:prstGeom prst="rect">
            <a:avLst/>
          </a:prstGeom>
          <a:solidFill>
            <a:srgbClr val="D6DC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50" b="0">
                <a:solidFill>
                  <a:srgbClr val="1F497D"/>
                </a:solidFill>
                <a:latin typeface="맑은 고딕"/>
              </a:rPr>
              <a:t>■ 한국기계연구원 배치식 ALD 장비 2대에서 측정·확정 예정 (1차년도)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0000" y="6570000"/>
            <a:ext cx="11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95959"/>
                </a:solidFill>
                <a:latin typeface="맑은 고딕"/>
              </a:rPr>
              <a:t>* ALD Window = GPC가 일정한 자기제한 반응 안정 영역.  범위 외에서는 GPC 편차 증가 또는 CVD 모드 전환.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0000" y="144000"/>
            <a:ext cx="11833200" cy="503999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그림 5.  본 과제 핵심 기술 연계 파이프라인
한국기계연구원 배치식 ALD 레시피 개발 → 대성기계공업 연속식 ALD 이전·적용 흐름도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0000" y="792000"/>
            <a:ext cx="2700000" cy="792000"/>
          </a:xfrm>
          <a:prstGeom prst="roundRect">
            <a:avLst/>
          </a:prstGeom>
          <a:solidFill>
            <a:srgbClr val="FFF2CC"/>
          </a:solidFill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497D"/>
                </a:solidFill>
                <a:latin typeface="맑은 고딕"/>
              </a:rPr>
              <a:t>에버인더스
고-Ni 층상 양극재 제공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060000" y="1188000"/>
            <a:ext cx="540000" cy="0"/>
          </a:xfrm>
          <a:prstGeom prst="line">
            <a:avLst/>
          </a:prstGeom>
          <a:ln w="38100">
            <a:solidFill>
              <a:srgbClr val="ED7D31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3600000" y="720000"/>
            <a:ext cx="4860000" cy="3600000"/>
          </a:xfrm>
          <a:prstGeom prst="roundRect">
            <a:avLst/>
          </a:prstGeom>
          <a:solidFill>
            <a:srgbClr val="E6F0F8"/>
          </a:solidFill>
          <a:ln w="317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00000" y="720000"/>
            <a:ext cx="4860000" cy="360000"/>
          </a:xfrm>
          <a:prstGeom prst="rect">
            <a:avLst/>
          </a:prstGeom>
          <a:solidFill>
            <a:srgbClr val="2E74B5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</a:rPr>
              <a:t>한국기계연구원  (배치식 ALD 장비 2대 보유)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80000" y="1188000"/>
            <a:ext cx="2088000" cy="100799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ED7D31"/>
                </a:solidFill>
                <a:latin typeface="맑은 고딕"/>
              </a:rPr>
              <a:t>ALD #1
TiO₂  (TTIP/H₂O)
→ 1차년도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48000" y="1188000"/>
            <a:ext cx="2088000" cy="100799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E74B5"/>
                </a:solidFill>
                <a:latin typeface="맑은 고딕"/>
              </a:rPr>
              <a:t>ALD #2
Al₂O₃ (TMA/H₂O)
→ 1차년도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80000" y="2304000"/>
            <a:ext cx="2088000" cy="100799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B2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7B2F8E"/>
                </a:solidFill>
                <a:latin typeface="맑은 고딕"/>
              </a:rPr>
              <a:t>ALD #1
V₂O₅  (VTIP/H₂O)
→ 2차년도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48000" y="2304000"/>
            <a:ext cx="2088000" cy="100799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378610"/>
                </a:solidFill>
                <a:latin typeface="맑은 고딕"/>
              </a:rPr>
              <a:t>ALD #2
ZnO   (DEZn/H₂O)
→ 2차년도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8000" y="3420000"/>
            <a:ext cx="46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497D"/>
                </a:solidFill>
                <a:latin typeface="맑은 고딕"/>
              </a:rPr>
              <a:t>→ 공정 윈도우 확정 → 레시피 패키지 작성 (GPC, 온도, pulse/purge 시간, NDA 체결)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30000" y="4392000"/>
            <a:ext cx="0" cy="468000"/>
          </a:xfrm>
          <a:prstGeom prst="line">
            <a:avLst/>
          </a:prstGeom>
          <a:ln w="50800">
            <a:solidFill>
              <a:srgbClr val="ED7D31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00000" y="4428000"/>
            <a:ext cx="30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ED7D31"/>
                </a:solidFill>
                <a:latin typeface="맑은 고딕"/>
              </a:rPr>
              <a:t>레시피 패키지 이전 (NDA 체결)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00000" y="4860000"/>
            <a:ext cx="4860000" cy="1368000"/>
          </a:xfrm>
          <a:prstGeom prst="roundRect">
            <a:avLst/>
          </a:prstGeom>
          <a:solidFill>
            <a:srgbClr val="E2EFDA"/>
          </a:solidFill>
          <a:ln w="3175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00000" y="4860000"/>
            <a:ext cx="4860000" cy="360000"/>
          </a:xfrm>
          <a:prstGeom prst="rect">
            <a:avLst/>
          </a:prstGeom>
          <a:solidFill>
            <a:srgbClr val="378610"/>
          </a:solidFill>
          <a:ln w="1905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</a:rPr>
              <a:t>대성기계공업  (연속식 분말 ALD 장비 보유)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8000" y="5292000"/>
            <a:ext cx="46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맑은 고딕"/>
              </a:rPr>
              <a:t>① FBR에 레시피 적용 (1차) → ② OPERIO 10 이전 (2차) → ③ 10 kg/h 양산 (3차)
RTD 기반 체류시간 최적화 | 연속 운전 안정화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568000" y="5544000"/>
            <a:ext cx="612000" cy="0"/>
          </a:xfrm>
          <a:prstGeom prst="line">
            <a:avLst/>
          </a:prstGeom>
          <a:ln w="25400">
            <a:solidFill>
              <a:srgbClr val="595959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180000" y="5040000"/>
            <a:ext cx="2700000" cy="1188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1F497D"/>
                </a:solidFill>
                <a:latin typeface="맑은 고딕"/>
              </a:rPr>
              <a:t>기계연 코팅층 분석
HRTEM / EELS / XPS
→ 품질 검증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0000" y="792000"/>
            <a:ext cx="2700000" cy="115200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7B2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1F497D"/>
                </a:solidFill>
                <a:latin typeface="맑은 고딕"/>
              </a:rPr>
              <a:t>씨오알엔 (CORN)
전극 제조
1Ah 파우치셀 제작·평가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0000" y="6570000"/>
            <a:ext cx="11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95959"/>
                </a:solidFill>
                <a:latin typeface="맑은 고딕"/>
              </a:rPr>
              <a:t>* 기계연 배치식 ALD에서 확립한 레시피가 대성기계 연속식 ALD에 이전되며, 기계연이 코팅 시료를 분석·검증하는 순환 피드백 구조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0000" y="144000"/>
            <a:ext cx="11833200" cy="503999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그림 6.  연속식 분말 ALD 기술의 산업별 응용 분야 및 시장 확장 가능성</a:t>
            </a:r>
          </a:p>
        </p:txBody>
      </p:sp>
      <p:sp>
        <p:nvSpPr>
          <p:cNvPr id="3" name="Oval 2"/>
          <p:cNvSpPr/>
          <p:nvPr/>
        </p:nvSpPr>
        <p:spPr>
          <a:xfrm>
            <a:off x="5112001" y="2772001"/>
            <a:ext cx="2015998" cy="2015998"/>
          </a:xfrm>
          <a:prstGeom prst="ellipse">
            <a:avLst/>
          </a:prstGeom>
          <a:solidFill>
            <a:srgbClr val="1F497D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연속식
분말 ALD
플랫폼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28000" y="3420000"/>
            <a:ext cx="2088000" cy="720000"/>
          </a:xfrm>
          <a:prstGeom prst="roundRect">
            <a:avLst/>
          </a:prstGeom>
          <a:solidFill>
            <a:srgbClr val="ED7D31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이차전지
양극재·음극재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4611600" y="3780000"/>
            <a:ext cx="500401" cy="0"/>
          </a:xfrm>
          <a:prstGeom prst="line">
            <a:avLst/>
          </a:prstGeom>
          <a:ln w="19050">
            <a:solidFill>
              <a:srgbClr val="ED7D31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851999" y="1299969"/>
            <a:ext cx="2088000" cy="720000"/>
          </a:xfrm>
          <a:prstGeom prst="roundRect">
            <a:avLst/>
          </a:prstGeom>
          <a:solidFill>
            <a:srgbClr val="378610"/>
          </a:solidFill>
          <a:ln w="1270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촉매·촉매 지지체</a:t>
            </a:r>
          </a:p>
        </p:txBody>
      </p:sp>
      <p:cxnSp>
        <p:nvCxnSpPr>
          <p:cNvPr id="7" name="Connector 6"/>
          <p:cNvCxnSpPr/>
          <p:nvPr/>
        </p:nvCxnSpPr>
        <p:spPr>
          <a:xfrm flipH="1" flipV="1">
            <a:off x="5365799" y="1940562"/>
            <a:ext cx="250201" cy="966485"/>
          </a:xfrm>
          <a:prstGeom prst="line">
            <a:avLst/>
          </a:prstGeom>
          <a:ln w="19050">
            <a:solidFill>
              <a:srgbClr val="37861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300000" y="1299969"/>
            <a:ext cx="2088000" cy="720000"/>
          </a:xfrm>
          <a:prstGeom prst="roundRect">
            <a:avLst/>
          </a:prstGeom>
          <a:solidFill>
            <a:srgbClr val="2E74B5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수소연료전지
전극재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6623999" y="1940562"/>
            <a:ext cx="250201" cy="966485"/>
          </a:xfrm>
          <a:prstGeom prst="line">
            <a:avLst/>
          </a:prstGeom>
          <a:ln w="19050">
            <a:solidFill>
              <a:srgbClr val="2E74B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524000" y="3420000"/>
            <a:ext cx="2088000" cy="720000"/>
          </a:xfrm>
          <a:prstGeom prst="roundRect">
            <a:avLst/>
          </a:prstGeom>
          <a:solidFill>
            <a:srgbClr val="7B2F8E"/>
          </a:solidFill>
          <a:ln w="12700">
            <a:solidFill>
              <a:srgbClr val="7B2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전자·반도체
소재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27999" y="3780000"/>
            <a:ext cx="500401" cy="0"/>
          </a:xfrm>
          <a:prstGeom prst="line">
            <a:avLst/>
          </a:prstGeom>
          <a:ln w="19050">
            <a:solidFill>
              <a:srgbClr val="7B2F8E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300000" y="5540030"/>
            <a:ext cx="2088000" cy="720000"/>
          </a:xfrm>
          <a:prstGeom prst="round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기능성 세라믹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623999" y="4652952"/>
            <a:ext cx="250201" cy="966485"/>
          </a:xfrm>
          <a:prstGeom prst="line">
            <a:avLst/>
          </a:prstGeom>
          <a:ln w="19050">
            <a:solidFill>
              <a:srgbClr val="0070C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852000" y="5540030"/>
            <a:ext cx="2088000" cy="720000"/>
          </a:xfrm>
          <a:prstGeom prst="roundRect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에너지저장
소재 (ESS)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5365800" y="4652952"/>
            <a:ext cx="250200" cy="966485"/>
          </a:xfrm>
          <a:prstGeom prst="line">
            <a:avLst/>
          </a:prstGeom>
          <a:ln w="19050">
            <a:solidFill>
              <a:srgbClr val="C0000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80000" y="6534000"/>
            <a:ext cx="11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95959"/>
                </a:solidFill>
                <a:latin typeface="맑은 고딕"/>
              </a:rPr>
              <a:t>* 본 과제에서 개발되는 연속식 분말 ALD 공정 기술은 배터리 소재 외 다양한 산업 분야로 확장 가능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0000" y="144000"/>
            <a:ext cx="11833200" cy="503999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그림 7.  1차년도: 한국기계연구원 배치식 ALD 장비 2대 병렬 운용
TiO₂·Al₂O₃ 레시피 개발 및 대성기계 FBR 이전 프로세스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0000" y="900000"/>
            <a:ext cx="2160000" cy="720000"/>
          </a:xfrm>
          <a:prstGeom prst="roundRect">
            <a:avLst/>
          </a:prstGeom>
          <a:solidFill>
            <a:srgbClr val="FFF2CC"/>
          </a:solidFill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1F497D"/>
                </a:solidFill>
                <a:latin typeface="맑은 고딕"/>
              </a:rPr>
              <a:t>에버인더스
(양극재 제공)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340000" y="1260000"/>
            <a:ext cx="540000" cy="0"/>
          </a:xfrm>
          <a:prstGeom prst="line">
            <a:avLst/>
          </a:prstGeom>
          <a:ln w="31750">
            <a:solidFill>
              <a:srgbClr val="ED7D31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880000" y="792000"/>
            <a:ext cx="3600000" cy="1620000"/>
          </a:xfrm>
          <a:prstGeom prst="roundRect">
            <a:avLst/>
          </a:prstGeom>
          <a:solidFill>
            <a:srgbClr val="E6F0F8"/>
          </a:solidFill>
          <a:ln w="317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80000" y="792000"/>
            <a:ext cx="3600000" cy="306000"/>
          </a:xfrm>
          <a:prstGeom prst="rect">
            <a:avLst/>
          </a:prstGeom>
          <a:solidFill>
            <a:srgbClr val="ED7D3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배치식 ALD 장비 #1  (TiO₂)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88000" y="1152000"/>
            <a:ext cx="342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595959"/>
                </a:solidFill>
                <a:latin typeface="맑은 고딕"/>
              </a:rPr>
              <a:t>• 전구체: TTIP / H₂O</a:t>
            </a:r>
          </a:p>
          <a:p>
            <a:pPr algn="l"/>
            <a:r>
              <a:rPr sz="950">
                <a:solidFill>
                  <a:srgbClr val="595959"/>
                </a:solidFill>
                <a:latin typeface="맑은 고딕"/>
              </a:rPr>
              <a:t>• 온도: 150~300°C 탐색</a:t>
            </a:r>
          </a:p>
          <a:p>
            <a:pPr algn="l"/>
            <a:r>
              <a:rPr sz="950">
                <a:solidFill>
                  <a:srgbClr val="595959"/>
                </a:solidFill>
                <a:latin typeface="맑은 고딕"/>
              </a:rPr>
              <a:t>• GPC 측정 (Self-limiting 확인)</a:t>
            </a:r>
          </a:p>
          <a:p>
            <a:pPr algn="l"/>
            <a:r>
              <a:rPr sz="950">
                <a:solidFill>
                  <a:srgbClr val="595959"/>
                </a:solidFill>
                <a:latin typeface="맑은 고딕"/>
              </a:rPr>
              <a:t>• 공정 윈도우 확정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000" y="2592000"/>
            <a:ext cx="3600000" cy="1620000"/>
          </a:xfrm>
          <a:prstGeom prst="roundRect">
            <a:avLst/>
          </a:prstGeom>
          <a:solidFill>
            <a:srgbClr val="E6F0F8"/>
          </a:solidFill>
          <a:ln w="317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80000" y="2592000"/>
            <a:ext cx="3600000" cy="306000"/>
          </a:xfrm>
          <a:prstGeom prst="rect">
            <a:avLst/>
          </a:prstGeom>
          <a:solidFill>
            <a:srgbClr val="2E74B5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배치식 ALD 장비 #2  (Al₂O₃)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88000" y="2951999"/>
            <a:ext cx="342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>
                <a:solidFill>
                  <a:srgbClr val="595959"/>
                </a:solidFill>
                <a:latin typeface="맑은 고딕"/>
              </a:rPr>
              <a:t>• 전구체: TMA / H₂O</a:t>
            </a:r>
          </a:p>
          <a:p>
            <a:pPr algn="l"/>
            <a:r>
              <a:rPr sz="950">
                <a:solidFill>
                  <a:srgbClr val="595959"/>
                </a:solidFill>
                <a:latin typeface="맑은 고딕"/>
              </a:rPr>
              <a:t>• 온도: 100~250°C 탐색</a:t>
            </a:r>
          </a:p>
          <a:p>
            <a:pPr algn="l"/>
            <a:r>
              <a:rPr sz="950">
                <a:solidFill>
                  <a:srgbClr val="595959"/>
                </a:solidFill>
                <a:latin typeface="맑은 고딕"/>
              </a:rPr>
              <a:t>• GPC 측정 (Self-limiting 확인)</a:t>
            </a:r>
          </a:p>
          <a:p>
            <a:pPr algn="l"/>
            <a:r>
              <a:rPr sz="950">
                <a:solidFill>
                  <a:srgbClr val="595959"/>
                </a:solidFill>
                <a:latin typeface="맑은 고딕"/>
              </a:rPr>
              <a:t>• 공정 윈도우 확정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480000" y="1602000"/>
            <a:ext cx="720000" cy="0"/>
          </a:xfrm>
          <a:prstGeom prst="line">
            <a:avLst/>
          </a:prstGeom>
          <a:ln w="25400">
            <a:solidFill>
              <a:srgbClr val="ED7D31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480000" y="3401999"/>
            <a:ext cx="720000" cy="0"/>
          </a:xfrm>
          <a:prstGeom prst="line">
            <a:avLst/>
          </a:prstGeom>
          <a:ln w="25400">
            <a:solidFill>
              <a:srgbClr val="2E74B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200000" y="1260000"/>
            <a:ext cx="2340000" cy="1800000"/>
          </a:xfrm>
          <a:prstGeom prst="roundRect">
            <a:avLst/>
          </a:prstGeom>
          <a:solidFill>
            <a:srgbClr val="FFF2CC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F497D"/>
                </a:solidFill>
                <a:latin typeface="맑은 고딕"/>
              </a:rPr>
              <a:t>레시피 패키지
(온도·GPC·pulse
/purge 시간·
공정 윈도우)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08000" y="3240000"/>
            <a:ext cx="2160000" cy="270000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NDA 체결 → 기계연→대성기계 이전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40000" y="2160000"/>
            <a:ext cx="720000" cy="0"/>
          </a:xfrm>
          <a:prstGeom prst="line">
            <a:avLst/>
          </a:prstGeom>
          <a:ln w="38100">
            <a:solidFill>
              <a:srgbClr val="ED7D31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260000" y="1620000"/>
            <a:ext cx="1800000" cy="1080000"/>
          </a:xfrm>
          <a:prstGeom prst="roundRect">
            <a:avLst/>
          </a:prstGeom>
          <a:solidFill>
            <a:srgbClr val="E2EFDA"/>
          </a:solidFill>
          <a:ln w="2540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1F497D"/>
                </a:solidFill>
                <a:latin typeface="맑은 고딕"/>
              </a:rPr>
              <a:t>대성기계
FBR 적용
검증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80000" y="4140000"/>
            <a:ext cx="720000" cy="540000"/>
          </a:xfrm>
          <a:prstGeom prst="line">
            <a:avLst/>
          </a:prstGeom>
          <a:ln w="25400">
            <a:solidFill>
              <a:srgbClr val="1F497D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200000" y="4680000"/>
            <a:ext cx="4500000" cy="1260000"/>
          </a:xfrm>
          <a:prstGeom prst="roundRect">
            <a:avLst/>
          </a:prstGeom>
          <a:solidFill>
            <a:srgbClr val="D6DCE4"/>
          </a:solidFill>
          <a:ln w="190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00000" y="4680000"/>
            <a:ext cx="4500000" cy="288000"/>
          </a:xfrm>
          <a:prstGeom prst="rect">
            <a:avLst/>
          </a:prstGeom>
          <a:solidFill>
            <a:srgbClr val="1F497D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코팅층 분석 (기계연)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08000" y="5022000"/>
            <a:ext cx="4320000" cy="82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SEM-EDX | TEM | XRD | XPS | Raman | BET | PSD
→ 코팅 두께·균일도·조성 확인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0000" y="6570000"/>
            <a:ext cx="11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95959"/>
                </a:solidFill>
                <a:latin typeface="맑은 고딕"/>
              </a:rPr>
              <a:t>* 장비 #1(TiO₂)과 #2(Al₂O₃)를 동시 병렬 운용하여 1차년도 내 2종 레시피를 확립하고 대성기계 FBR로 이전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0000" y="144000"/>
            <a:ext cx="11833200" cy="503999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그림 8.  에버인더스 제공 고-Ni 층상 나트륨이온전지 양극재 ALD 코팅 전
기초 특성 분석 (SEM, XRD, XPS, BET)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0000" y="900000"/>
            <a:ext cx="2448000" cy="2880000"/>
          </a:xfrm>
          <a:prstGeom prst="roundRect">
            <a:avLst/>
          </a:prstGeom>
          <a:solidFill>
            <a:srgbClr val="D6DCE4"/>
          </a:solidFill>
          <a:ln w="254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0000" y="900000"/>
            <a:ext cx="2448000" cy="396000"/>
          </a:xfrm>
          <a:prstGeom prst="rect">
            <a:avLst/>
          </a:prstGeom>
          <a:solidFill>
            <a:srgbClr val="2E74B5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SEM-EDX
(형상·입도)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4000" y="1404000"/>
            <a:ext cx="2160000" cy="115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595959"/>
                </a:solidFill>
                <a:latin typeface="맑은 고딕"/>
              </a:rPr>
              <a:t>[측정 이미지
삽입 예정]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" y="2628000"/>
            <a:ext cx="2232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1차 입자 형상 확인
• 입도 분포 (D50)
• 원소 mapping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0000" y="900000"/>
            <a:ext cx="2448000" cy="2880000"/>
          </a:xfrm>
          <a:prstGeom prst="roundRect">
            <a:avLst/>
          </a:prstGeom>
          <a:solidFill>
            <a:srgbClr val="D6DCE4"/>
          </a:solidFill>
          <a:ln w="2540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40000" y="900000"/>
            <a:ext cx="2448000" cy="396000"/>
          </a:xfrm>
          <a:prstGeom prst="rect">
            <a:avLst/>
          </a:prstGeom>
          <a:solidFill>
            <a:srgbClr val="378610"/>
          </a:solidFill>
          <a:ln w="1905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XRD
(결정 구조)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4000" y="1404000"/>
            <a:ext cx="2160000" cy="115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595959"/>
                </a:solidFill>
                <a:latin typeface="맑은 고딕"/>
              </a:rPr>
              <a:t>[측정 이미지
삽입 예정]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48000" y="2628000"/>
            <a:ext cx="2232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R-3m 공간군 확인
• 격자 상수 측정
• 불순물 상 검출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0000" y="900000"/>
            <a:ext cx="2448000" cy="2880000"/>
          </a:xfrm>
          <a:prstGeom prst="roundRect">
            <a:avLst/>
          </a:prstGeom>
          <a:solidFill>
            <a:srgbClr val="D6DCE4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0000" y="900000"/>
            <a:ext cx="2448000" cy="396000"/>
          </a:xfrm>
          <a:prstGeom prst="rect">
            <a:avLst/>
          </a:prstGeom>
          <a:solidFill>
            <a:srgbClr val="ED7D3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XPS
(표면 화학)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4000" y="1404000"/>
            <a:ext cx="2160000" cy="115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595959"/>
                </a:solidFill>
                <a:latin typeface="맑은 고딕"/>
              </a:rPr>
              <a:t>[측정 이미지
삽입 예정]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8000" y="2628000"/>
            <a:ext cx="2232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Ni/Mn/Fe 산화수
• 표면 Na 농도
• 결합 에너지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0000" y="900000"/>
            <a:ext cx="2448000" cy="2880000"/>
          </a:xfrm>
          <a:prstGeom prst="roundRect">
            <a:avLst/>
          </a:prstGeom>
          <a:solidFill>
            <a:srgbClr val="D6DCE4"/>
          </a:solidFill>
          <a:ln w="25400">
            <a:solidFill>
              <a:srgbClr val="7B2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00000" y="900000"/>
            <a:ext cx="2448000" cy="396000"/>
          </a:xfrm>
          <a:prstGeom prst="rect">
            <a:avLst/>
          </a:prstGeom>
          <a:solidFill>
            <a:srgbClr val="7B2F8E"/>
          </a:solidFill>
          <a:ln w="19050">
            <a:solidFill>
              <a:srgbClr val="7B2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BET / PSD
(비표면적)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404000"/>
            <a:ext cx="2160000" cy="115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7B2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595959"/>
                </a:solidFill>
                <a:latin typeface="맑은 고딕"/>
              </a:rPr>
              <a:t>[측정 이미지
삽입 예정]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8000" y="2628000"/>
            <a:ext cx="2232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비표면적 (m²/g)
• 기공 크기 분포
• 입도 분포 (D10/50/90)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0000" y="4031999"/>
            <a:ext cx="11520000" cy="360000"/>
          </a:xfrm>
          <a:prstGeom prst="rect">
            <a:avLst/>
          </a:prstGeom>
          <a:solidFill>
            <a:srgbClr val="1F497D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목적: ALD 코팅 전 초기 양극재 baseline 특성 확립 → 코팅 후 특성 변화 정량 비교를 위한 기준값 확보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0000" y="4500000"/>
            <a:ext cx="11520000" cy="1260000"/>
          </a:xfrm>
          <a:prstGeom prst="rect">
            <a:avLst/>
          </a:prstGeom>
          <a:solidFill>
            <a:srgbClr val="E2EFDA"/>
          </a:solidFill>
          <a:ln w="1270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8000" y="4572000"/>
            <a:ext cx="113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맑은 고딕"/>
              </a:rPr>
              <a:t>예상 특성값 범위:
• 입도 (D50): 5~15 μm  |  비표면적: 0.5~2.0 m²/g
• 결정 구조: R-3m 공간군 (Layered 구조)  |  Ni 함량: 40~60 at%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0000" y="144000"/>
            <a:ext cx="11833200" cy="503999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그림 9.  배치식 ALD 장비에서 측정한 TiO₂ 및 Al₂O₃ Self-limiting 반응 조건
(GPC vs. 전구체 Pulse 시간) — 포화 구간이 연속식 FBR 최소 체류시간 기준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080000"/>
            <a:ext cx="4680000" cy="3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756000"/>
            <a:ext cx="46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D7D31"/>
                </a:solidFill>
                <a:latin typeface="맑은 고딕"/>
              </a:rPr>
              <a:t>TiO₂ (TTIP/H₂O)
온도: ~200°C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4716000"/>
            <a:ext cx="46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F497D"/>
                </a:solidFill>
                <a:latin typeface="맑은 고딕"/>
              </a:rPr>
              <a:t>전구체 Pulse 시간 (s)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000" y="2700000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F497D"/>
                </a:solidFill>
                <a:latin typeface="맑은 고딕"/>
              </a:rPr>
              <a:t>GPC
(Å/cycle)</a:t>
            </a:r>
          </a:p>
        </p:txBody>
      </p:sp>
      <p:sp>
        <p:nvSpPr>
          <p:cNvPr id="7" name="Oval 6"/>
          <p:cNvSpPr/>
          <p:nvPr/>
        </p:nvSpPr>
        <p:spPr>
          <a:xfrm>
            <a:off x="1196800" y="4156800"/>
            <a:ext cx="86400" cy="86400"/>
          </a:xfrm>
          <a:prstGeom prst="ellipse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16800" y="3556800"/>
            <a:ext cx="86400" cy="86400"/>
          </a:xfrm>
          <a:prstGeom prst="ellipse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 flipV="1">
            <a:off x="1240000" y="3600000"/>
            <a:ext cx="520000" cy="600000"/>
          </a:xfrm>
          <a:prstGeom prst="line">
            <a:avLst/>
          </a:prstGeom>
          <a:ln w="19050">
            <a:solidFill>
              <a:srgbClr val="ED7D31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2236800" y="3148800"/>
            <a:ext cx="86400" cy="86400"/>
          </a:xfrm>
          <a:prstGeom prst="ellipse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1760000" y="3192000"/>
            <a:ext cx="520000" cy="408000"/>
          </a:xfrm>
          <a:prstGeom prst="line">
            <a:avLst/>
          </a:prstGeom>
          <a:ln w="19050">
            <a:solidFill>
              <a:srgbClr val="ED7D31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756800" y="2956800"/>
            <a:ext cx="86400" cy="86400"/>
          </a:xfrm>
          <a:prstGeom prst="ellipse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V="1">
            <a:off x="2280000" y="3000000"/>
            <a:ext cx="520000" cy="192000"/>
          </a:xfrm>
          <a:prstGeom prst="line">
            <a:avLst/>
          </a:prstGeom>
          <a:ln w="19050">
            <a:solidFill>
              <a:srgbClr val="ED7D31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3276800" y="2908800"/>
            <a:ext cx="86400" cy="86400"/>
          </a:xfrm>
          <a:prstGeom prst="ellipse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 flipV="1">
            <a:off x="2800000" y="2952000"/>
            <a:ext cx="520000" cy="48000"/>
          </a:xfrm>
          <a:prstGeom prst="line">
            <a:avLst/>
          </a:prstGeom>
          <a:ln w="19050">
            <a:solidFill>
              <a:srgbClr val="ED7D31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3796800" y="2908800"/>
            <a:ext cx="86400" cy="86400"/>
          </a:xfrm>
          <a:prstGeom prst="ellipse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3320000" y="2952000"/>
            <a:ext cx="520000" cy="0"/>
          </a:xfrm>
          <a:prstGeom prst="line">
            <a:avLst/>
          </a:prstGeom>
          <a:ln w="19050">
            <a:solidFill>
              <a:srgbClr val="ED7D31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4836800" y="2908800"/>
            <a:ext cx="86400" cy="86400"/>
          </a:xfrm>
          <a:prstGeom prst="ellipse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3840000" y="2952000"/>
            <a:ext cx="1040000" cy="0"/>
          </a:xfrm>
          <a:prstGeom prst="line">
            <a:avLst/>
          </a:prstGeom>
          <a:ln w="19050">
            <a:solidFill>
              <a:srgbClr val="ED7D31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2789200" y="1080000"/>
            <a:ext cx="21600" cy="360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6000" y="1152000"/>
            <a:ext cx="16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00000"/>
                </a:solidFill>
                <a:latin typeface="맑은 고딕"/>
              </a:rPr>
              <a:t>포화: ~2.0 s → GPC ≈ 0.7 Å/cycle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00000" y="1080000"/>
            <a:ext cx="2600000" cy="3600000"/>
          </a:xfrm>
          <a:prstGeom prst="rect">
            <a:avLst/>
          </a:prstGeom>
          <a:solidFill>
            <a:srgbClr val="FFEBE6"/>
          </a:solidFill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80000" y="1080000"/>
            <a:ext cx="4680000" cy="36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80000" y="756000"/>
            <a:ext cx="46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E74B5"/>
                </a:solidFill>
                <a:latin typeface="맑은 고딕"/>
              </a:rPr>
              <a:t>Al₂O₃ (TMA/H₂O)
온도: ~150°C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0000" y="4716000"/>
            <a:ext cx="46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F497D"/>
                </a:solidFill>
                <a:latin typeface="맑은 고딕"/>
              </a:rPr>
              <a:t>전구체 Pulse 시간 (s)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04000" y="2700000"/>
            <a:ext cx="5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F497D"/>
                </a:solidFill>
                <a:latin typeface="맑은 고딕"/>
              </a:rPr>
              <a:t>GPC
(Å/cycle)</a:t>
            </a:r>
          </a:p>
        </p:txBody>
      </p:sp>
      <p:sp>
        <p:nvSpPr>
          <p:cNvPr id="27" name="Oval 26"/>
          <p:cNvSpPr/>
          <p:nvPr/>
        </p:nvSpPr>
        <p:spPr>
          <a:xfrm>
            <a:off x="6644800" y="3916800"/>
            <a:ext cx="86400" cy="86400"/>
          </a:xfrm>
          <a:prstGeom prst="ellipse">
            <a:avLst/>
          </a:prstGeom>
          <a:solidFill>
            <a:srgbClr val="2E74B5"/>
          </a:solidFill>
          <a:ln w="63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956800" y="2956800"/>
            <a:ext cx="86400" cy="86400"/>
          </a:xfrm>
          <a:prstGeom prst="ellipse">
            <a:avLst/>
          </a:prstGeom>
          <a:solidFill>
            <a:srgbClr val="2E74B5"/>
          </a:solidFill>
          <a:ln w="63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 flipV="1">
            <a:off x="6688000" y="3000000"/>
            <a:ext cx="312000" cy="960000"/>
          </a:xfrm>
          <a:prstGeom prst="line">
            <a:avLst/>
          </a:prstGeom>
          <a:ln w="19050">
            <a:solidFill>
              <a:srgbClr val="2E74B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7268800" y="2356800"/>
            <a:ext cx="86400" cy="86400"/>
          </a:xfrm>
          <a:prstGeom prst="ellipse">
            <a:avLst/>
          </a:prstGeom>
          <a:solidFill>
            <a:srgbClr val="2E74B5"/>
          </a:solidFill>
          <a:ln w="63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V="1">
            <a:off x="7000000" y="2400000"/>
            <a:ext cx="312000" cy="600000"/>
          </a:xfrm>
          <a:prstGeom prst="line">
            <a:avLst/>
          </a:prstGeom>
          <a:ln w="19050">
            <a:solidFill>
              <a:srgbClr val="2E74B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7476800" y="2116800"/>
            <a:ext cx="86400" cy="86400"/>
          </a:xfrm>
          <a:prstGeom prst="ellipse">
            <a:avLst/>
          </a:prstGeom>
          <a:solidFill>
            <a:srgbClr val="2E74B5"/>
          </a:solidFill>
          <a:ln w="63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 flipV="1">
            <a:off x="7312000" y="2160000"/>
            <a:ext cx="208000" cy="240000"/>
          </a:xfrm>
          <a:prstGeom prst="line">
            <a:avLst/>
          </a:prstGeom>
          <a:ln w="19050">
            <a:solidFill>
              <a:srgbClr val="2E74B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7996800" y="2044799"/>
            <a:ext cx="86400" cy="86400"/>
          </a:xfrm>
          <a:prstGeom prst="ellipse">
            <a:avLst/>
          </a:prstGeom>
          <a:solidFill>
            <a:srgbClr val="2E74B5"/>
          </a:solidFill>
          <a:ln w="63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 flipV="1">
            <a:off x="7520000" y="2087999"/>
            <a:ext cx="520000" cy="72001"/>
          </a:xfrm>
          <a:prstGeom prst="line">
            <a:avLst/>
          </a:prstGeom>
          <a:ln w="19050">
            <a:solidFill>
              <a:srgbClr val="2E74B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8516800" y="2044799"/>
            <a:ext cx="86400" cy="86400"/>
          </a:xfrm>
          <a:prstGeom prst="ellipse">
            <a:avLst/>
          </a:prstGeom>
          <a:solidFill>
            <a:srgbClr val="2E74B5"/>
          </a:solidFill>
          <a:ln w="63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8040000" y="2087999"/>
            <a:ext cx="520000" cy="0"/>
          </a:xfrm>
          <a:prstGeom prst="line">
            <a:avLst/>
          </a:prstGeom>
          <a:ln w="19050">
            <a:solidFill>
              <a:srgbClr val="2E74B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9556800" y="2044799"/>
            <a:ext cx="86400" cy="86400"/>
          </a:xfrm>
          <a:prstGeom prst="ellipse">
            <a:avLst/>
          </a:prstGeom>
          <a:solidFill>
            <a:srgbClr val="2E74B5"/>
          </a:solidFill>
          <a:ln w="63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8560000" y="2087999"/>
            <a:ext cx="1040000" cy="0"/>
          </a:xfrm>
          <a:prstGeom prst="line">
            <a:avLst/>
          </a:prstGeom>
          <a:ln w="19050">
            <a:solidFill>
              <a:srgbClr val="2E74B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7509200" y="1080000"/>
            <a:ext cx="21600" cy="360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56000" y="1152000"/>
            <a:ext cx="16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00000"/>
                </a:solidFill>
                <a:latin typeface="맑은 고딕"/>
              </a:rPr>
              <a:t>포화: ~1.0 s → GPC ≈ 1.08 Å/cycle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20000" y="1080000"/>
            <a:ext cx="3640000" cy="3600000"/>
          </a:xfrm>
          <a:prstGeom prst="rect">
            <a:avLst/>
          </a:prstGeom>
          <a:solidFill>
            <a:srgbClr val="FFEBE6"/>
          </a:solidFill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0000" y="5040000"/>
            <a:ext cx="11520000" cy="324000"/>
          </a:xfrm>
          <a:prstGeom prst="rect">
            <a:avLst/>
          </a:prstGeom>
          <a:solidFill>
            <a:srgbClr val="1F497D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포화 Pulse 시간 → 대성기계 FBR의 최소 체류시간(RTD) 기준으로 이전 (batch pulse time → continuous RTD 변환)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0000" y="6570000"/>
            <a:ext cx="11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95959"/>
                </a:solidFill>
                <a:latin typeface="맑은 고딕"/>
              </a:rPr>
              <a:t>* Self-limiting 영역(붉은 음영): GPC가 pulse 시간과 무관하게 일정 → 재현성 보장 구간. 기계연이 이 구간을 확정하여 대성기계에 이전.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0000" y="144000"/>
            <a:ext cx="11833200" cy="503999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그림 10.  TiO₂ ALD 코팅 후 양극재 TEM 단면 이미지 및 코팅층 두께 측정
(배치식 ALD GPC 예측값과 비교 검증)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0000" y="827999"/>
            <a:ext cx="3600000" cy="3060000"/>
          </a:xfrm>
          <a:prstGeom prst="rect">
            <a:avLst/>
          </a:prstGeom>
          <a:solidFill>
            <a:srgbClr val="1A1A2E"/>
          </a:solidFill>
          <a:ln w="254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[TEM 이미지
삽입 예정]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827999"/>
            <a:ext cx="3600000" cy="288000"/>
          </a:xfrm>
          <a:prstGeom prst="rect">
            <a:avLst/>
          </a:prstGeom>
          <a:solidFill>
            <a:srgbClr val="2E74B5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코팅 전 (Bare)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" y="3996000"/>
            <a:ext cx="342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결정 격자 명확
표면 원자 노출
코팅층 없음</a:t>
            </a:r>
          </a:p>
        </p:txBody>
      </p:sp>
      <p:sp>
        <p:nvSpPr>
          <p:cNvPr id="6" name="Rectangle 5"/>
          <p:cNvSpPr/>
          <p:nvPr/>
        </p:nvSpPr>
        <p:spPr>
          <a:xfrm>
            <a:off x="4320000" y="827999"/>
            <a:ext cx="3600000" cy="3060000"/>
          </a:xfrm>
          <a:prstGeom prst="rect">
            <a:avLst/>
          </a:prstGeom>
          <a:solidFill>
            <a:srgbClr val="1A1A2E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[TEM 이미지
삽입 예정]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0" y="827999"/>
            <a:ext cx="3600000" cy="216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  <a:latin typeface="맑은 고딕"/>
              </a:rPr>
              <a:t>TiO₂ 코팅층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0" y="827999"/>
            <a:ext cx="3600000" cy="288000"/>
          </a:xfrm>
          <a:prstGeom prst="rect">
            <a:avLst/>
          </a:prstGeom>
          <a:solidFill>
            <a:srgbClr val="ED7D3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TiO₂ ALD 코팅 후
(30 cycle, ~2 nm)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8000" y="3996000"/>
            <a:ext cx="342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균일 비결정질 코팅층
두께: 2.1 ± 0.2 nm
격자-코팅 계면 명확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80000" y="827999"/>
            <a:ext cx="3600000" cy="3060000"/>
          </a:xfrm>
          <a:prstGeom prst="rect">
            <a:avLst/>
          </a:prstGeom>
          <a:solidFill>
            <a:srgbClr val="1A1A2E"/>
          </a:solidFill>
          <a:ln w="2540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[TEM 이미지
삽입 예정]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80000" y="827999"/>
            <a:ext cx="3600000" cy="324000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  <a:latin typeface="맑은 고딕"/>
              </a:rPr>
              <a:t>TiO₂ 코팅층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80000" y="827999"/>
            <a:ext cx="3600000" cy="288000"/>
          </a:xfrm>
          <a:prstGeom prst="rect">
            <a:avLst/>
          </a:prstGeom>
          <a:solidFill>
            <a:srgbClr val="378610"/>
          </a:solidFill>
          <a:ln w="1905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TiO₂ ALD 코팅 후
(50 cycle, ~3.5 nm)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8000" y="3996000"/>
            <a:ext cx="342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균일 비결정질 코팅층
두께: 3.4 ± 0.3 nm
GPC × 사이클 일치 확인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0000" y="5220000"/>
            <a:ext cx="11520000" cy="288000"/>
          </a:xfrm>
          <a:prstGeom prst="rect">
            <a:avLst/>
          </a:prstGeom>
          <a:solidFill>
            <a:srgbClr val="1F497D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GPC 예측값 검증 (배치식 ALD #1, TiO₂, ~200°C)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5544000"/>
            <a:ext cx="2880000" cy="244800"/>
          </a:xfrm>
          <a:prstGeom prst="rect">
            <a:avLst/>
          </a:prstGeom>
          <a:solidFill>
            <a:srgbClr val="2E74B5"/>
          </a:solidFill>
          <a:ln w="63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사이클 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0000" y="5544000"/>
            <a:ext cx="2880000" cy="244800"/>
          </a:xfrm>
          <a:prstGeom prst="rect">
            <a:avLst/>
          </a:prstGeom>
          <a:solidFill>
            <a:srgbClr val="2E74B5"/>
          </a:solidFill>
          <a:ln w="63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예측 두께 (GPC × cycle)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0000" y="5544000"/>
            <a:ext cx="2880000" cy="244800"/>
          </a:xfrm>
          <a:prstGeom prst="rect">
            <a:avLst/>
          </a:prstGeom>
          <a:solidFill>
            <a:srgbClr val="2E74B5"/>
          </a:solidFill>
          <a:ln w="63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TEM 측정값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00000" y="5544000"/>
            <a:ext cx="2880000" cy="244800"/>
          </a:xfrm>
          <a:prstGeom prst="rect">
            <a:avLst/>
          </a:prstGeom>
          <a:solidFill>
            <a:srgbClr val="2E74B5"/>
          </a:solidFill>
          <a:ln w="63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맑은 고딕"/>
              </a:rPr>
              <a:t>오차 (%)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0000" y="5796000"/>
            <a:ext cx="2880000" cy="244800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00000"/>
                </a:solidFill>
                <a:latin typeface="맑은 고딕"/>
              </a:rPr>
              <a:t>30 cycle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0000" y="5796000"/>
            <a:ext cx="2880000" cy="244800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00000"/>
                </a:solidFill>
                <a:latin typeface="맑은 고딕"/>
              </a:rPr>
              <a:t>≈ 2.1 nm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0000" y="5796000"/>
            <a:ext cx="2880000" cy="244800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00000"/>
                </a:solidFill>
                <a:latin typeface="맑은 고딕"/>
              </a:rPr>
              <a:t>2.1 ± 0.2 nm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00000" y="5796000"/>
            <a:ext cx="2880000" cy="244800"/>
          </a:xfrm>
          <a:prstGeom prst="rect">
            <a:avLst/>
          </a:prstGeom>
          <a:solidFill>
            <a:srgbClr val="FFFFFF"/>
          </a:solidFill>
          <a:ln w="63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00000"/>
                </a:solidFill>
                <a:latin typeface="맑은 고딕"/>
              </a:rPr>
              <a:t>&lt;10%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0000" y="6048000"/>
            <a:ext cx="2880000" cy="244800"/>
          </a:xfrm>
          <a:prstGeom prst="rect">
            <a:avLst/>
          </a:prstGeom>
          <a:solidFill>
            <a:srgbClr val="E2EFDA"/>
          </a:solidFill>
          <a:ln w="63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00000"/>
                </a:solidFill>
                <a:latin typeface="맑은 고딕"/>
              </a:rPr>
              <a:t>50 cycle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0000" y="6048000"/>
            <a:ext cx="2880000" cy="244800"/>
          </a:xfrm>
          <a:prstGeom prst="rect">
            <a:avLst/>
          </a:prstGeom>
          <a:solidFill>
            <a:srgbClr val="E2EFDA"/>
          </a:solidFill>
          <a:ln w="63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00000"/>
                </a:solidFill>
                <a:latin typeface="맑은 고딕"/>
              </a:rPr>
              <a:t>≈ 3.5 nm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0000" y="6048000"/>
            <a:ext cx="2880000" cy="244800"/>
          </a:xfrm>
          <a:prstGeom prst="rect">
            <a:avLst/>
          </a:prstGeom>
          <a:solidFill>
            <a:srgbClr val="E2EFDA"/>
          </a:solidFill>
          <a:ln w="63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00000"/>
                </a:solidFill>
                <a:latin typeface="맑은 고딕"/>
              </a:rPr>
              <a:t>3.4 ± 0.3 nm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00000" y="6048000"/>
            <a:ext cx="2880000" cy="244800"/>
          </a:xfrm>
          <a:prstGeom prst="rect">
            <a:avLst/>
          </a:prstGeom>
          <a:solidFill>
            <a:srgbClr val="E2EFDA"/>
          </a:solidFill>
          <a:ln w="635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000000"/>
                </a:solidFill>
                <a:latin typeface="맑은 고딕"/>
              </a:rPr>
              <a:t>&lt;5%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0000" y="144000"/>
            <a:ext cx="11833200" cy="503999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그림 11.  배치식 ALD 코팅(TiO₂/Al₂O₃) 전후 Coin Cell 초기 충방전 곡선 비교
(Na 반전극, 0.1C, 2.0–4.2V)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000" y="1007999"/>
            <a:ext cx="7200000" cy="43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0" y="5399999"/>
            <a:ext cx="72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497D"/>
                </a:solidFill>
                <a:latin typeface="맑은 고딕"/>
              </a:rPr>
              <a:t>비용량 (mAh/g)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3023999"/>
            <a:ext cx="503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F497D"/>
                </a:solidFill>
                <a:latin typeface="맑은 고딕"/>
              </a:rPr>
              <a:t>전압
(V vs.
Na/Na⁺)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6000" y="5313599"/>
            <a:ext cx="54000" cy="288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5219999"/>
            <a:ext cx="28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1F497D"/>
                </a:solidFill>
                <a:latin typeface="맑은 고딕"/>
              </a:rPr>
              <a:t>2.0</a:t>
            </a:r>
          </a:p>
        </p:txBody>
      </p:sp>
      <p:sp>
        <p:nvSpPr>
          <p:cNvPr id="8" name="Rectangle 7"/>
          <p:cNvSpPr/>
          <p:nvPr/>
        </p:nvSpPr>
        <p:spPr>
          <a:xfrm>
            <a:off x="1026000" y="4331780"/>
            <a:ext cx="54000" cy="288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000" y="4238180"/>
            <a:ext cx="28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1F497D"/>
                </a:solidFill>
                <a:latin typeface="맑은 고딕"/>
              </a:rPr>
              <a:t>2.5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26000" y="3349962"/>
            <a:ext cx="54000" cy="288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3256362"/>
            <a:ext cx="28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1F497D"/>
                </a:solidFill>
                <a:latin typeface="맑은 고딕"/>
              </a:rPr>
              <a:t>3.0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6000" y="2368144"/>
            <a:ext cx="54000" cy="288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000" y="2274544"/>
            <a:ext cx="28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1F497D"/>
                </a:solidFill>
                <a:latin typeface="맑은 고딕"/>
              </a:rPr>
              <a:t>3.5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26000" y="1386326"/>
            <a:ext cx="54000" cy="288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0000" y="1292726"/>
            <a:ext cx="28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1F497D"/>
                </a:solidFill>
                <a:latin typeface="맑은 고딕"/>
              </a:rPr>
              <a:t>4.0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26000" y="993599"/>
            <a:ext cx="54000" cy="288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0000" y="899999"/>
            <a:ext cx="28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1F497D"/>
                </a:solidFill>
                <a:latin typeface="맑은 고딕"/>
              </a:rPr>
              <a:t>4.2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80000" y="2382544"/>
            <a:ext cx="978000" cy="2963454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40000" y="1793453"/>
            <a:ext cx="978000" cy="60709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000000" y="1400726"/>
            <a:ext cx="1938000" cy="410727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20000" y="1204362"/>
            <a:ext cx="978000" cy="214363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80000" y="1106180"/>
            <a:ext cx="498000" cy="116181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60000" y="1007999"/>
            <a:ext cx="498000" cy="116181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00000" y="1007999"/>
            <a:ext cx="258000" cy="116181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880000" y="1106180"/>
            <a:ext cx="738000" cy="116181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20000" y="1204362"/>
            <a:ext cx="978000" cy="410727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960000" y="1597089"/>
            <a:ext cx="978000" cy="410727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520000" y="1989817"/>
            <a:ext cx="1458000" cy="60709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80000" y="2578908"/>
            <a:ext cx="1458000" cy="2374363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80000" y="2382544"/>
            <a:ext cx="1218000" cy="296345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0000" y="1793453"/>
            <a:ext cx="1218000" cy="60709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80000" y="1400726"/>
            <a:ext cx="1938000" cy="410727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00000" y="1204362"/>
            <a:ext cx="1218000" cy="214363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600000" y="1106180"/>
            <a:ext cx="498000" cy="11618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080000" y="1007999"/>
            <a:ext cx="258000" cy="11618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080000" y="1007999"/>
            <a:ext cx="258000" cy="11618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60000" y="1106180"/>
            <a:ext cx="738000" cy="11618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00000" y="1204362"/>
            <a:ext cx="978000" cy="31254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440000" y="1498908"/>
            <a:ext cx="978000" cy="410727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000000" y="1891635"/>
            <a:ext cx="1458000" cy="508909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320000" y="2382544"/>
            <a:ext cx="1698000" cy="2570727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80000" y="2382544"/>
            <a:ext cx="1074000" cy="296345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136000" y="1793453"/>
            <a:ext cx="1266000" cy="60709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384000" y="1400726"/>
            <a:ext cx="1938000" cy="410727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304000" y="1204362"/>
            <a:ext cx="1170000" cy="214363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56000" y="1106180"/>
            <a:ext cx="498000" cy="116181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936000" y="1007999"/>
            <a:ext cx="306000" cy="116181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936000" y="1007999"/>
            <a:ext cx="306000" cy="116181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64000" y="1106180"/>
            <a:ext cx="690000" cy="116181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304000" y="1204362"/>
            <a:ext cx="978000" cy="312545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344000" y="1498908"/>
            <a:ext cx="978000" cy="410727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904000" y="1891635"/>
            <a:ext cx="1458000" cy="508909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224000" y="2382544"/>
            <a:ext cx="1698000" cy="2570727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800000" y="792000"/>
            <a:ext cx="432000" cy="1440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04000" y="756000"/>
            <a:ext cx="16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Bare (미코팅)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960000" y="792000"/>
            <a:ext cx="432000" cy="144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64000" y="756000"/>
            <a:ext cx="16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D7D31"/>
                </a:solidFill>
                <a:latin typeface="맑은 고딕"/>
              </a:rPr>
              <a:t>TiO₂ ALD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20000" y="792000"/>
            <a:ext cx="432000" cy="144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23999" y="756000"/>
            <a:ext cx="16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74B5"/>
                </a:solidFill>
                <a:latin typeface="맑은 고딕"/>
              </a:rPr>
              <a:t>Al₂O₃ ALD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460000" y="1007999"/>
            <a:ext cx="3600000" cy="4320000"/>
          </a:xfrm>
          <a:prstGeom prst="roundRect">
            <a:avLst/>
          </a:prstGeom>
          <a:solidFill>
            <a:srgbClr val="D6DCE4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460000" y="1007999"/>
            <a:ext cx="3600000" cy="324000"/>
          </a:xfrm>
          <a:prstGeom prst="rect">
            <a:avLst/>
          </a:prstGeom>
          <a:solidFill>
            <a:srgbClr val="1F497D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1차년도 평가 목표값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568000" y="1440000"/>
            <a:ext cx="34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497D"/>
                </a:solidFill>
                <a:latin typeface="맑은 고딕"/>
              </a:rPr>
              <a:t>초기 방전 용량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68000" y="1692000"/>
            <a:ext cx="34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D7D31"/>
                </a:solidFill>
                <a:latin typeface="맑은 고딕"/>
              </a:rPr>
              <a:t>  → ≥ 120 mAh/g  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68000" y="2088000"/>
            <a:ext cx="34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497D"/>
                </a:solidFill>
                <a:latin typeface="맑은 고딕"/>
              </a:rPr>
              <a:t>초기 쿨롱 효율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68000" y="2340000"/>
            <a:ext cx="34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D7D31"/>
                </a:solidFill>
                <a:latin typeface="맑은 고딕"/>
              </a:rPr>
              <a:t>  → ≥ 80%  (목표치)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68000" y="2736000"/>
            <a:ext cx="34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497D"/>
                </a:solidFill>
                <a:latin typeface="맑은 고딕"/>
              </a:rPr>
              <a:t>계면저항 (EIS)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68000" y="2988000"/>
            <a:ext cx="34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D7D31"/>
                </a:solidFill>
                <a:latin typeface="맑은 고딕"/>
              </a:rPr>
              <a:t>  → ≤ 70 Ω·cm²  코팅 후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568000" y="3384000"/>
            <a:ext cx="34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497D"/>
                </a:solidFill>
                <a:latin typeface="맑은 고딕"/>
              </a:rPr>
              <a:t>코팅 피복률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568000" y="3636000"/>
            <a:ext cx="34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D7D31"/>
                </a:solidFill>
                <a:latin typeface="맑은 고딕"/>
              </a:rPr>
              <a:t>  → ≥ 85%  TEM/XPS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68000" y="4031999"/>
            <a:ext cx="34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497D"/>
                </a:solidFill>
                <a:latin typeface="맑은 고딕"/>
              </a:rPr>
              <a:t>GPC 재현성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568000" y="4284000"/>
            <a:ext cx="34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ED7D31"/>
                </a:solidFill>
                <a:latin typeface="맑은 고딕"/>
              </a:rPr>
              <a:t>  → ≤ 15%  배치 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0000" y="144000"/>
            <a:ext cx="11833200" cy="503999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그림 12.  2차년도: 4종 ALD 레시피 완성 → 대성기계 OPERIO 10 이전·검증·피드백 루프 흐름도</a:t>
            </a:r>
          </a:p>
        </p:txBody>
      </p:sp>
      <p:sp>
        <p:nvSpPr>
          <p:cNvPr id="3" name="Rectangle 2"/>
          <p:cNvSpPr/>
          <p:nvPr/>
        </p:nvSpPr>
        <p:spPr>
          <a:xfrm>
            <a:off x="180000" y="792000"/>
            <a:ext cx="5040000" cy="5040000"/>
          </a:xfrm>
          <a:prstGeom prst="rect">
            <a:avLst/>
          </a:prstGeom>
          <a:solidFill>
            <a:srgbClr val="E6F0F8"/>
          </a:solidFill>
          <a:ln w="254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0000" y="792000"/>
            <a:ext cx="5040000" cy="324000"/>
          </a:xfrm>
          <a:prstGeom prst="rect">
            <a:avLst/>
          </a:prstGeom>
          <a:solidFill>
            <a:srgbClr val="2E74B5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한국기계연구원 (2차년도 추가)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8000" y="1260000"/>
            <a:ext cx="2160000" cy="9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B2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7B2F8E"/>
                </a:solidFill>
                <a:latin typeface="맑은 고딕"/>
              </a:rPr>
              <a:t>ALD #1
V₂O₅ (VTIP/H₂O)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00" y="2700000"/>
            <a:ext cx="2160000" cy="9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0070C0"/>
                </a:solidFill>
                <a:latin typeface="맑은 고딕"/>
              </a:rPr>
              <a:t>ALD #2
ZnO (DEZn/H₂O)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3671999"/>
            <a:ext cx="48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1차 확립 완료:
  • TiO₂ (ALD #1) + Al₂O₃ (ALD #2)
2차 신규 개발:
  • V₂O₅ (ALD #1) + ZnO (ALD #2)
→ 4종 레시피 DB 완성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220000" y="3240000"/>
            <a:ext cx="900000" cy="0"/>
          </a:xfrm>
          <a:prstGeom prst="line">
            <a:avLst/>
          </a:prstGeom>
          <a:ln w="50800">
            <a:solidFill>
              <a:srgbClr val="ED7D31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148000" y="2880000"/>
            <a:ext cx="1152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D7D31"/>
                </a:solidFill>
                <a:latin typeface="맑은 고딕"/>
              </a:rPr>
              <a:t>레시피
이전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0000" y="2160000"/>
            <a:ext cx="3240000" cy="2160000"/>
          </a:xfrm>
          <a:prstGeom prst="rect">
            <a:avLst/>
          </a:prstGeom>
          <a:solidFill>
            <a:srgbClr val="E2EFDA"/>
          </a:solidFill>
          <a:ln w="3175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0000" y="2160000"/>
            <a:ext cx="3240000" cy="324000"/>
          </a:xfrm>
          <a:prstGeom prst="rect">
            <a:avLst/>
          </a:prstGeom>
          <a:solidFill>
            <a:srgbClr val="378610"/>
          </a:solidFill>
          <a:ln w="1905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</a:rPr>
              <a:t>대성기계 OPERIO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28000" y="2556000"/>
            <a:ext cx="306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4종 레시피 적용
• TiO₂ / Al₂O₃ (1차 이전)
• V₂O₅ / ZnO (2차 이전)
RTD 기반 공정 최적화
처리량 향상 (kg/h 단위)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360000" y="3240000"/>
            <a:ext cx="720000" cy="0"/>
          </a:xfrm>
          <a:prstGeom prst="line">
            <a:avLst/>
          </a:prstGeom>
          <a:ln w="25400">
            <a:solidFill>
              <a:srgbClr val="595959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288000" y="2951999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95959"/>
                </a:solidFill>
                <a:latin typeface="맑은 고딕"/>
              </a:rPr>
              <a:t>시료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80000" y="2160000"/>
            <a:ext cx="1980000" cy="2160000"/>
          </a:xfrm>
          <a:prstGeom prst="roundRect">
            <a:avLst/>
          </a:prstGeom>
          <a:solidFill>
            <a:srgbClr val="D6DCE4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080000" y="2160000"/>
            <a:ext cx="1980000" cy="306000"/>
          </a:xfrm>
          <a:prstGeom prst="rect">
            <a:avLst/>
          </a:prstGeom>
          <a:solidFill>
            <a:srgbClr val="1F497D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기계연 분석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52000" y="2520000"/>
            <a:ext cx="180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HRTEM/EELS
Raman/FTIR
XPS
SEM-EDX
→ 품질 확인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070000" y="4320000"/>
            <a:ext cx="0" cy="900000"/>
          </a:xfrm>
          <a:prstGeom prst="line">
            <a:avLst/>
          </a:prstGeom>
          <a:ln w="25400">
            <a:solidFill>
              <a:srgbClr val="C0000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420000" y="5220000"/>
            <a:ext cx="7650000" cy="0"/>
          </a:xfrm>
          <a:prstGeom prst="line">
            <a:avLst/>
          </a:prstGeom>
          <a:ln w="25400">
            <a:solidFill>
              <a:srgbClr val="C0000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420000" y="5040000"/>
            <a:ext cx="0" cy="180000"/>
          </a:xfrm>
          <a:prstGeom prst="line">
            <a:avLst/>
          </a:prstGeom>
          <a:ln w="25400">
            <a:solidFill>
              <a:srgbClr val="C0000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040000" y="4968000"/>
            <a:ext cx="46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00000"/>
                </a:solidFill>
                <a:latin typeface="맑은 고딕"/>
              </a:rPr>
              <a:t>← 피드백: 레시피 수정·재이전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0000" y="4680000"/>
            <a:ext cx="3600000" cy="900000"/>
          </a:xfrm>
          <a:prstGeom prst="roundRect">
            <a:avLst/>
          </a:prstGeom>
          <a:solidFill>
            <a:srgbClr val="FFF2CC"/>
          </a:solidFill>
          <a:ln w="254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1F497D"/>
                </a:solidFill>
                <a:latin typeface="맑은 고딕"/>
              </a:rPr>
              <a:t>전기화학 평가
Coin Cell 100 cycle @ 0.5C
→ 용량 유지율 ≥ 85%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0000" y="144000"/>
            <a:ext cx="11833200" cy="503999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그림 13.  HRTEM을 통한 배치식 ALD vs. 연속식 ALD(OPERIO 10) 코팅층 품질 비교
— 레시피 이전 적합성 검증</a:t>
            </a:r>
          </a:p>
        </p:txBody>
      </p:sp>
      <p:sp>
        <p:nvSpPr>
          <p:cNvPr id="3" name="Rectangle 2"/>
          <p:cNvSpPr/>
          <p:nvPr/>
        </p:nvSpPr>
        <p:spPr>
          <a:xfrm>
            <a:off x="540000" y="792000"/>
            <a:ext cx="5040000" cy="324000"/>
          </a:xfrm>
          <a:prstGeom prst="rect">
            <a:avLst/>
          </a:prstGeom>
          <a:solidFill>
            <a:srgbClr val="2E74B5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배치식 ALD
(기계연, 레시피 원본)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1152000"/>
            <a:ext cx="5040000" cy="2880000"/>
          </a:xfrm>
          <a:prstGeom prst="rect">
            <a:avLst/>
          </a:prstGeom>
          <a:solidFill>
            <a:srgbClr val="0D0D1A"/>
          </a:solidFill>
          <a:ln w="254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[HRTEM 이미지
삽입 예정]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52000"/>
            <a:ext cx="5040000" cy="180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  <a:latin typeface="맑은 고딕"/>
              </a:rPr>
              <a:t>TiO₂ ALD 코팅층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4104000"/>
            <a:ext cx="48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균일 비결정질 TiO₂ 코팅층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4374000"/>
            <a:ext cx="48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두께: 2.0 ± 0.15 nm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4644000"/>
            <a:ext cx="48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계면 선명, 핀홀 없음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4914000"/>
            <a:ext cx="48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GPC × 사이클 정확 일치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0000" y="792000"/>
            <a:ext cx="5040000" cy="324000"/>
          </a:xfrm>
          <a:prstGeom prst="rect">
            <a:avLst/>
          </a:prstGeom>
          <a:solidFill>
            <a:srgbClr val="378610"/>
          </a:solidFill>
          <a:ln w="1905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연속식 ALD
(대성기계 OPERIO 10)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0000" y="1152000"/>
            <a:ext cx="5040000" cy="2880000"/>
          </a:xfrm>
          <a:prstGeom prst="rect">
            <a:avLst/>
          </a:prstGeom>
          <a:solidFill>
            <a:srgbClr val="0D0D1A"/>
          </a:solidFill>
          <a:ln w="2540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FFFFFF"/>
                </a:solidFill>
                <a:latin typeface="맑은 고딕"/>
              </a:rPr>
              <a:t>[HRTEM 이미지
삽입 예정]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0000" y="1152000"/>
            <a:ext cx="5040000" cy="180000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FFFFFF"/>
                </a:solidFill>
                <a:latin typeface="맑은 고딕"/>
              </a:rPr>
              <a:t>TiO₂ ALD 코팅층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8000" y="4104000"/>
            <a:ext cx="48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레시피 이전 후 코팅층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8000" y="4374000"/>
            <a:ext cx="48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두께: 2.1 ± 0.25 nm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8000" y="4644000"/>
            <a:ext cx="48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계면 선명도 배치와 유사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8000" y="4914000"/>
            <a:ext cx="486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피복률 ≥ 90% 목표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0000" y="5220000"/>
            <a:ext cx="11160000" cy="720000"/>
          </a:xfrm>
          <a:prstGeom prst="rect">
            <a:avLst/>
          </a:prstGeom>
          <a:solidFill>
            <a:srgbClr val="E2EFDA"/>
          </a:solidFill>
          <a:ln w="1905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000" y="5292000"/>
            <a:ext cx="1098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맑은 고딕"/>
              </a:rPr>
              <a:t>검증 기준: 배치식 ALD 두께 대비 연속식 ALD 두께 편차 ≤ 10%  →  레시피 이전 성공 판정
→ 편차 &gt; 10%일 경우 기계연-대성기계 피드백 루프로 레시피 재조정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0000" y="144000"/>
            <a:ext cx="11833200" cy="503999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그림 14.  4종 ALD 코팅 전후 고-Ni 층상 양극재 Raman 스펙트럼 비교
(양극재 구조 보존 및 코팅층 상(Phase) 확인)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007999"/>
            <a:ext cx="7560000" cy="43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5399999"/>
            <a:ext cx="75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497D"/>
                </a:solidFill>
                <a:latin typeface="맑은 고딕"/>
              </a:rPr>
              <a:t>Raman Shift (cm⁻¹)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000" y="3059999"/>
            <a:ext cx="503999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497D"/>
                </a:solidFill>
                <a:latin typeface="맑은 고딕"/>
              </a:rPr>
              <a:t>강도 (a.u.)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67000" y="5152604"/>
            <a:ext cx="21600" cy="175394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85900" y="5071522"/>
            <a:ext cx="21600" cy="256476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04800" y="4967662"/>
            <a:ext cx="21600" cy="360336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3700" y="4841595"/>
            <a:ext cx="21600" cy="486403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42600" y="4697168"/>
            <a:ext cx="21600" cy="63083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61500" y="4541935"/>
            <a:ext cx="21600" cy="786063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180400" y="4386909"/>
            <a:ext cx="21600" cy="941089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99300" y="4245488"/>
            <a:ext cx="21600" cy="108251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18200" y="4131640"/>
            <a:ext cx="21600" cy="119635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37100" y="4057661"/>
            <a:ext cx="21600" cy="1270337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256000" y="4031999"/>
            <a:ext cx="21600" cy="12960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274900" y="4057661"/>
            <a:ext cx="21600" cy="1270337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93800" y="4131640"/>
            <a:ext cx="21600" cy="119635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12700" y="4245488"/>
            <a:ext cx="21600" cy="108251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331600" y="4386909"/>
            <a:ext cx="21600" cy="941089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50500" y="4541935"/>
            <a:ext cx="21600" cy="786063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69400" y="4697168"/>
            <a:ext cx="21600" cy="63083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88300" y="4841595"/>
            <a:ext cx="21600" cy="486403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07200" y="4967662"/>
            <a:ext cx="21600" cy="360336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26100" y="5071522"/>
            <a:ext cx="21600" cy="256476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45000" y="5152604"/>
            <a:ext cx="21600" cy="175394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68000" y="3780000"/>
            <a:ext cx="57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95959"/>
                </a:solidFill>
                <a:latin typeface="맑은 고딕"/>
              </a:rPr>
              <a:t>A₁g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06500" y="5035674"/>
            <a:ext cx="21600" cy="292324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5400" y="4900537"/>
            <a:ext cx="21600" cy="427461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44300" y="4727438"/>
            <a:ext cx="21600" cy="60056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63200" y="4517327"/>
            <a:ext cx="21600" cy="810671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82100" y="4276614"/>
            <a:ext cx="21600" cy="1051384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01000" y="4017892"/>
            <a:ext cx="21600" cy="1310106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9900" y="3759517"/>
            <a:ext cx="21600" cy="1568481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38800" y="3523815"/>
            <a:ext cx="21600" cy="1804183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57700" y="3334067"/>
            <a:ext cx="21600" cy="1993931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76600" y="3210769"/>
            <a:ext cx="21600" cy="2117229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95500" y="3167999"/>
            <a:ext cx="21600" cy="21600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14400" y="3210769"/>
            <a:ext cx="21600" cy="2117229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33300" y="3334067"/>
            <a:ext cx="21600" cy="1993931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352200" y="3523815"/>
            <a:ext cx="21600" cy="1804183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71100" y="3759517"/>
            <a:ext cx="21600" cy="1568481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90000" y="4017892"/>
            <a:ext cx="21600" cy="1310106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08900" y="4276614"/>
            <a:ext cx="21600" cy="1051384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27800" y="4517327"/>
            <a:ext cx="21600" cy="810671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46700" y="4727438"/>
            <a:ext cx="21600" cy="60056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65600" y="4900537"/>
            <a:ext cx="21600" cy="427461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84500" y="5035674"/>
            <a:ext cx="21600" cy="292324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07500" y="2916000"/>
            <a:ext cx="57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595959"/>
                </a:solidFill>
                <a:latin typeface="맑은 고딕"/>
              </a:rPr>
              <a:t>Eg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57000" y="5211069"/>
            <a:ext cx="21600" cy="116929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75900" y="5157014"/>
            <a:ext cx="21600" cy="170984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994800" y="5087774"/>
            <a:ext cx="21600" cy="240224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013700" y="5003730"/>
            <a:ext cx="21600" cy="32426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032600" y="4907445"/>
            <a:ext cx="21600" cy="420553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051500" y="4803956"/>
            <a:ext cx="21600" cy="524042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070400" y="4700606"/>
            <a:ext cx="21600" cy="627392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089300" y="4606325"/>
            <a:ext cx="21600" cy="721673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08200" y="4530426"/>
            <a:ext cx="21600" cy="797572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127100" y="4481107"/>
            <a:ext cx="21600" cy="846891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146000" y="4463999"/>
            <a:ext cx="21600" cy="8640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64900" y="4481107"/>
            <a:ext cx="21600" cy="846891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183800" y="4530426"/>
            <a:ext cx="21600" cy="797572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202700" y="4606325"/>
            <a:ext cx="21600" cy="721673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221600" y="4700606"/>
            <a:ext cx="21600" cy="627392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240500" y="4803956"/>
            <a:ext cx="21600" cy="524042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259400" y="4907445"/>
            <a:ext cx="21600" cy="420553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278300" y="5003730"/>
            <a:ext cx="21600" cy="32426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297200" y="5087774"/>
            <a:ext cx="21600" cy="240224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316100" y="5157014"/>
            <a:ext cx="21600" cy="170984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335000" y="5211069"/>
            <a:ext cx="21600" cy="116929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067000" y="5152604"/>
            <a:ext cx="21600" cy="17539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085900" y="5071522"/>
            <a:ext cx="21600" cy="2564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104800" y="4967662"/>
            <a:ext cx="21600" cy="36033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123700" y="4841595"/>
            <a:ext cx="21600" cy="486403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142600" y="4697168"/>
            <a:ext cx="21600" cy="63083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161500" y="4541935"/>
            <a:ext cx="21600" cy="786063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180400" y="4386909"/>
            <a:ext cx="21600" cy="941089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199300" y="4245488"/>
            <a:ext cx="21600" cy="108251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218200" y="4131640"/>
            <a:ext cx="21600" cy="119635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237100" y="4057661"/>
            <a:ext cx="21600" cy="1270337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256000" y="4031999"/>
            <a:ext cx="21600" cy="1296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5274900" y="4057661"/>
            <a:ext cx="21600" cy="1270337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293800" y="4131640"/>
            <a:ext cx="21600" cy="119635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5312700" y="4245488"/>
            <a:ext cx="21600" cy="108251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5331600" y="4386909"/>
            <a:ext cx="21600" cy="941089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350500" y="4541935"/>
            <a:ext cx="21600" cy="786063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5369400" y="4697168"/>
            <a:ext cx="21600" cy="63083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5388300" y="4841595"/>
            <a:ext cx="21600" cy="486403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5407200" y="4967662"/>
            <a:ext cx="21600" cy="36033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5426100" y="5071522"/>
            <a:ext cx="21600" cy="2564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445000" y="5152604"/>
            <a:ext cx="21600" cy="17539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106500" y="5035674"/>
            <a:ext cx="21600" cy="29232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125400" y="4900537"/>
            <a:ext cx="21600" cy="42746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144300" y="4727438"/>
            <a:ext cx="21600" cy="6005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163200" y="4517327"/>
            <a:ext cx="21600" cy="81067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182100" y="4276614"/>
            <a:ext cx="21600" cy="105138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201000" y="4017892"/>
            <a:ext cx="21600" cy="131010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6219900" y="3759517"/>
            <a:ext cx="21600" cy="156848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6238800" y="3523815"/>
            <a:ext cx="21600" cy="1804183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257700" y="3334067"/>
            <a:ext cx="21600" cy="199393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276600" y="3210769"/>
            <a:ext cx="21600" cy="2117229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295500" y="3167999"/>
            <a:ext cx="21600" cy="216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314400" y="3210769"/>
            <a:ext cx="21600" cy="2117229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333300" y="3334067"/>
            <a:ext cx="21600" cy="199393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352200" y="3523815"/>
            <a:ext cx="21600" cy="1804183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6371100" y="3759517"/>
            <a:ext cx="21600" cy="156848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390000" y="4017892"/>
            <a:ext cx="21600" cy="131010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6408900" y="4276614"/>
            <a:ext cx="21600" cy="105138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6427800" y="4517327"/>
            <a:ext cx="21600" cy="81067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446700" y="4727438"/>
            <a:ext cx="21600" cy="60056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465600" y="4900537"/>
            <a:ext cx="21600" cy="42746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484500" y="5035674"/>
            <a:ext cx="21600" cy="29232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957000" y="5211069"/>
            <a:ext cx="21600" cy="116929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6975900" y="5157014"/>
            <a:ext cx="21600" cy="17098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6994800" y="5087774"/>
            <a:ext cx="21600" cy="24022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7013700" y="5003730"/>
            <a:ext cx="21600" cy="3242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7032600" y="4907445"/>
            <a:ext cx="21600" cy="420553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7051500" y="4803956"/>
            <a:ext cx="21600" cy="52404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7070400" y="4700606"/>
            <a:ext cx="21600" cy="6273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7089300" y="4606325"/>
            <a:ext cx="21600" cy="721673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7108200" y="4530426"/>
            <a:ext cx="21600" cy="79757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7127100" y="4481107"/>
            <a:ext cx="21600" cy="84689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7146000" y="4463999"/>
            <a:ext cx="21600" cy="864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7164900" y="4481107"/>
            <a:ext cx="21600" cy="84689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7183800" y="4530426"/>
            <a:ext cx="21600" cy="79757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7202700" y="4606325"/>
            <a:ext cx="21600" cy="721673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7221600" y="4700606"/>
            <a:ext cx="21600" cy="6273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7240500" y="4803956"/>
            <a:ext cx="21600" cy="52404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7259400" y="4907445"/>
            <a:ext cx="21600" cy="420553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7278300" y="5003730"/>
            <a:ext cx="21600" cy="32426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7297200" y="5087774"/>
            <a:ext cx="21600" cy="24022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7316100" y="5157014"/>
            <a:ext cx="21600" cy="17098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7335000" y="5211069"/>
            <a:ext cx="21600" cy="116929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901250" y="5164297"/>
            <a:ext cx="21600" cy="16370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920150" y="5088620"/>
            <a:ext cx="21600" cy="23937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1939050" y="4991685"/>
            <a:ext cx="21600" cy="336313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1957950" y="4874022"/>
            <a:ext cx="21600" cy="4539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1976850" y="4739223"/>
            <a:ext cx="21600" cy="5887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1995750" y="4594339"/>
            <a:ext cx="21600" cy="733659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2014650" y="4449649"/>
            <a:ext cx="21600" cy="878349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2033550" y="4317656"/>
            <a:ext cx="21600" cy="101034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2052450" y="4211397"/>
            <a:ext cx="21600" cy="111660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2071350" y="4142350"/>
            <a:ext cx="21600" cy="118564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2090250" y="4118399"/>
            <a:ext cx="21600" cy="1209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2109150" y="4142350"/>
            <a:ext cx="21600" cy="118564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2128050" y="4211397"/>
            <a:ext cx="21600" cy="111660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2146950" y="4317656"/>
            <a:ext cx="21600" cy="101034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2165850" y="4449649"/>
            <a:ext cx="21600" cy="878349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2184750" y="4594339"/>
            <a:ext cx="21600" cy="733659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2203650" y="4739223"/>
            <a:ext cx="21600" cy="58877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2222550" y="4874022"/>
            <a:ext cx="21600" cy="4539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2241450" y="4991685"/>
            <a:ext cx="21600" cy="336313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2260350" y="5088620"/>
            <a:ext cx="21600" cy="23937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2279250" y="5164297"/>
            <a:ext cx="21600" cy="16370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1802250" y="3866400"/>
            <a:ext cx="57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ED7D31"/>
                </a:solidFill>
                <a:latin typeface="맑은 고딕"/>
              </a:rPr>
              <a:t>Eg(TiO₂)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4263750" y="5257841"/>
            <a:ext cx="21600" cy="70157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4282650" y="5225408"/>
            <a:ext cx="21600" cy="10259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4301550" y="5183864"/>
            <a:ext cx="21600" cy="14413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4320450" y="5133437"/>
            <a:ext cx="21600" cy="19456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4339350" y="5075666"/>
            <a:ext cx="21600" cy="25233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4358250" y="5013573"/>
            <a:ext cx="21600" cy="31442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4377150" y="4951563"/>
            <a:ext cx="21600" cy="37643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4396050" y="4894994"/>
            <a:ext cx="21600" cy="43300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4414950" y="4849455"/>
            <a:ext cx="21600" cy="478543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4433850" y="4819864"/>
            <a:ext cx="21600" cy="50813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4452750" y="4809599"/>
            <a:ext cx="21600" cy="5184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4471650" y="4819864"/>
            <a:ext cx="21600" cy="50813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4490550" y="4849455"/>
            <a:ext cx="21600" cy="478543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4509450" y="4894994"/>
            <a:ext cx="21600" cy="43300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4528350" y="4951563"/>
            <a:ext cx="21600" cy="37643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4547250" y="5013573"/>
            <a:ext cx="21600" cy="31442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4566150" y="5075666"/>
            <a:ext cx="21600" cy="25233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4585050" y="5133437"/>
            <a:ext cx="21600" cy="19456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4603950" y="5183864"/>
            <a:ext cx="21600" cy="14413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4622850" y="5225408"/>
            <a:ext cx="21600" cy="10259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4641750" y="5257841"/>
            <a:ext cx="21600" cy="70157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4164750" y="4557600"/>
            <a:ext cx="57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ED7D31"/>
                </a:solidFill>
                <a:latin typeface="맑은 고딕"/>
              </a:rPr>
              <a:t>B1g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5397750" y="5281227"/>
            <a:ext cx="21600" cy="4677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5416650" y="5259605"/>
            <a:ext cx="21600" cy="68393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5435550" y="5231909"/>
            <a:ext cx="21600" cy="96089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5454450" y="5198291"/>
            <a:ext cx="21600" cy="129707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5473350" y="5159777"/>
            <a:ext cx="21600" cy="16822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5492250" y="5118382"/>
            <a:ext cx="21600" cy="2096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5511150" y="5077041"/>
            <a:ext cx="21600" cy="250957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530050" y="5039329"/>
            <a:ext cx="21600" cy="288669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5548950" y="5008969"/>
            <a:ext cx="21600" cy="319029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5567850" y="4989242"/>
            <a:ext cx="21600" cy="33875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5586750" y="4982399"/>
            <a:ext cx="21600" cy="3456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5605650" y="4989242"/>
            <a:ext cx="21600" cy="33875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5624550" y="5008969"/>
            <a:ext cx="21600" cy="319029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5643450" y="5039329"/>
            <a:ext cx="21600" cy="288669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5662350" y="5077041"/>
            <a:ext cx="21600" cy="250957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681250" y="5118382"/>
            <a:ext cx="21600" cy="2096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700150" y="5159777"/>
            <a:ext cx="21600" cy="16822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719050" y="5198291"/>
            <a:ext cx="21600" cy="129707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737950" y="5231909"/>
            <a:ext cx="21600" cy="96089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756850" y="5259605"/>
            <a:ext cx="21600" cy="68393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775750" y="5281227"/>
            <a:ext cx="21600" cy="4677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5298750" y="4730400"/>
            <a:ext cx="57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ED7D31"/>
                </a:solidFill>
                <a:latin typeface="맑은 고딕"/>
              </a:rPr>
              <a:t>A1g+B1g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5067000" y="5152604"/>
            <a:ext cx="21600" cy="17539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085900" y="5071522"/>
            <a:ext cx="21600" cy="25647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104800" y="4967662"/>
            <a:ext cx="21600" cy="36033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123700" y="4841595"/>
            <a:ext cx="21600" cy="486403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142600" y="4697168"/>
            <a:ext cx="21600" cy="63083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161500" y="4541935"/>
            <a:ext cx="21600" cy="786063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180400" y="4386909"/>
            <a:ext cx="21600" cy="941089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199300" y="4245488"/>
            <a:ext cx="21600" cy="108251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218200" y="4131640"/>
            <a:ext cx="21600" cy="119635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5237100" y="4057661"/>
            <a:ext cx="21600" cy="1270337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5256000" y="4031999"/>
            <a:ext cx="21600" cy="1296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5274900" y="4057661"/>
            <a:ext cx="21600" cy="1270337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5293800" y="4131640"/>
            <a:ext cx="21600" cy="119635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5312700" y="4245488"/>
            <a:ext cx="21600" cy="108251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5331600" y="4386909"/>
            <a:ext cx="21600" cy="941089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5350500" y="4541935"/>
            <a:ext cx="21600" cy="786063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5369400" y="4697168"/>
            <a:ext cx="21600" cy="63083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5388300" y="4841595"/>
            <a:ext cx="21600" cy="486403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5407200" y="4967662"/>
            <a:ext cx="21600" cy="36033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5426100" y="5071522"/>
            <a:ext cx="21600" cy="25647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5445000" y="5152604"/>
            <a:ext cx="21600" cy="17539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106500" y="5035674"/>
            <a:ext cx="21600" cy="29232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6125400" y="4900537"/>
            <a:ext cx="21600" cy="427461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6144300" y="4727438"/>
            <a:ext cx="21600" cy="6005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6163200" y="4517327"/>
            <a:ext cx="21600" cy="810671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6182100" y="4276614"/>
            <a:ext cx="21600" cy="10513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6201000" y="4017892"/>
            <a:ext cx="21600" cy="131010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219900" y="3759517"/>
            <a:ext cx="21600" cy="1568481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6238800" y="3523815"/>
            <a:ext cx="21600" cy="1804183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6257700" y="3334067"/>
            <a:ext cx="21600" cy="1993931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6276600" y="3210769"/>
            <a:ext cx="21600" cy="2117229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6295500" y="3167999"/>
            <a:ext cx="21600" cy="2160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6314400" y="3210769"/>
            <a:ext cx="21600" cy="2117229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6333300" y="3334067"/>
            <a:ext cx="21600" cy="1993931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6352200" y="3523815"/>
            <a:ext cx="21600" cy="1804183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6371100" y="3759517"/>
            <a:ext cx="21600" cy="1568481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6390000" y="4017892"/>
            <a:ext cx="21600" cy="131010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408900" y="4276614"/>
            <a:ext cx="21600" cy="10513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427800" y="4517327"/>
            <a:ext cx="21600" cy="810671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446700" y="4727438"/>
            <a:ext cx="21600" cy="6005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465600" y="4900537"/>
            <a:ext cx="21600" cy="427461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484500" y="5035674"/>
            <a:ext cx="21600" cy="29232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957000" y="5211069"/>
            <a:ext cx="21600" cy="116929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975900" y="5157014"/>
            <a:ext cx="21600" cy="1709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994800" y="5087774"/>
            <a:ext cx="21600" cy="24022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7013700" y="5003730"/>
            <a:ext cx="21600" cy="32426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7032600" y="4907445"/>
            <a:ext cx="21600" cy="420553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7051500" y="4803956"/>
            <a:ext cx="21600" cy="52404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7070400" y="4700606"/>
            <a:ext cx="21600" cy="62739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7089300" y="4606325"/>
            <a:ext cx="21600" cy="721673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7108200" y="4530426"/>
            <a:ext cx="21600" cy="79757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7127100" y="4481107"/>
            <a:ext cx="21600" cy="846891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7146000" y="4463999"/>
            <a:ext cx="21600" cy="864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7164900" y="4481107"/>
            <a:ext cx="21600" cy="846891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7183800" y="4530426"/>
            <a:ext cx="21600" cy="79757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7202700" y="4606325"/>
            <a:ext cx="21600" cy="721673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7221600" y="4700606"/>
            <a:ext cx="21600" cy="62739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7240500" y="4803956"/>
            <a:ext cx="21600" cy="52404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7259400" y="4907445"/>
            <a:ext cx="21600" cy="420553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7278300" y="5003730"/>
            <a:ext cx="21600" cy="32426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7297200" y="5087774"/>
            <a:ext cx="21600" cy="24022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7316100" y="5157014"/>
            <a:ext cx="21600" cy="1709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7335000" y="5211069"/>
            <a:ext cx="21600" cy="116929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1440000" y="1115999"/>
            <a:ext cx="360000" cy="125999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1872000" y="1079999"/>
            <a:ext cx="18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Bare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3780000" y="1115999"/>
            <a:ext cx="360000" cy="125999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4212000" y="1079999"/>
            <a:ext cx="18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D7D31"/>
                </a:solidFill>
                <a:latin typeface="맑은 고딕"/>
              </a:rPr>
              <a:t>TiO₂ ALD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6120000" y="1115999"/>
            <a:ext cx="360000" cy="125999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6552000" y="1079999"/>
            <a:ext cx="180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74B5"/>
                </a:solidFill>
                <a:latin typeface="맑은 고딕"/>
              </a:rPr>
              <a:t>Al₂O₃ ALD</a:t>
            </a:r>
          </a:p>
        </p:txBody>
      </p:sp>
      <p:sp>
        <p:nvSpPr>
          <p:cNvPr id="269" name="Rounded Rectangle 268"/>
          <p:cNvSpPr/>
          <p:nvPr/>
        </p:nvSpPr>
        <p:spPr>
          <a:xfrm>
            <a:off x="8460000" y="1007999"/>
            <a:ext cx="3600000" cy="4320000"/>
          </a:xfrm>
          <a:prstGeom prst="roundRect">
            <a:avLst/>
          </a:prstGeom>
          <a:solidFill>
            <a:srgbClr val="D6DCE4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8460000" y="1007999"/>
            <a:ext cx="3600000" cy="324000"/>
          </a:xfrm>
          <a:prstGeom prst="rect">
            <a:avLst/>
          </a:prstGeom>
          <a:solidFill>
            <a:srgbClr val="1F497D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Raman 분석 해석 포인트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8568000" y="1404000"/>
            <a:ext cx="34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95959"/>
                </a:solidFill>
                <a:latin typeface="맑은 고딕"/>
              </a:rPr>
              <a:t>◉ A₁g (~590 cm⁻¹):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8568000" y="1684800"/>
            <a:ext cx="34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95959"/>
                </a:solidFill>
                <a:latin typeface="맑은 고딕"/>
              </a:rPr>
              <a:t>  TM-O 스트레칭 모드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8568000" y="1965600"/>
            <a:ext cx="34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95959"/>
                </a:solidFill>
                <a:latin typeface="맑은 고딕"/>
              </a:rPr>
              <a:t>  → 코팅 후 이동/억압 없으면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8568000" y="2246400"/>
            <a:ext cx="34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95959"/>
                </a:solidFill>
                <a:latin typeface="맑은 고딕"/>
              </a:rPr>
              <a:t>    양극재 구조 보존 확인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8568000" y="2527200"/>
            <a:ext cx="34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95959"/>
                </a:solidFill>
                <a:latin typeface="맑은 고딕"/>
              </a:rPr>
              <a:t/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8568000" y="2808000"/>
            <a:ext cx="34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95959"/>
                </a:solidFill>
                <a:latin typeface="맑은 고딕"/>
              </a:rPr>
              <a:t>◉ Eg (~480 cm⁻¹):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8568000" y="3088800"/>
            <a:ext cx="34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95959"/>
                </a:solidFill>
                <a:latin typeface="맑은 고딕"/>
              </a:rPr>
              <a:t>  O-TM-O 굽힘 모드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8568000" y="3369600"/>
            <a:ext cx="34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95959"/>
                </a:solidFill>
                <a:latin typeface="맑은 고딕"/>
              </a:rPr>
              <a:t/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8568000" y="3650400"/>
            <a:ext cx="34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95959"/>
                </a:solidFill>
                <a:latin typeface="맑은 고딕"/>
              </a:rPr>
              <a:t>◉ TiO₂ 코팅층 확인: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8568000" y="3931200"/>
            <a:ext cx="34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95959"/>
                </a:solidFill>
                <a:latin typeface="맑은 고딕"/>
              </a:rPr>
              <a:t>  145 cm⁻¹ Eg 피크 출현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8568000" y="4212000"/>
            <a:ext cx="34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95959"/>
                </a:solidFill>
                <a:latin typeface="맑은 고딕"/>
              </a:rPr>
              <a:t>  → ALD TiO₂ 비결정질 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0000" y="144000"/>
            <a:ext cx="11833200" cy="503999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그림 15.  4종 ALD 산화물 코팅 양극재 Coin Cell 100 사이클 용량 유지율 비교
(배치식 ALD, Na 반전극, 0.5C)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1007999"/>
            <a:ext cx="8640000" cy="43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5399999"/>
            <a:ext cx="864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497D"/>
                </a:solidFill>
                <a:latin typeface="맑은 고딕"/>
              </a:rPr>
              <a:t>사이클 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059999"/>
            <a:ext cx="648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F497D"/>
                </a:solidFill>
                <a:latin typeface="맑은 고딕"/>
              </a:rPr>
              <a:t>용량 유지율 (%)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1014479"/>
            <a:ext cx="446400" cy="189295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52000" y="1189374"/>
            <a:ext cx="446400" cy="17590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84000" y="1350882"/>
            <a:ext cx="446400" cy="151776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016000" y="1488259"/>
            <a:ext cx="446400" cy="11623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448000" y="1590089"/>
            <a:ext cx="446400" cy="114059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80000" y="1689749"/>
            <a:ext cx="446400" cy="99423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12000" y="1774772"/>
            <a:ext cx="446400" cy="87033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44000" y="1847405"/>
            <a:ext cx="446400" cy="61426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76000" y="1894431"/>
            <a:ext cx="446400" cy="6766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08000" y="1947700"/>
            <a:ext cx="446400" cy="60154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40000" y="1993455"/>
            <a:ext cx="446400" cy="38673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72000" y="2017728"/>
            <a:ext cx="446400" cy="48408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04000" y="2051737"/>
            <a:ext cx="446400" cy="43851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36000" y="2081188"/>
            <a:ext cx="446400" cy="39993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68000" y="2106781"/>
            <a:ext cx="446400" cy="21607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00000" y="2113988"/>
            <a:ext cx="446400" cy="33962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32000" y="2133551"/>
            <a:ext cx="446400" cy="31622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64000" y="2150774"/>
            <a:ext cx="446400" cy="14521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496000" y="2150896"/>
            <a:ext cx="446400" cy="27965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28000" y="2164461"/>
            <a:ext cx="446400" cy="26545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96000" y="2068607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95959"/>
                </a:solidFill>
                <a:latin typeface="맑은 고딕"/>
              </a:rPr>
              <a:t>Bare (미코팅): 73%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0000" y="1014479"/>
            <a:ext cx="446400" cy="103079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52000" y="1103158"/>
            <a:ext cx="446400" cy="102927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84000" y="1191686"/>
            <a:ext cx="446400" cy="90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6000" y="1267287"/>
            <a:ext cx="446400" cy="63937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448000" y="1316824"/>
            <a:ext cx="446400" cy="6979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880000" y="1372219"/>
            <a:ext cx="446400" cy="61953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312000" y="1419773"/>
            <a:ext cx="446400" cy="553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744000" y="1460689"/>
            <a:ext cx="446400" cy="3457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76000" y="1480868"/>
            <a:ext cx="446400" cy="4494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608000" y="1511410"/>
            <a:ext cx="446400" cy="409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40000" y="1537927"/>
            <a:ext cx="446400" cy="22389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72000" y="1545916"/>
            <a:ext cx="446400" cy="3462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04000" y="1566141"/>
            <a:ext cx="446400" cy="32183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36000" y="1583924"/>
            <a:ext cx="446400" cy="3011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768000" y="1598487"/>
            <a:ext cx="446400" cy="15553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200000" y="1598487"/>
            <a:ext cx="446400" cy="26885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632000" y="1610973"/>
            <a:ext cx="446400" cy="2563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64000" y="1617256"/>
            <a:ext cx="446400" cy="1934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496000" y="1617256"/>
            <a:ext cx="446400" cy="2367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928000" y="1626529"/>
            <a:ext cx="446400" cy="2291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396000" y="1527042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D7D31"/>
                </a:solidFill>
                <a:latin typeface="맑은 고딕"/>
              </a:rPr>
              <a:t>TiO₂ ALD: 85%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20000" y="1014479"/>
            <a:ext cx="446400" cy="89815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52000" y="1089894"/>
            <a:ext cx="446400" cy="917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584000" y="1167195"/>
            <a:ext cx="446400" cy="8049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016000" y="1233291"/>
            <a:ext cx="446400" cy="5589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448000" y="1274783"/>
            <a:ext cx="446400" cy="629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880000" y="1323368"/>
            <a:ext cx="446400" cy="56189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312000" y="1365157"/>
            <a:ext cx="446400" cy="50437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744000" y="1401194"/>
            <a:ext cx="446400" cy="30447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76000" y="1417242"/>
            <a:ext cx="446400" cy="4144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608000" y="1444289"/>
            <a:ext cx="446400" cy="37957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40000" y="1467846"/>
            <a:ext cx="446400" cy="1988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472000" y="1473330"/>
            <a:ext cx="446400" cy="32504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904000" y="1491434"/>
            <a:ext cx="446400" cy="3038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336000" y="1507422"/>
            <a:ext cx="446400" cy="2859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768000" y="1519180"/>
            <a:ext cx="446400" cy="16839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200000" y="1519180"/>
            <a:ext cx="446400" cy="25797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632000" y="1530577"/>
            <a:ext cx="446400" cy="2471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064000" y="1535158"/>
            <a:ext cx="446400" cy="20129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496000" y="1535158"/>
            <a:ext cx="446400" cy="23012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928000" y="1543771"/>
            <a:ext cx="446400" cy="22353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396000" y="1443724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2E74B5"/>
                </a:solidFill>
                <a:latin typeface="맑은 고딕"/>
              </a:rPr>
              <a:t>Al₂O₃ ALD: 87%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20000" y="1014479"/>
            <a:ext cx="446400" cy="116343"/>
          </a:xfrm>
          <a:prstGeom prst="rect">
            <a:avLst/>
          </a:prstGeom>
          <a:solidFill>
            <a:srgbClr val="7B2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52000" y="1116422"/>
            <a:ext cx="446400" cy="114155"/>
          </a:xfrm>
          <a:prstGeom prst="rect">
            <a:avLst/>
          </a:prstGeom>
          <a:solidFill>
            <a:srgbClr val="7B2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584000" y="1216178"/>
            <a:ext cx="446400" cy="99504"/>
          </a:xfrm>
          <a:prstGeom prst="rect">
            <a:avLst/>
          </a:prstGeom>
          <a:solidFill>
            <a:srgbClr val="7B2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016000" y="1301282"/>
            <a:ext cx="446400" cy="71982"/>
          </a:xfrm>
          <a:prstGeom prst="rect">
            <a:avLst/>
          </a:prstGeom>
          <a:solidFill>
            <a:srgbClr val="7B2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448000" y="1358865"/>
            <a:ext cx="446400" cy="76604"/>
          </a:xfrm>
          <a:prstGeom prst="rect">
            <a:avLst/>
          </a:prstGeom>
          <a:solidFill>
            <a:srgbClr val="7B2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880000" y="1421070"/>
            <a:ext cx="446400" cy="67718"/>
          </a:xfrm>
          <a:prstGeom prst="rect">
            <a:avLst/>
          </a:prstGeom>
          <a:solidFill>
            <a:srgbClr val="7B2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312000" y="1474388"/>
            <a:ext cx="446400" cy="60196"/>
          </a:xfrm>
          <a:prstGeom prst="rect">
            <a:avLst/>
          </a:prstGeom>
          <a:solidFill>
            <a:srgbClr val="7B2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744000" y="1520184"/>
            <a:ext cx="446400" cy="38708"/>
          </a:xfrm>
          <a:prstGeom prst="rect">
            <a:avLst/>
          </a:prstGeom>
          <a:solidFill>
            <a:srgbClr val="7B2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176000" y="1544493"/>
            <a:ext cx="446400" cy="48438"/>
          </a:xfrm>
          <a:prstGeom prst="rect">
            <a:avLst/>
          </a:prstGeom>
          <a:solidFill>
            <a:srgbClr val="7B2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608000" y="1578532"/>
            <a:ext cx="446400" cy="43876"/>
          </a:xfrm>
          <a:prstGeom prst="rect">
            <a:avLst/>
          </a:prstGeom>
          <a:solidFill>
            <a:srgbClr val="7B2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040000" y="1608008"/>
            <a:ext cx="446400" cy="24894"/>
          </a:xfrm>
          <a:prstGeom prst="rect">
            <a:avLst/>
          </a:prstGeom>
          <a:solidFill>
            <a:srgbClr val="7B2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472000" y="1618503"/>
            <a:ext cx="446400" cy="36745"/>
          </a:xfrm>
          <a:prstGeom prst="rect">
            <a:avLst/>
          </a:prstGeom>
          <a:solidFill>
            <a:srgbClr val="7B2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904000" y="1640848"/>
            <a:ext cx="446400" cy="33978"/>
          </a:xfrm>
          <a:prstGeom prst="rect">
            <a:avLst/>
          </a:prstGeom>
          <a:solidFill>
            <a:srgbClr val="7B2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336000" y="1660426"/>
            <a:ext cx="446400" cy="31635"/>
          </a:xfrm>
          <a:prstGeom prst="rect">
            <a:avLst/>
          </a:prstGeom>
          <a:solidFill>
            <a:srgbClr val="7B2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6768000" y="1677662"/>
            <a:ext cx="446400" cy="14532"/>
          </a:xfrm>
          <a:prstGeom prst="rect">
            <a:avLst/>
          </a:prstGeom>
          <a:solidFill>
            <a:srgbClr val="7B2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200000" y="1677795"/>
            <a:ext cx="446400" cy="27974"/>
          </a:xfrm>
          <a:prstGeom prst="rect">
            <a:avLst/>
          </a:prstGeom>
          <a:solidFill>
            <a:srgbClr val="7B2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632000" y="1691370"/>
            <a:ext cx="446400" cy="26553"/>
          </a:xfrm>
          <a:prstGeom prst="rect">
            <a:avLst/>
          </a:prstGeom>
          <a:solidFill>
            <a:srgbClr val="7B2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8064000" y="1699355"/>
            <a:ext cx="446400" cy="18568"/>
          </a:xfrm>
          <a:prstGeom prst="rect">
            <a:avLst/>
          </a:prstGeom>
          <a:solidFill>
            <a:srgbClr val="7B2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8496000" y="1699355"/>
            <a:ext cx="446400" cy="24333"/>
          </a:xfrm>
          <a:prstGeom prst="rect">
            <a:avLst/>
          </a:prstGeom>
          <a:solidFill>
            <a:srgbClr val="7B2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928000" y="1709288"/>
            <a:ext cx="446400" cy="23471"/>
          </a:xfrm>
          <a:prstGeom prst="rect">
            <a:avLst/>
          </a:prstGeom>
          <a:solidFill>
            <a:srgbClr val="7B2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396000" y="1610360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7B2F8E"/>
                </a:solidFill>
                <a:latin typeface="맑은 고딕"/>
              </a:rPr>
              <a:t>V₂O₅ ALD: 84%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20000" y="1014479"/>
            <a:ext cx="446400" cy="109711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152000" y="1109790"/>
            <a:ext cx="446400" cy="108541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584000" y="1203932"/>
            <a:ext cx="446400" cy="94752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2016000" y="1284285"/>
            <a:ext cx="446400" cy="67960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2448000" y="1337845"/>
            <a:ext cx="446400" cy="73199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2880000" y="1396644"/>
            <a:ext cx="446400" cy="64836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3312000" y="1447080"/>
            <a:ext cx="446400" cy="57756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3744000" y="1490437"/>
            <a:ext cx="446400" cy="36643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176000" y="1512680"/>
            <a:ext cx="446400" cy="46690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4608000" y="1544971"/>
            <a:ext cx="446400" cy="42396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5040000" y="1572968"/>
            <a:ext cx="446400" cy="23641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5472000" y="1582210"/>
            <a:ext cx="446400" cy="35685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5904000" y="1603495"/>
            <a:ext cx="446400" cy="33080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336000" y="1622175"/>
            <a:ext cx="446400" cy="30876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768000" y="1638141"/>
            <a:ext cx="446400" cy="14910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200000" y="1638141"/>
            <a:ext cx="446400" cy="27430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632000" y="1651172"/>
            <a:ext cx="446400" cy="26093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8064000" y="1658306"/>
            <a:ext cx="446400" cy="18958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8496000" y="1658306"/>
            <a:ext cx="446400" cy="24002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8928000" y="1667909"/>
            <a:ext cx="446400" cy="23191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396000" y="1568701"/>
            <a:ext cx="12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78610"/>
                </a:solidFill>
                <a:latin typeface="맑은 고딕"/>
              </a:rPr>
              <a:t>ZnO ALD: 85%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20000" y="1645199"/>
            <a:ext cx="8640000" cy="216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28000" y="1404000"/>
            <a:ext cx="2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0000"/>
                </a:solidFill>
                <a:latin typeface="맑은 고딕"/>
              </a:rPr>
              <a:t>목표: 85% 이상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60000" y="2195999"/>
            <a:ext cx="32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1F497D"/>
                </a:solidFill>
                <a:latin typeface="맑은 고딕"/>
              </a:rPr>
              <a:t>70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60000" y="1979999"/>
            <a:ext cx="32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1F497D"/>
                </a:solidFill>
                <a:latin typeface="맑은 고딕"/>
              </a:rPr>
              <a:t>75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60000" y="1763998"/>
            <a:ext cx="32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1F497D"/>
                </a:solidFill>
                <a:latin typeface="맑은 고딕"/>
              </a:rPr>
              <a:t>80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60000" y="1547999"/>
            <a:ext cx="32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1F497D"/>
                </a:solidFill>
                <a:latin typeface="맑은 고딕"/>
              </a:rPr>
              <a:t>85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60000" y="1331999"/>
            <a:ext cx="32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1F497D"/>
                </a:solidFill>
                <a:latin typeface="맑은 고딕"/>
              </a:rPr>
              <a:t>90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60000" y="1115999"/>
            <a:ext cx="32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1F497D"/>
                </a:solidFill>
                <a:latin typeface="맑은 고딕"/>
              </a:rPr>
              <a:t>95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60000" y="899999"/>
            <a:ext cx="324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1F497D"/>
                </a:solidFill>
                <a:latin typeface="맑은 고딕"/>
              </a:rPr>
              <a:t>100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60000" y="5868000"/>
            <a:ext cx="11520000" cy="306000"/>
          </a:xfrm>
          <a:prstGeom prst="rect">
            <a:avLst/>
          </a:prstGeom>
          <a:solidFill>
            <a:srgbClr val="1F497D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2차년도 목표: 배치식 ALD 코팅 시료 100 cycle 용량 유지율 ≥ 85%  (Na 반전극, 0.5C, 2.0–4.2V)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0000" y="144000"/>
            <a:ext cx="11833200" cy="503999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그림 16.  3차년도: 최종 레시피 양산(10 kg/h) 이전·검증 체계 및 1Ah 파우치셀 연계 흐름도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0000" y="900000"/>
            <a:ext cx="3240000" cy="1980000"/>
          </a:xfrm>
          <a:prstGeom prst="roundRect">
            <a:avLst/>
          </a:prstGeom>
          <a:solidFill>
            <a:srgbClr val="E6F0F8"/>
          </a:solidFill>
          <a:ln w="317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0000" y="900000"/>
            <a:ext cx="3240000" cy="324000"/>
          </a:xfrm>
          <a:prstGeom prst="rect">
            <a:avLst/>
          </a:prstGeom>
          <a:solidFill>
            <a:srgbClr val="2E74B5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기계연 최종 레시피 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999" y="1260000"/>
            <a:ext cx="306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4종 ALD 레시피 DB 완성
• TiO₂  • Al₂O₃  • V₂O₅  • ZnO
GPC × 사이클 → 두께 예측 공식
공정 윈도우 데이터베이스
레시피 패키지 최종본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420000" y="1890000"/>
            <a:ext cx="720000" cy="0"/>
          </a:xfrm>
          <a:prstGeom prst="line">
            <a:avLst/>
          </a:prstGeom>
          <a:ln w="44450">
            <a:solidFill>
              <a:srgbClr val="ED7D31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348000" y="1620000"/>
            <a:ext cx="9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ED7D31"/>
                </a:solidFill>
                <a:latin typeface="맑은 고딕"/>
              </a:rPr>
              <a:t>최종 이전
(10 kg/h)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40000" y="900000"/>
            <a:ext cx="3600000" cy="1980000"/>
          </a:xfrm>
          <a:prstGeom prst="roundRect">
            <a:avLst/>
          </a:prstGeom>
          <a:solidFill>
            <a:srgbClr val="E2EFDA"/>
          </a:solidFill>
          <a:ln w="3175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40000" y="900000"/>
            <a:ext cx="3600000" cy="324000"/>
          </a:xfrm>
          <a:prstGeom prst="rect">
            <a:avLst/>
          </a:prstGeom>
          <a:solidFill>
            <a:srgbClr val="378610"/>
          </a:solidFill>
          <a:ln w="1905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대성기계 10 kg/h 연속 운전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12000" y="1260000"/>
            <a:ext cx="342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24시간 연속 운전 안정화
두께 편차 ≤ 5% 달성
GPC 재현성 ≤ 5%
SOP (표준 운전 절차) 완성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40000" y="1890000"/>
            <a:ext cx="540000" cy="0"/>
          </a:xfrm>
          <a:prstGeom prst="line">
            <a:avLst/>
          </a:prstGeom>
          <a:ln w="25400">
            <a:solidFill>
              <a:srgbClr val="595959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280000" y="900000"/>
            <a:ext cx="3780000" cy="1980000"/>
          </a:xfrm>
          <a:prstGeom prst="roundRect">
            <a:avLst/>
          </a:prstGeom>
          <a:solidFill>
            <a:srgbClr val="D6DCE4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80000" y="900000"/>
            <a:ext cx="3780000" cy="324000"/>
          </a:xfrm>
          <a:prstGeom prst="rect">
            <a:avLst/>
          </a:prstGeom>
          <a:solidFill>
            <a:srgbClr val="1F497D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기계연 최종 분석·검증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2000" y="1260000"/>
            <a:ext cx="360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HRTEM·EELS (원자 계면)
XPS·Raman·FTIR
Post-mortem 분석 (200 cycle)
코팅 피복률 ≥ 95% 달성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20000" y="2880000"/>
            <a:ext cx="0" cy="540000"/>
          </a:xfrm>
          <a:prstGeom prst="line">
            <a:avLst/>
          </a:prstGeom>
          <a:ln w="38100">
            <a:solidFill>
              <a:srgbClr val="7B2F8E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060000" y="3420000"/>
            <a:ext cx="6120000" cy="1980000"/>
          </a:xfrm>
          <a:prstGeom prst="roundRect">
            <a:avLst/>
          </a:prstGeom>
          <a:solidFill>
            <a:srgbClr val="F2E6F8"/>
          </a:solidFill>
          <a:ln w="25400">
            <a:solidFill>
              <a:srgbClr val="7B2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060000" y="3420000"/>
            <a:ext cx="6120000" cy="324000"/>
          </a:xfrm>
          <a:prstGeom prst="rect">
            <a:avLst/>
          </a:prstGeom>
          <a:solidFill>
            <a:srgbClr val="7B2F8E"/>
          </a:solidFill>
          <a:ln w="19050">
            <a:solidFill>
              <a:srgbClr val="7B2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씨오알엔 (CORN) — 1Ah 파우치셀 제작·평가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31999" y="3780000"/>
            <a:ext cx="594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맑은 고딕"/>
              </a:rPr>
              <a:t>1Ah 파우치셀 제작 → 충방전 평가 (0.1C, 0.5C, 1C)
계면저항 ≤ 50 Ω·cm²  |  쿨롱 효율 ≥ 85%
전극 제조 조건 최적화  |  셀 레벨 특성 확인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0000" y="6570000"/>
            <a:ext cx="11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95959"/>
                </a:solidFill>
                <a:latin typeface="맑은 고딕"/>
              </a:rPr>
              <a:t>* 기계연 최종 레시피 DB가 대성기계 10 kg/h 연속 운전으로 이전되고, 씨오알엔의 1Ah 파우치셀 평가로 기술 완성도를 검증하는 3차년도 최종 체계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0000" y="144000"/>
            <a:ext cx="11833200" cy="503999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그림 17.  Post-mortem TEM 분석: 200 cycle 충방전 후 ALD TiO₂ 코팅층 구조 안정성 확인</a:t>
            </a:r>
          </a:p>
        </p:txBody>
      </p:sp>
      <p:sp>
        <p:nvSpPr>
          <p:cNvPr id="3" name="Rectangle 2"/>
          <p:cNvSpPr/>
          <p:nvPr/>
        </p:nvSpPr>
        <p:spPr>
          <a:xfrm>
            <a:off x="360000" y="827999"/>
            <a:ext cx="3780000" cy="2880000"/>
          </a:xfrm>
          <a:prstGeom prst="rect">
            <a:avLst/>
          </a:prstGeom>
          <a:solidFill>
            <a:srgbClr val="0D0D1A"/>
          </a:solidFill>
          <a:ln w="254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[TEM 이미지]
초기 상태
(코팅 직후)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827999"/>
            <a:ext cx="3780000" cy="1440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0000" y="3744000"/>
            <a:ext cx="3780000" cy="306000"/>
          </a:xfrm>
          <a:prstGeom prst="rect">
            <a:avLst/>
          </a:prstGeom>
          <a:solidFill>
            <a:srgbClr val="2E74B5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초기 상태
(코팅 직후)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" y="4104000"/>
            <a:ext cx="3528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균일 2 nm TiO₂ 코팅
계면 명확
Ni 표면 산화 없음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0" y="827999"/>
            <a:ext cx="3780000" cy="2880000"/>
          </a:xfrm>
          <a:prstGeom prst="rect">
            <a:avLst/>
          </a:prstGeom>
          <a:solidFill>
            <a:srgbClr val="0D0D1A"/>
          </a:solidFill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[TEM 이미지]
100 cycle 후
(Post-mortem)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0" y="827999"/>
            <a:ext cx="3780000" cy="144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0" y="3744000"/>
            <a:ext cx="3780000" cy="306000"/>
          </a:xfrm>
          <a:prstGeom prst="rect">
            <a:avLst/>
          </a:prstGeom>
          <a:solidFill>
            <a:srgbClr val="ED7D3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100 cycle 후
(Post-mortem)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28000" y="4104000"/>
            <a:ext cx="3528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코팅층 두께 유지
계면 미세 변화 모니터링
SEI 층 형성 최소화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80000" y="827999"/>
            <a:ext cx="3780000" cy="2880000"/>
          </a:xfrm>
          <a:prstGeom prst="rect">
            <a:avLst/>
          </a:prstGeom>
          <a:solidFill>
            <a:srgbClr val="0D0D1A"/>
          </a:solidFill>
          <a:ln w="2540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FFFFFF"/>
                </a:solidFill>
                <a:latin typeface="맑은 고딕"/>
              </a:rPr>
              <a:t>[TEM 이미지]
200 cycle 후
(Post-mortem)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80000" y="827999"/>
            <a:ext cx="3780000" cy="144000"/>
          </a:xfrm>
          <a:prstGeom prst="rect">
            <a:avLst/>
          </a:prstGeom>
          <a:solidFill>
            <a:srgbClr val="3786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80000" y="3744000"/>
            <a:ext cx="3780000" cy="306000"/>
          </a:xfrm>
          <a:prstGeom prst="rect">
            <a:avLst/>
          </a:prstGeom>
          <a:solidFill>
            <a:srgbClr val="378610"/>
          </a:solidFill>
          <a:ln w="1905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200 cycle 후
(Post-mortem)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8000" y="4104000"/>
            <a:ext cx="3528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코팅층 구조 안정성
최종 확인
두께 편차 ≤ 10%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140000" y="2340000"/>
            <a:ext cx="180000" cy="0"/>
          </a:xfrm>
          <a:prstGeom prst="line">
            <a:avLst/>
          </a:prstGeom>
          <a:ln w="38100">
            <a:solidFill>
              <a:srgbClr val="ED7D31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100000" y="2340000"/>
            <a:ext cx="180000" cy="0"/>
          </a:xfrm>
          <a:prstGeom prst="line">
            <a:avLst/>
          </a:prstGeom>
          <a:ln w="38100">
            <a:solidFill>
              <a:srgbClr val="ED7D31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60000" y="5040000"/>
            <a:ext cx="11520000" cy="324000"/>
          </a:xfrm>
          <a:prstGeom prst="rect">
            <a:avLst/>
          </a:prstGeom>
          <a:solidFill>
            <a:srgbClr val="1F497D"/>
          </a:solidFill>
          <a:ln w="1905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Post-mortem 분석 항목:  HRTEM (코팅층 두께)  |  EELS (TM 원자가 변화)  |  XPS (표면 산화)  |  SEM-EDX (원소 분포)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0000" y="5436000"/>
            <a:ext cx="11520000" cy="684000"/>
          </a:xfrm>
          <a:prstGeom prst="rect">
            <a:avLst/>
          </a:prstGeom>
          <a:solidFill>
            <a:srgbClr val="E2EFDA"/>
          </a:solidFill>
          <a:ln w="1270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000" y="5508000"/>
            <a:ext cx="113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맑은 고딕"/>
              </a:rPr>
              <a:t>3차년도 목표: 200 cycle 후 코팅층 두께 유지율 ≥ 90%,  Ni²⁺→Ni⁴⁺ 산화 억제 효과 EELS 정량 확인
→ ALD 계면 보호층의 장기 안정성 규명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0000" y="144000"/>
            <a:ext cx="11833200" cy="503999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그림 18.  한국기계연구원 ↔ 대성기계공업 ALD 레시피 이전 및 품질 검증 피드백 순환 체계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0000" y="1440000"/>
            <a:ext cx="4320000" cy="3240000"/>
          </a:xfrm>
          <a:prstGeom prst="roundRect">
            <a:avLst/>
          </a:prstGeom>
          <a:solidFill>
            <a:srgbClr val="E6F0F8"/>
          </a:solidFill>
          <a:ln w="317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0000" y="1440000"/>
            <a:ext cx="4320000" cy="360000"/>
          </a:xfrm>
          <a:prstGeom prst="rect">
            <a:avLst/>
          </a:prstGeom>
          <a:solidFill>
            <a:srgbClr val="2E74B5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한국기계연구원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" y="1872000"/>
            <a:ext cx="41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배치식 ALD 장비 2대 운용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8000" y="2160000"/>
            <a:ext cx="41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공정 레시피 개발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000" y="2448000"/>
            <a:ext cx="41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공정 윈도우 확정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000" y="2736000"/>
            <a:ext cx="41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Self-limiting 조건 측정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000" y="3024000"/>
            <a:ext cx="41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GPC 측정·검증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3311999"/>
            <a:ext cx="41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HRTEM·XPS·Raman 분석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3600000"/>
            <a:ext cx="41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코팅 품질 판정 (OK/NG)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3888000"/>
            <a:ext cx="41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레시피 수정 (피드백 시)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80000" y="1440000"/>
            <a:ext cx="4320000" cy="3240000"/>
          </a:xfrm>
          <a:prstGeom prst="roundRect">
            <a:avLst/>
          </a:prstGeom>
          <a:solidFill>
            <a:srgbClr val="E2EFDA"/>
          </a:solidFill>
          <a:ln w="3175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80000" y="1440000"/>
            <a:ext cx="4320000" cy="360000"/>
          </a:xfrm>
          <a:prstGeom prst="rect">
            <a:avLst/>
          </a:prstGeom>
          <a:solidFill>
            <a:srgbClr val="378610"/>
          </a:solidFill>
          <a:ln w="1905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대성기계공업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88000" y="1872000"/>
            <a:ext cx="41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연속식 분말 ALD 장비 운용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88000" y="2160000"/>
            <a:ext cx="41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레시피 수령 및 FBR 적용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88000" y="2448000"/>
            <a:ext cx="41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OPERIO 10 이전·적용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88000" y="2736000"/>
            <a:ext cx="41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RTD 기반 공정 최적화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88000" y="3024000"/>
            <a:ext cx="41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10 kg/h 양산 운전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88000" y="3311999"/>
            <a:ext cx="41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코팅 시료 기계연 제공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88000" y="3600000"/>
            <a:ext cx="41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공정 파라미터 데이터 공유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88000" y="3888000"/>
            <a:ext cx="41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맑은 고딕"/>
              </a:rPr>
              <a:t>• SOP 작성·유지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680000" y="2520000"/>
            <a:ext cx="2700000" cy="0"/>
          </a:xfrm>
          <a:prstGeom prst="line">
            <a:avLst/>
          </a:prstGeom>
          <a:ln w="44450">
            <a:solidFill>
              <a:srgbClr val="ED7D31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788000" y="2196000"/>
            <a:ext cx="252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ED7D31"/>
                </a:solidFill>
                <a:latin typeface="맑은 고딕"/>
              </a:rPr>
              <a:t>레시피 패키지 이전
(온도·GPC·pulse 시간·NDA)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4680000" y="3600000"/>
            <a:ext cx="2700000" cy="0"/>
          </a:xfrm>
          <a:prstGeom prst="line">
            <a:avLst/>
          </a:prstGeom>
          <a:ln w="44450">
            <a:solidFill>
              <a:srgbClr val="C00000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788000" y="3636000"/>
            <a:ext cx="252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C00000"/>
                </a:solidFill>
                <a:latin typeface="맑은 고딕"/>
              </a:rPr>
              <a:t>코팅 시료 제공 / 공정 데이터
→ 기계연 분석 결과 피드백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60000" y="1620000"/>
            <a:ext cx="2340000" cy="360000"/>
          </a:xfrm>
          <a:prstGeom prst="rect">
            <a:avLst/>
          </a:prstGeom>
          <a:solidFill>
            <a:srgbClr val="C00000"/>
          </a:solidFill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</a:rPr>
              <a:t>NDA (비밀유지협약) 체결 기반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60000" y="4968000"/>
            <a:ext cx="2340000" cy="1007999"/>
          </a:xfrm>
          <a:prstGeom prst="roundRect">
            <a:avLst/>
          </a:prstGeom>
          <a:solidFill>
            <a:srgbClr val="F2E6F8"/>
          </a:solidFill>
          <a:ln w="25400">
            <a:solidFill>
              <a:srgbClr val="7B2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F497D"/>
                </a:solidFill>
                <a:latin typeface="맑은 고딕"/>
              </a:rPr>
              <a:t>씨오알엔
1Ah 파우치셀
제작·평가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30000" y="4680000"/>
            <a:ext cx="0" cy="288000"/>
          </a:xfrm>
          <a:prstGeom prst="line">
            <a:avLst/>
          </a:prstGeom>
          <a:ln w="25400">
            <a:solidFill>
              <a:srgbClr val="7B2F8E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80000" y="6570000"/>
            <a:ext cx="1188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95959"/>
                </a:solidFill>
                <a:latin typeface="맑은 고딕"/>
              </a:rPr>
              <a:t>* 기계연(레시피 개발·검증) ↔ 대성기계(적용·스케일업)의 순환 피드백이 3개년에 걸쳐 반복되며, 씨오알엔 파우치셀 평가가 최종 검증 단계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0000" y="144000"/>
            <a:ext cx="11833200" cy="503999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그림 19.  한국기계연구원 3개년 연구 추진 로드맵
배치식 ALD 레시피 개발 → 연속식 이전·검증 → 양산 실증의 단계적 기술 확보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0" y="792000"/>
            <a:ext cx="3420000" cy="324000"/>
          </a:xfrm>
          <a:prstGeom prst="rect">
            <a:avLst/>
          </a:prstGeom>
          <a:solidFill>
            <a:srgbClr val="ED7D3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1차년도</a:t>
            </a:r>
          </a:p>
        </p:txBody>
      </p:sp>
      <p:sp>
        <p:nvSpPr>
          <p:cNvPr id="4" name="Rectangle 3"/>
          <p:cNvSpPr/>
          <p:nvPr/>
        </p:nvSpPr>
        <p:spPr>
          <a:xfrm>
            <a:off x="1231202520000" y="792000"/>
            <a:ext cx="3420000" cy="324000"/>
          </a:xfrm>
          <a:prstGeom prst="rect">
            <a:avLst/>
          </a:prstGeom>
          <a:solidFill>
            <a:srgbClr val="2E74B5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2차년도</a:t>
            </a:r>
          </a:p>
        </p:txBody>
      </p:sp>
      <p:sp>
        <p:nvSpPr>
          <p:cNvPr id="5" name="Rectangle 4"/>
          <p:cNvSpPr/>
          <p:nvPr/>
        </p:nvSpPr>
        <p:spPr>
          <a:xfrm>
            <a:off x="2462402520000" y="792000"/>
            <a:ext cx="3420000" cy="324000"/>
          </a:xfrm>
          <a:prstGeom prst="rect">
            <a:avLst/>
          </a:prstGeom>
          <a:solidFill>
            <a:srgbClr val="378610"/>
          </a:solidFill>
          <a:ln w="1905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3차년도</a:t>
            </a:r>
          </a:p>
        </p:txBody>
      </p:sp>
      <p:sp>
        <p:nvSpPr>
          <p:cNvPr id="6" name="Rectangle 5"/>
          <p:cNvSpPr/>
          <p:nvPr/>
        </p:nvSpPr>
        <p:spPr>
          <a:xfrm>
            <a:off x="108000" y="1152000"/>
            <a:ext cx="2340000" cy="1152000"/>
          </a:xfrm>
          <a:prstGeom prst="rect">
            <a:avLst/>
          </a:prstGeom>
          <a:solidFill>
            <a:srgbClr val="2E74B5"/>
          </a:solidFill>
          <a:ln w="1905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ALD 레시피
개발</a:t>
            </a:r>
          </a:p>
        </p:txBody>
      </p:sp>
      <p:sp>
        <p:nvSpPr>
          <p:cNvPr id="7" name="Rectangle 6"/>
          <p:cNvSpPr/>
          <p:nvPr/>
        </p:nvSpPr>
        <p:spPr>
          <a:xfrm>
            <a:off x="2556000" y="1188000"/>
            <a:ext cx="3348000" cy="1080000"/>
          </a:xfrm>
          <a:prstGeom prst="rect">
            <a:avLst/>
          </a:prstGeom>
          <a:solidFill>
            <a:srgbClr val="F2F8FF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28000" y="1260000"/>
            <a:ext cx="3240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맑은 고딕"/>
              </a:rPr>
              <a:t>TiO₂ (TTIP/H₂O)
ALD #1
Al₂O₃ (TMA/H₂O)
ALD #2</a:t>
            </a:r>
          </a:p>
        </p:txBody>
      </p:sp>
      <p:sp>
        <p:nvSpPr>
          <p:cNvPr id="9" name="Rectangle 8"/>
          <p:cNvSpPr/>
          <p:nvPr/>
        </p:nvSpPr>
        <p:spPr>
          <a:xfrm>
            <a:off x="1231202556000" y="1188000"/>
            <a:ext cx="3348000" cy="1080000"/>
          </a:xfrm>
          <a:prstGeom prst="rect">
            <a:avLst/>
          </a:prstGeom>
          <a:solidFill>
            <a:srgbClr val="F2F8FF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1202628000" y="1260000"/>
            <a:ext cx="3240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맑은 고딕"/>
              </a:rPr>
              <a:t>V₂O₅ (VTIP/H₂O)
ALD #1
ZnO (DEZn/H₂O)
ALD #2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2402556000" y="1188000"/>
            <a:ext cx="3348000" cy="1080000"/>
          </a:xfrm>
          <a:prstGeom prst="rect">
            <a:avLst/>
          </a:prstGeom>
          <a:solidFill>
            <a:srgbClr val="F2F8FF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2402628000" y="1260000"/>
            <a:ext cx="3240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맑은 고딕"/>
              </a:rPr>
              <a:t>4종 DB 완성
최적 조건 최종 확정
공정 윈도우 데이터베이스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8000" y="414721152000"/>
            <a:ext cx="2340000" cy="1152000"/>
          </a:xfrm>
          <a:prstGeom prst="rect">
            <a:avLst/>
          </a:prstGeom>
          <a:solidFill>
            <a:srgbClr val="378610"/>
          </a:solidFill>
          <a:ln w="1905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대성기계
이전·적용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56000" y="414721188000"/>
            <a:ext cx="3348000" cy="1080000"/>
          </a:xfrm>
          <a:prstGeom prst="rect">
            <a:avLst/>
          </a:prstGeom>
          <a:solidFill>
            <a:srgbClr val="F8FFF2"/>
          </a:solidFill>
          <a:ln w="1270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28000" y="414721260000"/>
            <a:ext cx="3240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맑은 고딕"/>
              </a:rPr>
              <a:t>FBR 이전·검증
RTD 매핑
TiO₂/Al₂O₃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31202556000" y="414721188000"/>
            <a:ext cx="3348000" cy="1080000"/>
          </a:xfrm>
          <a:prstGeom prst="rect">
            <a:avLst/>
          </a:prstGeom>
          <a:solidFill>
            <a:srgbClr val="F8FFF2"/>
          </a:solidFill>
          <a:ln w="1270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1202628000" y="414721260000"/>
            <a:ext cx="3240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맑은 고딕"/>
              </a:rPr>
              <a:t>OPERIO 10 이전
4종 레시피 적용
kg/h 단위 스케일업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2402556000" y="414721188000"/>
            <a:ext cx="3348000" cy="1080000"/>
          </a:xfrm>
          <a:prstGeom prst="rect">
            <a:avLst/>
          </a:prstGeom>
          <a:solidFill>
            <a:srgbClr val="F8FFF2"/>
          </a:solidFill>
          <a:ln w="12700">
            <a:solidFill>
              <a:srgbClr val="3786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62402628000" y="414721260000"/>
            <a:ext cx="3240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맑은 고딕"/>
              </a:rPr>
              <a:t>10 kg/h 양산
24시간 연속 운전
SOP 완성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8000" y="829441152000"/>
            <a:ext cx="2340000" cy="1152000"/>
          </a:xfrm>
          <a:prstGeom prst="rect">
            <a:avLst/>
          </a:prstGeom>
          <a:solidFill>
            <a:srgbClr val="ED7D31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코팅층
분석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56000" y="829441188000"/>
            <a:ext cx="3348000" cy="1080000"/>
          </a:xfrm>
          <a:prstGeom prst="rect">
            <a:avLst/>
          </a:prstGeom>
          <a:solidFill>
            <a:srgbClr val="F2F8FF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28000" y="829441260000"/>
            <a:ext cx="3240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맑은 고딕"/>
              </a:rPr>
              <a:t>SEM·XRD·XPS·BET
기초 분석
coin cell (0.1C)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31202556000" y="829441188000"/>
            <a:ext cx="3348000" cy="1080000"/>
          </a:xfrm>
          <a:prstGeom prst="rect">
            <a:avLst/>
          </a:prstGeom>
          <a:solidFill>
            <a:srgbClr val="F2F8FF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1202628000" y="829441260000"/>
            <a:ext cx="3240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맑은 고딕"/>
              </a:rPr>
              <a:t>HRTEM·EELS
Raman·FTIR
100 cycle 평가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62402556000" y="829441188000"/>
            <a:ext cx="3348000" cy="1080000"/>
          </a:xfrm>
          <a:prstGeom prst="rect">
            <a:avLst/>
          </a:prstGeom>
          <a:solidFill>
            <a:srgbClr val="F2F8FF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62402628000" y="829441260000"/>
            <a:ext cx="3240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맑은 고딕"/>
              </a:rPr>
              <a:t>Post-mortem
200 cycle 분석
최종 품질 검증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8000" y="1244161152000"/>
            <a:ext cx="2340000" cy="1152000"/>
          </a:xfrm>
          <a:prstGeom prst="rect">
            <a:avLst/>
          </a:prstGeom>
          <a:solidFill>
            <a:srgbClr val="7B2F8E"/>
          </a:solidFill>
          <a:ln w="19050">
            <a:solidFill>
              <a:srgbClr val="7B2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맑은 고딕"/>
              </a:rPr>
              <a:t>전기화학
평가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56000" y="1244161188000"/>
            <a:ext cx="3348000" cy="1080000"/>
          </a:xfrm>
          <a:prstGeom prst="rect">
            <a:avLst/>
          </a:prstGeom>
          <a:solidFill>
            <a:srgbClr val="F8FFF2"/>
          </a:solidFill>
          <a:ln w="12700">
            <a:solidFill>
              <a:srgbClr val="7B2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28000" y="1244161260000"/>
            <a:ext cx="3240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맑은 고딕"/>
              </a:rPr>
              <a:t>Half-cell
초기 ICE ≥ 80%
계면저항 ≤ 70 Ω·cm²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31202556000" y="1244161188000"/>
            <a:ext cx="3348000" cy="1080000"/>
          </a:xfrm>
          <a:prstGeom prst="rect">
            <a:avLst/>
          </a:prstGeom>
          <a:solidFill>
            <a:srgbClr val="F8FFF2"/>
          </a:solidFill>
          <a:ln w="12700">
            <a:solidFill>
              <a:srgbClr val="7B2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31202628000" y="1244161260000"/>
            <a:ext cx="3240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맑은 고딕"/>
              </a:rPr>
              <a:t>Half-cell
100 cycle ≥ 85%
4종 비교 평가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62402556000" y="1244161188000"/>
            <a:ext cx="3348000" cy="1080000"/>
          </a:xfrm>
          <a:prstGeom prst="rect">
            <a:avLst/>
          </a:prstGeom>
          <a:solidFill>
            <a:srgbClr val="F8FFF2"/>
          </a:solidFill>
          <a:ln w="12700">
            <a:solidFill>
              <a:srgbClr val="7B2F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62402628000" y="1244161260000"/>
            <a:ext cx="3240000" cy="9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맑은 고딕"/>
              </a:rPr>
              <a:t>1Ah 파우치셀
ICE ≥ 85%
계면저항 ≤ 50 Ω·cm²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205282520000" y="6282000"/>
            <a:ext cx="144000" cy="0"/>
          </a:xfrm>
          <a:prstGeom prst="line">
            <a:avLst/>
          </a:prstGeom>
          <a:ln w="25400">
            <a:solidFill>
              <a:srgbClr val="1F497D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436482520000" y="6282000"/>
            <a:ext cx="144000" cy="0"/>
          </a:xfrm>
          <a:prstGeom prst="line">
            <a:avLst/>
          </a:prstGeom>
          <a:ln w="25400">
            <a:solidFill>
              <a:srgbClr val="1F497D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80000" y="6552000"/>
            <a:ext cx="1188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1F497D"/>
                </a:solidFill>
                <a:latin typeface="맑은 고딕"/>
              </a:rPr>
              <a:t>최종 목표: 3차년도 완료 시 → ALD 레시피 DB 4종 완성 + 대성기계 10 kg/h 양산 이전 + 1Ah 파우치셀 실증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