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3068" y="19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1.  기존 배터리 소재 코팅 공정 및 분말 ALD 코팅 공정 비교
(미코팅 vs. 습식코팅 vs. ALD 코팅 단면 모식도)</a:t>
            </a:r>
          </a:p>
        </p:txBody>
      </p:sp>
      <p:sp>
        <p:nvSpPr>
          <p:cNvPr id="3" name="Oval 2"/>
          <p:cNvSpPr/>
          <p:nvPr/>
        </p:nvSpPr>
        <p:spPr>
          <a:xfrm>
            <a:off x="540000" y="2160000"/>
            <a:ext cx="2880000" cy="2880000"/>
          </a:xfrm>
          <a:prstGeom prst="ellipse">
            <a:avLst/>
          </a:prstGeom>
          <a:solidFill>
            <a:srgbClr val="BDD7E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34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양극재
입자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40000"/>
            <a:ext cx="252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① 미코팅 (Bare)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1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전해질과 직접 반응
표면 열화 발생</a:t>
            </a:r>
          </a:p>
        </p:txBody>
      </p:sp>
      <p:sp>
        <p:nvSpPr>
          <p:cNvPr id="7" name="Oval 6"/>
          <p:cNvSpPr/>
          <p:nvPr/>
        </p:nvSpPr>
        <p:spPr>
          <a:xfrm>
            <a:off x="3564000" y="1944000"/>
            <a:ext cx="3312000" cy="33120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80000" y="2160000"/>
            <a:ext cx="2880000" cy="2880000"/>
          </a:xfrm>
          <a:prstGeom prst="ellipse">
            <a:avLst/>
          </a:prstGeom>
          <a:solidFill>
            <a:srgbClr val="BDD7E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80000" y="34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양극재
입자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0" y="1440000"/>
            <a:ext cx="252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② Sol-Gel / 습식코팅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51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불균일 μm급 코팅
Na⁺ 확산 저해</a:t>
            </a:r>
          </a:p>
        </p:txBody>
      </p:sp>
      <p:sp>
        <p:nvSpPr>
          <p:cNvPr id="12" name="Oval 11"/>
          <p:cNvSpPr/>
          <p:nvPr/>
        </p:nvSpPr>
        <p:spPr>
          <a:xfrm>
            <a:off x="6930000" y="2070000"/>
            <a:ext cx="3060000" cy="3060000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20000" y="2160000"/>
            <a:ext cx="2880000" cy="2880000"/>
          </a:xfrm>
          <a:prstGeom prst="ellipse">
            <a:avLst/>
          </a:prstGeom>
          <a:solidFill>
            <a:srgbClr val="BDD7E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20000" y="34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양극재
입자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0" y="1440000"/>
            <a:ext cx="2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③ ALD 코팅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0" y="51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균일 nm급 코팅
계면 부반응 차단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0000" y="5832000"/>
            <a:ext cx="5220000" cy="251999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Sol-Gel: μm급 두꺼운 불균일 코팅  |  ALD: nm급 (1~10 nm) 정밀 균일 코팅  |  ← ALD가 목표 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회색 원 = 양극재 입자(코어)  /  주황 = 습식코팅층(불균일)  /  초록 = ALD 코팅층(균일)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2.  분말 ALD 공정 및 기타 코팅법에 따른 분말 코팅층 형상 비교
(SEM/TEM 단면 이미지 모식도)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5400000" cy="5220000"/>
          </a:xfrm>
          <a:prstGeom prst="rect">
            <a:avLst/>
          </a:prstGeom>
          <a:solidFill>
            <a:srgbClr val="F8F8F8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0000" y="792000"/>
            <a:ext cx="5400000" cy="324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Sol-Gel / 습식코팅</a:t>
            </a:r>
          </a:p>
        </p:txBody>
      </p:sp>
      <p:sp>
        <p:nvSpPr>
          <p:cNvPr id="5" name="Oval 4"/>
          <p:cNvSpPr/>
          <p:nvPr/>
        </p:nvSpPr>
        <p:spPr>
          <a:xfrm>
            <a:off x="756001" y="1296001"/>
            <a:ext cx="1367998" cy="1367998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6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24001" y="1296001"/>
            <a:ext cx="1367998" cy="1094398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304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92001" y="1296001"/>
            <a:ext cx="1367998" cy="1367998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72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60000" y="3348000"/>
            <a:ext cx="2160000" cy="28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코팅 두께:
1~5 μm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78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μm급 두꺼운 코팅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6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불균일한 두께 분포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35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입자 간 결착·응집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644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부분 비피복 발생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93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Na⁺ 확산 저해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792000"/>
            <a:ext cx="5400000" cy="5220000"/>
          </a:xfrm>
          <a:prstGeom prst="rect">
            <a:avLst/>
          </a:prstGeom>
          <a:solidFill>
            <a:srgbClr val="F8F8F8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0000" y="792000"/>
            <a:ext cx="540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ALD 코팅 (본 과제)</a:t>
            </a:r>
          </a:p>
        </p:txBody>
      </p:sp>
      <p:sp>
        <p:nvSpPr>
          <p:cNvPr id="19" name="Oval 18"/>
          <p:cNvSpPr/>
          <p:nvPr/>
        </p:nvSpPr>
        <p:spPr>
          <a:xfrm>
            <a:off x="6642001" y="1422001"/>
            <a:ext cx="1115998" cy="1115998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96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10001" y="1422001"/>
            <a:ext cx="1115998" cy="1115998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64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78001" y="1422001"/>
            <a:ext cx="1115998" cy="1115998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32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20000" y="3348000"/>
            <a:ext cx="2160000" cy="288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코팅 두께:
1~10 nm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378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nm급 (1~10 nm) 코팅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406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전 표면 균일 피복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435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개별 입자 독립 코팅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4644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100% 피복률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0" y="493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Na⁺ 확산 유지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0000" y="3420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497D"/>
                </a:solidFill>
                <a:latin typeface="맑은 고딕"/>
              </a:rPr>
              <a:t>← 비교 →
ALD 우수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different types of material&#10;&#10;AI-generated content may be incorrect.">
            <a:extLst>
              <a:ext uri="{FF2B5EF4-FFF2-40B4-BE49-F238E27FC236}">
                <a16:creationId xmlns:a16="http://schemas.microsoft.com/office/drawing/2014/main" id="{BF98601F-FBB7-086F-B2DF-113D549FA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223"/>
          <a:stretch/>
        </p:blipFill>
        <p:spPr>
          <a:xfrm>
            <a:off x="303131" y="241727"/>
            <a:ext cx="4546900" cy="3187273"/>
          </a:xfrm>
          <a:prstGeom prst="rect">
            <a:avLst/>
          </a:prstGeom>
        </p:spPr>
      </p:pic>
      <p:pic>
        <p:nvPicPr>
          <p:cNvPr id="4" name="Picture 2" descr="Three Arrow Circle Sign Reload, Loop Symbol - Download Free 3D model by  B1Blender (@B1Blender) [549c9fb]">
            <a:extLst>
              <a:ext uri="{FF2B5EF4-FFF2-40B4-BE49-F238E27FC236}">
                <a16:creationId xmlns:a16="http://schemas.microsoft.com/office/drawing/2014/main" id="{58E72D28-5FFC-1279-7A7D-C2AA10AAC4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667" b="76852" l="32396" r="67500">
                        <a14:foregroundMark x1="55625" y1="19167" x2="55677" y2="22130"/>
                        <a14:foregroundMark x1="63542" y1="36574" x2="65729" y2="46296"/>
                        <a14:foregroundMark x1="65729" y1="46296" x2="65313" y2="63241"/>
                        <a14:foregroundMark x1="65313" y1="63241" x2="60208" y2="73241"/>
                        <a14:foregroundMark x1="60208" y1="73241" x2="59948" y2="73148"/>
                        <a14:foregroundMark x1="37031" y1="57315" x2="45052" y2="73333"/>
                        <a14:foregroundMark x1="45052" y1="73333" x2="50625" y2="76944"/>
                        <a14:foregroundMark x1="50625" y1="76944" x2="54948" y2="76759"/>
                        <a14:foregroundMark x1="67656" y1="49815" x2="67448" y2="60556"/>
                        <a14:foregroundMark x1="55625" y1="16759" x2="55625" y2="16759"/>
                        <a14:foregroundMark x1="34479" y1="61204" x2="33698" y2="64630"/>
                        <a14:foregroundMark x1="32396" y1="65926" x2="32396" y2="65926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597" t="14558" r="30422" b="19185"/>
          <a:stretch/>
        </p:blipFill>
        <p:spPr bwMode="auto">
          <a:xfrm>
            <a:off x="8277625" y="1672899"/>
            <a:ext cx="1051318" cy="103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2087C6A-5AB3-C36C-A012-ECD973DAFA71}"/>
              </a:ext>
            </a:extLst>
          </p:cNvPr>
          <p:cNvGrpSpPr/>
          <p:nvPr/>
        </p:nvGrpSpPr>
        <p:grpSpPr>
          <a:xfrm>
            <a:off x="9312679" y="944339"/>
            <a:ext cx="1100652" cy="1288395"/>
            <a:chOff x="4540535" y="510372"/>
            <a:chExt cx="1100652" cy="1288395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81232B3-38D3-66D5-DE28-3DD7AF618993}"/>
                </a:ext>
              </a:extLst>
            </p:cNvPr>
            <p:cNvSpPr/>
            <p:nvPr/>
          </p:nvSpPr>
          <p:spPr>
            <a:xfrm>
              <a:off x="4562956" y="51037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605C3228-6C62-5852-B3B6-51E3C40D7D28}"/>
                </a:ext>
              </a:extLst>
            </p:cNvPr>
            <p:cNvGrpSpPr/>
            <p:nvPr/>
          </p:nvGrpSpPr>
          <p:grpSpPr>
            <a:xfrm>
              <a:off x="4540535" y="907639"/>
              <a:ext cx="1100652" cy="457076"/>
              <a:chOff x="7197429" y="1152057"/>
              <a:chExt cx="1100652" cy="457076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4BE09ED1-9CFE-9FBF-0466-86A58290253F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3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8EF5097-21D9-D918-1E01-19B61C6717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E57A8A7-7904-0838-2B84-888BE8C005D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1C273D8-8CBE-2E09-EF46-13B107370E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E5BB6E9-5ACD-F1A0-A006-D3B8EB7566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E5934A0-0732-84DE-54DE-FE1080AE2D8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47212514-1E7B-8508-0780-D6505F188937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3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B947339-E4C3-DD8D-46FB-A132EA8A449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57931BB-25F9-DB1F-8EB3-A3070A517A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7321CD45-84C8-CB09-D27D-22D84FCC4F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F271F6E-07B1-949D-6A73-26CD8C68E0B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EB11C6C-33A9-8583-FD2C-D2136917C0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9422A42B-9D94-443E-8549-23908BE1F9CD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2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425445C-69A6-DF9D-64C9-D885602D5B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576B64C-6632-2E67-E65D-553E18BF6F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9A7BDF4-8639-7C35-B9B7-DD12A7DC608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BEA4DFC-63F4-8772-B371-A07415F3614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36182E3-CCC5-DC36-0303-0D58ED6A256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6A942BE9-3C52-3859-7A71-56CDE1A3B96C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20" name="Picture 119" descr="3d Sphere Sphere PNG &amp; clipart images | TOPpng">
                  <a:extLst>
                    <a:ext uri="{FF2B5EF4-FFF2-40B4-BE49-F238E27FC236}">
                      <a16:creationId xmlns:a16="http://schemas.microsoft.com/office/drawing/2014/main" id="{C53679FC-C47F-A521-CF5D-1D63692798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71042E4-16A5-ACB0-F950-641FD50903A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FFC63C9-BAB9-0AEC-6E28-5ABDE8D446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B37E1CA-24DA-045D-0129-69611B98B6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02EC85E-8171-2D59-62F2-6FF922747AD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94C22D5-61B8-8D69-00BF-70A8A2F269BE}"/>
              </a:ext>
            </a:extLst>
          </p:cNvPr>
          <p:cNvSpPr/>
          <p:nvPr/>
        </p:nvSpPr>
        <p:spPr>
          <a:xfrm>
            <a:off x="7529007" y="944339"/>
            <a:ext cx="1037842" cy="1288395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2">
                  <a:lumMod val="75000"/>
                  <a:alpha val="63000"/>
                </a:schemeClr>
              </a:gs>
            </a:gsLst>
          </a:gradFill>
          <a:ln>
            <a:noFill/>
          </a:ln>
          <a:scene3d>
            <a:camera prst="isometricOffAxis2Top"/>
            <a:lightRig rig="morning" dir="t"/>
          </a:scene3d>
          <a:sp3d extrusionH="95250" prstMaterial="fla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4F0329-0EEA-D059-71D0-1D70411B0300}"/>
              </a:ext>
            </a:extLst>
          </p:cNvPr>
          <p:cNvGrpSpPr/>
          <p:nvPr/>
        </p:nvGrpSpPr>
        <p:grpSpPr>
          <a:xfrm>
            <a:off x="7326442" y="1302970"/>
            <a:ext cx="1449434" cy="337229"/>
            <a:chOff x="1590955" y="1300484"/>
            <a:chExt cx="897356" cy="208781"/>
          </a:xfrm>
        </p:grpSpPr>
        <p:pic>
          <p:nvPicPr>
            <p:cNvPr id="105" name="Picture 8" descr="3d Sphere Sphere PNG &amp; clipart images | TOPpng">
              <a:extLst>
                <a:ext uri="{FF2B5EF4-FFF2-40B4-BE49-F238E27FC236}">
                  <a16:creationId xmlns:a16="http://schemas.microsoft.com/office/drawing/2014/main" id="{2C1182EC-DD32-32B6-8C4E-1EBFEEA446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59095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" name="Picture 8" descr="3d Sphere Sphere PNG &amp; clipart images | TOPpng">
              <a:extLst>
                <a:ext uri="{FF2B5EF4-FFF2-40B4-BE49-F238E27FC236}">
                  <a16:creationId xmlns:a16="http://schemas.microsoft.com/office/drawing/2014/main" id="{A067D7A5-88E3-2978-A91E-F61C6448F2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5531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Picture 8" descr="3d Sphere Sphere PNG &amp; clipart images | TOPpng">
              <a:extLst>
                <a:ext uri="{FF2B5EF4-FFF2-40B4-BE49-F238E27FC236}">
                  <a16:creationId xmlns:a16="http://schemas.microsoft.com/office/drawing/2014/main" id="{E72D1184-B02E-2902-7080-CAED3E3A5A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5881" y="13213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Picture 8" descr="3d Sphere Sphere PNG &amp; clipart images | TOPpng">
              <a:extLst>
                <a:ext uri="{FF2B5EF4-FFF2-40B4-BE49-F238E27FC236}">
                  <a16:creationId xmlns:a16="http://schemas.microsoft.com/office/drawing/2014/main" id="{4E535E84-9468-E432-40E9-F17E819DFE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31979" y="13671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Picture 8" descr="3d Sphere Sphere PNG &amp; clipart images | TOPpng">
              <a:extLst>
                <a:ext uri="{FF2B5EF4-FFF2-40B4-BE49-F238E27FC236}">
                  <a16:creationId xmlns:a16="http://schemas.microsoft.com/office/drawing/2014/main" id="{D94AAA68-733C-5213-8D20-ED1A602B95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52218" y="13878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0" name="Picture 8" descr="3d Sphere Sphere PNG &amp; clipart images | TOPpng">
              <a:extLst>
                <a:ext uri="{FF2B5EF4-FFF2-40B4-BE49-F238E27FC236}">
                  <a16:creationId xmlns:a16="http://schemas.microsoft.com/office/drawing/2014/main" id="{CAADBFFE-C172-4430-BED2-116C87E856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72863" y="13493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Picture 8" descr="3d Sphere Sphere PNG &amp; clipart images | TOPpng">
              <a:extLst>
                <a:ext uri="{FF2B5EF4-FFF2-40B4-BE49-F238E27FC236}">
                  <a16:creationId xmlns:a16="http://schemas.microsoft.com/office/drawing/2014/main" id="{80BFBAB5-1692-6A3D-678F-0332C557E7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9575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8" descr="3d Sphere Sphere PNG &amp; clipart images | TOPpng">
              <a:extLst>
                <a:ext uri="{FF2B5EF4-FFF2-40B4-BE49-F238E27FC236}">
                  <a16:creationId xmlns:a16="http://schemas.microsoft.com/office/drawing/2014/main" id="{885DC732-6625-A209-1A11-F89F244725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8" descr="3d Sphere Sphere PNG &amp; clipart images | TOPpng">
              <a:extLst>
                <a:ext uri="{FF2B5EF4-FFF2-40B4-BE49-F238E27FC236}">
                  <a16:creationId xmlns:a16="http://schemas.microsoft.com/office/drawing/2014/main" id="{5A8BDA01-2B20-CF49-D7AB-22D35AE9B8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08550" y="130431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AC3EC3-109B-2FFB-969C-560D01C60F8D}"/>
              </a:ext>
            </a:extLst>
          </p:cNvPr>
          <p:cNvGrpSpPr/>
          <p:nvPr/>
        </p:nvGrpSpPr>
        <p:grpSpPr>
          <a:xfrm>
            <a:off x="9322800" y="2286943"/>
            <a:ext cx="1100652" cy="1288395"/>
            <a:chOff x="3481469" y="2556202"/>
            <a:chExt cx="1100652" cy="128839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250AA01-7696-1E67-E02D-E01FD5B59C32}"/>
                </a:ext>
              </a:extLst>
            </p:cNvPr>
            <p:cNvSpPr/>
            <p:nvPr/>
          </p:nvSpPr>
          <p:spPr>
            <a:xfrm>
              <a:off x="3503890" y="25562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446FDFD-A08C-A6B1-8B68-7C85130C0D95}"/>
                </a:ext>
              </a:extLst>
            </p:cNvPr>
            <p:cNvGrpSpPr/>
            <p:nvPr/>
          </p:nvGrpSpPr>
          <p:grpSpPr>
            <a:xfrm>
              <a:off x="3481469" y="2953469"/>
              <a:ext cx="1100652" cy="457076"/>
              <a:chOff x="7197429" y="1152057"/>
              <a:chExt cx="1100652" cy="457076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396379C-EB43-8D0A-DBAE-3B73974FA680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3A149D-C3A8-8E3B-46AE-3858150AF0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2D861AB-F683-27F5-8EFF-C0799F1556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B81EE71-CEF2-6789-E654-F395287F0D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35C9F96-273B-D893-492B-9D6AA0E32D6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5A62001-66BE-7B78-ED6E-09B907F599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1E77CC69-F2BF-2ED0-E995-4355BD348C8E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225CA95-BBC7-D9F4-66A5-A636485FF4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D845D64-99A9-E576-FE3A-E697080E49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11F67E7-EF33-D56D-A03E-051B85B9A1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C7186F6-8FD6-EA82-BA38-EAA45466E90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285A2CF-21A6-FF69-E053-A7B23E52DF9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77836DEF-A942-5376-0EAF-A791E296EF9F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4D2A5B3-F492-0431-B112-9FF08188B3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4F0831-018C-3533-9FAE-D4C023562D3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19E91F-59C5-F016-5A96-B2C0CBE6ED4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DCB11AD-4FA3-FB9C-AAAF-AF9E97A998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8CB1039-AB07-4EF9-DC69-FAC5D73819C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B84038BE-BE43-F9AB-5419-F3331C2529CE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85" name="Picture 84" descr="3d Sphere Sphere PNG &amp; clipart images | TOPpng">
                  <a:extLst>
                    <a:ext uri="{FF2B5EF4-FFF2-40B4-BE49-F238E27FC236}">
                      <a16:creationId xmlns:a16="http://schemas.microsoft.com/office/drawing/2014/main" id="{E2E3B9AB-8258-3825-0EED-8B39C3710A0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810F0DF-22E7-3091-4E83-187AC435D1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CD7F393-F07E-58E2-A2ED-8B64567223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3189AD9-D5A2-A1E8-FD82-19A7949B471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F3674EA-378B-252F-E1A1-F3DA98DF76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EFB100A-9B3D-9DF3-B11A-D382E96542E0}"/>
              </a:ext>
            </a:extLst>
          </p:cNvPr>
          <p:cNvSpPr/>
          <p:nvPr/>
        </p:nvSpPr>
        <p:spPr>
          <a:xfrm>
            <a:off x="7565644" y="2286943"/>
            <a:ext cx="1037842" cy="1288395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2">
                  <a:lumMod val="75000"/>
                  <a:alpha val="63000"/>
                </a:schemeClr>
              </a:gs>
            </a:gsLst>
          </a:gradFill>
          <a:ln>
            <a:noFill/>
          </a:ln>
          <a:scene3d>
            <a:camera prst="isometricOffAxis2Top"/>
            <a:lightRig rig="morning" dir="t"/>
          </a:scene3d>
          <a:sp3d extrusionH="95250" prstMaterial="fla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1D21E2-F2B7-A170-8D4F-A7C3F885A520}"/>
              </a:ext>
            </a:extLst>
          </p:cNvPr>
          <p:cNvGrpSpPr/>
          <p:nvPr/>
        </p:nvGrpSpPr>
        <p:grpSpPr>
          <a:xfrm>
            <a:off x="7543223" y="2684210"/>
            <a:ext cx="1100652" cy="457076"/>
            <a:chOff x="7197429" y="1152057"/>
            <a:chExt cx="1100652" cy="45707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1942D93-62C1-9653-3C82-B131C3E4BD32}"/>
                </a:ext>
              </a:extLst>
            </p:cNvPr>
            <p:cNvGrpSpPr/>
            <p:nvPr/>
          </p:nvGrpSpPr>
          <p:grpSpPr>
            <a:xfrm>
              <a:off x="7570280" y="1152057"/>
              <a:ext cx="727801" cy="232844"/>
              <a:chOff x="6561481" y="1836490"/>
              <a:chExt cx="727801" cy="232844"/>
            </a:xfrm>
          </p:grpSpPr>
          <p:pic>
            <p:nvPicPr>
              <p:cNvPr id="7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3567F16-8A21-16F9-6F76-ADF2376B31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FEC5658-EE44-5E19-52E9-DCC92A1CCE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807E1BB-A4BC-450A-D7D5-AF905C15BF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78D850F-289C-5227-D825-E33F0C2B9C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507EBC3-B23B-018F-3843-846EB0AEC3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2F281DA-09EE-B35D-BD22-00E3699BA1CC}"/>
                </a:ext>
              </a:extLst>
            </p:cNvPr>
            <p:cNvGrpSpPr/>
            <p:nvPr/>
          </p:nvGrpSpPr>
          <p:grpSpPr>
            <a:xfrm>
              <a:off x="7451507" y="1229540"/>
              <a:ext cx="727801" cy="232844"/>
              <a:chOff x="6561481" y="1836490"/>
              <a:chExt cx="727801" cy="232844"/>
            </a:xfrm>
          </p:grpSpPr>
          <p:pic>
            <p:nvPicPr>
              <p:cNvPr id="6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94B0AA59-9D6A-04CA-B768-B5D3113973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9481C710-6FB3-049D-B429-74E9E1D329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F6BA6F7-C824-79AB-8F4F-F6C4F639C0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28E8735-1B0A-365C-19C2-6E2A10992A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C942E41-F734-747F-55D6-68BEF74073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01FBED9-1E47-2744-CFF8-844ACEF3123F}"/>
                </a:ext>
              </a:extLst>
            </p:cNvPr>
            <p:cNvGrpSpPr/>
            <p:nvPr/>
          </p:nvGrpSpPr>
          <p:grpSpPr>
            <a:xfrm>
              <a:off x="7320281" y="1308323"/>
              <a:ext cx="727801" cy="232844"/>
              <a:chOff x="6561481" y="1836490"/>
              <a:chExt cx="727801" cy="232844"/>
            </a:xfrm>
          </p:grpSpPr>
          <p:pic>
            <p:nvPicPr>
              <p:cNvPr id="6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B97A618-07DF-92DF-1C3E-33BEB458D0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42EE510-7527-8858-2346-D134164FCC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CB6A59D-FAED-BFCC-976D-B7E43029E0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643A788-B020-833A-9305-68EEB64B16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289C5EF-9B10-53C1-DCF4-D4F8B2FC54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36AB6EA-6E54-8BF4-8FB6-15A1502CBC0D}"/>
                </a:ext>
              </a:extLst>
            </p:cNvPr>
            <p:cNvGrpSpPr/>
            <p:nvPr/>
          </p:nvGrpSpPr>
          <p:grpSpPr>
            <a:xfrm>
              <a:off x="7197429" y="1376289"/>
              <a:ext cx="727801" cy="232844"/>
              <a:chOff x="6561481" y="1836490"/>
              <a:chExt cx="727801" cy="232844"/>
            </a:xfrm>
          </p:grpSpPr>
          <p:pic>
            <p:nvPicPr>
              <p:cNvPr id="59" name="Picture 58" descr="3d Sphere Sphere PNG &amp; clipart images | TOPpng">
                <a:extLst>
                  <a:ext uri="{FF2B5EF4-FFF2-40B4-BE49-F238E27FC236}">
                    <a16:creationId xmlns:a16="http://schemas.microsoft.com/office/drawing/2014/main" id="{AA846CCE-5CB4-5C89-EF80-51C67A89F0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32D9E8E-44A4-7256-1B87-0089539139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7156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BA4E396-BAF1-0F49-F2BC-7603D07E98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2831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3196B97-F9E2-96AA-849B-E840213A56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8506" y="19042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C8495F-C083-F537-8E10-415D4F157B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1195F9-09E3-02E9-D37B-B970C6EB70E8}"/>
              </a:ext>
            </a:extLst>
          </p:cNvPr>
          <p:cNvGrpSpPr/>
          <p:nvPr/>
        </p:nvGrpSpPr>
        <p:grpSpPr>
          <a:xfrm rot="971198">
            <a:off x="9462023" y="2372684"/>
            <a:ext cx="951271" cy="368321"/>
            <a:chOff x="1921727" y="1452884"/>
            <a:chExt cx="539223" cy="208781"/>
          </a:xfrm>
        </p:grpSpPr>
        <p:pic>
          <p:nvPicPr>
            <p:cNvPr id="48" name="Picture 8" descr="3d Sphere Sphere PNG &amp; clipart images | TOPpng">
              <a:extLst>
                <a:ext uri="{FF2B5EF4-FFF2-40B4-BE49-F238E27FC236}">
                  <a16:creationId xmlns:a16="http://schemas.microsoft.com/office/drawing/2014/main" id="{0249C297-B666-2186-4E5E-FEBCC1B41A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0771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8" descr="3d Sphere Sphere PNG &amp; clipart images | TOPpng">
              <a:extLst>
                <a:ext uri="{FF2B5EF4-FFF2-40B4-BE49-F238E27FC236}">
                  <a16:creationId xmlns:a16="http://schemas.microsoft.com/office/drawing/2014/main" id="{863CDA0D-B73F-DECF-5594-64DDEB8B66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88281" y="14737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8" descr="3d Sphere Sphere PNG &amp; clipart images | TOPpng">
              <a:extLst>
                <a:ext uri="{FF2B5EF4-FFF2-40B4-BE49-F238E27FC236}">
                  <a16:creationId xmlns:a16="http://schemas.microsoft.com/office/drawing/2014/main" id="{1DD0A6DC-5E61-7007-561E-8955145B4B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04618" y="15402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8" descr="3d Sphere Sphere PNG &amp; clipart images | TOPpng">
              <a:extLst>
                <a:ext uri="{FF2B5EF4-FFF2-40B4-BE49-F238E27FC236}">
                  <a16:creationId xmlns:a16="http://schemas.microsoft.com/office/drawing/2014/main" id="{20C18D86-0B49-F9C8-2985-B1F2FAF32D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921727" y="156279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8" descr="3d Sphere Sphere PNG &amp; clipart images | TOPpng">
              <a:extLst>
                <a:ext uri="{FF2B5EF4-FFF2-40B4-BE49-F238E27FC236}">
                  <a16:creationId xmlns:a16="http://schemas.microsoft.com/office/drawing/2014/main" id="{752B58E8-E33A-1234-71CB-A8D1C65E55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2984" y="153522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8" descr="3d Sphere Sphere PNG &amp; clipart images | TOPpng">
              <a:extLst>
                <a:ext uri="{FF2B5EF4-FFF2-40B4-BE49-F238E27FC236}">
                  <a16:creationId xmlns:a16="http://schemas.microsoft.com/office/drawing/2014/main" id="{1B0BED7E-20F1-4320-5E29-A8ECAD4E18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1251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8" descr="3d Sphere Sphere PNG &amp; clipart images | TOPpng">
              <a:extLst>
                <a:ext uri="{FF2B5EF4-FFF2-40B4-BE49-F238E27FC236}">
                  <a16:creationId xmlns:a16="http://schemas.microsoft.com/office/drawing/2014/main" id="{2B545396-F8C2-43E3-9B09-5CB4B77AB4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29310" y="153899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D1BFA2E-05B5-426E-97E3-14A569B0A5AF}"/>
              </a:ext>
            </a:extLst>
          </p:cNvPr>
          <p:cNvSpPr txBox="1"/>
          <p:nvPr/>
        </p:nvSpPr>
        <p:spPr>
          <a:xfrm>
            <a:off x="8365245" y="1991297"/>
            <a:ext cx="878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ALD</a:t>
            </a:r>
            <a:b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1 cycle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9DF334-F9A5-BB88-B14D-82730E2CEC8E}"/>
              </a:ext>
            </a:extLst>
          </p:cNvPr>
          <p:cNvGrpSpPr/>
          <p:nvPr/>
        </p:nvGrpSpPr>
        <p:grpSpPr>
          <a:xfrm flipH="1">
            <a:off x="9345221" y="1203297"/>
            <a:ext cx="1131422" cy="201954"/>
            <a:chOff x="1772863" y="1300484"/>
            <a:chExt cx="715448" cy="122764"/>
          </a:xfrm>
        </p:grpSpPr>
        <p:pic>
          <p:nvPicPr>
            <p:cNvPr id="42" name="Picture 8" descr="3d Sphere Sphere PNG &amp; clipart images | TOPpng">
              <a:extLst>
                <a:ext uri="{FF2B5EF4-FFF2-40B4-BE49-F238E27FC236}">
                  <a16:creationId xmlns:a16="http://schemas.microsoft.com/office/drawing/2014/main" id="{5328EF33-9F40-EB9C-D5D7-2B9BA54501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5881" y="13213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8" descr="3d Sphere Sphere PNG &amp; clipart images | TOPpng">
              <a:extLst>
                <a:ext uri="{FF2B5EF4-FFF2-40B4-BE49-F238E27FC236}">
                  <a16:creationId xmlns:a16="http://schemas.microsoft.com/office/drawing/2014/main" id="{5764CFD8-888C-1796-58C0-9D6F5B4D45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31979" y="13671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8" descr="3d Sphere Sphere PNG &amp; clipart images | TOPpng">
              <a:extLst>
                <a:ext uri="{FF2B5EF4-FFF2-40B4-BE49-F238E27FC236}">
                  <a16:creationId xmlns:a16="http://schemas.microsoft.com/office/drawing/2014/main" id="{B5893BA6-6D5C-73F4-65B0-15C872CC00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72863" y="13493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8" descr="3d Sphere Sphere PNG &amp; clipart images | TOPpng">
              <a:extLst>
                <a:ext uri="{FF2B5EF4-FFF2-40B4-BE49-F238E27FC236}">
                  <a16:creationId xmlns:a16="http://schemas.microsoft.com/office/drawing/2014/main" id="{62B58A89-A828-CA08-3183-9991D71D53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9575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8" descr="3d Sphere Sphere PNG &amp; clipart images | TOPpng">
              <a:extLst>
                <a:ext uri="{FF2B5EF4-FFF2-40B4-BE49-F238E27FC236}">
                  <a16:creationId xmlns:a16="http://schemas.microsoft.com/office/drawing/2014/main" id="{2FA3F051-18C0-E9E0-27BB-72AB07753C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8" descr="3d Sphere Sphere PNG &amp; clipart images | TOPpng">
              <a:extLst>
                <a:ext uri="{FF2B5EF4-FFF2-40B4-BE49-F238E27FC236}">
                  <a16:creationId xmlns:a16="http://schemas.microsoft.com/office/drawing/2014/main" id="{B8243AE8-FC5C-CD9F-6400-8AAB101C27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03438" y="1323596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A62059-1D22-0507-5D40-8244A06046C1}"/>
              </a:ext>
            </a:extLst>
          </p:cNvPr>
          <p:cNvGrpSpPr/>
          <p:nvPr/>
        </p:nvGrpSpPr>
        <p:grpSpPr>
          <a:xfrm rot="9070823" flipH="1">
            <a:off x="7359797" y="2369952"/>
            <a:ext cx="848451" cy="512228"/>
            <a:chOff x="1871546" y="1349070"/>
            <a:chExt cx="497301" cy="316630"/>
          </a:xfrm>
        </p:grpSpPr>
        <p:pic>
          <p:nvPicPr>
            <p:cNvPr id="35" name="Picture 8" descr="3d Sphere Sphere PNG &amp; clipart images | TOPpng">
              <a:extLst>
                <a:ext uri="{FF2B5EF4-FFF2-40B4-BE49-F238E27FC236}">
                  <a16:creationId xmlns:a16="http://schemas.microsoft.com/office/drawing/2014/main" id="{197A3A93-000C-7F1B-6204-EF14E69AC6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71546" y="1609622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8" descr="3d Sphere Sphere PNG &amp; clipart images | TOPpng">
              <a:extLst>
                <a:ext uri="{FF2B5EF4-FFF2-40B4-BE49-F238E27FC236}">
                  <a16:creationId xmlns:a16="http://schemas.microsoft.com/office/drawing/2014/main" id="{C54461F3-7024-31C6-93E1-E9C2E26AC8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0771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 descr="3d Sphere Sphere PNG &amp; clipart images | TOPpng">
              <a:extLst>
                <a:ext uri="{FF2B5EF4-FFF2-40B4-BE49-F238E27FC236}">
                  <a16:creationId xmlns:a16="http://schemas.microsoft.com/office/drawing/2014/main" id="{E7ED11B5-DE17-6A89-9360-908B5C763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88281" y="14737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8" descr="3d Sphere Sphere PNG &amp; clipart images | TOPpng">
              <a:extLst>
                <a:ext uri="{FF2B5EF4-FFF2-40B4-BE49-F238E27FC236}">
                  <a16:creationId xmlns:a16="http://schemas.microsoft.com/office/drawing/2014/main" id="{26DA634F-E0C1-4CF9-5CFF-3CDBF44D0F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925263" y="15017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8" descr="3d Sphere Sphere PNG &amp; clipart images | TOPpng">
              <a:extLst>
                <a:ext uri="{FF2B5EF4-FFF2-40B4-BE49-F238E27FC236}">
                  <a16:creationId xmlns:a16="http://schemas.microsoft.com/office/drawing/2014/main" id="{E04369EC-ECCA-0DCC-436C-41D6E51BB0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4815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8" descr="3d Sphere Sphere PNG &amp; clipart images | TOPpng">
              <a:extLst>
                <a:ext uri="{FF2B5EF4-FFF2-40B4-BE49-F238E27FC236}">
                  <a16:creationId xmlns:a16="http://schemas.microsoft.com/office/drawing/2014/main" id="{6C9EC7FD-8E3A-C824-44B5-61282957D5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1251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8" descr="3d Sphere Sphere PNG &amp; clipart images | TOPpng">
              <a:extLst>
                <a:ext uri="{FF2B5EF4-FFF2-40B4-BE49-F238E27FC236}">
                  <a16:creationId xmlns:a16="http://schemas.microsoft.com/office/drawing/2014/main" id="{D6787C49-0E5E-C617-33A8-C5C416613D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30063" y="13490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A827DA6-6F83-6ADD-34CF-7C27EFD93ED4}"/>
              </a:ext>
            </a:extLst>
          </p:cNvPr>
          <p:cNvSpPr txBox="1"/>
          <p:nvPr/>
        </p:nvSpPr>
        <p:spPr>
          <a:xfrm>
            <a:off x="7153063" y="890624"/>
            <a:ext cx="992680" cy="276999"/>
          </a:xfrm>
          <a:prstGeom prst="rect">
            <a:avLst/>
          </a:prstGeom>
          <a:solidFill>
            <a:srgbClr val="1976D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DEZ Supply</a:t>
            </a:r>
            <a:endParaRPr lang="en-US" altLang="ko-KR" sz="120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프리젠테이션 9 Black" pitchFamily="2" charset="-127"/>
              <a:ea typeface="프리젠테이션 9 Black" pitchFamily="2" charset="-127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1177C-116A-56F8-CE56-8880D6ACB975}"/>
              </a:ext>
            </a:extLst>
          </p:cNvPr>
          <p:cNvSpPr txBox="1"/>
          <p:nvPr/>
        </p:nvSpPr>
        <p:spPr>
          <a:xfrm>
            <a:off x="9487261" y="2024606"/>
            <a:ext cx="1163567" cy="276999"/>
          </a:xfrm>
          <a:prstGeom prst="rect">
            <a:avLst/>
          </a:prstGeom>
          <a:solidFill>
            <a:srgbClr val="43A047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HF·Py</a:t>
            </a:r>
            <a:r>
              <a:rPr lang="en-US" dirty="0"/>
              <a:t> Supply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DDBC6C-0B87-134C-E682-DF6A2A360B04}"/>
              </a:ext>
            </a:extLst>
          </p:cNvPr>
          <p:cNvSpPr txBox="1"/>
          <p:nvPr/>
        </p:nvSpPr>
        <p:spPr>
          <a:xfrm>
            <a:off x="9712238" y="890624"/>
            <a:ext cx="902188" cy="276999"/>
          </a:xfrm>
          <a:prstGeom prst="rect">
            <a:avLst/>
          </a:prstGeom>
          <a:solidFill>
            <a:srgbClr val="F9A825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DEZ Purge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205AE-11B8-5BEC-1B1C-FDCD23088C4E}"/>
              </a:ext>
            </a:extLst>
          </p:cNvPr>
          <p:cNvSpPr txBox="1"/>
          <p:nvPr/>
        </p:nvSpPr>
        <p:spPr>
          <a:xfrm>
            <a:off x="7146851" y="2024606"/>
            <a:ext cx="1082949" cy="276999"/>
          </a:xfrm>
          <a:prstGeom prst="rect">
            <a:avLst/>
          </a:prstGeom>
          <a:solidFill>
            <a:srgbClr val="EF535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HF·Py</a:t>
            </a:r>
            <a:r>
              <a:rPr lang="en-US" dirty="0"/>
              <a:t> Purge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CA07D4-2093-505B-499D-40C3AB8F67AD}"/>
              </a:ext>
            </a:extLst>
          </p:cNvPr>
          <p:cNvSpPr txBox="1"/>
          <p:nvPr/>
        </p:nvSpPr>
        <p:spPr>
          <a:xfrm>
            <a:off x="7259121" y="3242147"/>
            <a:ext cx="1620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DEZ: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  Zn(CH</a:t>
            </a:r>
            <a:r>
              <a:rPr lang="pl-PL" sz="1100" baseline="-25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2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CH</a:t>
            </a:r>
            <a:r>
              <a:rPr lang="pl-PL" sz="1100" baseline="-25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3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)</a:t>
            </a:r>
            <a:r>
              <a:rPr lang="pl-PL" sz="1100" baseline="-25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2</a:t>
            </a:r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6F56E-4B6C-8CDC-C211-1316C1241C52}"/>
              </a:ext>
            </a:extLst>
          </p:cNvPr>
          <p:cNvSpPr txBox="1"/>
          <p:nvPr/>
        </p:nvSpPr>
        <p:spPr>
          <a:xfrm>
            <a:off x="8399598" y="3242147"/>
            <a:ext cx="1620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HF: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  </a:t>
            </a:r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Hydrogen fluoride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FA656-7A9C-728E-F684-E413B511ADC4}"/>
              </a:ext>
            </a:extLst>
          </p:cNvPr>
          <p:cNvSpPr txBox="1"/>
          <p:nvPr/>
        </p:nvSpPr>
        <p:spPr>
          <a:xfrm>
            <a:off x="9812121" y="3241351"/>
            <a:ext cx="9122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Py</a:t>
            </a:r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: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  </a:t>
            </a:r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Pyridine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AA68B2-509B-AF33-95B0-C514AB0A7F65}"/>
              </a:ext>
            </a:extLst>
          </p:cNvPr>
          <p:cNvSpPr/>
          <p:nvPr/>
        </p:nvSpPr>
        <p:spPr>
          <a:xfrm>
            <a:off x="7122848" y="844903"/>
            <a:ext cx="3554644" cy="2628373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C49109-3CF1-6AA0-618E-43E54BA3E027}"/>
              </a:ext>
            </a:extLst>
          </p:cNvPr>
          <p:cNvGrpSpPr/>
          <p:nvPr/>
        </p:nvGrpSpPr>
        <p:grpSpPr>
          <a:xfrm>
            <a:off x="6933800" y="3586977"/>
            <a:ext cx="3778565" cy="887344"/>
            <a:chOff x="1133496" y="3707498"/>
            <a:chExt cx="3778565" cy="88734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8CEA866-67C3-8828-C392-40E7E7EFC21B}"/>
                </a:ext>
              </a:extLst>
            </p:cNvPr>
            <p:cNvGrpSpPr/>
            <p:nvPr/>
          </p:nvGrpSpPr>
          <p:grpSpPr>
            <a:xfrm>
              <a:off x="1133496" y="3772935"/>
              <a:ext cx="3250094" cy="784423"/>
              <a:chOff x="3293632" y="4015904"/>
              <a:chExt cx="1852988" cy="679556"/>
            </a:xfrm>
          </p:grpSpPr>
          <p:pic>
            <p:nvPicPr>
              <p:cNvPr id="32" name="Picture 6">
                <a:extLst>
                  <a:ext uri="{FF2B5EF4-FFF2-40B4-BE49-F238E27FC236}">
                    <a16:creationId xmlns:a16="http://schemas.microsoft.com/office/drawing/2014/main" id="{E0841D25-F48A-D6DE-4F5C-58DB68D6A0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4006"/>
              <a:stretch/>
            </p:blipFill>
            <p:spPr bwMode="auto">
              <a:xfrm>
                <a:off x="3293632" y="4015904"/>
                <a:ext cx="1852988" cy="4535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201EB61-A45D-0EF8-5F6F-FF08DC46376D}"/>
                  </a:ext>
                </a:extLst>
              </p:cNvPr>
              <p:cNvCxnSpPr/>
              <p:nvPr/>
            </p:nvCxnSpPr>
            <p:spPr>
              <a:xfrm>
                <a:off x="3598088" y="4506483"/>
                <a:ext cx="1265234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EC890B-0E91-2A8E-DEC0-31AE289EAB0F}"/>
                  </a:ext>
                </a:extLst>
              </p:cNvPr>
              <p:cNvSpPr txBox="1"/>
              <p:nvPr/>
            </p:nvSpPr>
            <p:spPr>
              <a:xfrm>
                <a:off x="3692308" y="4468824"/>
                <a:ext cx="1084855" cy="226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# of ALD cycles</a:t>
                </a:r>
                <a:endParaRPr lang="ko-KR" altLang="en-US" sz="1100" b="1" dirty="0">
                  <a:effectLst/>
                  <a:latin typeface="프리젠테이션 7 Bold" pitchFamily="2" charset="-127"/>
                  <a:ea typeface="프리젠테이션 7 Bold" pitchFamily="2" charset="-127"/>
                </a:endParaRPr>
              </a:p>
            </p:txBody>
          </p:sp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E7216C5-2553-C879-2622-B0680D3198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3312" y="3882181"/>
              <a:ext cx="238689" cy="83829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  <a:effectLst>
              <a:glow rad="63500">
                <a:srgbClr val="43A047">
                  <a:alpha val="40000"/>
                </a:srgb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4BF0D4-1902-128B-B521-3F5BF03610A4}"/>
                </a:ext>
              </a:extLst>
            </p:cNvPr>
            <p:cNvSpPr txBox="1"/>
            <p:nvPr/>
          </p:nvSpPr>
          <p:spPr>
            <a:xfrm>
              <a:off x="4281794" y="3707498"/>
              <a:ext cx="471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 err="1">
                  <a:latin typeface="프리젠테이션 7 Bold" pitchFamily="2" charset="-127"/>
                  <a:ea typeface="프리젠테이션 7 Bold" pitchFamily="2" charset="-127"/>
                </a:rPr>
                <a:t>MF</a:t>
              </a:r>
              <a:r>
                <a:rPr lang="en-US" altLang="ko-KR" sz="1200" b="1" baseline="-25000" dirty="0" err="1">
                  <a:latin typeface="프리젠테이션 7 Bold" pitchFamily="2" charset="-127"/>
                  <a:ea typeface="프리젠테이션 7 Bold" pitchFamily="2" charset="-127"/>
                </a:rPr>
                <a:t>x</a:t>
              </a:r>
              <a:endParaRPr lang="en-US" sz="1200" b="1" baseline="-25000" dirty="0"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1A2DC6-2DE1-D15F-5AEC-18C2967D080B}"/>
                </a:ext>
              </a:extLst>
            </p:cNvPr>
            <p:cNvSpPr txBox="1"/>
            <p:nvPr/>
          </p:nvSpPr>
          <p:spPr>
            <a:xfrm>
              <a:off x="3731940" y="4348621"/>
              <a:ext cx="118012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 err="1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altLang="ko-KR" sz="1000" baseline="-25000" dirty="0" err="1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altLang="ko-KR" sz="1000" dirty="0" err="1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:Metal</a:t>
              </a:r>
              <a:r>
                <a:rPr lang="en-US" altLang="ko-KR" sz="1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Fluoride</a:t>
              </a:r>
              <a:endParaRPr lang="en-US" sz="1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5F01E44-2E0E-E8E9-22EA-8B92F1FD4A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8969" y="4086055"/>
              <a:ext cx="195200" cy="91742"/>
            </a:xfrm>
            <a:prstGeom prst="straightConnector1">
              <a:avLst/>
            </a:prstGeom>
            <a:ln w="6350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E47EAD0-3636-849E-3C63-27D0F8F33142}"/>
                </a:ext>
              </a:extLst>
            </p:cNvPr>
            <p:cNvSpPr txBox="1"/>
            <p:nvPr/>
          </p:nvSpPr>
          <p:spPr>
            <a:xfrm>
              <a:off x="4171313" y="4059504"/>
              <a:ext cx="51654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Cu</a:t>
              </a:r>
              <a:endParaRPr lang="en-US" sz="1200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2FD3180-0C47-DA78-84FE-00B81BF32754}"/>
              </a:ext>
            </a:extLst>
          </p:cNvPr>
          <p:cNvSpPr/>
          <p:nvPr/>
        </p:nvSpPr>
        <p:spPr>
          <a:xfrm>
            <a:off x="7122848" y="3505338"/>
            <a:ext cx="3554644" cy="95282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AA8685-6851-583F-1CC7-0F1E9FBAFB8A}"/>
              </a:ext>
            </a:extLst>
          </p:cNvPr>
          <p:cNvSpPr txBox="1"/>
          <p:nvPr/>
        </p:nvSpPr>
        <p:spPr>
          <a:xfrm>
            <a:off x="8065822" y="3464365"/>
            <a:ext cx="16483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박막 형성 단면 모식도</a:t>
            </a:r>
          </a:p>
        </p:txBody>
      </p:sp>
    </p:spTree>
    <p:extLst>
      <p:ext uri="{BB962C8B-B14F-4D97-AF65-F5344CB8AC3E}">
        <p14:creationId xmlns:p14="http://schemas.microsoft.com/office/powerpoint/2010/main" val="121717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different types of material&#10;&#10;AI-generated content may be incorrect.">
            <a:extLst>
              <a:ext uri="{FF2B5EF4-FFF2-40B4-BE49-F238E27FC236}">
                <a16:creationId xmlns:a16="http://schemas.microsoft.com/office/drawing/2014/main" id="{BF98601F-FBB7-086F-B2DF-113D549FA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223"/>
          <a:stretch/>
        </p:blipFill>
        <p:spPr>
          <a:xfrm>
            <a:off x="303131" y="241727"/>
            <a:ext cx="4546900" cy="3187273"/>
          </a:xfrm>
          <a:prstGeom prst="rect">
            <a:avLst/>
          </a:prstGeom>
        </p:spPr>
      </p:pic>
      <p:pic>
        <p:nvPicPr>
          <p:cNvPr id="4" name="Picture 2" descr="Three Arrow Circle Sign Reload, Loop Symbol - Download Free 3D model by  B1Blender (@B1Blender) [549c9fb]">
            <a:extLst>
              <a:ext uri="{FF2B5EF4-FFF2-40B4-BE49-F238E27FC236}">
                <a16:creationId xmlns:a16="http://schemas.microsoft.com/office/drawing/2014/main" id="{58E72D28-5FFC-1279-7A7D-C2AA10AAC4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667" b="76852" l="32396" r="67500">
                        <a14:foregroundMark x1="55625" y1="19167" x2="55677" y2="22130"/>
                        <a14:foregroundMark x1="63542" y1="36574" x2="65729" y2="46296"/>
                        <a14:foregroundMark x1="65729" y1="46296" x2="65313" y2="63241"/>
                        <a14:foregroundMark x1="65313" y1="63241" x2="60208" y2="73241"/>
                        <a14:foregroundMark x1="60208" y1="73241" x2="59948" y2="73148"/>
                        <a14:foregroundMark x1="37031" y1="57315" x2="45052" y2="73333"/>
                        <a14:foregroundMark x1="45052" y1="73333" x2="50625" y2="76944"/>
                        <a14:foregroundMark x1="50625" y1="76944" x2="54948" y2="76759"/>
                        <a14:foregroundMark x1="67656" y1="49815" x2="67448" y2="60556"/>
                        <a14:foregroundMark x1="55625" y1="16759" x2="55625" y2="16759"/>
                        <a14:foregroundMark x1="34479" y1="61204" x2="33698" y2="64630"/>
                        <a14:foregroundMark x1="32396" y1="65926" x2="32396" y2="65926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597" t="14558" r="30422" b="19185"/>
          <a:stretch/>
        </p:blipFill>
        <p:spPr bwMode="auto">
          <a:xfrm>
            <a:off x="8277625" y="1672899"/>
            <a:ext cx="1051318" cy="103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2087C6A-5AB3-C36C-A012-ECD973DAFA71}"/>
              </a:ext>
            </a:extLst>
          </p:cNvPr>
          <p:cNvGrpSpPr/>
          <p:nvPr/>
        </p:nvGrpSpPr>
        <p:grpSpPr>
          <a:xfrm>
            <a:off x="9312679" y="944339"/>
            <a:ext cx="1100652" cy="1288395"/>
            <a:chOff x="4540535" y="510372"/>
            <a:chExt cx="1100652" cy="1288395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81232B3-38D3-66D5-DE28-3DD7AF618993}"/>
                </a:ext>
              </a:extLst>
            </p:cNvPr>
            <p:cNvSpPr/>
            <p:nvPr/>
          </p:nvSpPr>
          <p:spPr>
            <a:xfrm>
              <a:off x="4562956" y="51037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605C3228-6C62-5852-B3B6-51E3C40D7D28}"/>
                </a:ext>
              </a:extLst>
            </p:cNvPr>
            <p:cNvGrpSpPr/>
            <p:nvPr/>
          </p:nvGrpSpPr>
          <p:grpSpPr>
            <a:xfrm>
              <a:off x="4540535" y="907639"/>
              <a:ext cx="1100652" cy="457076"/>
              <a:chOff x="7197429" y="1152057"/>
              <a:chExt cx="1100652" cy="457076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4BE09ED1-9CFE-9FBF-0466-86A58290253F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3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8EF5097-21D9-D918-1E01-19B61C6717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E57A8A7-7904-0838-2B84-888BE8C005D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1C273D8-8CBE-2E09-EF46-13B107370E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E5BB6E9-5ACD-F1A0-A006-D3B8EB7566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E5934A0-0732-84DE-54DE-FE1080AE2D8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47212514-1E7B-8508-0780-D6505F188937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3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B947339-E4C3-DD8D-46FB-A132EA8A449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57931BB-25F9-DB1F-8EB3-A3070A517A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7321CD45-84C8-CB09-D27D-22D84FCC4F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F271F6E-07B1-949D-6A73-26CD8C68E0B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EB11C6C-33A9-8583-FD2C-D2136917C0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9422A42B-9D94-443E-8549-23908BE1F9CD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2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425445C-69A6-DF9D-64C9-D885602D5B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576B64C-6632-2E67-E65D-553E18BF6F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9A7BDF4-8639-7C35-B9B7-DD12A7DC608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BEA4DFC-63F4-8772-B371-A07415F3614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36182E3-CCC5-DC36-0303-0D58ED6A256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6A942BE9-3C52-3859-7A71-56CDE1A3B96C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20" name="Picture 119" descr="3d Sphere Sphere PNG &amp; clipart images | TOPpng">
                  <a:extLst>
                    <a:ext uri="{FF2B5EF4-FFF2-40B4-BE49-F238E27FC236}">
                      <a16:creationId xmlns:a16="http://schemas.microsoft.com/office/drawing/2014/main" id="{C53679FC-C47F-A521-CF5D-1D63692798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71042E4-16A5-ACB0-F950-641FD50903A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FFC63C9-BAB9-0AEC-6E28-5ABDE8D446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B37E1CA-24DA-045D-0129-69611B98B6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02EC85E-8171-2D59-62F2-6FF922747AD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94C22D5-61B8-8D69-00BF-70A8A2F269BE}"/>
              </a:ext>
            </a:extLst>
          </p:cNvPr>
          <p:cNvSpPr/>
          <p:nvPr/>
        </p:nvSpPr>
        <p:spPr>
          <a:xfrm>
            <a:off x="7529007" y="944339"/>
            <a:ext cx="1037842" cy="1288395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2">
                  <a:lumMod val="75000"/>
                  <a:alpha val="63000"/>
                </a:schemeClr>
              </a:gs>
            </a:gsLst>
          </a:gradFill>
          <a:ln>
            <a:noFill/>
          </a:ln>
          <a:scene3d>
            <a:camera prst="isometricOffAxis2Top"/>
            <a:lightRig rig="morning" dir="t"/>
          </a:scene3d>
          <a:sp3d extrusionH="95250" prstMaterial="fla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4F0329-0EEA-D059-71D0-1D70411B0300}"/>
              </a:ext>
            </a:extLst>
          </p:cNvPr>
          <p:cNvGrpSpPr/>
          <p:nvPr/>
        </p:nvGrpSpPr>
        <p:grpSpPr>
          <a:xfrm>
            <a:off x="7326442" y="1302970"/>
            <a:ext cx="1449434" cy="337229"/>
            <a:chOff x="1590955" y="1300484"/>
            <a:chExt cx="897356" cy="208781"/>
          </a:xfrm>
        </p:grpSpPr>
        <p:pic>
          <p:nvPicPr>
            <p:cNvPr id="105" name="Picture 8" descr="3d Sphere Sphere PNG &amp; clipart images | TOPpng">
              <a:extLst>
                <a:ext uri="{FF2B5EF4-FFF2-40B4-BE49-F238E27FC236}">
                  <a16:creationId xmlns:a16="http://schemas.microsoft.com/office/drawing/2014/main" id="{2C1182EC-DD32-32B6-8C4E-1EBFEEA446E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59095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" name="Picture 8" descr="3d Sphere Sphere PNG &amp; clipart images | TOPpng">
              <a:extLst>
                <a:ext uri="{FF2B5EF4-FFF2-40B4-BE49-F238E27FC236}">
                  <a16:creationId xmlns:a16="http://schemas.microsoft.com/office/drawing/2014/main" id="{A067D7A5-88E3-2978-A91E-F61C6448F2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5531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Picture 8" descr="3d Sphere Sphere PNG &amp; clipart images | TOPpng">
              <a:extLst>
                <a:ext uri="{FF2B5EF4-FFF2-40B4-BE49-F238E27FC236}">
                  <a16:creationId xmlns:a16="http://schemas.microsoft.com/office/drawing/2014/main" id="{E72D1184-B02E-2902-7080-CAED3E3A5A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5881" y="13213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Picture 8" descr="3d Sphere Sphere PNG &amp; clipart images | TOPpng">
              <a:extLst>
                <a:ext uri="{FF2B5EF4-FFF2-40B4-BE49-F238E27FC236}">
                  <a16:creationId xmlns:a16="http://schemas.microsoft.com/office/drawing/2014/main" id="{4E535E84-9468-E432-40E9-F17E819DFE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31979" y="13671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Picture 8" descr="3d Sphere Sphere PNG &amp; clipart images | TOPpng">
              <a:extLst>
                <a:ext uri="{FF2B5EF4-FFF2-40B4-BE49-F238E27FC236}">
                  <a16:creationId xmlns:a16="http://schemas.microsoft.com/office/drawing/2014/main" id="{D94AAA68-733C-5213-8D20-ED1A602B95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52218" y="13878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0" name="Picture 8" descr="3d Sphere Sphere PNG &amp; clipart images | TOPpng">
              <a:extLst>
                <a:ext uri="{FF2B5EF4-FFF2-40B4-BE49-F238E27FC236}">
                  <a16:creationId xmlns:a16="http://schemas.microsoft.com/office/drawing/2014/main" id="{CAADBFFE-C172-4430-BED2-116C87E856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72863" y="13493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Picture 8" descr="3d Sphere Sphere PNG &amp; clipart images | TOPpng">
              <a:extLst>
                <a:ext uri="{FF2B5EF4-FFF2-40B4-BE49-F238E27FC236}">
                  <a16:creationId xmlns:a16="http://schemas.microsoft.com/office/drawing/2014/main" id="{80BFBAB5-1692-6A3D-678F-0332C557E7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9575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8" descr="3d Sphere Sphere PNG &amp; clipart images | TOPpng">
              <a:extLst>
                <a:ext uri="{FF2B5EF4-FFF2-40B4-BE49-F238E27FC236}">
                  <a16:creationId xmlns:a16="http://schemas.microsoft.com/office/drawing/2014/main" id="{885DC732-6625-A209-1A11-F89F244725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8" descr="3d Sphere Sphere PNG &amp; clipart images | TOPpng">
              <a:extLst>
                <a:ext uri="{FF2B5EF4-FFF2-40B4-BE49-F238E27FC236}">
                  <a16:creationId xmlns:a16="http://schemas.microsoft.com/office/drawing/2014/main" id="{5A8BDA01-2B20-CF49-D7AB-22D35AE9B8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08550" y="130431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AC3EC3-109B-2FFB-969C-560D01C60F8D}"/>
              </a:ext>
            </a:extLst>
          </p:cNvPr>
          <p:cNvGrpSpPr/>
          <p:nvPr/>
        </p:nvGrpSpPr>
        <p:grpSpPr>
          <a:xfrm>
            <a:off x="9322800" y="2286943"/>
            <a:ext cx="1100652" cy="1288395"/>
            <a:chOff x="3481469" y="2556202"/>
            <a:chExt cx="1100652" cy="128839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250AA01-7696-1E67-E02D-E01FD5B59C32}"/>
                </a:ext>
              </a:extLst>
            </p:cNvPr>
            <p:cNvSpPr/>
            <p:nvPr/>
          </p:nvSpPr>
          <p:spPr>
            <a:xfrm>
              <a:off x="3503890" y="25562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446FDFD-A08C-A6B1-8B68-7C85130C0D95}"/>
                </a:ext>
              </a:extLst>
            </p:cNvPr>
            <p:cNvGrpSpPr/>
            <p:nvPr/>
          </p:nvGrpSpPr>
          <p:grpSpPr>
            <a:xfrm>
              <a:off x="3481469" y="2953469"/>
              <a:ext cx="1100652" cy="457076"/>
              <a:chOff x="7197429" y="1152057"/>
              <a:chExt cx="1100652" cy="457076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C396379C-EB43-8D0A-DBAE-3B73974FA680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3A149D-C3A8-8E3B-46AE-3858150AF0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2D861AB-F683-27F5-8EFF-C0799F1556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B81EE71-CEF2-6789-E654-F395287F0D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35C9F96-273B-D893-492B-9D6AA0E32D6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5A62001-66BE-7B78-ED6E-09B907F599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1E77CC69-F2BF-2ED0-E995-4355BD348C8E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225CA95-BBC7-D9F4-66A5-A636485FF4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D845D64-99A9-E576-FE3A-E697080E49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11F67E7-EF33-D56D-A03E-051B85B9A1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C7186F6-8FD6-EA82-BA38-EAA45466E90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285A2CF-21A6-FF69-E053-A7B23E52DF9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77836DEF-A942-5376-0EAF-A791E296EF9F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4D2A5B3-F492-0431-B112-9FF08188B3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4F0831-018C-3533-9FAE-D4C023562D3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19E91F-59C5-F016-5A96-B2C0CBE6ED4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DCB11AD-4FA3-FB9C-AAAF-AF9E97A998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8CB1039-AB07-4EF9-DC69-FAC5D73819C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B84038BE-BE43-F9AB-5419-F3331C2529CE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85" name="Picture 84" descr="3d Sphere Sphere PNG &amp; clipart images | TOPpng">
                  <a:extLst>
                    <a:ext uri="{FF2B5EF4-FFF2-40B4-BE49-F238E27FC236}">
                      <a16:creationId xmlns:a16="http://schemas.microsoft.com/office/drawing/2014/main" id="{E2E3B9AB-8258-3825-0EED-8B39C3710A0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810F0DF-22E7-3091-4E83-187AC435D1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CD7F393-F07E-58E2-A2ED-8B64567223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3189AD9-D5A2-A1E8-FD82-19A7949B471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F3674EA-378B-252F-E1A1-F3DA98DF76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EFB100A-9B3D-9DF3-B11A-D382E96542E0}"/>
              </a:ext>
            </a:extLst>
          </p:cNvPr>
          <p:cNvSpPr/>
          <p:nvPr/>
        </p:nvSpPr>
        <p:spPr>
          <a:xfrm>
            <a:off x="7565644" y="2286943"/>
            <a:ext cx="1037842" cy="1288395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2">
                  <a:lumMod val="75000"/>
                  <a:alpha val="63000"/>
                </a:schemeClr>
              </a:gs>
            </a:gsLst>
          </a:gradFill>
          <a:ln>
            <a:noFill/>
          </a:ln>
          <a:scene3d>
            <a:camera prst="isometricOffAxis2Top"/>
            <a:lightRig rig="morning" dir="t"/>
          </a:scene3d>
          <a:sp3d extrusionH="95250" prstMaterial="fla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1D21E2-F2B7-A170-8D4F-A7C3F885A520}"/>
              </a:ext>
            </a:extLst>
          </p:cNvPr>
          <p:cNvGrpSpPr/>
          <p:nvPr/>
        </p:nvGrpSpPr>
        <p:grpSpPr>
          <a:xfrm>
            <a:off x="7543223" y="2684210"/>
            <a:ext cx="1100652" cy="457076"/>
            <a:chOff x="7197429" y="1152057"/>
            <a:chExt cx="1100652" cy="45707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1942D93-62C1-9653-3C82-B131C3E4BD32}"/>
                </a:ext>
              </a:extLst>
            </p:cNvPr>
            <p:cNvGrpSpPr/>
            <p:nvPr/>
          </p:nvGrpSpPr>
          <p:grpSpPr>
            <a:xfrm>
              <a:off x="7570280" y="1152057"/>
              <a:ext cx="727801" cy="232844"/>
              <a:chOff x="6561481" y="1836490"/>
              <a:chExt cx="727801" cy="232844"/>
            </a:xfrm>
          </p:grpSpPr>
          <p:pic>
            <p:nvPicPr>
              <p:cNvPr id="7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3567F16-8A21-16F9-6F76-ADF2376B31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FEC5658-EE44-5E19-52E9-DCC92A1CCE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807E1BB-A4BC-450A-D7D5-AF905C15BF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78D850F-289C-5227-D825-E33F0C2B9C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507EBC3-B23B-018F-3843-846EB0AEC3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2F281DA-09EE-B35D-BD22-00E3699BA1CC}"/>
                </a:ext>
              </a:extLst>
            </p:cNvPr>
            <p:cNvGrpSpPr/>
            <p:nvPr/>
          </p:nvGrpSpPr>
          <p:grpSpPr>
            <a:xfrm>
              <a:off x="7451507" y="1229540"/>
              <a:ext cx="727801" cy="232844"/>
              <a:chOff x="6561481" y="1836490"/>
              <a:chExt cx="727801" cy="232844"/>
            </a:xfrm>
          </p:grpSpPr>
          <p:pic>
            <p:nvPicPr>
              <p:cNvPr id="6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94B0AA59-9D6A-04CA-B768-B5D3113973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9481C710-6FB3-049D-B429-74E9E1D329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F6BA6F7-C824-79AB-8F4F-F6C4F639C0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28E8735-1B0A-365C-19C2-6E2A10992A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C942E41-F734-747F-55D6-68BEF74073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01FBED9-1E47-2744-CFF8-844ACEF3123F}"/>
                </a:ext>
              </a:extLst>
            </p:cNvPr>
            <p:cNvGrpSpPr/>
            <p:nvPr/>
          </p:nvGrpSpPr>
          <p:grpSpPr>
            <a:xfrm>
              <a:off x="7320281" y="1308323"/>
              <a:ext cx="727801" cy="232844"/>
              <a:chOff x="6561481" y="1836490"/>
              <a:chExt cx="727801" cy="232844"/>
            </a:xfrm>
          </p:grpSpPr>
          <p:pic>
            <p:nvPicPr>
              <p:cNvPr id="6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B97A618-07DF-92DF-1C3E-33BEB458D0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42EE510-7527-8858-2346-D134164FCC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CB6A59D-FAED-BFCC-976D-B7E43029E0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643A788-B020-833A-9305-68EEB64B16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289C5EF-9B10-53C1-DCF4-D4F8B2FC54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36AB6EA-6E54-8BF4-8FB6-15A1502CBC0D}"/>
                </a:ext>
              </a:extLst>
            </p:cNvPr>
            <p:cNvGrpSpPr/>
            <p:nvPr/>
          </p:nvGrpSpPr>
          <p:grpSpPr>
            <a:xfrm>
              <a:off x="7197429" y="1376289"/>
              <a:ext cx="727801" cy="232844"/>
              <a:chOff x="6561481" y="1836490"/>
              <a:chExt cx="727801" cy="232844"/>
            </a:xfrm>
          </p:grpSpPr>
          <p:pic>
            <p:nvPicPr>
              <p:cNvPr id="59" name="Picture 58" descr="3d Sphere Sphere PNG &amp; clipart images | TOPpng">
                <a:extLst>
                  <a:ext uri="{FF2B5EF4-FFF2-40B4-BE49-F238E27FC236}">
                    <a16:creationId xmlns:a16="http://schemas.microsoft.com/office/drawing/2014/main" id="{AA846CCE-5CB4-5C89-EF80-51C67A89F0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32D9E8E-44A4-7256-1B87-0089539139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7156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BA4E396-BAF1-0F49-F2BC-7603D07E98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2831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3196B97-F9E2-96AA-849B-E840213A56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8506" y="19042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C8495F-C083-F537-8E10-415D4F157B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1195F9-09E3-02E9-D37B-B970C6EB70E8}"/>
              </a:ext>
            </a:extLst>
          </p:cNvPr>
          <p:cNvGrpSpPr/>
          <p:nvPr/>
        </p:nvGrpSpPr>
        <p:grpSpPr>
          <a:xfrm rot="971198">
            <a:off x="9462023" y="2372684"/>
            <a:ext cx="951271" cy="368321"/>
            <a:chOff x="1921727" y="1452884"/>
            <a:chExt cx="539223" cy="208781"/>
          </a:xfrm>
        </p:grpSpPr>
        <p:pic>
          <p:nvPicPr>
            <p:cNvPr id="48" name="Picture 8" descr="3d Sphere Sphere PNG &amp; clipart images | TOPpng">
              <a:extLst>
                <a:ext uri="{FF2B5EF4-FFF2-40B4-BE49-F238E27FC236}">
                  <a16:creationId xmlns:a16="http://schemas.microsoft.com/office/drawing/2014/main" id="{0249C297-B666-2186-4E5E-FEBCC1B41A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0771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8" descr="3d Sphere Sphere PNG &amp; clipart images | TOPpng">
              <a:extLst>
                <a:ext uri="{FF2B5EF4-FFF2-40B4-BE49-F238E27FC236}">
                  <a16:creationId xmlns:a16="http://schemas.microsoft.com/office/drawing/2014/main" id="{863CDA0D-B73F-DECF-5594-64DDEB8B66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88281" y="14737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8" descr="3d Sphere Sphere PNG &amp; clipart images | TOPpng">
              <a:extLst>
                <a:ext uri="{FF2B5EF4-FFF2-40B4-BE49-F238E27FC236}">
                  <a16:creationId xmlns:a16="http://schemas.microsoft.com/office/drawing/2014/main" id="{1DD0A6DC-5E61-7007-561E-8955145B4B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04618" y="15402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8" descr="3d Sphere Sphere PNG &amp; clipart images | TOPpng">
              <a:extLst>
                <a:ext uri="{FF2B5EF4-FFF2-40B4-BE49-F238E27FC236}">
                  <a16:creationId xmlns:a16="http://schemas.microsoft.com/office/drawing/2014/main" id="{20C18D86-0B49-F9C8-2985-B1F2FAF32D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921727" y="156279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8" descr="3d Sphere Sphere PNG &amp; clipart images | TOPpng">
              <a:extLst>
                <a:ext uri="{FF2B5EF4-FFF2-40B4-BE49-F238E27FC236}">
                  <a16:creationId xmlns:a16="http://schemas.microsoft.com/office/drawing/2014/main" id="{752B58E8-E33A-1234-71CB-A8D1C65E55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2984" y="153522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8" descr="3d Sphere Sphere PNG &amp; clipart images | TOPpng">
              <a:extLst>
                <a:ext uri="{FF2B5EF4-FFF2-40B4-BE49-F238E27FC236}">
                  <a16:creationId xmlns:a16="http://schemas.microsoft.com/office/drawing/2014/main" id="{1B0BED7E-20F1-4320-5E29-A8ECAD4E18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1251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8" descr="3d Sphere Sphere PNG &amp; clipart images | TOPpng">
              <a:extLst>
                <a:ext uri="{FF2B5EF4-FFF2-40B4-BE49-F238E27FC236}">
                  <a16:creationId xmlns:a16="http://schemas.microsoft.com/office/drawing/2014/main" id="{2B545396-F8C2-43E3-9B09-5CB4B77AB4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29310" y="153899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D1BFA2E-05B5-426E-97E3-14A569B0A5AF}"/>
              </a:ext>
            </a:extLst>
          </p:cNvPr>
          <p:cNvSpPr txBox="1"/>
          <p:nvPr/>
        </p:nvSpPr>
        <p:spPr>
          <a:xfrm>
            <a:off x="8365245" y="1991297"/>
            <a:ext cx="8787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ALD</a:t>
            </a:r>
            <a:b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1 cycle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9DF334-F9A5-BB88-B14D-82730E2CEC8E}"/>
              </a:ext>
            </a:extLst>
          </p:cNvPr>
          <p:cNvGrpSpPr/>
          <p:nvPr/>
        </p:nvGrpSpPr>
        <p:grpSpPr>
          <a:xfrm flipH="1">
            <a:off x="9345221" y="1203297"/>
            <a:ext cx="1131422" cy="201954"/>
            <a:chOff x="1772863" y="1300484"/>
            <a:chExt cx="715448" cy="122764"/>
          </a:xfrm>
        </p:grpSpPr>
        <p:pic>
          <p:nvPicPr>
            <p:cNvPr id="42" name="Picture 8" descr="3d Sphere Sphere PNG &amp; clipart images | TOPpng">
              <a:extLst>
                <a:ext uri="{FF2B5EF4-FFF2-40B4-BE49-F238E27FC236}">
                  <a16:creationId xmlns:a16="http://schemas.microsoft.com/office/drawing/2014/main" id="{5328EF33-9F40-EB9C-D5D7-2B9BA54501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5881" y="13213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8" descr="3d Sphere Sphere PNG &amp; clipart images | TOPpng">
              <a:extLst>
                <a:ext uri="{FF2B5EF4-FFF2-40B4-BE49-F238E27FC236}">
                  <a16:creationId xmlns:a16="http://schemas.microsoft.com/office/drawing/2014/main" id="{5764CFD8-888C-1796-58C0-9D6F5B4D45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31979" y="13671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8" descr="3d Sphere Sphere PNG &amp; clipart images | TOPpng">
              <a:extLst>
                <a:ext uri="{FF2B5EF4-FFF2-40B4-BE49-F238E27FC236}">
                  <a16:creationId xmlns:a16="http://schemas.microsoft.com/office/drawing/2014/main" id="{B5893BA6-6D5C-73F4-65B0-15C872CC00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72863" y="13493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8" descr="3d Sphere Sphere PNG &amp; clipart images | TOPpng">
              <a:extLst>
                <a:ext uri="{FF2B5EF4-FFF2-40B4-BE49-F238E27FC236}">
                  <a16:creationId xmlns:a16="http://schemas.microsoft.com/office/drawing/2014/main" id="{62B58A89-A828-CA08-3183-9991D71D534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9575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8" descr="3d Sphere Sphere PNG &amp; clipart images | TOPpng">
              <a:extLst>
                <a:ext uri="{FF2B5EF4-FFF2-40B4-BE49-F238E27FC236}">
                  <a16:creationId xmlns:a16="http://schemas.microsoft.com/office/drawing/2014/main" id="{2FA3F051-18C0-E9E0-27BB-72AB07753C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8" descr="3d Sphere Sphere PNG &amp; clipart images | TOPpng">
              <a:extLst>
                <a:ext uri="{FF2B5EF4-FFF2-40B4-BE49-F238E27FC236}">
                  <a16:creationId xmlns:a16="http://schemas.microsoft.com/office/drawing/2014/main" id="{B8243AE8-FC5C-CD9F-6400-8AAB101C27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03438" y="1323596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FA62059-1D22-0507-5D40-8244A06046C1}"/>
              </a:ext>
            </a:extLst>
          </p:cNvPr>
          <p:cNvGrpSpPr/>
          <p:nvPr/>
        </p:nvGrpSpPr>
        <p:grpSpPr>
          <a:xfrm rot="9070823" flipH="1">
            <a:off x="7359797" y="2369952"/>
            <a:ext cx="848451" cy="512228"/>
            <a:chOff x="1871546" y="1349070"/>
            <a:chExt cx="497301" cy="316630"/>
          </a:xfrm>
        </p:grpSpPr>
        <p:pic>
          <p:nvPicPr>
            <p:cNvPr id="35" name="Picture 8" descr="3d Sphere Sphere PNG &amp; clipart images | TOPpng">
              <a:extLst>
                <a:ext uri="{FF2B5EF4-FFF2-40B4-BE49-F238E27FC236}">
                  <a16:creationId xmlns:a16="http://schemas.microsoft.com/office/drawing/2014/main" id="{197A3A93-000C-7F1B-6204-EF14E69AC6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71546" y="1609622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8" descr="3d Sphere Sphere PNG &amp; clipart images | TOPpng">
              <a:extLst>
                <a:ext uri="{FF2B5EF4-FFF2-40B4-BE49-F238E27FC236}">
                  <a16:creationId xmlns:a16="http://schemas.microsoft.com/office/drawing/2014/main" id="{C54461F3-7024-31C6-93E1-E9C2E26AC8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0771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8" descr="3d Sphere Sphere PNG &amp; clipart images | TOPpng">
              <a:extLst>
                <a:ext uri="{FF2B5EF4-FFF2-40B4-BE49-F238E27FC236}">
                  <a16:creationId xmlns:a16="http://schemas.microsoft.com/office/drawing/2014/main" id="{E7ED11B5-DE17-6A89-9360-908B5C763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88281" y="14737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8" descr="3d Sphere Sphere PNG &amp; clipart images | TOPpng">
              <a:extLst>
                <a:ext uri="{FF2B5EF4-FFF2-40B4-BE49-F238E27FC236}">
                  <a16:creationId xmlns:a16="http://schemas.microsoft.com/office/drawing/2014/main" id="{26DA634F-E0C1-4CF9-5CFF-3CDBF44D0F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925263" y="15017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8" descr="3d Sphere Sphere PNG &amp; clipart images | TOPpng">
              <a:extLst>
                <a:ext uri="{FF2B5EF4-FFF2-40B4-BE49-F238E27FC236}">
                  <a16:creationId xmlns:a16="http://schemas.microsoft.com/office/drawing/2014/main" id="{E04369EC-ECCA-0DCC-436C-41D6E51BB0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4815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8" descr="3d Sphere Sphere PNG &amp; clipart images | TOPpng">
              <a:extLst>
                <a:ext uri="{FF2B5EF4-FFF2-40B4-BE49-F238E27FC236}">
                  <a16:creationId xmlns:a16="http://schemas.microsoft.com/office/drawing/2014/main" id="{6C9EC7FD-8E3A-C824-44B5-61282957D5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1251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8" descr="3d Sphere Sphere PNG &amp; clipart images | TOPpng">
              <a:extLst>
                <a:ext uri="{FF2B5EF4-FFF2-40B4-BE49-F238E27FC236}">
                  <a16:creationId xmlns:a16="http://schemas.microsoft.com/office/drawing/2014/main" id="{D6787C49-0E5E-C617-33A8-C5C416613D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30063" y="13490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A827DA6-6F83-6ADD-34CF-7C27EFD93ED4}"/>
              </a:ext>
            </a:extLst>
          </p:cNvPr>
          <p:cNvSpPr txBox="1"/>
          <p:nvPr/>
        </p:nvSpPr>
        <p:spPr>
          <a:xfrm>
            <a:off x="7153063" y="890624"/>
            <a:ext cx="992680" cy="276999"/>
          </a:xfrm>
          <a:prstGeom prst="rect">
            <a:avLst/>
          </a:prstGeom>
          <a:solidFill>
            <a:srgbClr val="1976D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rPr>
              <a:t>DEZ Supply</a:t>
            </a:r>
            <a:endParaRPr lang="en-US" altLang="ko-KR" sz="1200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프리젠테이션 9 Black" pitchFamily="2" charset="-127"/>
              <a:ea typeface="프리젠테이션 9 Black" pitchFamily="2" charset="-127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1177C-116A-56F8-CE56-8880D6ACB975}"/>
              </a:ext>
            </a:extLst>
          </p:cNvPr>
          <p:cNvSpPr txBox="1"/>
          <p:nvPr/>
        </p:nvSpPr>
        <p:spPr>
          <a:xfrm>
            <a:off x="9487261" y="2024606"/>
            <a:ext cx="1163567" cy="276999"/>
          </a:xfrm>
          <a:prstGeom prst="rect">
            <a:avLst/>
          </a:prstGeom>
          <a:solidFill>
            <a:srgbClr val="43A047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defRPr>
            </a:lvl1pPr>
          </a:lstStyle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 Supply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DDBC6C-0B87-134C-E682-DF6A2A360B04}"/>
              </a:ext>
            </a:extLst>
          </p:cNvPr>
          <p:cNvSpPr txBox="1"/>
          <p:nvPr/>
        </p:nvSpPr>
        <p:spPr>
          <a:xfrm>
            <a:off x="9712238" y="890624"/>
            <a:ext cx="902188" cy="276999"/>
          </a:xfrm>
          <a:prstGeom prst="rect">
            <a:avLst/>
          </a:prstGeom>
          <a:solidFill>
            <a:srgbClr val="F9A825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defRPr>
            </a:lvl1pPr>
          </a:lstStyle>
          <a:p>
            <a:r>
              <a:rPr lang="en-US" dirty="0"/>
              <a:t>DEZ Purge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205AE-11B8-5BEC-1B1C-FDCD23088C4E}"/>
              </a:ext>
            </a:extLst>
          </p:cNvPr>
          <p:cNvSpPr txBox="1"/>
          <p:nvPr/>
        </p:nvSpPr>
        <p:spPr>
          <a:xfrm>
            <a:off x="7146851" y="2024606"/>
            <a:ext cx="1082949" cy="276999"/>
          </a:xfrm>
          <a:prstGeom prst="rect">
            <a:avLst/>
          </a:prstGeom>
          <a:solidFill>
            <a:srgbClr val="EF535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defRPr>
            </a:lvl1pPr>
          </a:lstStyle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dirty="0"/>
              <a:t>O Purge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CA07D4-2093-505B-499D-40C3AB8F67AD}"/>
              </a:ext>
            </a:extLst>
          </p:cNvPr>
          <p:cNvSpPr txBox="1"/>
          <p:nvPr/>
        </p:nvSpPr>
        <p:spPr>
          <a:xfrm>
            <a:off x="7259121" y="3242147"/>
            <a:ext cx="1620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DEZ: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  Zn(CH</a:t>
            </a:r>
            <a:r>
              <a:rPr lang="pl-PL" sz="1100" baseline="-25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2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CH</a:t>
            </a:r>
            <a:r>
              <a:rPr lang="pl-PL" sz="1100" baseline="-25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3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)</a:t>
            </a:r>
            <a:r>
              <a:rPr lang="pl-PL" sz="1100" baseline="-25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2</a:t>
            </a:r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6F56E-4B6C-8CDC-C211-1316C1241C52}"/>
              </a:ext>
            </a:extLst>
          </p:cNvPr>
          <p:cNvSpPr txBox="1"/>
          <p:nvPr/>
        </p:nvSpPr>
        <p:spPr>
          <a:xfrm>
            <a:off x="8399598" y="3242147"/>
            <a:ext cx="1620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H</a:t>
            </a:r>
            <a:r>
              <a:rPr lang="en-US" sz="1100" baseline="-250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2</a:t>
            </a:r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O:</a:t>
            </a:r>
            <a:r>
              <a:rPr lang="pl-PL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  </a:t>
            </a:r>
            <a:r>
              <a:rPr lang="en-US" sz="1100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ea typeface="프리젠테이션 9 Black" pitchFamily="2" charset="-127"/>
                <a:cs typeface="Arial" panose="020B0604020202020204" pitchFamily="34" charset="0"/>
              </a:rPr>
              <a:t>Water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AA68B2-509B-AF33-95B0-C514AB0A7F65}"/>
              </a:ext>
            </a:extLst>
          </p:cNvPr>
          <p:cNvSpPr/>
          <p:nvPr/>
        </p:nvSpPr>
        <p:spPr>
          <a:xfrm>
            <a:off x="7122848" y="844903"/>
            <a:ext cx="3554644" cy="2628373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21C89-2CBE-137F-7072-EDFCA4D63697}"/>
              </a:ext>
            </a:extLst>
          </p:cNvPr>
          <p:cNvGrpSpPr/>
          <p:nvPr/>
        </p:nvGrpSpPr>
        <p:grpSpPr>
          <a:xfrm>
            <a:off x="7086200" y="4908954"/>
            <a:ext cx="3778565" cy="1009956"/>
            <a:chOff x="6933800" y="3464365"/>
            <a:chExt cx="3778565" cy="100995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C49109-3CF1-6AA0-618E-43E54BA3E027}"/>
                </a:ext>
              </a:extLst>
            </p:cNvPr>
            <p:cNvGrpSpPr/>
            <p:nvPr/>
          </p:nvGrpSpPr>
          <p:grpSpPr>
            <a:xfrm>
              <a:off x="6933800" y="3586977"/>
              <a:ext cx="3778565" cy="887344"/>
              <a:chOff x="1133496" y="3707498"/>
              <a:chExt cx="3778565" cy="887344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8CEA866-67C3-8828-C392-40E7E7EFC21B}"/>
                  </a:ext>
                </a:extLst>
              </p:cNvPr>
              <p:cNvGrpSpPr/>
              <p:nvPr/>
            </p:nvGrpSpPr>
            <p:grpSpPr>
              <a:xfrm>
                <a:off x="1133496" y="3772935"/>
                <a:ext cx="3250094" cy="784423"/>
                <a:chOff x="3293632" y="4015904"/>
                <a:chExt cx="1852988" cy="679556"/>
              </a:xfrm>
            </p:grpSpPr>
            <p:pic>
              <p:nvPicPr>
                <p:cNvPr id="32" name="Picture 6">
                  <a:extLst>
                    <a:ext uri="{FF2B5EF4-FFF2-40B4-BE49-F238E27FC236}">
                      <a16:creationId xmlns:a16="http://schemas.microsoft.com/office/drawing/2014/main" id="{E0841D25-F48A-D6DE-4F5C-58DB68D6A0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4006"/>
                <a:stretch/>
              </p:blipFill>
              <p:spPr bwMode="auto">
                <a:xfrm>
                  <a:off x="3293632" y="4015904"/>
                  <a:ext cx="1852988" cy="453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E201EB61-A45D-0EF8-5F6F-FF08DC46376D}"/>
                    </a:ext>
                  </a:extLst>
                </p:cNvPr>
                <p:cNvCxnSpPr/>
                <p:nvPr/>
              </p:nvCxnSpPr>
              <p:spPr>
                <a:xfrm>
                  <a:off x="3598088" y="4506483"/>
                  <a:ext cx="1265234" cy="0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1EC890B-0E91-2A8E-DEC0-31AE289EAB0F}"/>
                    </a:ext>
                  </a:extLst>
                </p:cNvPr>
                <p:cNvSpPr txBox="1"/>
                <p:nvPr/>
              </p:nvSpPr>
              <p:spPr>
                <a:xfrm>
                  <a:off x="3692308" y="4468824"/>
                  <a:ext cx="1084855" cy="2266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effectLst/>
                      <a:latin typeface="프리젠테이션 7 Bold" pitchFamily="2" charset="-127"/>
                      <a:ea typeface="프리젠테이션 7 Bold" pitchFamily="2" charset="-127"/>
                    </a:rPr>
                    <a:t># of ALD cycles</a:t>
                  </a:r>
                  <a:endParaRPr lang="ko-KR" altLang="en-US" sz="1100" b="1" dirty="0">
                    <a:effectLst/>
                    <a:latin typeface="프리젠테이션 7 Bold" pitchFamily="2" charset="-127"/>
                    <a:ea typeface="프리젠테이션 7 Bold" pitchFamily="2" charset="-127"/>
                  </a:endParaRPr>
                </a:p>
              </p:txBody>
            </p:sp>
          </p:grp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E7216C5-2553-C879-2622-B0680D3198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83312" y="3882181"/>
                <a:ext cx="238689" cy="83829"/>
              </a:xfrm>
              <a:prstGeom prst="straightConnector1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  <a:tailEnd type="arrow"/>
              </a:ln>
              <a:effectLst>
                <a:glow rad="63500">
                  <a:srgbClr val="43A047">
                    <a:alpha val="40000"/>
                  </a:srgb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4BF0D4-1902-128B-B521-3F5BF03610A4}"/>
                  </a:ext>
                </a:extLst>
              </p:cNvPr>
              <p:cNvSpPr txBox="1"/>
              <p:nvPr/>
            </p:nvSpPr>
            <p:spPr>
              <a:xfrm>
                <a:off x="4281794" y="3707498"/>
                <a:ext cx="47104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 err="1">
                    <a:latin typeface="프리젠테이션 7 Bold" pitchFamily="2" charset="-127"/>
                    <a:ea typeface="프리젠테이션 7 Bold" pitchFamily="2" charset="-127"/>
                  </a:rPr>
                  <a:t>MF</a:t>
                </a:r>
                <a:r>
                  <a:rPr lang="en-US" altLang="ko-KR" sz="1200" b="1" baseline="-25000" dirty="0" err="1">
                    <a:latin typeface="프리젠테이션 7 Bold" pitchFamily="2" charset="-127"/>
                    <a:ea typeface="프리젠테이션 7 Bold" pitchFamily="2" charset="-127"/>
                  </a:rPr>
                  <a:t>x</a:t>
                </a:r>
                <a:endParaRPr lang="en-US" sz="1200" b="1" baseline="-25000" dirty="0">
                  <a:latin typeface="프리젠테이션 7 Bold" pitchFamily="2" charset="-127"/>
                  <a:ea typeface="프리젠테이션 7 Bold" pitchFamily="2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81A2DC6-2DE1-D15F-5AEC-18C2967D080B}"/>
                  </a:ext>
                </a:extLst>
              </p:cNvPr>
              <p:cNvSpPr txBox="1"/>
              <p:nvPr/>
            </p:nvSpPr>
            <p:spPr>
              <a:xfrm>
                <a:off x="3731940" y="4348621"/>
                <a:ext cx="118012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MF</a:t>
                </a:r>
                <a:r>
                  <a:rPr lang="en-US" altLang="ko-KR" sz="1000" baseline="-250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x</a:t>
                </a:r>
                <a:r>
                  <a:rPr lang="en-US" altLang="ko-KR" sz="10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:Metal</a:t>
                </a:r>
                <a:r>
                  <a:rPr lang="en-US" altLang="ko-KR" sz="1000" dirty="0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 Fluoride</a:t>
                </a:r>
                <a:endParaRPr lang="en-US" sz="1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55F01E44-2E0E-E8E9-22EA-8B92F1FD4A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18969" y="4086055"/>
                <a:ext cx="195200" cy="91742"/>
              </a:xfrm>
              <a:prstGeom prst="straightConnector1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  <a:tailEnd type="arrow"/>
              </a:ln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47EAD0-3636-849E-3C63-27D0F8F33142}"/>
                  </a:ext>
                </a:extLst>
              </p:cNvPr>
              <p:cNvSpPr txBox="1"/>
              <p:nvPr/>
            </p:nvSpPr>
            <p:spPr>
              <a:xfrm>
                <a:off x="4171313" y="4059504"/>
                <a:ext cx="51654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Cu</a:t>
                </a:r>
                <a:endParaRPr lang="en-US" sz="1200" dirty="0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FD3180-0C47-DA78-84FE-00B81BF32754}"/>
                </a:ext>
              </a:extLst>
            </p:cNvPr>
            <p:cNvSpPr/>
            <p:nvPr/>
          </p:nvSpPr>
          <p:spPr>
            <a:xfrm>
              <a:off x="7122848" y="3505338"/>
              <a:ext cx="3554644" cy="952827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AA8685-6851-583F-1CC7-0F1E9FBAFB8A}"/>
                </a:ext>
              </a:extLst>
            </p:cNvPr>
            <p:cNvSpPr txBox="1"/>
            <p:nvPr/>
          </p:nvSpPr>
          <p:spPr>
            <a:xfrm>
              <a:off x="8065822" y="3464365"/>
              <a:ext cx="164832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6A1B9A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박막 형성 단면 모식도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05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89DDBBA-A1C8-F3B4-6A4D-DDFB405859EB}"/>
              </a:ext>
            </a:extLst>
          </p:cNvPr>
          <p:cNvGrpSpPr/>
          <p:nvPr/>
        </p:nvGrpSpPr>
        <p:grpSpPr>
          <a:xfrm>
            <a:off x="492178" y="677110"/>
            <a:ext cx="7980072" cy="2730435"/>
            <a:chOff x="487098" y="677110"/>
            <a:chExt cx="7980072" cy="2730435"/>
          </a:xfrm>
        </p:grpSpPr>
        <p:pic>
          <p:nvPicPr>
            <p:cNvPr id="4" name="Picture 2" descr="Three Arrow Circle Sign Reload, Loop Symbol - Download Free 3D model by  B1Blender (@B1Blender) [549c9fb]">
              <a:extLst>
                <a:ext uri="{FF2B5EF4-FFF2-40B4-BE49-F238E27FC236}">
                  <a16:creationId xmlns:a16="http://schemas.microsoft.com/office/drawing/2014/main" id="{58E72D28-5FFC-1279-7A7D-C2AA10AAC4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76852" l="32396" r="67500">
                          <a14:foregroundMark x1="55625" y1="19167" x2="55677" y2="22130"/>
                          <a14:foregroundMark x1="63542" y1="36574" x2="65729" y2="46296"/>
                          <a14:foregroundMark x1="65729" y1="46296" x2="65313" y2="63241"/>
                          <a14:foregroundMark x1="65313" y1="63241" x2="60208" y2="73241"/>
                          <a14:foregroundMark x1="60208" y1="73241" x2="59948" y2="73148"/>
                          <a14:foregroundMark x1="37031" y1="57315" x2="45052" y2="73333"/>
                          <a14:foregroundMark x1="45052" y1="73333" x2="50625" y2="76944"/>
                          <a14:foregroundMark x1="50625" y1="76944" x2="54948" y2="76759"/>
                          <a14:foregroundMark x1="67656" y1="49815" x2="67448" y2="60556"/>
                          <a14:foregroundMark x1="55625" y1="16759" x2="55625" y2="16759"/>
                          <a14:foregroundMark x1="34479" y1="61204" x2="33698" y2="64630"/>
                          <a14:foregroundMark x1="32396" y1="65926" x2="32396" y2="65926"/>
                        </a14:backgroundRemoval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97" t="14558" r="30422" b="19185"/>
            <a:stretch/>
          </p:blipFill>
          <p:spPr bwMode="auto">
            <a:xfrm>
              <a:off x="1641875" y="1505106"/>
              <a:ext cx="1051318" cy="1031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087C6A-5AB3-C36C-A012-ECD973DAFA71}"/>
                </a:ext>
              </a:extLst>
            </p:cNvPr>
            <p:cNvGrpSpPr/>
            <p:nvPr/>
          </p:nvGrpSpPr>
          <p:grpSpPr>
            <a:xfrm>
              <a:off x="2676929" y="776546"/>
              <a:ext cx="1100652" cy="1288395"/>
              <a:chOff x="4540535" y="510372"/>
              <a:chExt cx="1100652" cy="1288395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781232B3-38D3-66D5-DE28-3DD7AF618993}"/>
                  </a:ext>
                </a:extLst>
              </p:cNvPr>
              <p:cNvSpPr/>
              <p:nvPr/>
            </p:nvSpPr>
            <p:spPr>
              <a:xfrm>
                <a:off x="4562956" y="51037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605C3228-6C62-5852-B3B6-51E3C40D7D28}"/>
                  </a:ext>
                </a:extLst>
              </p:cNvPr>
              <p:cNvGrpSpPr/>
              <p:nvPr/>
            </p:nvGrpSpPr>
            <p:grpSpPr>
              <a:xfrm>
                <a:off x="4540535" y="90763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4BE09ED1-9CFE-9FBF-0466-86A58290253F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3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8EF5097-21D9-D918-1E01-19B61C67178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E57A8A7-7904-0838-2B84-888BE8C005D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1C273D8-8CBE-2E09-EF46-13B107370E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2E5BB6E9-5ACD-F1A0-A006-D3B8EB7566E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E5934A0-0732-84DE-54DE-FE1080AE2D8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7212514-1E7B-8508-0780-D6505F188937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3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B947339-E4C3-DD8D-46FB-A132EA8A449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57931BB-25F9-DB1F-8EB3-A3070A517A5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321CD45-84C8-CB09-D27D-22D84FCC4F4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F271F6E-07B1-949D-6A73-26CD8C68E0B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EB11C6C-33A9-8583-FD2C-D2136917C0C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9422A42B-9D94-443E-8549-23908BE1F9CD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2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425445C-69A6-DF9D-64C9-D885602D5B0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576B64C-6632-2E67-E65D-553E18BF6F1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9A7BDF4-8639-7C35-B9B7-DD12A7DC608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BEA4DFC-63F4-8772-B371-A07415F3614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36182E3-CCC5-DC36-0303-0D58ED6A256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6A942BE9-3C52-3859-7A71-56CDE1A3B96C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20" name="Picture 119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53679FC-C47F-A521-CF5D-1D63692798C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71042E4-16A5-ACB0-F950-641FD50903A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FFC63C9-BAB9-0AEC-6E28-5ABDE8D446C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B37E1CA-24DA-045D-0129-69611B98B62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02EC85E-8171-2D59-62F2-6FF922747AD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4C22D5-61B8-8D69-00BF-70A8A2F269BE}"/>
                </a:ext>
              </a:extLst>
            </p:cNvPr>
            <p:cNvSpPr/>
            <p:nvPr/>
          </p:nvSpPr>
          <p:spPr>
            <a:xfrm>
              <a:off x="893257" y="776546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94F0329-0EEA-D059-71D0-1D70411B0300}"/>
                </a:ext>
              </a:extLst>
            </p:cNvPr>
            <p:cNvGrpSpPr/>
            <p:nvPr/>
          </p:nvGrpSpPr>
          <p:grpSpPr>
            <a:xfrm>
              <a:off x="690692" y="1135177"/>
              <a:ext cx="1449434" cy="337229"/>
              <a:chOff x="1590955" y="1300484"/>
              <a:chExt cx="897356" cy="208781"/>
            </a:xfrm>
          </p:grpSpPr>
          <p:pic>
            <p:nvPicPr>
              <p:cNvPr id="10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C1182EC-DD32-32B6-8C4E-1EBFEEA446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59095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067D7A5-88E3-2978-A91E-F61C6448F2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5531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72D1184-B02E-2902-7080-CAED3E3A5A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4E535E84-9468-E432-40E9-F17E819DF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94AAA68-733C-5213-8D20-ED1A602B95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52218" y="13878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AADBFFE-C172-4430-BED2-116C87E856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0BFBAB5-1692-6A3D-678F-0332C557E7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85DC732-6625-A209-1A11-F89F244725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A8BDA01-2B20-CF49-D7AB-22D35AE9B8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08550" y="130431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AC3EC3-109B-2FFB-969C-560D01C60F8D}"/>
                </a:ext>
              </a:extLst>
            </p:cNvPr>
            <p:cNvGrpSpPr/>
            <p:nvPr/>
          </p:nvGrpSpPr>
          <p:grpSpPr>
            <a:xfrm>
              <a:off x="2687050" y="2119150"/>
              <a:ext cx="1100652" cy="1288395"/>
              <a:chOff x="3481469" y="2556202"/>
              <a:chExt cx="1100652" cy="1288395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250AA01-7696-1E67-E02D-E01FD5B59C32}"/>
                  </a:ext>
                </a:extLst>
              </p:cNvPr>
              <p:cNvSpPr/>
              <p:nvPr/>
            </p:nvSpPr>
            <p:spPr>
              <a:xfrm>
                <a:off x="3503890" y="255620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1446FDFD-A08C-A6B1-8B68-7C85130C0D95}"/>
                  </a:ext>
                </a:extLst>
              </p:cNvPr>
              <p:cNvGrpSpPr/>
              <p:nvPr/>
            </p:nvGrpSpPr>
            <p:grpSpPr>
              <a:xfrm>
                <a:off x="3481469" y="295346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C396379C-EB43-8D0A-DBAE-3B73974FA680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0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73A149D-C3A8-8E3B-46AE-3858150AF0C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2D861AB-F683-27F5-8EFF-C0799F15565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B81EE71-CEF2-6789-E654-F395287F0D1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35C9F96-273B-D893-492B-9D6AA0E32D6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5A62001-66BE-7B78-ED6E-09B907F599A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1E77CC69-F2BF-2ED0-E995-4355BD348C8E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9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225CA95-BBC7-D9F4-66A5-A636485FF41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D845D64-99A9-E576-FE3A-E697080E499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11F67E7-EF33-D56D-A03E-051B85B9A18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C7186F6-8FD6-EA82-BA38-EAA45466E90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285A2CF-21A6-FF69-E053-A7B23E52DF9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77836DEF-A942-5376-0EAF-A791E296EF9F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9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4D2A5B3-F492-0431-B112-9FF08188B37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74F0831-018C-3533-9FAE-D4C023562D3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119E91F-59C5-F016-5A96-B2C0CBE6ED4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DCB11AD-4FA3-FB9C-AAAF-AF9E97A9981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8CB1039-AB07-4EF9-DC69-FAC5D73819C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B84038BE-BE43-F9AB-5419-F3331C2529CE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5" name="Picture 84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2E3B9AB-8258-3825-0EED-8B39C3710A0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810F0DF-22E7-3091-4E83-187AC435D1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CD7F393-F07E-58E2-A2ED-8B64567223D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3189AD9-D5A2-A1E8-FD82-19A7949B471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F3674EA-378B-252F-E1A1-F3DA98DF768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FB100A-9B3D-9DF3-B11A-D382E96542E0}"/>
                </a:ext>
              </a:extLst>
            </p:cNvPr>
            <p:cNvSpPr/>
            <p:nvPr/>
          </p:nvSpPr>
          <p:spPr>
            <a:xfrm>
              <a:off x="929894" y="2119150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1D21E2-F2B7-A170-8D4F-A7C3F885A520}"/>
                </a:ext>
              </a:extLst>
            </p:cNvPr>
            <p:cNvGrpSpPr/>
            <p:nvPr/>
          </p:nvGrpSpPr>
          <p:grpSpPr>
            <a:xfrm>
              <a:off x="907473" y="2516417"/>
              <a:ext cx="1100652" cy="457076"/>
              <a:chOff x="7197429" y="1152057"/>
              <a:chExt cx="1100652" cy="457076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1942D93-62C1-9653-3C82-B131C3E4BD32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7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3567F16-8A21-16F9-6F76-ADF2376B31D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FEC5658-EE44-5E19-52E9-DCC92A1CCE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807E1BB-A4BC-450A-D7D5-AF905C15BF5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78D850F-289C-5227-D825-E33F0C2B9C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507EBC3-B23B-018F-3843-846EB0AEC3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2F281DA-09EE-B35D-BD22-00E3699BA1CC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6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4B0AA59-9D6A-04CA-B768-B5D3113973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481C710-6FB3-049D-B429-74E9E1D329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F6BA6F7-C824-79AB-8F4F-F6C4F639C0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28E8735-1B0A-365C-19C2-6E2A10992A6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7C942E41-F734-747F-55D6-68BEF74073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01FBED9-1E47-2744-CFF8-844ACEF3123F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6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B97A618-07DF-92DF-1C3E-33BEB458D0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42EE510-7527-8858-2346-D134164FCC6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CB6A59D-FAED-BFCC-976D-B7E43029E07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643A788-B020-833A-9305-68EEB64B167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289C5EF-9B10-53C1-DCF4-D4F8B2FC54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A36AB6EA-6E54-8BF4-8FB6-15A1502CBC0D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59" name="Picture 58" descr="3d Sphere Sphere PNG &amp; clipart images | TOPpng">
                  <a:extLst>
                    <a:ext uri="{FF2B5EF4-FFF2-40B4-BE49-F238E27FC236}">
                      <a16:creationId xmlns:a16="http://schemas.microsoft.com/office/drawing/2014/main" id="{AA846CCE-5CB4-5C89-EF80-51C67A89F07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32D9E8E-44A4-7256-1B87-0089539139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BA4E396-BAF1-0F49-F2BC-7603D07E989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3196B97-F9E2-96AA-849B-E840213A56E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AC8495F-C083-F537-8E10-415D4F157B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91195F9-09E3-02E9-D37B-B970C6EB70E8}"/>
                </a:ext>
              </a:extLst>
            </p:cNvPr>
            <p:cNvGrpSpPr/>
            <p:nvPr/>
          </p:nvGrpSpPr>
          <p:grpSpPr>
            <a:xfrm rot="971198">
              <a:off x="2826273" y="2204891"/>
              <a:ext cx="951271" cy="368321"/>
              <a:chOff x="1921727" y="1452884"/>
              <a:chExt cx="539223" cy="208781"/>
            </a:xfrm>
          </p:grpSpPr>
          <p:pic>
            <p:nvPicPr>
              <p:cNvPr id="4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249C297-B666-2186-4E5E-FEBCC1B41A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63CDA0D-B73F-DECF-5594-64DDEB8B66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1DD0A6DC-5E61-7007-561E-8955145B4B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04618" y="15402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0C18D86-0B49-F9C8-2985-B1F2FAF32D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1727" y="156279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52B58E8-E33A-1234-71CB-A8D1C65E55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2984" y="153522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1B0BED7E-20F1-4320-5E29-A8ECAD4E18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B545396-F8C2-43E3-9B09-5CB4B77AB4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29310" y="153899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1BFA2E-05B5-426E-97E3-14A569B0A5AF}"/>
                </a:ext>
              </a:extLst>
            </p:cNvPr>
            <p:cNvSpPr txBox="1"/>
            <p:nvPr/>
          </p:nvSpPr>
          <p:spPr>
            <a:xfrm>
              <a:off x="1729495" y="1823504"/>
              <a:ext cx="8787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ALD</a:t>
              </a:r>
              <a:b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</a:b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1 cycle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59DF334-F9A5-BB88-B14D-82730E2CEC8E}"/>
                </a:ext>
              </a:extLst>
            </p:cNvPr>
            <p:cNvGrpSpPr/>
            <p:nvPr/>
          </p:nvGrpSpPr>
          <p:grpSpPr>
            <a:xfrm flipH="1">
              <a:off x="2709471" y="1035504"/>
              <a:ext cx="1131422" cy="201954"/>
              <a:chOff x="1772863" y="1300484"/>
              <a:chExt cx="715448" cy="122764"/>
            </a:xfrm>
          </p:grpSpPr>
          <p:pic>
            <p:nvPicPr>
              <p:cNvPr id="4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328EF33-9F40-EB9C-D5D7-2B9BA54501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764CFD8-888C-1796-58C0-9D6F5B4D45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5893BA6-6D5C-73F4-65B0-15C872CC00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2B58A89-A828-CA08-3183-9991D71D53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FA3F051-18C0-E9E0-27BB-72AB07753C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8243AE8-FC5C-CD9F-6400-8AAB101C27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03438" y="1323596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A62059-1D22-0507-5D40-8244A06046C1}"/>
                </a:ext>
              </a:extLst>
            </p:cNvPr>
            <p:cNvGrpSpPr/>
            <p:nvPr/>
          </p:nvGrpSpPr>
          <p:grpSpPr>
            <a:xfrm rot="9070823" flipH="1">
              <a:off x="724047" y="2202159"/>
              <a:ext cx="848451" cy="512228"/>
              <a:chOff x="1871546" y="1349070"/>
              <a:chExt cx="497301" cy="316630"/>
            </a:xfrm>
          </p:grpSpPr>
          <p:pic>
            <p:nvPicPr>
              <p:cNvPr id="3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197A3A93-000C-7F1B-6204-EF14E69AC6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71546" y="1609622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54461F3-7024-31C6-93E1-E9C2E26AC8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7ED11B5-DE17-6A89-9360-908B5C763E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6DA634F-E0C1-4CF9-5CFF-3CDBF44D0F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5263" y="15017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04369EC-ECCA-0DCC-436C-41D6E51BB0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4815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C9EC7FD-8E3A-C824-44B5-61282957D5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6787C49-0E5E-C617-33A8-C5C416613D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30063" y="13490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827DA6-6F83-6ADD-34CF-7C27EFD93ED4}"/>
                </a:ext>
              </a:extLst>
            </p:cNvPr>
            <p:cNvSpPr txBox="1"/>
            <p:nvPr/>
          </p:nvSpPr>
          <p:spPr>
            <a:xfrm>
              <a:off x="517313" y="722831"/>
              <a:ext cx="992680" cy="276999"/>
            </a:xfrm>
            <a:prstGeom prst="rect">
              <a:avLst/>
            </a:prstGeom>
            <a:solidFill>
              <a:srgbClr val="1976D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DEZ Supply</a:t>
              </a:r>
              <a:endParaRPr lang="en-US" altLang="ko-KR" sz="12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81177C-116A-56F8-CE56-8880D6ACB975}"/>
                </a:ext>
              </a:extLst>
            </p:cNvPr>
            <p:cNvSpPr txBox="1"/>
            <p:nvPr/>
          </p:nvSpPr>
          <p:spPr>
            <a:xfrm>
              <a:off x="2851511" y="1856813"/>
              <a:ext cx="1163567" cy="276999"/>
            </a:xfrm>
            <a:prstGeom prst="rect">
              <a:avLst/>
            </a:prstGeom>
            <a:solidFill>
              <a:srgbClr val="43A047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H</a:t>
              </a:r>
              <a:r>
                <a:rPr lang="en-US" baseline="-25000" dirty="0"/>
                <a:t>2</a:t>
              </a:r>
              <a:r>
                <a:rPr lang="en-US" dirty="0"/>
                <a:t>O Supply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DDBC6C-0B87-134C-E682-DF6A2A360B04}"/>
                </a:ext>
              </a:extLst>
            </p:cNvPr>
            <p:cNvSpPr txBox="1"/>
            <p:nvPr/>
          </p:nvSpPr>
          <p:spPr>
            <a:xfrm>
              <a:off x="3076488" y="722831"/>
              <a:ext cx="902188" cy="276999"/>
            </a:xfrm>
            <a:prstGeom prst="rect">
              <a:avLst/>
            </a:prstGeom>
            <a:solidFill>
              <a:srgbClr val="F9A825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DEZ Purge</a:t>
              </a:r>
              <a:endParaRPr lang="en-US" altLang="ko-KR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A9205AE-11B8-5BEC-1B1C-FDCD23088C4E}"/>
                </a:ext>
              </a:extLst>
            </p:cNvPr>
            <p:cNvSpPr txBox="1"/>
            <p:nvPr/>
          </p:nvSpPr>
          <p:spPr>
            <a:xfrm>
              <a:off x="511101" y="1856813"/>
              <a:ext cx="1082949" cy="276999"/>
            </a:xfrm>
            <a:prstGeom prst="rect">
              <a:avLst/>
            </a:prstGeom>
            <a:solidFill>
              <a:srgbClr val="EF535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H</a:t>
              </a:r>
              <a:r>
                <a:rPr lang="en-US" baseline="-25000" dirty="0"/>
                <a:t>2</a:t>
              </a:r>
              <a:r>
                <a:rPr lang="en-US" dirty="0"/>
                <a:t>O Purge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CA07D4-2093-505B-499D-40C3AB8F67AD}"/>
                </a:ext>
              </a:extLst>
            </p:cNvPr>
            <p:cNvSpPr txBox="1"/>
            <p:nvPr/>
          </p:nvSpPr>
          <p:spPr>
            <a:xfrm>
              <a:off x="623371" y="3074354"/>
              <a:ext cx="16204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DEZ:</a:t>
              </a:r>
              <a:r>
                <a:rPr lang="pl-PL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Zn(CH</a:t>
              </a:r>
              <a:r>
                <a:rPr lang="pl-PL" sz="1100" b="1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pl-PL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CH</a:t>
              </a:r>
              <a:r>
                <a:rPr lang="pl-PL" sz="1100" b="1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3</a:t>
              </a:r>
              <a:r>
                <a:rPr lang="pl-PL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)</a:t>
              </a:r>
              <a:r>
                <a:rPr lang="pl-PL" sz="1100" b="1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26F56E-4B6C-8CDC-C211-1316C1241C52}"/>
                </a:ext>
              </a:extLst>
            </p:cNvPr>
            <p:cNvSpPr txBox="1"/>
            <p:nvPr/>
          </p:nvSpPr>
          <p:spPr>
            <a:xfrm>
              <a:off x="1763848" y="3074354"/>
              <a:ext cx="16204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H</a:t>
              </a:r>
              <a:r>
                <a:rPr lang="en-US" sz="1100" b="1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O:</a:t>
              </a:r>
              <a:r>
                <a:rPr lang="pl-PL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</a:t>
              </a:r>
              <a:r>
                <a:rPr lang="en-US" sz="1100" b="1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Water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AA68B2-509B-AF33-95B0-C514AB0A7F65}"/>
                </a:ext>
              </a:extLst>
            </p:cNvPr>
            <p:cNvSpPr/>
            <p:nvPr/>
          </p:nvSpPr>
          <p:spPr>
            <a:xfrm>
              <a:off x="487098" y="677110"/>
              <a:ext cx="7980072" cy="2628373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593317B-9CEA-0CC5-0AF4-48A131C7E6D0}"/>
                </a:ext>
              </a:extLst>
            </p:cNvPr>
            <p:cNvSpPr/>
            <p:nvPr/>
          </p:nvSpPr>
          <p:spPr>
            <a:xfrm>
              <a:off x="4600966" y="743040"/>
              <a:ext cx="3350248" cy="277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Pressure Change in ALD Reactor</a:t>
              </a: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09064674-13F9-B595-C00B-15533BE23395}"/>
                </a:ext>
              </a:extLst>
            </p:cNvPr>
            <p:cNvGrpSpPr/>
            <p:nvPr/>
          </p:nvGrpSpPr>
          <p:grpSpPr>
            <a:xfrm>
              <a:off x="4218222" y="1053682"/>
              <a:ext cx="4248948" cy="2243868"/>
              <a:chOff x="4235164" y="928279"/>
              <a:chExt cx="4248948" cy="2243868"/>
            </a:xfrm>
          </p:grpSpPr>
          <p:pic>
            <p:nvPicPr>
              <p:cNvPr id="21" name="Picture 5" descr="Picture5">
                <a:extLst>
                  <a:ext uri="{FF2B5EF4-FFF2-40B4-BE49-F238E27FC236}">
                    <a16:creationId xmlns:a16="http://schemas.microsoft.com/office/drawing/2014/main" id="{9D7B5360-A6A9-2C60-0394-4652AABA28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61" t="18857"/>
              <a:stretch/>
            </p:blipFill>
            <p:spPr bwMode="auto">
              <a:xfrm>
                <a:off x="4298230" y="1127755"/>
                <a:ext cx="4088055" cy="18151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EC21C13F-EE77-1F63-1ED3-34F6D32CB7ED}"/>
                  </a:ext>
                </a:extLst>
              </p:cNvPr>
              <p:cNvSpPr txBox="1"/>
              <p:nvPr/>
            </p:nvSpPr>
            <p:spPr>
              <a:xfrm>
                <a:off x="4907857" y="2864370"/>
                <a:ext cx="16204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E: Exposure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8D02F63-79CF-6651-0278-1F56CC78B68B}"/>
                  </a:ext>
                </a:extLst>
              </p:cNvPr>
              <p:cNvSpPr txBox="1"/>
              <p:nvPr/>
            </p:nvSpPr>
            <p:spPr>
              <a:xfrm>
                <a:off x="6120707" y="2864370"/>
                <a:ext cx="16204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P: Purge</a:t>
                </a: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2AEC28F2-262A-0966-733A-2DE41D3B1A25}"/>
                  </a:ext>
                </a:extLst>
              </p:cNvPr>
              <p:cNvSpPr/>
              <p:nvPr/>
            </p:nvSpPr>
            <p:spPr>
              <a:xfrm>
                <a:off x="4271566" y="1440841"/>
                <a:ext cx="188394" cy="12651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AFE55A93-24BD-DBDF-DF2E-B8B5BE00903F}"/>
                  </a:ext>
                </a:extLst>
              </p:cNvPr>
              <p:cNvSpPr txBox="1"/>
              <p:nvPr/>
            </p:nvSpPr>
            <p:spPr>
              <a:xfrm>
                <a:off x="7733630" y="1352198"/>
                <a:ext cx="502769" cy="276999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defRPr sz="1200">
                    <a:solidFill>
                      <a:schemeClr val="bg1"/>
                    </a:solidFill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defRPr>
                </a:lvl1pPr>
              </a:lstStyle>
              <a:p>
                <a:r>
                  <a:rPr lang="en-US"/>
                  <a:t>DEZ</a:t>
                </a:r>
                <a:endParaRPr lang="en-US" dirty="0"/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11D20656-F541-A3C5-B9A5-3E27FDCE60E8}"/>
                  </a:ext>
                </a:extLst>
              </p:cNvPr>
              <p:cNvSpPr txBox="1"/>
              <p:nvPr/>
            </p:nvSpPr>
            <p:spPr>
              <a:xfrm>
                <a:off x="7733630" y="2285779"/>
                <a:ext cx="502769" cy="276999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defRPr sz="1200">
                    <a:solidFill>
                      <a:schemeClr val="bg1"/>
                    </a:solidFill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latin typeface="프리젠테이션 9 Black" pitchFamily="2" charset="-127"/>
                    <a:ea typeface="프리젠테이션 9 Black" pitchFamily="2" charset="-127"/>
                    <a:cs typeface="Arial" panose="020B0604020202020204" pitchFamily="34" charset="0"/>
                  </a:defRPr>
                </a:lvl1pPr>
              </a:lstStyle>
              <a:p>
                <a:r>
                  <a:rPr lang="en-US" dirty="0"/>
                  <a:t>H</a:t>
                </a:r>
                <a:r>
                  <a:rPr lang="en-US" baseline="-25000" dirty="0"/>
                  <a:t>2</a:t>
                </a:r>
                <a:r>
                  <a:rPr lang="en-US" dirty="0"/>
                  <a:t>O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3D129BAD-5DB9-0326-1A9D-8EF0FCC8EBCA}"/>
                  </a:ext>
                </a:extLst>
              </p:cNvPr>
              <p:cNvSpPr txBox="1"/>
              <p:nvPr/>
            </p:nvSpPr>
            <p:spPr>
              <a:xfrm>
                <a:off x="4235164" y="928279"/>
                <a:ext cx="7889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P(torr)</a:t>
                </a:r>
                <a:endParaRPr lang="en-US" sz="1400" dirty="0"/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B152240-B890-4C59-8EB4-417EBE26F50D}"/>
                  </a:ext>
                </a:extLst>
              </p:cNvPr>
              <p:cNvSpPr txBox="1"/>
              <p:nvPr/>
            </p:nvSpPr>
            <p:spPr>
              <a:xfrm>
                <a:off x="8001219" y="2683015"/>
                <a:ext cx="48289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1" dirty="0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t (s)</a:t>
                </a:r>
                <a:endParaRPr lang="en-US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133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487A0B-CEDA-667B-6944-DEE8FDA8E5AA}"/>
              </a:ext>
            </a:extLst>
          </p:cNvPr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 dirty="0" err="1">
                <a:solidFill>
                  <a:srgbClr val="FFFFFF"/>
                </a:solidFill>
                <a:latin typeface="맑은 고딕"/>
              </a:rPr>
              <a:t>그림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4. 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산화물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종류별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ALD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공정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윈도우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비교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전구체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종류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및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온도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범위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
(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한국기계연구원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배치식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ALD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장비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측정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</a:rPr>
              <a:t>예정</a:t>
            </a:r>
            <a:r>
              <a:rPr sz="1300" b="1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B5CE607-E60B-4EF4-E294-E52E85D1F0E2}"/>
              </a:ext>
            </a:extLst>
          </p:cNvPr>
          <p:cNvGrpSpPr/>
          <p:nvPr/>
        </p:nvGrpSpPr>
        <p:grpSpPr>
          <a:xfrm>
            <a:off x="255362" y="1219594"/>
            <a:ext cx="11192638" cy="3582772"/>
            <a:chOff x="255362" y="1219594"/>
            <a:chExt cx="11192638" cy="358277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6D2BCDE-8B05-4D72-842B-3E40C2F9815E}"/>
                </a:ext>
              </a:extLst>
            </p:cNvPr>
            <p:cNvSpPr/>
            <p:nvPr/>
          </p:nvSpPr>
          <p:spPr>
            <a:xfrm>
              <a:off x="1800000" y="3974720"/>
              <a:ext cx="9360000" cy="288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136F3E6-2F2E-302C-9927-5D979E217100}"/>
                </a:ext>
              </a:extLst>
            </p:cNvPr>
            <p:cNvSpPr txBox="1"/>
            <p:nvPr/>
          </p:nvSpPr>
          <p:spPr>
            <a:xfrm>
              <a:off x="5323840" y="4402256"/>
              <a:ext cx="18897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 dirty="0" err="1">
                  <a:solidFill>
                    <a:srgbClr val="1F497D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공정</a:t>
              </a:r>
              <a:r>
                <a:rPr sz="2000" b="1" i="0" dirty="0">
                  <a:solidFill>
                    <a:srgbClr val="1F497D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 </a:t>
              </a:r>
              <a:r>
                <a:rPr sz="2000" b="1" i="0" dirty="0" err="1">
                  <a:solidFill>
                    <a:srgbClr val="1F497D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온도</a:t>
              </a:r>
              <a:r>
                <a:rPr sz="2000" b="1" i="0" dirty="0">
                  <a:solidFill>
                    <a:srgbClr val="1F497D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 (°C)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FA1365-2337-D009-D15C-B8E4379C3EC0}"/>
                </a:ext>
              </a:extLst>
            </p:cNvPr>
            <p:cNvSpPr/>
            <p:nvPr/>
          </p:nvSpPr>
          <p:spPr>
            <a:xfrm>
              <a:off x="1789200" y="3974720"/>
              <a:ext cx="21600" cy="90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984F62-5A47-2B9A-040B-C676FB0FD85F}"/>
                </a:ext>
              </a:extLst>
            </p:cNvPr>
            <p:cNvSpPr txBox="1"/>
            <p:nvPr/>
          </p:nvSpPr>
          <p:spPr>
            <a:xfrm>
              <a:off x="1512000" y="4082720"/>
              <a:ext cx="57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F497D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50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9738C9-1952-7BE9-C04A-594C910D84B3}"/>
                </a:ext>
              </a:extLst>
            </p:cNvPr>
            <p:cNvSpPr/>
            <p:nvPr/>
          </p:nvSpPr>
          <p:spPr>
            <a:xfrm>
              <a:off x="3349200" y="3974720"/>
              <a:ext cx="21600" cy="90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6543F3-DC3F-CCEA-D894-DBFA6C76102F}"/>
                </a:ext>
              </a:extLst>
            </p:cNvPr>
            <p:cNvSpPr txBox="1"/>
            <p:nvPr/>
          </p:nvSpPr>
          <p:spPr>
            <a:xfrm>
              <a:off x="3072000" y="4082720"/>
              <a:ext cx="57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F497D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100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0350C4-8878-5142-61EC-0F84FE63260C}"/>
                </a:ext>
              </a:extLst>
            </p:cNvPr>
            <p:cNvSpPr/>
            <p:nvPr/>
          </p:nvSpPr>
          <p:spPr>
            <a:xfrm>
              <a:off x="4909200" y="3974720"/>
              <a:ext cx="21600" cy="90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00B530-3DF4-5153-05FC-75E8FBE7984C}"/>
                </a:ext>
              </a:extLst>
            </p:cNvPr>
            <p:cNvSpPr txBox="1"/>
            <p:nvPr/>
          </p:nvSpPr>
          <p:spPr>
            <a:xfrm>
              <a:off x="4632000" y="4082720"/>
              <a:ext cx="57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1F497D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150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3A3835-5F2D-FBCF-02D8-0136F6E85476}"/>
                </a:ext>
              </a:extLst>
            </p:cNvPr>
            <p:cNvSpPr/>
            <p:nvPr/>
          </p:nvSpPr>
          <p:spPr>
            <a:xfrm>
              <a:off x="6469200" y="3974720"/>
              <a:ext cx="21600" cy="90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B42DD1F-EB86-C031-0601-9A3668562434}"/>
                </a:ext>
              </a:extLst>
            </p:cNvPr>
            <p:cNvSpPr txBox="1"/>
            <p:nvPr/>
          </p:nvSpPr>
          <p:spPr>
            <a:xfrm>
              <a:off x="6192000" y="4082720"/>
              <a:ext cx="57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F497D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200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45B0B6-2ADD-7F78-F8FF-F371E448D82D}"/>
                </a:ext>
              </a:extLst>
            </p:cNvPr>
            <p:cNvSpPr/>
            <p:nvPr/>
          </p:nvSpPr>
          <p:spPr>
            <a:xfrm>
              <a:off x="8029200" y="3974720"/>
              <a:ext cx="21600" cy="90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B90549E-1EC6-A97A-44AE-CD18826C5535}"/>
                </a:ext>
              </a:extLst>
            </p:cNvPr>
            <p:cNvSpPr txBox="1"/>
            <p:nvPr/>
          </p:nvSpPr>
          <p:spPr>
            <a:xfrm>
              <a:off x="7752000" y="4082720"/>
              <a:ext cx="57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F497D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250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09493E1-6F97-6D28-03CD-ECF36DB91CEA}"/>
                </a:ext>
              </a:extLst>
            </p:cNvPr>
            <p:cNvSpPr/>
            <p:nvPr/>
          </p:nvSpPr>
          <p:spPr>
            <a:xfrm>
              <a:off x="9589200" y="3974720"/>
              <a:ext cx="21600" cy="90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2586992-4585-AC52-18A0-8822B17534BB}"/>
                </a:ext>
              </a:extLst>
            </p:cNvPr>
            <p:cNvSpPr txBox="1"/>
            <p:nvPr/>
          </p:nvSpPr>
          <p:spPr>
            <a:xfrm>
              <a:off x="9312000" y="4082720"/>
              <a:ext cx="57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F497D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300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935037-FC5D-8937-0C39-D9D4F6552D3D}"/>
                </a:ext>
              </a:extLst>
            </p:cNvPr>
            <p:cNvSpPr/>
            <p:nvPr/>
          </p:nvSpPr>
          <p:spPr>
            <a:xfrm>
              <a:off x="11149200" y="3974720"/>
              <a:ext cx="21600" cy="90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1EF49C-D747-9FEB-4DA7-B19486012E42}"/>
                </a:ext>
              </a:extLst>
            </p:cNvPr>
            <p:cNvSpPr txBox="1"/>
            <p:nvPr/>
          </p:nvSpPr>
          <p:spPr>
            <a:xfrm>
              <a:off x="10872000" y="4082720"/>
              <a:ext cx="57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1F497D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350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1F82A22-B00D-2139-5FF7-2EE925DEDE07}"/>
                </a:ext>
              </a:extLst>
            </p:cNvPr>
            <p:cNvSpPr/>
            <p:nvPr/>
          </p:nvSpPr>
          <p:spPr>
            <a:xfrm>
              <a:off x="1800000" y="1260000"/>
              <a:ext cx="9360000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5730542-15EC-D9B6-ABF6-B6A63D9CE59C}"/>
                </a:ext>
              </a:extLst>
            </p:cNvPr>
            <p:cNvSpPr/>
            <p:nvPr/>
          </p:nvSpPr>
          <p:spPr>
            <a:xfrm>
              <a:off x="2423160" y="1288800"/>
              <a:ext cx="5616840" cy="338400"/>
            </a:xfrm>
            <a:prstGeom prst="rect">
              <a:avLst/>
            </a:prstGeom>
            <a:solidFill>
              <a:srgbClr val="2E74B5"/>
            </a:solidFill>
            <a:ln w="6350"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100–250°C  ALD Window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A0B7BE9-E7CE-E8C9-DE51-410E320B9AB4}"/>
                </a:ext>
              </a:extLst>
            </p:cNvPr>
            <p:cNvSpPr txBox="1"/>
            <p:nvPr/>
          </p:nvSpPr>
          <p:spPr>
            <a:xfrm>
              <a:off x="466755" y="1219594"/>
              <a:ext cx="139464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 dirty="0" err="1">
                  <a:solidFill>
                    <a:srgbClr val="2E74B5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Al₂O</a:t>
              </a:r>
              <a:r>
                <a:rPr sz="1200" b="1" i="0" dirty="0">
                  <a:solidFill>
                    <a:srgbClr val="2E74B5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₃   </a:t>
              </a:r>
              <a:br>
                <a:rPr lang="en-US" sz="1200" b="1" i="0" dirty="0">
                  <a:solidFill>
                    <a:srgbClr val="2E74B5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</a:br>
              <a:r>
                <a:rPr sz="1200" b="1" i="0" dirty="0">
                  <a:solidFill>
                    <a:srgbClr val="2E74B5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(TMA / H₂O)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989851E-3BF1-D7EE-8737-0AE4BCA1A35A}"/>
                </a:ext>
              </a:extLst>
            </p:cNvPr>
            <p:cNvSpPr/>
            <p:nvPr/>
          </p:nvSpPr>
          <p:spPr>
            <a:xfrm>
              <a:off x="1800000" y="1980000"/>
              <a:ext cx="9360000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D51CF6A-DF81-7A55-FC53-699617043625}"/>
                </a:ext>
              </a:extLst>
            </p:cNvPr>
            <p:cNvSpPr/>
            <p:nvPr/>
          </p:nvSpPr>
          <p:spPr>
            <a:xfrm>
              <a:off x="2423160" y="2003720"/>
              <a:ext cx="4272280" cy="338400"/>
            </a:xfrm>
            <a:prstGeom prst="rect">
              <a:avLst/>
            </a:prstGeom>
            <a:solidFill>
              <a:srgbClr val="378610"/>
            </a:solidFill>
            <a:ln w="6350">
              <a:solidFill>
                <a:srgbClr val="3786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100–200°C  ALD Window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8DBB74-57AC-92B1-BFB1-0BE55F46831B}"/>
                </a:ext>
              </a:extLst>
            </p:cNvPr>
            <p:cNvSpPr txBox="1"/>
            <p:nvPr/>
          </p:nvSpPr>
          <p:spPr>
            <a:xfrm>
              <a:off x="376303" y="1909381"/>
              <a:ext cx="143953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 dirty="0" err="1">
                  <a:solidFill>
                    <a:srgbClr val="378610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ZnO</a:t>
              </a:r>
              <a:br>
                <a:rPr lang="en-US" sz="1200" b="1" i="0" dirty="0">
                  <a:solidFill>
                    <a:srgbClr val="378610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</a:br>
              <a:r>
                <a:rPr sz="1200" b="1" i="0" dirty="0">
                  <a:solidFill>
                    <a:srgbClr val="378610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(</a:t>
              </a:r>
              <a:r>
                <a:rPr sz="1200" b="1" i="0" dirty="0" err="1">
                  <a:solidFill>
                    <a:srgbClr val="378610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DEZn</a:t>
              </a:r>
              <a:r>
                <a:rPr sz="1200" b="1" i="0" dirty="0">
                  <a:solidFill>
                    <a:srgbClr val="378610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 / H₂O)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449EFB1-FBA8-5A66-651F-EA68CD18D6C5}"/>
                </a:ext>
              </a:extLst>
            </p:cNvPr>
            <p:cNvSpPr/>
            <p:nvPr/>
          </p:nvSpPr>
          <p:spPr>
            <a:xfrm>
              <a:off x="1800000" y="2700000"/>
              <a:ext cx="9360000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926B2AC-203B-9072-16F7-EE0415987BDD}"/>
                </a:ext>
              </a:extLst>
            </p:cNvPr>
            <p:cNvSpPr/>
            <p:nvPr/>
          </p:nvSpPr>
          <p:spPr>
            <a:xfrm>
              <a:off x="2875280" y="2728800"/>
              <a:ext cx="5164720" cy="338400"/>
            </a:xfrm>
            <a:prstGeom prst="rect">
              <a:avLst/>
            </a:prstGeom>
            <a:solidFill>
              <a:srgbClr val="7B2F8E"/>
            </a:solidFill>
            <a:ln w="6350">
              <a:solidFill>
                <a:srgbClr val="7B2F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150–250°C  ALD Window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14EEB3-F426-62F4-C905-B0F916B0CAE3}"/>
                </a:ext>
              </a:extLst>
            </p:cNvPr>
            <p:cNvSpPr txBox="1"/>
            <p:nvPr/>
          </p:nvSpPr>
          <p:spPr>
            <a:xfrm>
              <a:off x="255362" y="2633491"/>
              <a:ext cx="157217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 dirty="0">
                  <a:solidFill>
                    <a:srgbClr val="7B2F8E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V₂O₅</a:t>
              </a:r>
              <a:br>
                <a:rPr lang="en-US" sz="1200" b="1" i="0" dirty="0">
                  <a:solidFill>
                    <a:srgbClr val="7B2F8E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</a:br>
              <a:r>
                <a:rPr sz="1200" b="1" i="0" dirty="0">
                  <a:solidFill>
                    <a:srgbClr val="7B2F8E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(VTIP / H₂O)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2EAF3E-B64A-1E39-C88D-ED84E149C4D9}"/>
                </a:ext>
              </a:extLst>
            </p:cNvPr>
            <p:cNvSpPr/>
            <p:nvPr/>
          </p:nvSpPr>
          <p:spPr>
            <a:xfrm>
              <a:off x="1800000" y="3420000"/>
              <a:ext cx="9360000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F62696-59FD-51A5-387A-63AD746F8906}"/>
                </a:ext>
              </a:extLst>
            </p:cNvPr>
            <p:cNvSpPr/>
            <p:nvPr/>
          </p:nvSpPr>
          <p:spPr>
            <a:xfrm>
              <a:off x="4920000" y="3448800"/>
              <a:ext cx="4680000" cy="338400"/>
            </a:xfrm>
            <a:prstGeom prst="rect">
              <a:avLst/>
            </a:prstGeom>
            <a:solidFill>
              <a:srgbClr val="ED7D31"/>
            </a:solidFill>
            <a:ln w="63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400" b="1" dirty="0">
                  <a:solidFill>
                    <a:srgbClr val="FFFFFF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150–300°C  ALD Window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DDE83C1-FA3C-C3DC-723C-BC53ADF6F381}"/>
                </a:ext>
              </a:extLst>
            </p:cNvPr>
            <p:cNvSpPr txBox="1"/>
            <p:nvPr/>
          </p:nvSpPr>
          <p:spPr>
            <a:xfrm>
              <a:off x="311860" y="3343331"/>
              <a:ext cx="14833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 dirty="0" err="1">
                  <a:solidFill>
                    <a:srgbClr val="ED7D31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TiO</a:t>
              </a:r>
              <a:r>
                <a:rPr sz="1200" b="1" i="0" dirty="0">
                  <a:solidFill>
                    <a:srgbClr val="ED7D31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₂</a:t>
              </a:r>
              <a:endParaRPr lang="en-US" sz="1200" b="1" dirty="0">
                <a:solidFill>
                  <a:srgbClr val="ED7D31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endParaRPr>
            </a:p>
            <a:p>
              <a:pPr algn="ctr"/>
              <a:r>
                <a:rPr sz="1200" b="1" i="0" dirty="0">
                  <a:solidFill>
                    <a:srgbClr val="ED7D31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(TTIP / H₂O)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7F1AF2CE-8C3F-7BC5-76F7-DF3139CF6719}"/>
              </a:ext>
            </a:extLst>
          </p:cNvPr>
          <p:cNvSpPr/>
          <p:nvPr/>
        </p:nvSpPr>
        <p:spPr>
          <a:xfrm>
            <a:off x="5634520" y="4908600"/>
            <a:ext cx="5237480" cy="251999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50" b="0" dirty="0">
                <a:solidFill>
                  <a:srgbClr val="1F497D"/>
                </a:solidFill>
                <a:latin typeface="맑은 고딕"/>
              </a:rPr>
              <a:t>■ </a:t>
            </a:r>
            <a:r>
              <a:rPr sz="950" b="0" dirty="0" err="1">
                <a:solidFill>
                  <a:srgbClr val="1F497D"/>
                </a:solidFill>
                <a:latin typeface="맑은 고딕"/>
              </a:rPr>
              <a:t>한국기계연구원</a:t>
            </a:r>
            <a:r>
              <a:rPr sz="950" b="0" dirty="0">
                <a:solidFill>
                  <a:srgbClr val="1F497D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F497D"/>
                </a:solidFill>
                <a:latin typeface="맑은 고딕"/>
              </a:rPr>
              <a:t>배치식</a:t>
            </a:r>
            <a:r>
              <a:rPr sz="950" b="0" dirty="0">
                <a:solidFill>
                  <a:srgbClr val="1F497D"/>
                </a:solidFill>
                <a:latin typeface="맑은 고딕"/>
              </a:rPr>
              <a:t> ALD </a:t>
            </a:r>
            <a:r>
              <a:rPr sz="950" b="0" dirty="0" err="1">
                <a:solidFill>
                  <a:srgbClr val="1F497D"/>
                </a:solidFill>
                <a:latin typeface="맑은 고딕"/>
              </a:rPr>
              <a:t>장비</a:t>
            </a:r>
            <a:r>
              <a:rPr sz="950" b="0" dirty="0">
                <a:solidFill>
                  <a:srgbClr val="1F497D"/>
                </a:solidFill>
                <a:latin typeface="맑은 고딕"/>
              </a:rPr>
              <a:t> 2대에서 </a:t>
            </a:r>
            <a:r>
              <a:rPr sz="950" b="0" dirty="0" err="1">
                <a:solidFill>
                  <a:srgbClr val="1F497D"/>
                </a:solidFill>
                <a:latin typeface="맑은 고딕"/>
              </a:rPr>
              <a:t>측정·확정</a:t>
            </a:r>
            <a:r>
              <a:rPr sz="950" b="0" dirty="0">
                <a:solidFill>
                  <a:srgbClr val="1F497D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1F497D"/>
                </a:solidFill>
                <a:latin typeface="맑은 고딕"/>
              </a:rPr>
              <a:t>예정</a:t>
            </a:r>
            <a:r>
              <a:rPr sz="950" b="0" dirty="0">
                <a:solidFill>
                  <a:srgbClr val="1F497D"/>
                </a:solidFill>
                <a:latin typeface="맑은 고딕"/>
              </a:rPr>
              <a:t> (1차년도)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4BEB83-EFFE-C5E2-4329-A73F0B99E3A1}"/>
              </a:ext>
            </a:extLst>
          </p:cNvPr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ALD Window = GPC가 일정한 자기제한 반응 안정 영역.  범위 외에서는 GPC 편차 증가 또는 CVD 모드 전환.</a:t>
            </a:r>
          </a:p>
        </p:txBody>
      </p:sp>
    </p:spTree>
    <p:extLst>
      <p:ext uri="{BB962C8B-B14F-4D97-AF65-F5344CB8AC3E}">
        <p14:creationId xmlns:p14="http://schemas.microsoft.com/office/powerpoint/2010/main" val="562149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3342882-FBAC-E916-BC8C-002A14B0C9EA}"/>
              </a:ext>
            </a:extLst>
          </p:cNvPr>
          <p:cNvGrpSpPr/>
          <p:nvPr/>
        </p:nvGrpSpPr>
        <p:grpSpPr>
          <a:xfrm>
            <a:off x="582154" y="2131119"/>
            <a:ext cx="8829450" cy="2399280"/>
            <a:chOff x="2261500" y="1365000"/>
            <a:chExt cx="6292270" cy="14950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D40A7FC-2A9C-43A5-0932-B37D78C81A0E}"/>
                </a:ext>
              </a:extLst>
            </p:cNvPr>
            <p:cNvSpPr/>
            <p:nvPr/>
          </p:nvSpPr>
          <p:spPr>
            <a:xfrm>
              <a:off x="2261500" y="1365000"/>
              <a:ext cx="1772020" cy="338400"/>
            </a:xfrm>
            <a:prstGeom prst="rect">
              <a:avLst/>
            </a:prstGeom>
            <a:solidFill>
              <a:srgbClr val="2E74B5"/>
            </a:solidFill>
            <a:ln w="6350"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ko-KR" altLang="en-US" sz="2400" b="1">
                  <a:solidFill>
                    <a:srgbClr val="FFFFFF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㈜에버인더스</a:t>
              </a:r>
              <a:endParaRPr sz="2400" b="1" dirty="0">
                <a:solidFill>
                  <a:srgbClr val="FFFFFF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27F3E3-456E-D175-E29D-74CD25195714}"/>
                </a:ext>
              </a:extLst>
            </p:cNvPr>
            <p:cNvSpPr/>
            <p:nvPr/>
          </p:nvSpPr>
          <p:spPr>
            <a:xfrm>
              <a:off x="6781750" y="1365000"/>
              <a:ext cx="1772020" cy="338400"/>
            </a:xfrm>
            <a:prstGeom prst="rect">
              <a:avLst/>
            </a:prstGeom>
            <a:solidFill>
              <a:srgbClr val="7B2F8E"/>
            </a:solidFill>
            <a:ln w="6350">
              <a:solidFill>
                <a:srgbClr val="7B2F8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ko-KR" altLang="en-US" sz="2400" b="1" dirty="0">
                  <a:solidFill>
                    <a:srgbClr val="FFFFFF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rPr>
                <a:t>㈜대성기계공업</a:t>
              </a:r>
              <a:endParaRPr sz="2400" b="1" dirty="0">
                <a:solidFill>
                  <a:srgbClr val="FFFFFF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5845C2-230C-80F9-8DE2-5D99570425AF}"/>
                </a:ext>
              </a:extLst>
            </p:cNvPr>
            <p:cNvSpPr/>
            <p:nvPr/>
          </p:nvSpPr>
          <p:spPr>
            <a:xfrm>
              <a:off x="2261500" y="1703400"/>
              <a:ext cx="1772020" cy="1156640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8465710-AAEA-130B-5950-E446764736AD}"/>
                </a:ext>
              </a:extLst>
            </p:cNvPr>
            <p:cNvGrpSpPr/>
            <p:nvPr/>
          </p:nvGrpSpPr>
          <p:grpSpPr>
            <a:xfrm>
              <a:off x="4525829" y="1365000"/>
              <a:ext cx="1772020" cy="1495040"/>
              <a:chOff x="4404360" y="1365000"/>
              <a:chExt cx="1772020" cy="149504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89DCBD9-64BB-ABF1-CFB6-E47A786093C5}"/>
                  </a:ext>
                </a:extLst>
              </p:cNvPr>
              <p:cNvSpPr/>
              <p:nvPr/>
            </p:nvSpPr>
            <p:spPr>
              <a:xfrm>
                <a:off x="4404360" y="1365000"/>
                <a:ext cx="1772020" cy="338400"/>
              </a:xfrm>
              <a:prstGeom prst="rect">
                <a:avLst/>
              </a:prstGeom>
              <a:solidFill>
                <a:srgbClr val="378610"/>
              </a:solidFill>
              <a:ln w="6350">
                <a:solidFill>
                  <a:srgbClr val="37861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lang="ko-KR" altLang="en-US" sz="2400" b="1" dirty="0">
                    <a:solidFill>
                      <a:srgbClr val="FFFFFF"/>
                    </a:solidFill>
                    <a:latin typeface="나눔스퀘어 네오 Heavy" panose="00000A00000000000000" pitchFamily="2" charset="-127"/>
                    <a:ea typeface="나눔스퀘어 네오 Heavy" panose="00000A00000000000000" pitchFamily="2" charset="-127"/>
                  </a:rPr>
                  <a:t>한국기계연구원</a:t>
                </a:r>
                <a:endParaRPr sz="2400" b="1" dirty="0">
                  <a:solidFill>
                    <a:srgbClr val="FFFFFF"/>
                  </a:solidFill>
                  <a:latin typeface="나눔스퀘어 네오 Heavy" panose="00000A00000000000000" pitchFamily="2" charset="-127"/>
                  <a:ea typeface="나눔스퀘어 네오 Heavy" panose="00000A00000000000000" pitchFamily="2" charset="-127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1E98BDD-AE6A-F28E-A013-6B3F9F9303B9}"/>
                  </a:ext>
                </a:extLst>
              </p:cNvPr>
              <p:cNvSpPr/>
              <p:nvPr/>
            </p:nvSpPr>
            <p:spPr>
              <a:xfrm>
                <a:off x="4404360" y="1703400"/>
                <a:ext cx="1772020" cy="1156640"/>
              </a:xfrm>
              <a:prstGeom prst="rect">
                <a:avLst/>
              </a:prstGeom>
              <a:noFill/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CE04A4-AE6B-C0BA-6005-10DDE887658B}"/>
                </a:ext>
              </a:extLst>
            </p:cNvPr>
            <p:cNvSpPr/>
            <p:nvPr/>
          </p:nvSpPr>
          <p:spPr>
            <a:xfrm>
              <a:off x="6781750" y="1703400"/>
              <a:ext cx="1772020" cy="1156640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7E46277-C0B0-AB61-5B9B-49466211D123}"/>
              </a:ext>
            </a:extLst>
          </p:cNvPr>
          <p:cNvSpPr txBox="1"/>
          <p:nvPr/>
        </p:nvSpPr>
        <p:spPr>
          <a:xfrm>
            <a:off x="582153" y="2697430"/>
            <a:ext cx="2486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나트륨이온 전지용</a:t>
            </a:r>
            <a:b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층상형 양극제 제공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6CA13-7B7E-A915-ADA1-1DA89B335BBE}"/>
              </a:ext>
            </a:extLst>
          </p:cNvPr>
          <p:cNvSpPr txBox="1"/>
          <p:nvPr/>
        </p:nvSpPr>
        <p:spPr>
          <a:xfrm>
            <a:off x="3759509" y="2724031"/>
            <a:ext cx="248653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배치식 </a:t>
            </a: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ALD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 최적화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177800" indent="-17780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공정윈도우 확정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177800" indent="-17780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코팅층 종합 분석</a:t>
            </a:r>
            <a:b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12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미세구조</a:t>
            </a:r>
            <a:r>
              <a:rPr lang="en-US" altLang="ko-KR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결정성</a:t>
            </a:r>
            <a:r>
              <a:rPr lang="en-US" altLang="ko-KR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분광학적 분석</a:t>
            </a:r>
            <a:r>
              <a:rPr lang="en-US" altLang="ko-KR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성분 분석</a:t>
            </a:r>
            <a:r>
              <a:rPr lang="en-US" altLang="ko-KR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전기화학적 분석</a:t>
            </a:r>
            <a:r>
              <a:rPr lang="en-US" altLang="ko-KR" sz="1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endParaRPr lang="en-US" altLang="ko-KR" sz="12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9BDA6-B0FA-AC1C-1CB3-B46639DB5A32}"/>
              </a:ext>
            </a:extLst>
          </p:cNvPr>
          <p:cNvSpPr txBox="1"/>
          <p:nvPr/>
        </p:nvSpPr>
        <p:spPr>
          <a:xfrm>
            <a:off x="6936864" y="2724031"/>
            <a:ext cx="24865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레서피 적용 </a:t>
            </a: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sym typeface="Wingdings" panose="05000000000000000000" pitchFamily="2" charset="2"/>
              </a:rPr>
              <a:t>스케일업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sym typeface="Wingdings" panose="05000000000000000000" pitchFamily="2" charset="2"/>
            </a:endParaRPr>
          </a:p>
          <a:p>
            <a:pPr marL="177800" indent="-177800" algn="just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연속공정 안정화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177800" indent="-177800" algn="just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10 kg/h </a:t>
            </a:r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양산 실증</a:t>
            </a: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177800" indent="-177800" algn="just">
              <a:buFont typeface="Arial" panose="020B0604020202020204" pitchFamily="34" charset="0"/>
              <a:buChar char="•"/>
            </a:pPr>
            <a:endParaRPr lang="en-US" altLang="ko-KR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1B7AFA-BAF9-8D13-F932-D1E10A22C7F4}"/>
              </a:ext>
            </a:extLst>
          </p:cNvPr>
          <p:cNvSpPr txBox="1"/>
          <p:nvPr/>
        </p:nvSpPr>
        <p:spPr>
          <a:xfrm>
            <a:off x="9423400" y="1119557"/>
            <a:ext cx="2360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시료 제공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DCE290-BB53-108F-F0AA-4AE225CCF27D}"/>
              </a:ext>
            </a:extLst>
          </p:cNvPr>
          <p:cNvCxnSpPr>
            <a:cxnSpLocks/>
          </p:cNvCxnSpPr>
          <p:nvPr/>
        </p:nvCxnSpPr>
        <p:spPr>
          <a:xfrm>
            <a:off x="3195690" y="3462695"/>
            <a:ext cx="478843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50A772-1591-D858-5064-465C04F427D7}"/>
              </a:ext>
            </a:extLst>
          </p:cNvPr>
          <p:cNvCxnSpPr>
            <a:cxnSpLocks/>
          </p:cNvCxnSpPr>
          <p:nvPr/>
        </p:nvCxnSpPr>
        <p:spPr>
          <a:xfrm>
            <a:off x="6353756" y="3445761"/>
            <a:ext cx="478843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BD5669-F7CB-9E20-D45B-AABAE2633291}"/>
              </a:ext>
            </a:extLst>
          </p:cNvPr>
          <p:cNvCxnSpPr>
            <a:cxnSpLocks/>
          </p:cNvCxnSpPr>
          <p:nvPr/>
        </p:nvCxnSpPr>
        <p:spPr>
          <a:xfrm>
            <a:off x="6593177" y="1992429"/>
            <a:ext cx="0" cy="1436571"/>
          </a:xfrm>
          <a:prstGeom prst="line">
            <a:avLst/>
          </a:prstGeom>
          <a:ln w="9525">
            <a:solidFill>
              <a:schemeClr val="bg1"/>
            </a:solidFill>
            <a:tailEnd type="oval"/>
          </a:ln>
          <a:effectLst>
            <a:glow rad="63500">
              <a:srgbClr val="C00000">
                <a:alpha val="40000"/>
              </a:srgb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FE16079-7FC8-17F0-2996-58DA59170D67}"/>
              </a:ext>
            </a:extLst>
          </p:cNvPr>
          <p:cNvSpPr txBox="1"/>
          <p:nvPr/>
        </p:nvSpPr>
        <p:spPr>
          <a:xfrm>
            <a:off x="5412879" y="1439361"/>
            <a:ext cx="2360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레서피 패키지 제공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95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3.  ALD 공정의 자기제한 반응(Self-limiting growth) 메커니즘 및 사이클 도식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980000"/>
            <a:ext cx="2340000" cy="180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0000" y="1980000"/>
            <a:ext cx="23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① Precursor A
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금속 전구체(A)를
표면 활성 사이트에
화학흡착 → 포화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54000" y="2880000"/>
            <a:ext cx="252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88000" y="1980000"/>
            <a:ext cx="2340000" cy="1800000"/>
          </a:xfrm>
          <a:prstGeom prst="roundRect">
            <a:avLst/>
          </a:prstGeom>
          <a:solidFill>
            <a:srgbClr val="D6DCE4"/>
          </a:solidFill>
          <a:ln w="317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88000" y="1980000"/>
            <a:ext cx="234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② Purge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과잉 전구체 및
부산물을 불활성
가스(N₂)로 제거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82000" y="2880000"/>
            <a:ext cx="252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16000" y="1980000"/>
            <a:ext cx="2340000" cy="1800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16000" y="1980000"/>
            <a:ext cx="234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③ Reactant B
(H₂O) 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H₂O를 공급하여
표면 반응 완료
(산화물 형성)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10000" y="2880000"/>
            <a:ext cx="252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44000" y="1980000"/>
            <a:ext cx="2340000" cy="1800000"/>
          </a:xfrm>
          <a:prstGeom prst="roundRect">
            <a:avLst/>
          </a:prstGeom>
          <a:solidFill>
            <a:srgbClr val="D6DCE4"/>
          </a:solidFill>
          <a:ln w="317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44000" y="1980000"/>
            <a:ext cx="234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④ Purge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2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과잉 H₂O 및
부산물 제거
→ 1 사이클 완료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4140000"/>
            <a:ext cx="11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↺  위 4단계 사이클 반복  →  1 사이클당 GPC(Growth Per Cycle) = 0.1 ~ 2.0 Å  |  총 두께 = GPC × 사이클 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4680000"/>
            <a:ext cx="3780000" cy="100799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8000" y="475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10"/>
                </a:solidFill>
                <a:latin typeface="맑은 고딕"/>
              </a:rPr>
              <a:t>✓ 자기제한 반응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" y="5112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GPC는 pulse 시간과 무관
→ 두께 재현성 완벽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0" y="4680000"/>
            <a:ext cx="3780000" cy="100799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28000" y="475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10"/>
                </a:solidFill>
                <a:latin typeface="맑은 고딕"/>
              </a:rPr>
              <a:t>✓ 완전 피복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8000" y="5112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복잡한 3D 입자 형상도
100% 균일 코팅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0000" y="4680000"/>
            <a:ext cx="3780000" cy="100799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88000" y="475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10"/>
                </a:solidFill>
                <a:latin typeface="맑은 고딕"/>
              </a:rPr>
              <a:t>✓ nm 정밀 제어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8000" y="5112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사이클 수로
1 nm 이하 제어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4.  산화물 종류별 ALD 공정 윈도우 비교 — 전구체 종류 및 온도 범위
(한국기계연구원 배치식 ALD 장비 측정 예정)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0" y="5580000"/>
            <a:ext cx="9360000" cy="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000" y="5688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맑은 고딕"/>
              </a:rPr>
              <a:t>공정 온도 (°C)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1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7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150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6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5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250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1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300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7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350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0" y="126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60000" y="1288800"/>
            <a:ext cx="4680000" cy="338400"/>
          </a:xfrm>
          <a:prstGeom prst="rect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100–250°C  ALD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" y="131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4B5"/>
                </a:solidFill>
                <a:latin typeface="맑은 고딕"/>
              </a:rPr>
              <a:t>Al₂O₃   (TMA / H₂O)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0000" y="198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60000" y="2008800"/>
            <a:ext cx="3120000" cy="338400"/>
          </a:xfrm>
          <a:prstGeom prst="rect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100–200°C  ALD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" y="203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10"/>
                </a:solidFill>
                <a:latin typeface="맑은 고딕"/>
              </a:rPr>
              <a:t>ZnO   (DEZn / H₂O)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0" y="270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20000" y="2728800"/>
            <a:ext cx="3120000" cy="338400"/>
          </a:xfrm>
          <a:prstGeom prst="rect">
            <a:avLst/>
          </a:prstGeom>
          <a:solidFill>
            <a:srgbClr val="7B2F8E"/>
          </a:solidFill>
          <a:ln w="63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150–250°C  ALD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00" y="275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8E"/>
                </a:solidFill>
                <a:latin typeface="맑은 고딕"/>
              </a:rPr>
              <a:t>V₂O₅   (VTIP / H₂O)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0000" y="342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20000" y="3448800"/>
            <a:ext cx="4680000" cy="338400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150–300°C  ALD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" y="347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7D31"/>
                </a:solidFill>
                <a:latin typeface="맑은 고딕"/>
              </a:rPr>
              <a:t>TiO₂   (TTIP / H₂O)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248000"/>
            <a:ext cx="6480000" cy="251999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50" b="0">
                <a:solidFill>
                  <a:srgbClr val="1F497D"/>
                </a:solidFill>
                <a:latin typeface="맑은 고딕"/>
              </a:rPr>
              <a:t>■ 한국기계연구원 배치식 ALD 장비 2대에서 측정·확정 예정 (1차년도)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ALD Window = GPC가 일정한 자기제한 반응 안정 영역.  범위 외에서는 GPC 편차 증가 또는 CVD 모드 전환.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5.  본 과제 핵심 기술 연계 파이프라인
한국기계연구원 배치식 ALD 레시피 개발 → 대성기계공업 연속식 ALD 이전·적용 흐름도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792000"/>
            <a:ext cx="2700000" cy="792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F497D"/>
                </a:solidFill>
                <a:latin typeface="맑은 고딕"/>
              </a:rPr>
              <a:t>에버인더스
고-Ni 층상 양극재 제공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60000" y="1188000"/>
            <a:ext cx="54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00000" y="720000"/>
            <a:ext cx="4860000" cy="360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00000" y="720000"/>
            <a:ext cx="4860000" cy="360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한국기계연구원  (배치식 ALD 장비 2대 보유)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0000" y="1188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ED7D31"/>
                </a:solidFill>
                <a:latin typeface="맑은 고딕"/>
              </a:rPr>
              <a:t>ALD #1
TiO₂  (TTIP/H₂O)
→ 1차년도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48000" y="1188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2E74B5"/>
                </a:solidFill>
                <a:latin typeface="맑은 고딕"/>
              </a:rPr>
              <a:t>ALD #2
Al₂O₃ (TMA/H₂O)
→ 1차년도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0000" y="2304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7B2F8E"/>
                </a:solidFill>
                <a:latin typeface="맑은 고딕"/>
              </a:rPr>
              <a:t>ALD #1
V₂O₅  (VTIP/H₂O)
→ 2차년도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8000" y="2304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378610"/>
                </a:solidFill>
                <a:latin typeface="맑은 고딕"/>
              </a:rPr>
              <a:t>ALD #2
ZnO   (DEZn/H₂O)
→ 2차년도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000" y="342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→ 공정 윈도우 확정 → 레시피 패키지 작성 (GPC, 온도, pulse/purge 시간, NDA 체결)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0000" y="4392000"/>
            <a:ext cx="0" cy="468000"/>
          </a:xfrm>
          <a:prstGeom prst="line">
            <a:avLst/>
          </a:prstGeom>
          <a:ln w="508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00000" y="4428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D7D31"/>
                </a:solidFill>
                <a:latin typeface="맑은 고딕"/>
              </a:rPr>
              <a:t>레시피 패키지 이전 (NDA 체결)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0" y="4860000"/>
            <a:ext cx="4860000" cy="1368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00000" y="4860000"/>
            <a:ext cx="4860000" cy="360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대성기계공업  (연속식 분말 ALD 장비 보유)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8000" y="5292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① FBR에 레시피 적용 (1차) → ② OPERIO 10 이전 (2차) → ③ 10 kg/h 양산 (3차)
RTD 기반 체류시간 최적화 | 연속 운전 안정화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68000" y="5544000"/>
            <a:ext cx="612000" cy="0"/>
          </a:xfrm>
          <a:prstGeom prst="line">
            <a:avLst/>
          </a:prstGeom>
          <a:ln w="25400">
            <a:solidFill>
              <a:srgbClr val="595959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0000" y="5040000"/>
            <a:ext cx="2700000" cy="1188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0">
                <a:solidFill>
                  <a:srgbClr val="1F497D"/>
                </a:solidFill>
                <a:latin typeface="맑은 고딕"/>
              </a:rPr>
              <a:t>기계연 코팅층 분석
HRTEM / EELS / XPS
→ 품질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000" y="792000"/>
            <a:ext cx="2700000" cy="1152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0">
                <a:solidFill>
                  <a:srgbClr val="1F497D"/>
                </a:solidFill>
                <a:latin typeface="맑은 고딕"/>
              </a:rPr>
              <a:t>씨오알엔 (CORN)
전극 제조
1Ah 파우치셀 제작·평가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기계연 배치식 ALD에서 확립한 레시피가 대성기계 연속식 ALD에 이전되며, 기계연이 코팅 시료를 분석·검증하는 순환 피드백 구조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6.  연속식 분말 ALD 기술의 산업별 응용 분야 및 시장 확장 가능성</a:t>
            </a:r>
          </a:p>
        </p:txBody>
      </p:sp>
      <p:sp>
        <p:nvSpPr>
          <p:cNvPr id="3" name="Oval 2"/>
          <p:cNvSpPr/>
          <p:nvPr/>
        </p:nvSpPr>
        <p:spPr>
          <a:xfrm>
            <a:off x="5112001" y="2772001"/>
            <a:ext cx="2015998" cy="2015998"/>
          </a:xfrm>
          <a:prstGeom prst="ellipse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연속식
분말 ALD
플랫폼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8000" y="3420000"/>
            <a:ext cx="2088000" cy="72000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이차전지
양극재·음극재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611600" y="3780000"/>
            <a:ext cx="500401" cy="0"/>
          </a:xfrm>
          <a:prstGeom prst="line">
            <a:avLst/>
          </a:prstGeom>
          <a:ln w="190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51999" y="1299969"/>
            <a:ext cx="2088000" cy="720000"/>
          </a:xfrm>
          <a:prstGeom prst="roundRect">
            <a:avLst/>
          </a:prstGeom>
          <a:solidFill>
            <a:srgbClr val="378610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촉매·촉매 지지체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365799" y="1940562"/>
            <a:ext cx="250201" cy="966485"/>
          </a:xfrm>
          <a:prstGeom prst="line">
            <a:avLst/>
          </a:prstGeom>
          <a:ln w="19050">
            <a:solidFill>
              <a:srgbClr val="37861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0000" y="1299969"/>
            <a:ext cx="2088000" cy="720000"/>
          </a:xfrm>
          <a:prstGeom prst="roundRect">
            <a:avLst/>
          </a:prstGeom>
          <a:solidFill>
            <a:srgbClr val="2E74B5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수소연료전지
전극재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623999" y="1940562"/>
            <a:ext cx="250201" cy="966485"/>
          </a:xfrm>
          <a:prstGeom prst="line">
            <a:avLst/>
          </a:prstGeom>
          <a:ln w="1905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24000" y="3420000"/>
            <a:ext cx="2088000" cy="720000"/>
          </a:xfrm>
          <a:prstGeom prst="roundRect">
            <a:avLst/>
          </a:prstGeom>
          <a:solidFill>
            <a:srgbClr val="7B2F8E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전자·반도체
소재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7999" y="3780000"/>
            <a:ext cx="500401" cy="0"/>
          </a:xfrm>
          <a:prstGeom prst="line">
            <a:avLst/>
          </a:prstGeom>
          <a:ln w="19050">
            <a:solidFill>
              <a:srgbClr val="7B2F8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0000" y="5540030"/>
            <a:ext cx="2088000" cy="72000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기능성 세라믹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3999" y="4652952"/>
            <a:ext cx="250201" cy="966485"/>
          </a:xfrm>
          <a:prstGeom prst="line">
            <a:avLst/>
          </a:prstGeom>
          <a:ln w="19050"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52000" y="5540030"/>
            <a:ext cx="2088000" cy="72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에너지저장
소재 (ESS)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365800" y="4652952"/>
            <a:ext cx="250200" cy="966485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0000" y="6534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본 과제에서 개발되는 연속식 분말 ALD 공정 기술은 배터리 소재 외 다양한 산업 분야로 확장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7.  1차년도: 한국기계연구원 배치식 ALD 장비 2대 병렬 운용
TiO₂·Al₂O₃ 레시피 개발 및 대성기계 FBR 이전 프로세스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900000"/>
            <a:ext cx="2160000" cy="720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F497D"/>
                </a:solidFill>
                <a:latin typeface="맑은 고딕"/>
              </a:rPr>
              <a:t>에버인더스
(양극재 제공)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40000" y="1260000"/>
            <a:ext cx="540000" cy="0"/>
          </a:xfrm>
          <a:prstGeom prst="line">
            <a:avLst/>
          </a:prstGeom>
          <a:ln w="317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80000" y="792000"/>
            <a:ext cx="3600000" cy="162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80000" y="792000"/>
            <a:ext cx="3600000" cy="30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배치식 ALD 장비 #1  (TiO₂)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8000" y="1152000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전구체: TTIP / H₂O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온도: 150~300°C 탐색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GPC 측정 (Self-limiting 확인)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공정 윈도우 확정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2592000"/>
            <a:ext cx="3600000" cy="162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000" y="2592000"/>
            <a:ext cx="3600000" cy="306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배치식 ALD 장비 #2  (Al₂O₃)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8000" y="2951999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전구체: TMA / H₂O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온도: 100~250°C 탐색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GPC 측정 (Self-limiting 확인)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공정 윈도우 확정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80000" y="1602000"/>
            <a:ext cx="720000" cy="0"/>
          </a:xfrm>
          <a:prstGeom prst="line">
            <a:avLst/>
          </a:prstGeom>
          <a:ln w="254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80000" y="3401999"/>
            <a:ext cx="720000" cy="0"/>
          </a:xfrm>
          <a:prstGeom prst="line">
            <a:avLst/>
          </a:prstGeom>
          <a:ln w="2540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00000" y="1260000"/>
            <a:ext cx="2340000" cy="1800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맑은 고딕"/>
              </a:rPr>
              <a:t>레시피 패키지
(온도·GPC·pulse
/purge 시간·
공정 윈도우)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8000" y="3240000"/>
            <a:ext cx="2160000" cy="27000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NDA 체결 → 기계연→대성기계 이전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40000" y="2160000"/>
            <a:ext cx="72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60000" y="1620000"/>
            <a:ext cx="1800000" cy="1080000"/>
          </a:xfrm>
          <a:prstGeom prst="roundRect">
            <a:avLst/>
          </a:prstGeom>
          <a:solidFill>
            <a:srgbClr val="E2EFDA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1F497D"/>
                </a:solidFill>
                <a:latin typeface="맑은 고딕"/>
              </a:rPr>
              <a:t>대성기계
FBR 적용
검증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80000" y="4140000"/>
            <a:ext cx="720000" cy="540000"/>
          </a:xfrm>
          <a:prstGeom prst="line">
            <a:avLst/>
          </a:prstGeom>
          <a:ln w="25400">
            <a:solidFill>
              <a:srgbClr val="1F497D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00000" y="4680000"/>
            <a:ext cx="4500000" cy="126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0000" y="4680000"/>
            <a:ext cx="4500000" cy="288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코팅층 분석 (기계연)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8000" y="5022000"/>
            <a:ext cx="432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SEM-EDX | TEM | XRD | XPS | Raman | BET | PSD
→ 코팅 두께·균일도·조성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장비 #1(TiO₂)과 #2(Al₂O₃)를 동시 병렬 운용하여 1차년도 내 2종 레시피를 확립하고 대성기계 FBR로 이전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8.  에버인더스 제공 고-Ni 층상 나트륨이온전지 양극재 ALD 코팅 전
기초 특성 분석 (SEM, XRD, XPS, BET)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0000" y="900000"/>
            <a:ext cx="2448000" cy="396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SEM-EDX
(형상·입도)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1차 입자 형상 확인
• 입도 분포 (D50)
• 원소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40000" y="900000"/>
            <a:ext cx="2448000" cy="396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XRD
(결정 구조)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R-3m 공간군 확인
• 격자 상수 측정
• 불순물 상 검출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0000" y="900000"/>
            <a:ext cx="2448000" cy="39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XPS
(표면 화학)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Ni/Mn/Fe 산화수
• 표면 Na 농도
• 결합 에너지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0000" y="900000"/>
            <a:ext cx="2448000" cy="396000"/>
          </a:xfrm>
          <a:prstGeom prst="rect">
            <a:avLst/>
          </a:prstGeom>
          <a:solidFill>
            <a:srgbClr val="7B2F8E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BET / PSD
(비표면적)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비표면적 (m²/g)
• 기공 크기 분포
• 입도 분포 (D10/50/90)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4031999"/>
            <a:ext cx="11520000" cy="360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목적: ALD 코팅 전 초기 양극재 baseline 특성 확립 → 코팅 후 특성 변화 정량 비교를 위한 기준값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4500000"/>
            <a:ext cx="11520000" cy="126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000" y="4572000"/>
            <a:ext cx="11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예상 특성값 범위:
• 입도 (D50): 5~15 μm  |  비표면적: 0.5~2.0 m²/g
• 결정 구조: R-3m 공간군 (Layered 구조)  |  Ni 함량: 40~60 at%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9.  배치식 ALD 장비에서 측정한 TiO₂ 및 Al₂O₃ Self-limiting 반응 조건
(GPC vs. 전구체 Pulse 시간) — 포화 구간이 연속식 FBR 최소 체류시간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80000"/>
            <a:ext cx="468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756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7D31"/>
                </a:solidFill>
                <a:latin typeface="맑은 고딕"/>
              </a:rPr>
              <a:t>TiO₂ (TTIP/H₂O)
온도: ~200°C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716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497D"/>
                </a:solidFill>
                <a:latin typeface="맑은 고딕"/>
              </a:rPr>
              <a:t>전구체 Pulse 시간 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270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GPC
(Å/cycle)</a:t>
            </a:r>
          </a:p>
        </p:txBody>
      </p:sp>
      <p:sp>
        <p:nvSpPr>
          <p:cNvPr id="7" name="Oval 6"/>
          <p:cNvSpPr/>
          <p:nvPr/>
        </p:nvSpPr>
        <p:spPr>
          <a:xfrm>
            <a:off x="1196800" y="4156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16800" y="3556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1240000" y="3600000"/>
            <a:ext cx="520000" cy="600000"/>
          </a:xfrm>
          <a:prstGeom prst="line">
            <a:avLst/>
          </a:prstGeom>
          <a:ln w="190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36800" y="314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1760000" y="3192000"/>
            <a:ext cx="520000" cy="408000"/>
          </a:xfrm>
          <a:prstGeom prst="line">
            <a:avLst/>
          </a:prstGeom>
          <a:ln w="190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756800" y="2956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2280000" y="3000000"/>
            <a:ext cx="520000" cy="192000"/>
          </a:xfrm>
          <a:prstGeom prst="line">
            <a:avLst/>
          </a:prstGeom>
          <a:ln w="190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276800" y="290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2800000" y="2952000"/>
            <a:ext cx="520000" cy="48000"/>
          </a:xfrm>
          <a:prstGeom prst="line">
            <a:avLst/>
          </a:prstGeom>
          <a:ln w="190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796800" y="290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3320000" y="2952000"/>
            <a:ext cx="520000" cy="0"/>
          </a:xfrm>
          <a:prstGeom prst="line">
            <a:avLst/>
          </a:prstGeom>
          <a:ln w="190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36800" y="290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3840000" y="2952000"/>
            <a:ext cx="1040000" cy="0"/>
          </a:xfrm>
          <a:prstGeom prst="line">
            <a:avLst/>
          </a:prstGeom>
          <a:ln w="190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89200" y="1080000"/>
            <a:ext cx="21600" cy="36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6000" y="11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맑은 고딕"/>
              </a:rPr>
              <a:t>포화: ~2.0 s → GPC ≈ 0.7 Å/cycle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0000" y="1080000"/>
            <a:ext cx="2600000" cy="3600000"/>
          </a:xfrm>
          <a:prstGeom prst="rect">
            <a:avLst/>
          </a:prstGeom>
          <a:solidFill>
            <a:srgbClr val="FFEBE6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80000" y="1080000"/>
            <a:ext cx="468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0000" y="756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4B5"/>
                </a:solidFill>
                <a:latin typeface="맑은 고딕"/>
              </a:rPr>
              <a:t>Al₂O₃ (TMA/H₂O)
온도: ~150°C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716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497D"/>
                </a:solidFill>
                <a:latin typeface="맑은 고딕"/>
              </a:rPr>
              <a:t>전구체 Pulse 시간 (s)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4000" y="270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GPC
(Å/cycle)</a:t>
            </a:r>
          </a:p>
        </p:txBody>
      </p:sp>
      <p:sp>
        <p:nvSpPr>
          <p:cNvPr id="27" name="Oval 26"/>
          <p:cNvSpPr/>
          <p:nvPr/>
        </p:nvSpPr>
        <p:spPr>
          <a:xfrm>
            <a:off x="6644800" y="391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56800" y="295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V="1">
            <a:off x="6688000" y="3000000"/>
            <a:ext cx="312000" cy="960000"/>
          </a:xfrm>
          <a:prstGeom prst="line">
            <a:avLst/>
          </a:prstGeom>
          <a:ln w="1905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268800" y="235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V="1">
            <a:off x="7000000" y="2400000"/>
            <a:ext cx="312000" cy="600000"/>
          </a:xfrm>
          <a:prstGeom prst="line">
            <a:avLst/>
          </a:prstGeom>
          <a:ln w="1905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476800" y="211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V="1">
            <a:off x="7312000" y="2160000"/>
            <a:ext cx="208000" cy="240000"/>
          </a:xfrm>
          <a:prstGeom prst="line">
            <a:avLst/>
          </a:prstGeom>
          <a:ln w="1905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996800" y="2044799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 flipV="1">
            <a:off x="7520000" y="2087999"/>
            <a:ext cx="520000" cy="72001"/>
          </a:xfrm>
          <a:prstGeom prst="line">
            <a:avLst/>
          </a:prstGeom>
          <a:ln w="1905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516800" y="2044799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8040000" y="2087999"/>
            <a:ext cx="520000" cy="0"/>
          </a:xfrm>
          <a:prstGeom prst="line">
            <a:avLst/>
          </a:prstGeom>
          <a:ln w="1905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556800" y="2044799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8560000" y="2087999"/>
            <a:ext cx="1040000" cy="0"/>
          </a:xfrm>
          <a:prstGeom prst="line">
            <a:avLst/>
          </a:prstGeom>
          <a:ln w="19050">
            <a:solidFill>
              <a:srgbClr val="2E74B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509200" y="1080000"/>
            <a:ext cx="21600" cy="36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56000" y="11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맑은 고딕"/>
              </a:rPr>
              <a:t>포화: ~1.0 s → GPC ≈ 1.08 Å/cycle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0000" y="1080000"/>
            <a:ext cx="3640000" cy="3600000"/>
          </a:xfrm>
          <a:prstGeom prst="rect">
            <a:avLst/>
          </a:prstGeom>
          <a:solidFill>
            <a:srgbClr val="FFEBE6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0000" y="5040000"/>
            <a:ext cx="11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포화 Pulse 시간 → 대성기계 FBR의 최소 체류시간(RTD) 기준으로 이전 (batch pulse time → continuous RTD 변환)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Self-limiting 영역(붉은 음영): GPC가 pulse 시간과 무관하게 일정 → 재현성 보장 구간. 기계연이 이 구간을 확정하여 대성기계에 이전.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10.  TiO₂ ALD 코팅 후 양극재 TEM 단면 이미지 및 코팅층 두께 측정
(배치식 ALD GPC 예측값과 비교 검증)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827999"/>
            <a:ext cx="3600000" cy="3060000"/>
          </a:xfrm>
          <a:prstGeom prst="rect">
            <a:avLst/>
          </a:prstGeom>
          <a:solidFill>
            <a:srgbClr val="1A1A2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[TEM 이미지
삽입 예정]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827999"/>
            <a:ext cx="3600000" cy="288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코팅 전 (Bare)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3996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결정 격자 명확
표면 원자 노출
코팅층 없음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827999"/>
            <a:ext cx="3600000" cy="3060000"/>
          </a:xfrm>
          <a:prstGeom prst="rect">
            <a:avLst/>
          </a:prstGeom>
          <a:solidFill>
            <a:srgbClr val="1A1A2E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[TEM 이미지
삽입 예정]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827999"/>
            <a:ext cx="3600000" cy="21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코팅층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827999"/>
            <a:ext cx="3600000" cy="288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TiO₂ ALD 코팅 후
(30 cycle, ~2 nm)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8000" y="3996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균일 비결정질 코팅층
두께: 2.1 ± 0.2 nm
격자-코팅 계면 명확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0000" y="827999"/>
            <a:ext cx="3600000" cy="3060000"/>
          </a:xfrm>
          <a:prstGeom prst="rect">
            <a:avLst/>
          </a:prstGeom>
          <a:solidFill>
            <a:srgbClr val="1A1A2E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[TEM 이미지
삽입 예정]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0000" y="827999"/>
            <a:ext cx="3600000" cy="324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코팅층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827999"/>
            <a:ext cx="3600000" cy="288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TiO₂ ALD 코팅 후
(50 cycle, ~3.5 nm)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8000" y="3996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균일 비결정질 코팅층
두께: 3.4 ± 0.3 nm
GPC × 사이클 일치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5220000"/>
            <a:ext cx="11520000" cy="288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GPC 예측값 검증 (배치식 ALD #1, TiO₂, ~200°C)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사이클 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예측 두께 (GPC × cycle)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TEM 측정값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오차 (%)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30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≈ 2.1 nm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2.1 ± 0.2 nm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&lt;10%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50 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≈ 3.5 nm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3.4 ± 0.3 nm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&lt;5%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11.  배치식 ALD 코팅(TiO₂/Al₂O₃) 전후 Coin Cell 초기 충방전 곡선 비교
(Na 반전극, 0.1C, 2.0–4.2V)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007999"/>
            <a:ext cx="72000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5399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맑은 고딕"/>
              </a:rPr>
              <a:t>비용량 (mAh/g)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023999"/>
            <a:ext cx="50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497D"/>
                </a:solidFill>
                <a:latin typeface="맑은 고딕"/>
              </a:rPr>
              <a:t>전압
(V vs.
Na/Na⁺)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6000" y="5313599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5219999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2.0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6000" y="4331780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4238180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2.5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000" y="3349962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" y="3256362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3.0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000" y="2368144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0000" y="2274544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3.5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000" y="1386326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0000" y="1292726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4.0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6000" y="993599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00" y="899999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4.2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2382544"/>
            <a:ext cx="978000" cy="296345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40000" y="1793453"/>
            <a:ext cx="978000" cy="60709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00000" y="1400726"/>
            <a:ext cx="1938000" cy="41072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20000" y="1204362"/>
            <a:ext cx="978000" cy="2143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80000" y="1106180"/>
            <a:ext cx="49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60000" y="1007999"/>
            <a:ext cx="49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00000" y="1007999"/>
            <a:ext cx="25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80000" y="1106180"/>
            <a:ext cx="73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20000" y="1204362"/>
            <a:ext cx="978000" cy="41072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960000" y="1597089"/>
            <a:ext cx="978000" cy="41072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20000" y="1989817"/>
            <a:ext cx="1458000" cy="60709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80000" y="2578908"/>
            <a:ext cx="1458000" cy="23743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80000" y="2382544"/>
            <a:ext cx="1218000" cy="296345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0000" y="1793453"/>
            <a:ext cx="1218000" cy="60709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80000" y="1400726"/>
            <a:ext cx="1938000" cy="4107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400000" y="1204362"/>
            <a:ext cx="1218000" cy="2143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600000" y="1106180"/>
            <a:ext cx="49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080000" y="1007999"/>
            <a:ext cx="25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080000" y="1007999"/>
            <a:ext cx="25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60000" y="1106180"/>
            <a:ext cx="73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00000" y="1204362"/>
            <a:ext cx="978000" cy="312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440000" y="1498908"/>
            <a:ext cx="978000" cy="4107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00000" y="1891635"/>
            <a:ext cx="1458000" cy="50890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320000" y="2382544"/>
            <a:ext cx="1698000" cy="25707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80000" y="2382544"/>
            <a:ext cx="1074000" cy="296345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136000" y="1793453"/>
            <a:ext cx="1266000" cy="60709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4000" y="1400726"/>
            <a:ext cx="1938000" cy="41072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04000" y="1204362"/>
            <a:ext cx="1170000" cy="21436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56000" y="1106180"/>
            <a:ext cx="498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936000" y="1007999"/>
            <a:ext cx="306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36000" y="1007999"/>
            <a:ext cx="306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64000" y="1106180"/>
            <a:ext cx="690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304000" y="1204362"/>
            <a:ext cx="978000" cy="31254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44000" y="1498908"/>
            <a:ext cx="978000" cy="41072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904000" y="1891635"/>
            <a:ext cx="1458000" cy="50890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224000" y="2382544"/>
            <a:ext cx="1698000" cy="257072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800000" y="792000"/>
            <a:ext cx="432000" cy="144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304000" y="756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Bare (미코팅)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60000" y="792000"/>
            <a:ext cx="432000" cy="14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64000" y="756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7D31"/>
                </a:solidFill>
                <a:latin typeface="맑은 고딕"/>
              </a:rPr>
              <a:t>TiO₂ ALD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0000" y="792000"/>
            <a:ext cx="432000" cy="14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23999" y="756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4B5"/>
                </a:solidFill>
                <a:latin typeface="맑은 고딕"/>
              </a:rPr>
              <a:t>Al₂O₃ ALD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60000" y="1007999"/>
            <a:ext cx="3600000" cy="432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60000" y="1007999"/>
            <a:ext cx="360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1차년도 평가 목표값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8000" y="1440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초기 방전 용량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68000" y="1692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≥ 120 mAh/g 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68000" y="208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초기 쿨롱 효율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68000" y="2340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≥ 80%  (목표치)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68000" y="2736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계면저항 (EIS)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68000" y="298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≤ 70 Ω·cm²  코팅 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68000" y="3384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코팅 피복률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8000" y="3636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≥ 85%  TEM/XPS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68000" y="4031999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GPC 재현성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68000" y="4284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≤ 15%  배치 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12.  2차년도: 4종 ALD 레시피 완성 → 대성기계 OPERIO 10 이전·검증·피드백 루프 흐름도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792000"/>
            <a:ext cx="5040000" cy="5040000"/>
          </a:xfrm>
          <a:prstGeom prst="rect">
            <a:avLst/>
          </a:prstGeom>
          <a:solidFill>
            <a:srgbClr val="E6F0F8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" y="792000"/>
            <a:ext cx="50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한국기계연구원 (2차년도 추가)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1260000"/>
            <a:ext cx="2160000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7B2F8E"/>
                </a:solidFill>
                <a:latin typeface="맑은 고딕"/>
              </a:rPr>
              <a:t>ALD #1
V₂O₅ (VTIP/H₂O)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" y="2700000"/>
            <a:ext cx="2160000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70C0"/>
                </a:solidFill>
                <a:latin typeface="맑은 고딕"/>
              </a:rPr>
              <a:t>ALD #2
ZnO (DEZn/H₂O)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671999"/>
            <a:ext cx="48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1차 확립 완료:
  • TiO₂ (ALD #1) + Al₂O₃ (ALD #2)
2차 신규 개발:
  • V₂O₅ (ALD #1) + ZnO (ALD #2)
→ 4종 레시피 DB 완성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20000" y="3240000"/>
            <a:ext cx="900000" cy="0"/>
          </a:xfrm>
          <a:prstGeom prst="line">
            <a:avLst/>
          </a:prstGeom>
          <a:ln w="508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8000" y="2880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D7D31"/>
                </a:solidFill>
                <a:latin typeface="맑은 고딕"/>
              </a:rPr>
              <a:t>레시피
이전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0" y="2160000"/>
            <a:ext cx="3240000" cy="2160000"/>
          </a:xfrm>
          <a:prstGeom prst="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0000" y="2160000"/>
            <a:ext cx="324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대성기계 OPERIO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8000" y="2556000"/>
            <a:ext cx="30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4종 레시피 적용
• TiO₂ / Al₂O₃ (1차 이전)
• V₂O₅ / ZnO (2차 이전)
RTD 기반 공정 최적화
처리량 향상 (kg/h 단위)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60000" y="3240000"/>
            <a:ext cx="720000" cy="0"/>
          </a:xfrm>
          <a:prstGeom prst="line">
            <a:avLst/>
          </a:prstGeom>
          <a:ln w="25400">
            <a:solidFill>
              <a:srgbClr val="595959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88000" y="2951999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맑은 고딕"/>
              </a:rPr>
              <a:t>시료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80000" y="2160000"/>
            <a:ext cx="1980000" cy="216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80000" y="2160000"/>
            <a:ext cx="1980000" cy="306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기계연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2000" y="2520000"/>
            <a:ext cx="1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HRTEM/EELS
Raman/FTIR
XPS
SEM-EDX
→ 품질 확인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70000" y="4320000"/>
            <a:ext cx="0" cy="900000"/>
          </a:xfrm>
          <a:prstGeom prst="line">
            <a:avLst/>
          </a:prstGeom>
          <a:ln w="25400"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420000" y="5220000"/>
            <a:ext cx="7650000" cy="0"/>
          </a:xfrm>
          <a:prstGeom prst="line">
            <a:avLst/>
          </a:prstGeom>
          <a:ln w="25400"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420000" y="5040000"/>
            <a:ext cx="0" cy="180000"/>
          </a:xfrm>
          <a:prstGeom prst="line">
            <a:avLst/>
          </a:prstGeom>
          <a:ln w="25400"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40000" y="4968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맑은 고딕"/>
              </a:rPr>
              <a:t>← 피드백: 레시피 수정·재이전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0000" y="4680000"/>
            <a:ext cx="3600000" cy="900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50" b="0">
                <a:solidFill>
                  <a:srgbClr val="1F497D"/>
                </a:solidFill>
                <a:latin typeface="맑은 고딕"/>
              </a:rPr>
              <a:t>전기화학 평가
Coin Cell 100 cycle @ 0.5C
→ 용량 유지율 ≥ 85%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13.  HRTEM을 통한 배치식 ALD vs. 연속식 ALD(OPERIO 10) 코팅층 품질 비교
— 레시피 이전 적합성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50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배치식 ALD
(기계연, 레시피 원본)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152000"/>
            <a:ext cx="504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[HRTEM 이미지
삽입 예정]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5040000" cy="18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ALD 코팅층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410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균일 비결정질 TiO₂ 코팅층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437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두께: 2.0 ± 0.15 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64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계면 선명, 핀홀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1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GPC × 사이클 정확 일치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792000"/>
            <a:ext cx="504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연속식 ALD
(대성기계 OPERIO 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152000"/>
            <a:ext cx="504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[HRTEM 이미지
삽입 예정]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152000"/>
            <a:ext cx="5040000" cy="18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ALD 코팅층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410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레시피 이전 후 코팅층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437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두께: 2.1 ± 0.25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464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계면 선명도 배치와 유사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491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피복률 ≥ 90% 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5220000"/>
            <a:ext cx="11160000" cy="720000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000" y="5292000"/>
            <a:ext cx="10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검증 기준: 배치식 ALD 두께 대비 연속식 ALD 두께 편차 ≤ 10%  →  레시피 이전 성공 판정
→ 편차 &gt; 10%일 경우 기계연-대성기계 피드백 루프로 레시피 재조정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14.  4종 ALD 코팅 전후 고-Ni 층상 양극재 Raman 스펙트럼 비교
(양극재 구조 보존 및 코팅층 상(Phase) 확인)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07999"/>
            <a:ext cx="75600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5399999"/>
            <a:ext cx="75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맑은 고딕"/>
              </a:rPr>
              <a:t>Raman Shift (cm⁻¹)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3059999"/>
            <a:ext cx="503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97D"/>
                </a:solidFill>
                <a:latin typeface="맑은 고딕"/>
              </a:rPr>
              <a:t>강도 (a.u.)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7000" y="5152604"/>
            <a:ext cx="21600" cy="17539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85900" y="5071522"/>
            <a:ext cx="21600" cy="25647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04800" y="4967662"/>
            <a:ext cx="21600" cy="36033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3700" y="4841595"/>
            <a:ext cx="21600" cy="48640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42600" y="4697168"/>
            <a:ext cx="21600" cy="63083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61500" y="4541935"/>
            <a:ext cx="21600" cy="7860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180400" y="4386909"/>
            <a:ext cx="21600" cy="94108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99300" y="4245488"/>
            <a:ext cx="21600" cy="108251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8200" y="4131640"/>
            <a:ext cx="21600" cy="119635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37100" y="4057661"/>
            <a:ext cx="21600" cy="127033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56000" y="4031999"/>
            <a:ext cx="21600" cy="1296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74900" y="4057661"/>
            <a:ext cx="21600" cy="127033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93800" y="4131640"/>
            <a:ext cx="21600" cy="119635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12700" y="4245488"/>
            <a:ext cx="21600" cy="108251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1600" y="4386909"/>
            <a:ext cx="21600" cy="94108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50500" y="4541935"/>
            <a:ext cx="21600" cy="7860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69400" y="4697168"/>
            <a:ext cx="21600" cy="63083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88300" y="4841595"/>
            <a:ext cx="21600" cy="48640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07200" y="4967662"/>
            <a:ext cx="21600" cy="36033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26100" y="5071522"/>
            <a:ext cx="21600" cy="25647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45000" y="5152604"/>
            <a:ext cx="21600" cy="17539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68000" y="3780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맑은 고딕"/>
              </a:rPr>
              <a:t>A₁g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6500" y="5035674"/>
            <a:ext cx="21600" cy="2923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5400" y="4900537"/>
            <a:ext cx="21600" cy="42746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44300" y="4727438"/>
            <a:ext cx="21600" cy="6005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63200" y="4517327"/>
            <a:ext cx="21600" cy="81067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82100" y="4276614"/>
            <a:ext cx="21600" cy="10513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01000" y="4017892"/>
            <a:ext cx="21600" cy="131010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9900" y="3759517"/>
            <a:ext cx="21600" cy="15684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38800" y="3523815"/>
            <a:ext cx="21600" cy="180418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57700" y="3334067"/>
            <a:ext cx="21600" cy="199393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76600" y="3210769"/>
            <a:ext cx="21600" cy="21172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95500" y="3167999"/>
            <a:ext cx="21600" cy="2160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14400" y="3210769"/>
            <a:ext cx="21600" cy="21172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33300" y="3334067"/>
            <a:ext cx="21600" cy="199393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2200" y="3523815"/>
            <a:ext cx="21600" cy="180418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71100" y="3759517"/>
            <a:ext cx="21600" cy="15684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90000" y="4017892"/>
            <a:ext cx="21600" cy="131010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8900" y="4276614"/>
            <a:ext cx="21600" cy="10513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27800" y="4517327"/>
            <a:ext cx="21600" cy="81067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46700" y="4727438"/>
            <a:ext cx="21600" cy="6005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65600" y="4900537"/>
            <a:ext cx="21600" cy="42746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84500" y="5035674"/>
            <a:ext cx="21600" cy="2923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07500" y="2916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맑은 고딕"/>
              </a:rPr>
              <a:t>Eg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57000" y="5211069"/>
            <a:ext cx="21600" cy="1169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975900" y="5157014"/>
            <a:ext cx="21600" cy="1709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94800" y="5087774"/>
            <a:ext cx="21600" cy="2402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013700" y="5003730"/>
            <a:ext cx="21600" cy="3242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032600" y="4907445"/>
            <a:ext cx="21600" cy="42055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051500" y="4803956"/>
            <a:ext cx="21600" cy="52404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070400" y="4700606"/>
            <a:ext cx="21600" cy="62739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089300" y="4606325"/>
            <a:ext cx="21600" cy="72167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108200" y="4530426"/>
            <a:ext cx="21600" cy="79757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127100" y="4481107"/>
            <a:ext cx="21600" cy="84689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46000" y="4463999"/>
            <a:ext cx="21600" cy="864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164900" y="4481107"/>
            <a:ext cx="21600" cy="84689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183800" y="4530426"/>
            <a:ext cx="21600" cy="79757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202700" y="4606325"/>
            <a:ext cx="21600" cy="72167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221600" y="4700606"/>
            <a:ext cx="21600" cy="62739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240500" y="4803956"/>
            <a:ext cx="21600" cy="52404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259400" y="4907445"/>
            <a:ext cx="21600" cy="42055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278300" y="5003730"/>
            <a:ext cx="21600" cy="3242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297200" y="5087774"/>
            <a:ext cx="21600" cy="2402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316100" y="5157014"/>
            <a:ext cx="21600" cy="1709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335000" y="5211069"/>
            <a:ext cx="21600" cy="1169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067000" y="5152604"/>
            <a:ext cx="21600" cy="1753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085900" y="5071522"/>
            <a:ext cx="21600" cy="2564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104800" y="4967662"/>
            <a:ext cx="21600" cy="3603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123700" y="4841595"/>
            <a:ext cx="21600" cy="48640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142600" y="4697168"/>
            <a:ext cx="21600" cy="63083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161500" y="4541935"/>
            <a:ext cx="21600" cy="7860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180400" y="4386909"/>
            <a:ext cx="21600" cy="941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199300" y="4245488"/>
            <a:ext cx="21600" cy="108251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218200" y="4131640"/>
            <a:ext cx="21600" cy="119635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37100" y="4057661"/>
            <a:ext cx="21600" cy="127033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256000" y="4031999"/>
            <a:ext cx="21600" cy="129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274900" y="4057661"/>
            <a:ext cx="21600" cy="127033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293800" y="4131640"/>
            <a:ext cx="21600" cy="119635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12700" y="4245488"/>
            <a:ext cx="21600" cy="108251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331600" y="4386909"/>
            <a:ext cx="21600" cy="941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350500" y="4541935"/>
            <a:ext cx="21600" cy="7860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369400" y="4697168"/>
            <a:ext cx="21600" cy="63083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388300" y="4841595"/>
            <a:ext cx="21600" cy="48640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407200" y="4967662"/>
            <a:ext cx="21600" cy="3603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426100" y="5071522"/>
            <a:ext cx="21600" cy="2564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445000" y="5152604"/>
            <a:ext cx="21600" cy="1753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106500" y="5035674"/>
            <a:ext cx="21600" cy="2923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6125400" y="4900537"/>
            <a:ext cx="21600" cy="4274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44300" y="4727438"/>
            <a:ext cx="21600" cy="600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63200" y="4517327"/>
            <a:ext cx="21600" cy="8106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182100" y="4276614"/>
            <a:ext cx="21600" cy="10513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201000" y="4017892"/>
            <a:ext cx="21600" cy="131010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219900" y="3759517"/>
            <a:ext cx="21600" cy="15684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238800" y="3523815"/>
            <a:ext cx="21600" cy="180418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257700" y="3334067"/>
            <a:ext cx="21600" cy="19939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6276600" y="3210769"/>
            <a:ext cx="21600" cy="21172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6295500" y="3167999"/>
            <a:ext cx="21600" cy="21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314400" y="3210769"/>
            <a:ext cx="21600" cy="21172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333300" y="3334067"/>
            <a:ext cx="21600" cy="19939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352200" y="3523815"/>
            <a:ext cx="21600" cy="180418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371100" y="3759517"/>
            <a:ext cx="21600" cy="15684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390000" y="4017892"/>
            <a:ext cx="21600" cy="131010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408900" y="4276614"/>
            <a:ext cx="21600" cy="10513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427800" y="4517327"/>
            <a:ext cx="21600" cy="8106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6446700" y="4727438"/>
            <a:ext cx="21600" cy="600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465600" y="4900537"/>
            <a:ext cx="21600" cy="4274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6484500" y="5035674"/>
            <a:ext cx="21600" cy="2923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6957000" y="5211069"/>
            <a:ext cx="21600" cy="1169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6975900" y="5157014"/>
            <a:ext cx="21600" cy="1709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6994800" y="5087774"/>
            <a:ext cx="21600" cy="2402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7013700" y="5003730"/>
            <a:ext cx="21600" cy="3242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7032600" y="4907445"/>
            <a:ext cx="21600" cy="4205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051500" y="4803956"/>
            <a:ext cx="21600" cy="5240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7070400" y="4700606"/>
            <a:ext cx="21600" cy="6273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089300" y="4606325"/>
            <a:ext cx="21600" cy="7216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108200" y="4530426"/>
            <a:ext cx="21600" cy="7975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7127100" y="4481107"/>
            <a:ext cx="21600" cy="84689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146000" y="4463999"/>
            <a:ext cx="21600" cy="86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164900" y="4481107"/>
            <a:ext cx="21600" cy="84689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183800" y="4530426"/>
            <a:ext cx="21600" cy="7975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7202700" y="4606325"/>
            <a:ext cx="21600" cy="7216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7221600" y="4700606"/>
            <a:ext cx="21600" cy="6273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240500" y="4803956"/>
            <a:ext cx="21600" cy="5240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259400" y="4907445"/>
            <a:ext cx="21600" cy="4205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278300" y="5003730"/>
            <a:ext cx="21600" cy="3242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297200" y="5087774"/>
            <a:ext cx="21600" cy="2402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316100" y="5157014"/>
            <a:ext cx="21600" cy="1709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335000" y="5211069"/>
            <a:ext cx="21600" cy="1169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901250" y="5164297"/>
            <a:ext cx="21600" cy="1637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920150" y="5088620"/>
            <a:ext cx="21600" cy="23937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939050" y="4991685"/>
            <a:ext cx="21600" cy="33631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957950" y="4874022"/>
            <a:ext cx="21600" cy="4539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976850" y="4739223"/>
            <a:ext cx="21600" cy="5887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995750" y="4594339"/>
            <a:ext cx="21600" cy="7336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2014650" y="4449649"/>
            <a:ext cx="21600" cy="87834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2033550" y="4317656"/>
            <a:ext cx="21600" cy="10103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2052450" y="4211397"/>
            <a:ext cx="21600" cy="11166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2071350" y="4142350"/>
            <a:ext cx="21600" cy="11856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2090250" y="4118399"/>
            <a:ext cx="21600" cy="1209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2109150" y="4142350"/>
            <a:ext cx="21600" cy="11856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2128050" y="4211397"/>
            <a:ext cx="21600" cy="11166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2146950" y="4317656"/>
            <a:ext cx="21600" cy="10103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2165850" y="4449649"/>
            <a:ext cx="21600" cy="87834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2184750" y="4594339"/>
            <a:ext cx="21600" cy="7336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2203650" y="4739223"/>
            <a:ext cx="21600" cy="5887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2222550" y="4874022"/>
            <a:ext cx="21600" cy="4539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2241450" y="4991685"/>
            <a:ext cx="21600" cy="33631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2260350" y="5088620"/>
            <a:ext cx="21600" cy="23937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279250" y="5164297"/>
            <a:ext cx="21600" cy="1637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802250" y="38664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D7D31"/>
                </a:solidFill>
                <a:latin typeface="맑은 고딕"/>
              </a:rPr>
              <a:t>Eg(TiO₂)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63750" y="5257841"/>
            <a:ext cx="21600" cy="701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4282650" y="5225408"/>
            <a:ext cx="21600" cy="10259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4301550" y="5183864"/>
            <a:ext cx="21600" cy="144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4320450" y="5133437"/>
            <a:ext cx="21600" cy="1945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4339350" y="5075666"/>
            <a:ext cx="21600" cy="2523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4358250" y="5013573"/>
            <a:ext cx="21600" cy="31442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4377150" y="4951563"/>
            <a:ext cx="21600" cy="37643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4396050" y="4894994"/>
            <a:ext cx="21600" cy="43300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4414950" y="4849455"/>
            <a:ext cx="21600" cy="47854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4433850" y="4819864"/>
            <a:ext cx="21600" cy="508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4452750" y="4809599"/>
            <a:ext cx="21600" cy="518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4471650" y="4819864"/>
            <a:ext cx="21600" cy="508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4490550" y="4849455"/>
            <a:ext cx="21600" cy="47854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4509450" y="4894994"/>
            <a:ext cx="21600" cy="43300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4528350" y="4951563"/>
            <a:ext cx="21600" cy="37643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4547250" y="5013573"/>
            <a:ext cx="21600" cy="31442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4566150" y="5075666"/>
            <a:ext cx="21600" cy="2523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4585050" y="5133437"/>
            <a:ext cx="21600" cy="1945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4603950" y="5183864"/>
            <a:ext cx="21600" cy="144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4622850" y="5225408"/>
            <a:ext cx="21600" cy="10259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4641750" y="5257841"/>
            <a:ext cx="21600" cy="701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4164750" y="45576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D7D31"/>
                </a:solidFill>
                <a:latin typeface="맑은 고딕"/>
              </a:rPr>
              <a:t>B1g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397750" y="5281227"/>
            <a:ext cx="21600" cy="467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5416650" y="5259605"/>
            <a:ext cx="21600" cy="6839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5435550" y="5231909"/>
            <a:ext cx="21600" cy="96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5454450" y="5198291"/>
            <a:ext cx="21600" cy="12970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5473350" y="5159777"/>
            <a:ext cx="21600" cy="16822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5492250" y="5118382"/>
            <a:ext cx="21600" cy="2096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5511150" y="5077041"/>
            <a:ext cx="21600" cy="2509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5530050" y="5039329"/>
            <a:ext cx="21600" cy="28866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5548950" y="5008969"/>
            <a:ext cx="21600" cy="3190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5567850" y="4989242"/>
            <a:ext cx="21600" cy="3387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5586750" y="4982399"/>
            <a:ext cx="21600" cy="345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5605650" y="4989242"/>
            <a:ext cx="21600" cy="3387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5624550" y="5008969"/>
            <a:ext cx="21600" cy="3190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5643450" y="5039329"/>
            <a:ext cx="21600" cy="28866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662350" y="5077041"/>
            <a:ext cx="21600" cy="2509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5681250" y="5118382"/>
            <a:ext cx="21600" cy="2096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5700150" y="5159777"/>
            <a:ext cx="21600" cy="16822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5719050" y="5198291"/>
            <a:ext cx="21600" cy="12970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5737950" y="5231909"/>
            <a:ext cx="21600" cy="96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5756850" y="5259605"/>
            <a:ext cx="21600" cy="6839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5775750" y="5281227"/>
            <a:ext cx="21600" cy="467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5298750" y="47304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D7D31"/>
                </a:solidFill>
                <a:latin typeface="맑은 고딕"/>
              </a:rPr>
              <a:t>A1g+B1g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067000" y="5152604"/>
            <a:ext cx="21600" cy="17539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5085900" y="5071522"/>
            <a:ext cx="21600" cy="2564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104800" y="4967662"/>
            <a:ext cx="21600" cy="36033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5123700" y="4841595"/>
            <a:ext cx="21600" cy="48640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5142600" y="4697168"/>
            <a:ext cx="21600" cy="63083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161500" y="4541935"/>
            <a:ext cx="21600" cy="78606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5180400" y="4386909"/>
            <a:ext cx="21600" cy="94108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5199300" y="4245488"/>
            <a:ext cx="21600" cy="108251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5218200" y="4131640"/>
            <a:ext cx="21600" cy="119635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5237100" y="4057661"/>
            <a:ext cx="21600" cy="127033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5256000" y="4031999"/>
            <a:ext cx="21600" cy="1296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5274900" y="4057661"/>
            <a:ext cx="21600" cy="127033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5293800" y="4131640"/>
            <a:ext cx="21600" cy="119635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5312700" y="4245488"/>
            <a:ext cx="21600" cy="108251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5331600" y="4386909"/>
            <a:ext cx="21600" cy="94108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5350500" y="4541935"/>
            <a:ext cx="21600" cy="78606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5369400" y="4697168"/>
            <a:ext cx="21600" cy="63083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5388300" y="4841595"/>
            <a:ext cx="21600" cy="48640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5407200" y="4967662"/>
            <a:ext cx="21600" cy="36033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5426100" y="5071522"/>
            <a:ext cx="21600" cy="2564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5445000" y="5152604"/>
            <a:ext cx="21600" cy="17539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6106500" y="5035674"/>
            <a:ext cx="21600" cy="2923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6125400" y="4900537"/>
            <a:ext cx="21600" cy="42746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6144300" y="4727438"/>
            <a:ext cx="21600" cy="6005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6163200" y="4517327"/>
            <a:ext cx="21600" cy="81067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6182100" y="4276614"/>
            <a:ext cx="21600" cy="10513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6201000" y="4017892"/>
            <a:ext cx="21600" cy="131010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6219900" y="3759517"/>
            <a:ext cx="21600" cy="15684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6238800" y="3523815"/>
            <a:ext cx="21600" cy="180418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6257700" y="3334067"/>
            <a:ext cx="21600" cy="199393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6276600" y="3210769"/>
            <a:ext cx="21600" cy="21172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295500" y="3167999"/>
            <a:ext cx="21600" cy="216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314400" y="3210769"/>
            <a:ext cx="21600" cy="21172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6333300" y="3334067"/>
            <a:ext cx="21600" cy="199393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6352200" y="3523815"/>
            <a:ext cx="21600" cy="180418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6371100" y="3759517"/>
            <a:ext cx="21600" cy="15684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6390000" y="4017892"/>
            <a:ext cx="21600" cy="131010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6408900" y="4276614"/>
            <a:ext cx="21600" cy="10513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6427800" y="4517327"/>
            <a:ext cx="21600" cy="81067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6446700" y="4727438"/>
            <a:ext cx="21600" cy="6005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6465600" y="4900537"/>
            <a:ext cx="21600" cy="42746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6484500" y="5035674"/>
            <a:ext cx="21600" cy="2923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6957000" y="5211069"/>
            <a:ext cx="21600" cy="1169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6975900" y="5157014"/>
            <a:ext cx="21600" cy="1709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6994800" y="5087774"/>
            <a:ext cx="21600" cy="2402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7013700" y="5003730"/>
            <a:ext cx="21600" cy="3242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7032600" y="4907445"/>
            <a:ext cx="21600" cy="42055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7051500" y="4803956"/>
            <a:ext cx="21600" cy="52404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7070400" y="4700606"/>
            <a:ext cx="21600" cy="6273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7089300" y="4606325"/>
            <a:ext cx="21600" cy="72167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7108200" y="4530426"/>
            <a:ext cx="21600" cy="7975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7127100" y="4481107"/>
            <a:ext cx="21600" cy="84689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7146000" y="4463999"/>
            <a:ext cx="21600" cy="86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7164900" y="4481107"/>
            <a:ext cx="21600" cy="84689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7183800" y="4530426"/>
            <a:ext cx="21600" cy="7975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7202700" y="4606325"/>
            <a:ext cx="21600" cy="72167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7221600" y="4700606"/>
            <a:ext cx="21600" cy="6273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7240500" y="4803956"/>
            <a:ext cx="21600" cy="52404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7259400" y="4907445"/>
            <a:ext cx="21600" cy="42055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7278300" y="5003730"/>
            <a:ext cx="21600" cy="3242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7297200" y="5087774"/>
            <a:ext cx="21600" cy="2402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7316100" y="5157014"/>
            <a:ext cx="21600" cy="1709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7335000" y="5211069"/>
            <a:ext cx="21600" cy="1169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1440000" y="1115999"/>
            <a:ext cx="360000" cy="12599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1872000" y="1079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Bare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780000" y="1115999"/>
            <a:ext cx="360000" cy="12599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4212000" y="1079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7D31"/>
                </a:solidFill>
                <a:latin typeface="맑은 고딕"/>
              </a:rPr>
              <a:t>TiO₂ ALD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120000" y="1115999"/>
            <a:ext cx="360000" cy="12599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6552000" y="1079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4B5"/>
                </a:solidFill>
                <a:latin typeface="맑은 고딕"/>
              </a:rPr>
              <a:t>Al₂O₃ ALD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460000" y="1007999"/>
            <a:ext cx="3600000" cy="432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8460000" y="1007999"/>
            <a:ext cx="360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Raman 분석 해석 포인트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8568000" y="1404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◉ A₁g (~590 cm⁻¹):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568000" y="16848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TM-O 스트레칭 모드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8568000" y="19656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→ 코팅 후 이동/억압 없으면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568000" y="22464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  양극재 구조 보존 확인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568000" y="25272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568000" y="280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◉ Eg (~480 cm⁻¹):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568000" y="30888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O-TM-O 굽힘 모드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568000" y="33696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8568000" y="36504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◉ TiO₂ 코팅층 확인: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568000" y="39312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145 cm⁻¹ Eg 피크 출현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568000" y="4212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→ ALD TiO₂ 비결정질 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15.  4종 ALD 산화물 코팅 양극재 Coin Cell 100 사이클 용량 유지율 비교
(배치식 ALD, Na 반전극, 0.5C)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07999"/>
            <a:ext cx="86400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5399999"/>
            <a:ext cx="86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맑은 고딕"/>
              </a:rPr>
              <a:t>사이클 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59999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97D"/>
                </a:solidFill>
                <a:latin typeface="맑은 고딕"/>
              </a:rPr>
              <a:t>용량 유지율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014479"/>
            <a:ext cx="446400" cy="18929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52000" y="1189374"/>
            <a:ext cx="446400" cy="17590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84000" y="1350882"/>
            <a:ext cx="446400" cy="15177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16000" y="1488259"/>
            <a:ext cx="446400" cy="11623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48000" y="1590089"/>
            <a:ext cx="446400" cy="11405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80000" y="1689749"/>
            <a:ext cx="446400" cy="9942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12000" y="1774772"/>
            <a:ext cx="446400" cy="8703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44000" y="1847405"/>
            <a:ext cx="446400" cy="6142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76000" y="1894431"/>
            <a:ext cx="446400" cy="676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08000" y="1947700"/>
            <a:ext cx="446400" cy="6015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40000" y="1993455"/>
            <a:ext cx="446400" cy="3867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72000" y="2017728"/>
            <a:ext cx="446400" cy="4840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04000" y="2051737"/>
            <a:ext cx="446400" cy="4385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36000" y="2081188"/>
            <a:ext cx="446400" cy="3999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68000" y="2106781"/>
            <a:ext cx="446400" cy="2160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00000" y="2113988"/>
            <a:ext cx="446400" cy="3396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2000" y="2133551"/>
            <a:ext cx="446400" cy="3162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4000" y="2150774"/>
            <a:ext cx="446400" cy="1452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96000" y="2150896"/>
            <a:ext cx="446400" cy="2796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28000" y="2164461"/>
            <a:ext cx="446400" cy="2654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96000" y="2068607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Bare (미코팅): 73%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1014479"/>
            <a:ext cx="446400" cy="10307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52000" y="1103158"/>
            <a:ext cx="446400" cy="1029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84000" y="1191686"/>
            <a:ext cx="4464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016000" y="1267287"/>
            <a:ext cx="446400" cy="6393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448000" y="1316824"/>
            <a:ext cx="446400" cy="697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880000" y="1372219"/>
            <a:ext cx="446400" cy="619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12000" y="1419773"/>
            <a:ext cx="446400" cy="553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744000" y="1460689"/>
            <a:ext cx="446400" cy="3457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76000" y="1480868"/>
            <a:ext cx="446400" cy="449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08000" y="1511410"/>
            <a:ext cx="446400" cy="409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40000" y="1537927"/>
            <a:ext cx="446400" cy="223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72000" y="1545916"/>
            <a:ext cx="446400" cy="346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04000" y="1566141"/>
            <a:ext cx="446400" cy="3218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36000" y="1583924"/>
            <a:ext cx="446400" cy="3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768000" y="1598487"/>
            <a:ext cx="446400" cy="155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200000" y="1598487"/>
            <a:ext cx="446400" cy="2688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32000" y="1610973"/>
            <a:ext cx="446400" cy="256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64000" y="1617256"/>
            <a:ext cx="446400" cy="193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496000" y="1617256"/>
            <a:ext cx="446400" cy="236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28000" y="1626529"/>
            <a:ext cx="446400" cy="229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96000" y="1527042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7D31"/>
                </a:solidFill>
                <a:latin typeface="맑은 고딕"/>
              </a:rPr>
              <a:t>TiO₂ ALD: 85%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1014479"/>
            <a:ext cx="446400" cy="8981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52000" y="1089894"/>
            <a:ext cx="446400" cy="91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584000" y="1167195"/>
            <a:ext cx="446400" cy="8049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016000" y="1233291"/>
            <a:ext cx="446400" cy="558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448000" y="1274783"/>
            <a:ext cx="446400" cy="629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880000" y="1323368"/>
            <a:ext cx="446400" cy="5618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312000" y="1365157"/>
            <a:ext cx="446400" cy="5043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744000" y="1401194"/>
            <a:ext cx="446400" cy="3044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176000" y="1417242"/>
            <a:ext cx="446400" cy="4144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608000" y="1444289"/>
            <a:ext cx="446400" cy="3795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040000" y="1467846"/>
            <a:ext cx="446400" cy="198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72000" y="1473330"/>
            <a:ext cx="446400" cy="325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904000" y="1491434"/>
            <a:ext cx="446400" cy="3038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36000" y="1507422"/>
            <a:ext cx="446400" cy="2859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768000" y="1519180"/>
            <a:ext cx="446400" cy="1683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200000" y="1519180"/>
            <a:ext cx="446400" cy="2579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632000" y="1530577"/>
            <a:ext cx="446400" cy="2471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064000" y="1535158"/>
            <a:ext cx="446400" cy="201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496000" y="1535158"/>
            <a:ext cx="446400" cy="2301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928000" y="1543771"/>
            <a:ext cx="446400" cy="2235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96000" y="1443724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4B5"/>
                </a:solidFill>
                <a:latin typeface="맑은 고딕"/>
              </a:rPr>
              <a:t>Al₂O₃ ALD: 87%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0000" y="1014479"/>
            <a:ext cx="446400" cy="116343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52000" y="1116422"/>
            <a:ext cx="446400" cy="114155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584000" y="1216178"/>
            <a:ext cx="446400" cy="9950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016000" y="1301282"/>
            <a:ext cx="446400" cy="71982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448000" y="1358865"/>
            <a:ext cx="446400" cy="7660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880000" y="1421070"/>
            <a:ext cx="446400" cy="6771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312000" y="1474388"/>
            <a:ext cx="446400" cy="60196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744000" y="1520184"/>
            <a:ext cx="446400" cy="3870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176000" y="1544493"/>
            <a:ext cx="446400" cy="4843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608000" y="1578532"/>
            <a:ext cx="446400" cy="43876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040000" y="1608008"/>
            <a:ext cx="446400" cy="2489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472000" y="1618503"/>
            <a:ext cx="446400" cy="36745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904000" y="1640848"/>
            <a:ext cx="446400" cy="3397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336000" y="1660426"/>
            <a:ext cx="446400" cy="31635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768000" y="1677662"/>
            <a:ext cx="446400" cy="14532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200000" y="1677795"/>
            <a:ext cx="446400" cy="2797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7632000" y="1691370"/>
            <a:ext cx="446400" cy="26553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064000" y="1699355"/>
            <a:ext cx="446400" cy="1856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496000" y="1699355"/>
            <a:ext cx="446400" cy="24333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928000" y="1709288"/>
            <a:ext cx="446400" cy="23471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396000" y="161036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2F8E"/>
                </a:solidFill>
                <a:latin typeface="맑은 고딕"/>
              </a:rPr>
              <a:t>V₂O₅ ALD: 84%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0000" y="1014479"/>
            <a:ext cx="446400" cy="10971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152000" y="1109790"/>
            <a:ext cx="446400" cy="10854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584000" y="1203932"/>
            <a:ext cx="446400" cy="94752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016000" y="1284285"/>
            <a:ext cx="446400" cy="6796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448000" y="1337845"/>
            <a:ext cx="446400" cy="73199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880000" y="1396644"/>
            <a:ext cx="446400" cy="6483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312000" y="1447080"/>
            <a:ext cx="446400" cy="5775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744000" y="1490437"/>
            <a:ext cx="446400" cy="36643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176000" y="1512680"/>
            <a:ext cx="446400" cy="4669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608000" y="1544971"/>
            <a:ext cx="446400" cy="4239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5040000" y="1572968"/>
            <a:ext cx="446400" cy="2364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472000" y="1582210"/>
            <a:ext cx="446400" cy="35685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904000" y="1603495"/>
            <a:ext cx="446400" cy="3308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336000" y="1622175"/>
            <a:ext cx="446400" cy="3087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768000" y="1638141"/>
            <a:ext cx="446400" cy="1491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7200000" y="1638141"/>
            <a:ext cx="446400" cy="2743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632000" y="1651172"/>
            <a:ext cx="446400" cy="26093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064000" y="1658306"/>
            <a:ext cx="446400" cy="18958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496000" y="1658306"/>
            <a:ext cx="446400" cy="24002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8928000" y="1667909"/>
            <a:ext cx="446400" cy="2319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396000" y="1568701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8610"/>
                </a:solidFill>
                <a:latin typeface="맑은 고딕"/>
              </a:rPr>
              <a:t>ZnO ALD: 85%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0000" y="1645199"/>
            <a:ext cx="8640000" cy="2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8000" y="14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맑은 고딕"/>
              </a:rPr>
              <a:t>목표: 85% 이상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0000" y="2195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70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0000" y="1979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75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0000" y="1763998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80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000" y="1547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85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0000" y="1331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90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0000" y="1115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95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0000" y="899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100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0000" y="5868000"/>
            <a:ext cx="11520000" cy="306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2차년도 목표: 배치식 ALD 코팅 시료 100 cycle 용량 유지율 ≥ 85%  (Na 반전극, 0.5C, 2.0–4.2V)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16.  3차년도: 최종 레시피 양산(10 kg/h) 이전·검증 체계 및 1Ah 파우치셀 연계 흐름도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900000"/>
            <a:ext cx="3240000" cy="198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000" y="900000"/>
            <a:ext cx="32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기계연 최종 레시피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260000"/>
            <a:ext cx="30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4종 ALD 레시피 DB 완성
• TiO₂  • Al₂O₃  • V₂O₅  • ZnO
GPC × 사이클 → 두께 예측 공식
공정 윈도우 데이터베이스
레시피 패키지 최종본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20000" y="1890000"/>
            <a:ext cx="720000" cy="0"/>
          </a:xfrm>
          <a:prstGeom prst="line">
            <a:avLst/>
          </a:prstGeom>
          <a:ln w="444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48000" y="1620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D7D31"/>
                </a:solidFill>
                <a:latin typeface="맑은 고딕"/>
              </a:rPr>
              <a:t>최종 이전
(10 kg/h)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40000" y="900000"/>
            <a:ext cx="3600000" cy="1980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40000" y="900000"/>
            <a:ext cx="360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대성기계 10 kg/h 연속 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2000" y="1260000"/>
            <a:ext cx="34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24시간 연속 운전 안정화
두께 편차 ≤ 5% 달성
GPC 재현성 ≤ 5%
SOP (표준 운전 절차) 완성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40000" y="1890000"/>
            <a:ext cx="540000" cy="0"/>
          </a:xfrm>
          <a:prstGeom prst="line">
            <a:avLst/>
          </a:prstGeom>
          <a:ln w="25400">
            <a:solidFill>
              <a:srgbClr val="595959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80000" y="900000"/>
            <a:ext cx="3780000" cy="198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0000" y="900000"/>
            <a:ext cx="378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기계연 최종 분석·검증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2000" y="1260000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HRTEM·EELS (원자 계면)
XPS·Raman·FTIR
Post-mortem 분석 (200 cycle)
코팅 피복률 ≥ 95% 달성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0000" y="2880000"/>
            <a:ext cx="0" cy="540000"/>
          </a:xfrm>
          <a:prstGeom prst="line">
            <a:avLst/>
          </a:prstGeom>
          <a:ln w="38100">
            <a:solidFill>
              <a:srgbClr val="7B2F8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60000" y="3420000"/>
            <a:ext cx="6120000" cy="1980000"/>
          </a:xfrm>
          <a:prstGeom prst="roundRect">
            <a:avLst/>
          </a:prstGeom>
          <a:solidFill>
            <a:srgbClr val="F2E6F8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60000" y="3420000"/>
            <a:ext cx="6120000" cy="324000"/>
          </a:xfrm>
          <a:prstGeom prst="rect">
            <a:avLst/>
          </a:prstGeom>
          <a:solidFill>
            <a:srgbClr val="7B2F8E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씨오알엔 (CORN) — 1Ah 파우치셀 제작·평가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1999" y="3780000"/>
            <a:ext cx="59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1Ah 파우치셀 제작 → 충방전 평가 (0.1C, 0.5C, 1C)
계면저항 ≤ 50 Ω·cm²  |  쿨롱 효율 ≥ 85%
전극 제조 조건 최적화  |  셀 레벨 특성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기계연 최종 레시피 DB가 대성기계 10 kg/h 연속 운전으로 이전되고, 씨오알엔의 1Ah 파우치셀 평가로 기술 완성도를 검증하는 3차년도 최종 체계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17.  Post-mortem TEM 분석: 200 cycle 충방전 후 ALD TiO₂ 코팅층 구조 안정성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827999"/>
            <a:ext cx="378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[TEM 이미지]
초기 상태
(코팅 직후)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827999"/>
            <a:ext cx="3780000" cy="14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0000" y="3744000"/>
            <a:ext cx="3780000" cy="306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초기 상태
(코팅 직후)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4104000"/>
            <a:ext cx="35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균일 2 nm TiO₂ 코팅
계면 명확
Ni 표면 산화 없음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827999"/>
            <a:ext cx="378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[TEM 이미지]
100 cycle 후
(Post-mortem)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827999"/>
            <a:ext cx="3780000" cy="14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20000" y="3744000"/>
            <a:ext cx="3780000" cy="30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100 cycle 후
(Post-mortem)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8000" y="4104000"/>
            <a:ext cx="35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코팅층 두께 유지
계면 미세 변화 모니터링
SEI 층 형성 최소화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0000" y="827999"/>
            <a:ext cx="378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[TEM 이미지]
200 cycle 후
(Post-mortem)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827999"/>
            <a:ext cx="3780000" cy="144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80000" y="3744000"/>
            <a:ext cx="3780000" cy="306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200 cycle 후
(Post-mortem)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000" y="4104000"/>
            <a:ext cx="35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코팅층 구조 안정성
최종 확인
두께 편차 ≤ 10%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40000" y="2340000"/>
            <a:ext cx="18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00000" y="2340000"/>
            <a:ext cx="18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0000" y="5040000"/>
            <a:ext cx="11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Post-mortem 분석 항목:  HRTEM (코팅층 두께)  |  EELS (TM 원자가 변화)  |  XPS (표면 산화)  |  SEM-EDX (원소 분포)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5436000"/>
            <a:ext cx="11520000" cy="6840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000" y="5508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3차년도 목표: 200 cycle 후 코팅층 두께 유지율 ≥ 90%,  Ni²⁺→Ni⁴⁺ 산화 억제 효과 EELS 정량 확인
→ ALD 계면 보호층의 장기 안정성 규명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18.  한국기계연구원 ↔ 대성기계공업 ALD 레시피 이전 및 품질 검증 피드백 순환 체계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440000"/>
            <a:ext cx="4320000" cy="324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0000" y="1440000"/>
            <a:ext cx="4320000" cy="360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한국기계연구원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1872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배치식 ALD 장비 2대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216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공정 레시피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244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공정 윈도우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736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Self-limiting 조건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3024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GPC 측정·검증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311999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HRTEM·XPS·Raman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360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코팅 품질 판정 (OK/NG)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88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레시피 수정 (피드백 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0000" y="1440000"/>
            <a:ext cx="4320000" cy="3240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80000" y="1440000"/>
            <a:ext cx="4320000" cy="360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대성기계공업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000" y="1872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연속식 분말 ALD 장비 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00" y="216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레시피 수령 및 FBR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000" y="244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OPERIO 10 이전·적용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000" y="2736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RTD 기반 공정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000" y="3024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10 kg/h 양산 운전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000" y="3311999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코팅 시료 기계연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000" y="360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공정 파라미터 데이터 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000" y="388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SOP 작성·유지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80000" y="2520000"/>
            <a:ext cx="2700000" cy="0"/>
          </a:xfrm>
          <a:prstGeom prst="line">
            <a:avLst/>
          </a:prstGeom>
          <a:ln w="44450">
            <a:solidFill>
              <a:srgbClr val="ED7D3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88000" y="2196000"/>
            <a:ext cx="25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D7D31"/>
                </a:solidFill>
                <a:latin typeface="맑은 고딕"/>
              </a:rPr>
              <a:t>레시피 패키지 이전
(온도·GPC·pulse 시간·NDA)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680000" y="3600000"/>
            <a:ext cx="2700000" cy="0"/>
          </a:xfrm>
          <a:prstGeom prst="line">
            <a:avLst/>
          </a:prstGeom>
          <a:ln w="44450"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88000" y="3636000"/>
            <a:ext cx="25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맑은 고딕"/>
              </a:rPr>
              <a:t>코팅 시료 제공 / 공정 데이터
→ 기계연 분석 결과 피드백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60000" y="1620000"/>
            <a:ext cx="2340000" cy="36000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NDA (비밀유지협약) 체결 기반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0000" y="4968000"/>
            <a:ext cx="2340000" cy="1007999"/>
          </a:xfrm>
          <a:prstGeom prst="roundRect">
            <a:avLst/>
          </a:prstGeom>
          <a:solidFill>
            <a:srgbClr val="F2E6F8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맑은 고딕"/>
              </a:rPr>
              <a:t>씨오알엔
1Ah 파우치셀
제작·평가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0000" y="4680000"/>
            <a:ext cx="0" cy="288000"/>
          </a:xfrm>
          <a:prstGeom prst="line">
            <a:avLst/>
          </a:prstGeom>
          <a:ln w="25400">
            <a:solidFill>
              <a:srgbClr val="7B2F8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기계연(레시피 개발·검증) ↔ 대성기계(적용·스케일업)의 순환 피드백이 3개년에 걸쳐 반복되며, 씨오알엔 파우치셀 평가가 최종 검증 단계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19.  한국기계연구원 3개년 연구 추진 로드맵
배치식 ALD 레시피 개발 → 연속식 이전·검증 → 양산 실증의 단계적 기술 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0" y="792000"/>
            <a:ext cx="3420000" cy="324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1차년도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92000"/>
            <a:ext cx="342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2차년도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92000"/>
            <a:ext cx="342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3차년도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1152000"/>
            <a:ext cx="2340000" cy="1152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ALD 레시피
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6000" y="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28000" y="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TiO₂ (TTIP/H₂O)
ALD #1
Al₂O₃ (TMA/H₂O)
ALD #2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V₂O₅ (VTIP/H₂O)
ALD #1
ZnO (DEZn/H₂O)
ALD #2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0" y="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4종 DB 완성
최적 조건 최종 확정
공정 윈도우 데이터베이스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" y="0"/>
            <a:ext cx="2340000" cy="1152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대성기계
이전·적용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0" y="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800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FBR 이전·검증
RTD 매핑
TiO₂/Al₂O₃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OPERIO 10 이전
4종 레시피 적용
kg/h 단위 스케일업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10 kg/h 양산
24시간 연속 운전
SOP 완성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" y="0"/>
            <a:ext cx="2340000" cy="1152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코팅층
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56000" y="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2800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SEM·XRD·XPS·BET
기초 분석
coin cell (0.1C)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HRTEM·EELS
Raman·FTIR
100 cycle 평가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Post-mortem
200 cycle 분석
최종 품질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" y="0"/>
            <a:ext cx="2340000" cy="1152000"/>
          </a:xfrm>
          <a:prstGeom prst="rect">
            <a:avLst/>
          </a:prstGeom>
          <a:solidFill>
            <a:srgbClr val="7B2F8E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전기화학
평가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56000" y="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2800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Half-cell
초기 ICE ≥ 80%
계면저항 ≤ 70 Ω·cm²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Half-cell
100 cycle ≥ 85%
4종 비교 평가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0" y="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1Ah 파우치셀
ICE ≥ 85%
계면저항 ≤ 50 Ω·cm²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0" y="6282000"/>
            <a:ext cx="144000" cy="0"/>
          </a:xfrm>
          <a:prstGeom prst="line">
            <a:avLst/>
          </a:prstGeom>
          <a:ln w="25400">
            <a:solidFill>
              <a:srgbClr val="1F497D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82000"/>
            <a:ext cx="144000" cy="0"/>
          </a:xfrm>
          <a:prstGeom prst="line">
            <a:avLst/>
          </a:prstGeom>
          <a:ln w="25400">
            <a:solidFill>
              <a:srgbClr val="1F497D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80000" y="6552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F497D"/>
                </a:solidFill>
                <a:latin typeface="맑은 고딕"/>
              </a:rPr>
              <a:t>최종 목표: 3차년도 완료 시 → ALD 레시피 DB 4종 완성 + 대성기계 10 kg/h 양산 이전 + 1Ah 파우치셀 실증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3382</Words>
  <Application>Microsoft Office PowerPoint</Application>
  <PresentationFormat>Custom</PresentationFormat>
  <Paragraphs>384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나눔스퀘어 ExtraBold</vt:lpstr>
      <vt:lpstr>나눔스퀘어 네오 Bold</vt:lpstr>
      <vt:lpstr>나눔스퀘어 네오 Heavy</vt:lpstr>
      <vt:lpstr>맑은 고딕</vt:lpstr>
      <vt:lpstr>에스코어 드림 9 Black</vt:lpstr>
      <vt:lpstr>프리젠테이션 7 Bold</vt:lpstr>
      <vt:lpstr>프리젠테이션 9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SMLEE</dc:creator>
  <cp:keywords/>
  <dc:description>generated using python-pptx</dc:description>
  <cp:lastModifiedBy>Seung-Mo Lee</cp:lastModifiedBy>
  <cp:revision>7</cp:revision>
  <dcterms:created xsi:type="dcterms:W3CDTF">2013-01-27T09:14:16Z</dcterms:created>
  <dcterms:modified xsi:type="dcterms:W3CDTF">2026-05-09T04:57:09Z</dcterms:modified>
  <cp:category/>
</cp:coreProperties>
</file>