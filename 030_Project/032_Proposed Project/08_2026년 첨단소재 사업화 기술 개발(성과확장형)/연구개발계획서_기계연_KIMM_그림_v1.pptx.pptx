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2720" y="1768"/>
      </p:cViewPr>
      <p:guideLst>
        <p:guide orient="horz" pos="213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1.  기존 배터리 소재 코팅 공정 및 분말 ALD 코팅 공정 비교
(미코팅 vs. 습식코팅 vs. ALD 코팅 단면 모식도)</a:t>
            </a:r>
          </a:p>
        </p:txBody>
      </p:sp>
      <p:sp>
        <p:nvSpPr>
          <p:cNvPr id="3" name="Oval 2"/>
          <p:cNvSpPr/>
          <p:nvPr/>
        </p:nvSpPr>
        <p:spPr>
          <a:xfrm>
            <a:off x="54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미코팅 (Bare)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전해질과 직접 반응
표면 열화 발생</a:t>
            </a:r>
          </a:p>
        </p:txBody>
      </p:sp>
      <p:sp>
        <p:nvSpPr>
          <p:cNvPr id="7" name="Oval 6"/>
          <p:cNvSpPr/>
          <p:nvPr/>
        </p:nvSpPr>
        <p:spPr>
          <a:xfrm>
            <a:off x="3564000" y="1944000"/>
            <a:ext cx="3312000" cy="33120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8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Sol-Gel / 습식코팅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불균일 μm급 코팅
Na⁺ 확산 저해</a:t>
            </a:r>
          </a:p>
        </p:txBody>
      </p:sp>
      <p:sp>
        <p:nvSpPr>
          <p:cNvPr id="12" name="Oval 11"/>
          <p:cNvSpPr/>
          <p:nvPr/>
        </p:nvSpPr>
        <p:spPr>
          <a:xfrm>
            <a:off x="6930000" y="2070000"/>
            <a:ext cx="3060000" cy="3060000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2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2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0" y="1440000"/>
            <a:ext cx="2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ALD 코팅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균일 nm급 코팅
계면 부반응 차단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0000" y="5832000"/>
            <a:ext cx="522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Sol-Gel: μm급 두꺼운 불균일 코팅  |  ALD: nm급 (1~10 nm) 정밀 균일 코팅  |  ← ALD가 목표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회색 원 = 양극재 입자(코어)  /  주황 = 습식코팅층(불균일)  /  초록 = ALD 코팅층(균일)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2.  분말 ALD 공정 및 기타 코팅법에 따른 분말 코팅층 형상 비교
(SEM/TEM 단면 이미지 모식도)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40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Sol-Gel / 습식코팅</a:t>
            </a:r>
          </a:p>
        </p:txBody>
      </p:sp>
      <p:sp>
        <p:nvSpPr>
          <p:cNvPr id="5" name="Oval 4"/>
          <p:cNvSpPr/>
          <p:nvPr/>
        </p:nvSpPr>
        <p:spPr>
          <a:xfrm>
            <a:off x="756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24001" y="1296001"/>
            <a:ext cx="1367998" cy="10943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0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92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7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60000" y="3348000"/>
            <a:ext cx="2160000" cy="28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1~5 μm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μm급 두꺼운 코팅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불균일한 두께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입자 간 결착·응집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부분 비피복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저해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0000" y="792000"/>
            <a:ext cx="54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ALD 코팅 (본 과제)</a:t>
            </a:r>
          </a:p>
        </p:txBody>
      </p:sp>
      <p:sp>
        <p:nvSpPr>
          <p:cNvPr id="19" name="Oval 18"/>
          <p:cNvSpPr/>
          <p:nvPr/>
        </p:nvSpPr>
        <p:spPr>
          <a:xfrm>
            <a:off x="6642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9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10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06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78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3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0000" y="3348000"/>
            <a:ext cx="2160000" cy="288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1~10 nm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nm급 (1~10 nm) 코팅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전 표면 균일 피복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개별 입자 독립 코팅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100% 피복률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0000" y="3420000"/>
            <a:ext cx="1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497D"/>
                </a:solidFill>
                <a:latin typeface="맑은 고딕"/>
              </a:rPr>
              <a:t>← 비교 →
ALD 우수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FA656-7A9C-728E-F684-E413B511ADC4}"/>
              </a:ext>
            </a:extLst>
          </p:cNvPr>
          <p:cNvSpPr txBox="1"/>
          <p:nvPr/>
        </p:nvSpPr>
        <p:spPr>
          <a:xfrm>
            <a:off x="9812121" y="3241351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121717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</a:t>
            </a:r>
            <a:r>
              <a:rPr lang="en-US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O: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Water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1C89-2CBE-137F-7072-EDFCA4D63697}"/>
              </a:ext>
            </a:extLst>
          </p:cNvPr>
          <p:cNvGrpSpPr/>
          <p:nvPr/>
        </p:nvGrpSpPr>
        <p:grpSpPr>
          <a:xfrm>
            <a:off x="7086200" y="4908954"/>
            <a:ext cx="3778565" cy="1009956"/>
            <a:chOff x="6933800" y="3464365"/>
            <a:chExt cx="3778565" cy="100995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0C49109-3CF1-6AA0-618E-43E54BA3E027}"/>
                </a:ext>
              </a:extLst>
            </p:cNvPr>
            <p:cNvGrpSpPr/>
            <p:nvPr/>
          </p:nvGrpSpPr>
          <p:grpSpPr>
            <a:xfrm>
              <a:off x="6933800" y="3586977"/>
              <a:ext cx="3778565" cy="887344"/>
              <a:chOff x="1133496" y="3707498"/>
              <a:chExt cx="3778565" cy="887344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48CEA866-67C3-8828-C392-40E7E7EFC21B}"/>
                  </a:ext>
                </a:extLst>
              </p:cNvPr>
              <p:cNvGrpSpPr/>
              <p:nvPr/>
            </p:nvGrpSpPr>
            <p:grpSpPr>
              <a:xfrm>
                <a:off x="1133496" y="3772935"/>
                <a:ext cx="3250094" cy="784423"/>
                <a:chOff x="3293632" y="4015904"/>
                <a:chExt cx="1852988" cy="679556"/>
              </a:xfrm>
            </p:grpSpPr>
            <p:pic>
              <p:nvPicPr>
                <p:cNvPr id="32" name="Picture 6">
                  <a:extLst>
                    <a:ext uri="{FF2B5EF4-FFF2-40B4-BE49-F238E27FC236}">
                      <a16:creationId xmlns:a16="http://schemas.microsoft.com/office/drawing/2014/main" id="{E0841D25-F48A-D6DE-4F5C-58DB68D6A0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006"/>
                <a:stretch/>
              </p:blipFill>
              <p:spPr bwMode="auto">
                <a:xfrm>
                  <a:off x="3293632" y="4015904"/>
                  <a:ext cx="1852988" cy="45358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E201EB61-A45D-0EF8-5F6F-FF08DC46376D}"/>
                    </a:ext>
                  </a:extLst>
                </p:cNvPr>
                <p:cNvCxnSpPr/>
                <p:nvPr/>
              </p:nvCxnSpPr>
              <p:spPr>
                <a:xfrm>
                  <a:off x="3598088" y="4506483"/>
                  <a:ext cx="1265234" cy="0"/>
                </a:xfrm>
                <a:prstGeom prst="straightConnector1">
                  <a:avLst/>
                </a:prstGeom>
                <a:ln w="9525">
                  <a:solidFill>
                    <a:schemeClr val="tx1">
                      <a:lumMod val="75000"/>
                      <a:lumOff val="2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1EC890B-0E91-2A8E-DEC0-31AE289EAB0F}"/>
                    </a:ext>
                  </a:extLst>
                </p:cNvPr>
                <p:cNvSpPr txBox="1"/>
                <p:nvPr/>
              </p:nvSpPr>
              <p:spPr>
                <a:xfrm>
                  <a:off x="3692308" y="4468824"/>
                  <a:ext cx="1084855" cy="226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effectLst/>
                      <a:latin typeface="프리젠테이션 7 Bold" pitchFamily="2" charset="-127"/>
                      <a:ea typeface="프리젠테이션 7 Bold" pitchFamily="2" charset="-127"/>
                    </a:rPr>
                    <a:t># of ALD cycles</a:t>
                  </a:r>
                  <a:endParaRPr lang="ko-KR" altLang="en-US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endParaRPr>
                </a:p>
              </p:txBody>
            </p:sp>
          </p:grp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9E7216C5-2553-C879-2622-B0680D3198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83312" y="3882181"/>
                <a:ext cx="238689" cy="83829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63500">
                  <a:srgbClr val="43A047">
                    <a:alpha val="40000"/>
                  </a:srgb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4BF0D4-1902-128B-B521-3F5BF03610A4}"/>
                  </a:ext>
                </a:extLst>
              </p:cNvPr>
              <p:cNvSpPr txBox="1"/>
              <p:nvPr/>
            </p:nvSpPr>
            <p:spPr>
              <a:xfrm>
                <a:off x="4281794" y="3707498"/>
                <a:ext cx="4710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 err="1">
                    <a:latin typeface="프리젠테이션 7 Bold" pitchFamily="2" charset="-127"/>
                    <a:ea typeface="프리젠테이션 7 Bold" pitchFamily="2" charset="-127"/>
                  </a:rPr>
                  <a:t>MF</a:t>
                </a:r>
                <a:r>
                  <a:rPr lang="en-US" altLang="ko-KR" sz="1200" b="1" baseline="-25000" dirty="0" err="1">
                    <a:latin typeface="프리젠테이션 7 Bold" pitchFamily="2" charset="-127"/>
                    <a:ea typeface="프리젠테이션 7 Bold" pitchFamily="2" charset="-127"/>
                  </a:rPr>
                  <a:t>x</a:t>
                </a:r>
                <a:endParaRPr lang="en-US" sz="1200" b="1" baseline="-25000" dirty="0"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1A2DC6-2DE1-D15F-5AEC-18C2967D080B}"/>
                  </a:ext>
                </a:extLst>
              </p:cNvPr>
              <p:cNvSpPr txBox="1"/>
              <p:nvPr/>
            </p:nvSpPr>
            <p:spPr>
              <a:xfrm>
                <a:off x="3731940" y="4348621"/>
                <a:ext cx="118012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MF</a:t>
                </a:r>
                <a:r>
                  <a:rPr lang="en-US" altLang="ko-KR" sz="1000" baseline="-25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x</a:t>
                </a:r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:Metal</a:t>
                </a:r>
                <a:r>
                  <a:rPr lang="en-US" altLang="ko-KR" sz="1000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 Fluoride</a:t>
                </a:r>
                <a:endParaRPr lang="en-US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endParaRP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55F01E44-2E0E-E8E9-22EA-8B92F1FD4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69" y="4086055"/>
                <a:ext cx="195200" cy="91742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47EAD0-3636-849E-3C63-27D0F8F33142}"/>
                  </a:ext>
                </a:extLst>
              </p:cNvPr>
              <p:cNvSpPr txBox="1"/>
              <p:nvPr/>
            </p:nvSpPr>
            <p:spPr>
              <a:xfrm>
                <a:off x="4171313" y="4059504"/>
                <a:ext cx="51654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Cu</a:t>
                </a:r>
                <a:endParaRPr lang="en-US" sz="1200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2FD3180-0C47-DA78-84FE-00B81BF32754}"/>
                </a:ext>
              </a:extLst>
            </p:cNvPr>
            <p:cNvSpPr/>
            <p:nvPr/>
          </p:nvSpPr>
          <p:spPr>
            <a:xfrm>
              <a:off x="7122848" y="3505338"/>
              <a:ext cx="3554644" cy="952827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AA8685-6851-583F-1CC7-0F1E9FBAFB8A}"/>
                </a:ext>
              </a:extLst>
            </p:cNvPr>
            <p:cNvSpPr txBox="1"/>
            <p:nvPr/>
          </p:nvSpPr>
          <p:spPr>
            <a:xfrm>
              <a:off x="8065822" y="3464365"/>
              <a:ext cx="164832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solidFill>
                    <a:srgbClr val="6A1B9A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박막 형성 단면 모식도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0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589DDBBA-A1C8-F3B4-6A4D-DDFB405859EB}"/>
              </a:ext>
            </a:extLst>
          </p:cNvPr>
          <p:cNvGrpSpPr/>
          <p:nvPr/>
        </p:nvGrpSpPr>
        <p:grpSpPr>
          <a:xfrm>
            <a:off x="492178" y="677110"/>
            <a:ext cx="7980072" cy="2730435"/>
            <a:chOff x="487098" y="677110"/>
            <a:chExt cx="7980072" cy="2730435"/>
          </a:xfrm>
        </p:grpSpPr>
        <p:pic>
          <p:nvPicPr>
            <p:cNvPr id="4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58E72D28-5FFC-1279-7A7D-C2AA10AAC4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1641875" y="1505106"/>
              <a:ext cx="1051318" cy="1031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2087C6A-5AB3-C36C-A012-ECD973DAFA71}"/>
                </a:ext>
              </a:extLst>
            </p:cNvPr>
            <p:cNvGrpSpPr/>
            <p:nvPr/>
          </p:nvGrpSpPr>
          <p:grpSpPr>
            <a:xfrm>
              <a:off x="2676929" y="776546"/>
              <a:ext cx="1100652" cy="1288395"/>
              <a:chOff x="4540535" y="510372"/>
              <a:chExt cx="1100652" cy="1288395"/>
            </a:xfrm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781232B3-38D3-66D5-DE28-3DD7AF618993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05C3228-6C62-5852-B3B6-51E3C40D7D28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4BE09ED1-9CFE-9FBF-0466-86A58290253F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8EF5097-21D9-D918-1E01-19B61C6717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E57A8A7-7904-0838-2B84-888BE8C005D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1C273D8-8CBE-2E09-EF46-13B107370E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5BB6E9-5ACD-F1A0-A006-D3B8EB7566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E5934A0-0732-84DE-54DE-FE1080AE2D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47212514-1E7B-8508-0780-D6505F188937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947339-E4C3-DD8D-46FB-A132EA8A449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931BB-25F9-DB1F-8EB3-A3070A517A5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21CD45-84C8-CB09-D27D-22D84FCC4F4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F271F6E-07B1-949D-6A73-26CD8C68E0B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B11C6C-33A9-8583-FD2C-D2136917C0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422A42B-9D94-443E-8549-23908BE1F9C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425445C-69A6-DF9D-64C9-D885602D5B0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6B64C-6632-2E67-E65D-553E18BF6F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9A7BDF4-8639-7C35-B9B7-DD12A7DC608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EA4DFC-63F4-8772-B371-A07415F3614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36182E3-CCC5-DC36-0303-0D58ED6A256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6A942BE9-3C52-3859-7A71-56CDE1A3B96C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0" name="Picture 119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53679FC-C47F-A521-CF5D-1D63692798C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71042E4-16A5-ACB0-F950-641FD50903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FFC63C9-BAB9-0AEC-6E28-5ABDE8D446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7E1CA-24DA-045D-0129-69611B98B6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02EC85E-8171-2D59-62F2-6FF922747AD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4C22D5-61B8-8D69-00BF-70A8A2F269BE}"/>
                </a:ext>
              </a:extLst>
            </p:cNvPr>
            <p:cNvSpPr/>
            <p:nvPr/>
          </p:nvSpPr>
          <p:spPr>
            <a:xfrm>
              <a:off x="893257" y="776546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94F0329-0EEA-D059-71D0-1D70411B0300}"/>
                </a:ext>
              </a:extLst>
            </p:cNvPr>
            <p:cNvGrpSpPr/>
            <p:nvPr/>
          </p:nvGrpSpPr>
          <p:grpSpPr>
            <a:xfrm>
              <a:off x="690692" y="1135177"/>
              <a:ext cx="1449434" cy="337229"/>
              <a:chOff x="1590955" y="1300484"/>
              <a:chExt cx="897356" cy="208781"/>
            </a:xfrm>
          </p:grpSpPr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C1182EC-DD32-32B6-8C4E-1EBFEEA446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067D7A5-88E3-2978-A91E-F61C6448F2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2D1184-B02E-2902-7080-CAED3E3A5A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E535E84-9468-E432-40E9-F17E819DFE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4AAA68-733C-5213-8D20-ED1A602B9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AADBFFE-C172-4430-BED2-116C87E85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BFBAB5-1692-6A3D-678F-0332C557E7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5DC732-6625-A209-1A11-F89F244725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A8BDA01-2B20-CF49-D7AB-22D35AE9B8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8550" y="130431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AC3EC3-109B-2FFB-969C-560D01C60F8D}"/>
                </a:ext>
              </a:extLst>
            </p:cNvPr>
            <p:cNvGrpSpPr/>
            <p:nvPr/>
          </p:nvGrpSpPr>
          <p:grpSpPr>
            <a:xfrm>
              <a:off x="2687050" y="2119150"/>
              <a:ext cx="1100652" cy="1288395"/>
              <a:chOff x="3481469" y="2556202"/>
              <a:chExt cx="1100652" cy="128839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250AA01-7696-1E67-E02D-E01FD5B59C32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1446FDFD-A08C-A6B1-8B68-7C85130C0D95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C396379C-EB43-8D0A-DBAE-3B73974FA680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0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73A149D-C3A8-8E3B-46AE-3858150AF0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2D861AB-F683-27F5-8EFF-C0799F15565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B81EE71-CEF2-6789-E654-F395287F0D1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5C9F96-273B-D893-492B-9D6AA0E32D6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5A62001-66BE-7B78-ED6E-09B907F599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1E77CC69-F2BF-2ED0-E995-4355BD348C8E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25CA95-BBC7-D9F4-66A5-A636485FF41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845D64-99A9-E576-FE3A-E697080E499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11F67E7-EF33-D56D-A03E-051B85B9A18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C7186F6-8FD6-EA82-BA38-EAA45466E90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285A2CF-21A6-FF69-E053-A7B23E52DF9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77836DEF-A942-5376-0EAF-A791E296EF9F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4D2A5B3-F492-0431-B112-9FF08188B37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4F0831-018C-3533-9FAE-D4C023562D3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19E91F-59C5-F016-5A96-B2C0CBE6ED4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DCB11AD-4FA3-FB9C-AAAF-AF9E97A998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CB1039-AB07-4EF9-DC69-FAC5D73819C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B84038BE-BE43-F9AB-5419-F3331C2529CE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5" name="Picture 84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E3B9AB-8258-3825-0EED-8B39C3710A0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810F0DF-22E7-3091-4E83-187AC435D1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CD7F393-F07E-58E2-A2ED-8B64567223D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189AD9-D5A2-A1E8-FD82-19A7949B471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F3674EA-378B-252F-E1A1-F3DA98DF76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FB100A-9B3D-9DF3-B11A-D382E96542E0}"/>
                </a:ext>
              </a:extLst>
            </p:cNvPr>
            <p:cNvSpPr/>
            <p:nvPr/>
          </p:nvSpPr>
          <p:spPr>
            <a:xfrm>
              <a:off x="929894" y="2119150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1D21E2-F2B7-A170-8D4F-A7C3F885A520}"/>
                </a:ext>
              </a:extLst>
            </p:cNvPr>
            <p:cNvGrpSpPr/>
            <p:nvPr/>
          </p:nvGrpSpPr>
          <p:grpSpPr>
            <a:xfrm>
              <a:off x="907473" y="2516417"/>
              <a:ext cx="1100652" cy="457076"/>
              <a:chOff x="7197429" y="1152057"/>
              <a:chExt cx="1100652" cy="45707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1942D93-62C1-9653-3C82-B131C3E4BD32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567F16-8A21-16F9-6F76-ADF2376B31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FEC5658-EE44-5E19-52E9-DCC92A1CCE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07E1BB-A4BC-450A-D7D5-AF905C15BF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78D850F-289C-5227-D825-E33F0C2B9C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507EBC3-B23B-018F-3843-846EB0AEC3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2F281DA-09EE-B35D-BD22-00E3699BA1CC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B0AA59-9D6A-04CA-B768-B5D3113973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81C710-6FB3-049D-B429-74E9E1D329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F6BA6F7-C824-79AB-8F4F-F6C4F639C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28E8735-1B0A-365C-19C2-6E2A10992A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C942E41-F734-747F-55D6-68BEF7407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01FBED9-1E47-2744-CFF8-844ACEF3123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B97A618-07DF-92DF-1C3E-33BEB458D0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2EE510-7527-8858-2346-D134164FCC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CB6A59D-FAED-BFCC-976D-B7E43029E07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43A788-B020-833A-9305-68EEB64B167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89C5EF-9B10-53C1-DCF4-D4F8B2FC54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36AB6EA-6E54-8BF4-8FB6-15A1502CBC0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9" name="Picture 58" descr="3d Sphere Sphere PNG &amp; clipart images | TOPpng">
                  <a:extLst>
                    <a:ext uri="{FF2B5EF4-FFF2-40B4-BE49-F238E27FC236}">
                      <a16:creationId xmlns:a16="http://schemas.microsoft.com/office/drawing/2014/main" id="{AA846CCE-5CB4-5C89-EF80-51C67A89F07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2D9E8E-44A4-7256-1B87-0089539139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BA4E396-BAF1-0F49-F2BC-7603D07E989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196B97-F9E2-96AA-849B-E840213A56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C8495F-C083-F537-8E10-415D4F157B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1195F9-09E3-02E9-D37B-B970C6EB70E8}"/>
                </a:ext>
              </a:extLst>
            </p:cNvPr>
            <p:cNvGrpSpPr/>
            <p:nvPr/>
          </p:nvGrpSpPr>
          <p:grpSpPr>
            <a:xfrm rot="971198">
              <a:off x="2826273" y="2204891"/>
              <a:ext cx="951271" cy="368321"/>
              <a:chOff x="1921727" y="1452884"/>
              <a:chExt cx="539223" cy="208781"/>
            </a:xfrm>
          </p:grpSpPr>
          <p:pic>
            <p:nvPicPr>
              <p:cNvPr id="4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49C297-B666-2186-4E5E-FEBCC1B41A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63CDA0D-B73F-DECF-5594-64DDEB8B66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DD0A6DC-5E61-7007-561E-8955145B4B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0C18D86-0B49-F9C8-2985-B1F2FAF32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1727" y="15627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2B58E8-E33A-1234-71CB-A8D1C65E55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2984" y="153522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B0BED7E-20F1-4320-5E29-A8ECAD4E18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B545396-F8C2-43E3-9B09-5CB4B77AB4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29310" y="15389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1BFA2E-05B5-426E-97E3-14A569B0A5AF}"/>
                </a:ext>
              </a:extLst>
            </p:cNvPr>
            <p:cNvSpPr txBox="1"/>
            <p:nvPr/>
          </p:nvSpPr>
          <p:spPr>
            <a:xfrm>
              <a:off x="1729495" y="1823504"/>
              <a:ext cx="87873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ALD</a:t>
              </a:r>
              <a:b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</a:b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1 cycle</a:t>
              </a:r>
              <a:endPara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9DF334-F9A5-BB88-B14D-82730E2CEC8E}"/>
                </a:ext>
              </a:extLst>
            </p:cNvPr>
            <p:cNvGrpSpPr/>
            <p:nvPr/>
          </p:nvGrpSpPr>
          <p:grpSpPr>
            <a:xfrm flipH="1">
              <a:off x="2709471" y="1035504"/>
              <a:ext cx="1131422" cy="201954"/>
              <a:chOff x="1772863" y="1300484"/>
              <a:chExt cx="715448" cy="122764"/>
            </a:xfrm>
          </p:grpSpPr>
          <p:pic>
            <p:nvPicPr>
              <p:cNvPr id="4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328EF33-9F40-EB9C-D5D7-2B9BA54501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764CFD8-888C-1796-58C0-9D6F5B4D45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5893BA6-6D5C-73F4-65B0-15C872CC00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2B58A89-A828-CA08-3183-9991D71D53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A3F051-18C0-E9E0-27BB-72AB07753C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243AE8-FC5C-CD9F-6400-8AAB101C27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3438" y="1323596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FA62059-1D22-0507-5D40-8244A06046C1}"/>
                </a:ext>
              </a:extLst>
            </p:cNvPr>
            <p:cNvGrpSpPr/>
            <p:nvPr/>
          </p:nvGrpSpPr>
          <p:grpSpPr>
            <a:xfrm rot="9070823" flipH="1">
              <a:off x="724047" y="2202159"/>
              <a:ext cx="848451" cy="512228"/>
              <a:chOff x="1871546" y="1349070"/>
              <a:chExt cx="497301" cy="316630"/>
            </a:xfrm>
          </p:grpSpPr>
          <p:pic>
            <p:nvPicPr>
              <p:cNvPr id="3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97A3A93-000C-7F1B-6204-EF14E69AC6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71546" y="1609622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54461F3-7024-31C6-93E1-E9C2E26AC8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D11B5-DE17-6A89-9360-908B5C763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DA634F-E0C1-4CF9-5CFF-3CDBF44D0F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04369EC-ECCA-0DCC-436C-41D6E51BB0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C9EC7FD-8E3A-C824-44B5-61282957D5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6787C49-0E5E-C617-33A8-C5C416613D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27DA6-6F83-6ADD-34CF-7C27EFD93ED4}"/>
                </a:ext>
              </a:extLst>
            </p:cNvPr>
            <p:cNvSpPr txBox="1"/>
            <p:nvPr/>
          </p:nvSpPr>
          <p:spPr>
            <a:xfrm>
              <a:off x="517313" y="722831"/>
              <a:ext cx="992680" cy="276999"/>
            </a:xfrm>
            <a:prstGeom prst="rect">
              <a:avLst/>
            </a:prstGeom>
            <a:solidFill>
              <a:srgbClr val="1976D2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DEZ Supply</a:t>
              </a:r>
              <a:endParaRPr lang="en-US" altLang="ko-KR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81177C-116A-56F8-CE56-8880D6ACB975}"/>
                </a:ext>
              </a:extLst>
            </p:cNvPr>
            <p:cNvSpPr txBox="1"/>
            <p:nvPr/>
          </p:nvSpPr>
          <p:spPr>
            <a:xfrm>
              <a:off x="2851511" y="1856813"/>
              <a:ext cx="1163567" cy="276999"/>
            </a:xfrm>
            <a:prstGeom prst="rect">
              <a:avLst/>
            </a:prstGeom>
            <a:solidFill>
              <a:srgbClr val="43A047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Supply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DDBC6C-0B87-134C-E682-DF6A2A360B04}"/>
                </a:ext>
              </a:extLst>
            </p:cNvPr>
            <p:cNvSpPr txBox="1"/>
            <p:nvPr/>
          </p:nvSpPr>
          <p:spPr>
            <a:xfrm>
              <a:off x="3076488" y="722831"/>
              <a:ext cx="902188" cy="276999"/>
            </a:xfrm>
            <a:prstGeom prst="rect">
              <a:avLst/>
            </a:prstGeom>
            <a:solidFill>
              <a:srgbClr val="F9A825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DEZ Purge</a:t>
              </a:r>
              <a:endParaRPr lang="en-US" altLang="ko-KR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9205AE-11B8-5BEC-1B1C-FDCD23088C4E}"/>
                </a:ext>
              </a:extLst>
            </p:cNvPr>
            <p:cNvSpPr txBox="1"/>
            <p:nvPr/>
          </p:nvSpPr>
          <p:spPr>
            <a:xfrm>
              <a:off x="511101" y="1856813"/>
              <a:ext cx="1082949" cy="276999"/>
            </a:xfrm>
            <a:prstGeom prst="rect">
              <a:avLst/>
            </a:prstGeom>
            <a:solidFill>
              <a:srgbClr val="EF535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Purge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A07D4-2093-505B-499D-40C3AB8F67AD}"/>
                </a:ext>
              </a:extLst>
            </p:cNvPr>
            <p:cNvSpPr txBox="1"/>
            <p:nvPr/>
          </p:nvSpPr>
          <p:spPr>
            <a:xfrm>
              <a:off x="623371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DEZ: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Zn(CH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3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)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26F56E-4B6C-8CDC-C211-1316C1241C52}"/>
                </a:ext>
              </a:extLst>
            </p:cNvPr>
            <p:cNvSpPr txBox="1"/>
            <p:nvPr/>
          </p:nvSpPr>
          <p:spPr>
            <a:xfrm>
              <a:off x="1763848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</a:t>
              </a:r>
              <a:r>
                <a:rPr lang="en-US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O: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Water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7AA68B2-509B-AF33-95B0-C514AB0A7F65}"/>
                </a:ext>
              </a:extLst>
            </p:cNvPr>
            <p:cNvSpPr/>
            <p:nvPr/>
          </p:nvSpPr>
          <p:spPr>
            <a:xfrm>
              <a:off x="487098" y="677110"/>
              <a:ext cx="7980072" cy="2628373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7593317B-9CEA-0CC5-0AF4-48A131C7E6D0}"/>
                </a:ext>
              </a:extLst>
            </p:cNvPr>
            <p:cNvSpPr/>
            <p:nvPr/>
          </p:nvSpPr>
          <p:spPr>
            <a:xfrm>
              <a:off x="4600966" y="743040"/>
              <a:ext cx="3350248" cy="277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Pressure Change in ALD Reactor</a:t>
              </a:r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09064674-13F9-B595-C00B-15533BE23395}"/>
                </a:ext>
              </a:extLst>
            </p:cNvPr>
            <p:cNvGrpSpPr/>
            <p:nvPr/>
          </p:nvGrpSpPr>
          <p:grpSpPr>
            <a:xfrm>
              <a:off x="4218222" y="1053682"/>
              <a:ext cx="4248948" cy="2243868"/>
              <a:chOff x="4235164" y="928279"/>
              <a:chExt cx="4248948" cy="2243868"/>
            </a:xfrm>
          </p:grpSpPr>
          <p:pic>
            <p:nvPicPr>
              <p:cNvPr id="21" name="Picture 5" descr="Picture5">
                <a:extLst>
                  <a:ext uri="{FF2B5EF4-FFF2-40B4-BE49-F238E27FC236}">
                    <a16:creationId xmlns:a16="http://schemas.microsoft.com/office/drawing/2014/main" id="{9D7B5360-A6A9-2C60-0394-4652AABA28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61" t="18857"/>
              <a:stretch/>
            </p:blipFill>
            <p:spPr bwMode="auto">
              <a:xfrm>
                <a:off x="4298230" y="1127755"/>
                <a:ext cx="4088055" cy="18151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EC21C13F-EE77-1F63-1ED3-34F6D32CB7ED}"/>
                  </a:ext>
                </a:extLst>
              </p:cNvPr>
              <p:cNvSpPr txBox="1"/>
              <p:nvPr/>
            </p:nvSpPr>
            <p:spPr>
              <a:xfrm>
                <a:off x="490785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E: Exposure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D02F63-79CF-6651-0278-1F56CC78B68B}"/>
                  </a:ext>
                </a:extLst>
              </p:cNvPr>
              <p:cNvSpPr txBox="1"/>
              <p:nvPr/>
            </p:nvSpPr>
            <p:spPr>
              <a:xfrm>
                <a:off x="612070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P: Purge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2AEC28F2-262A-0966-733A-2DE41D3B1A25}"/>
                  </a:ext>
                </a:extLst>
              </p:cNvPr>
              <p:cNvSpPr/>
              <p:nvPr/>
            </p:nvSpPr>
            <p:spPr>
              <a:xfrm>
                <a:off x="4271566" y="1440841"/>
                <a:ext cx="188394" cy="126512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FE55A93-24BD-DBDF-DF2E-B8B5BE00903F}"/>
                  </a:ext>
                </a:extLst>
              </p:cNvPr>
              <p:cNvSpPr txBox="1"/>
              <p:nvPr/>
            </p:nvSpPr>
            <p:spPr>
              <a:xfrm>
                <a:off x="7733630" y="1352198"/>
                <a:ext cx="502769" cy="276999"/>
              </a:xfrm>
              <a:prstGeom prst="rect">
                <a:avLst/>
              </a:prstGeom>
              <a:solidFill>
                <a:schemeClr val="tx2">
                  <a:lumMod val="75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/>
                  <a:t>DEZ</a:t>
                </a:r>
                <a:endParaRPr 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1D20656-F541-A3C5-B9A5-3E27FDCE60E8}"/>
                  </a:ext>
                </a:extLst>
              </p:cNvPr>
              <p:cNvSpPr txBox="1"/>
              <p:nvPr/>
            </p:nvSpPr>
            <p:spPr>
              <a:xfrm>
                <a:off x="7733630" y="2285779"/>
                <a:ext cx="502769" cy="276999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H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3D129BAD-5DB9-0326-1A9D-8EF0FCC8EBCA}"/>
                  </a:ext>
                </a:extLst>
              </p:cNvPr>
              <p:cNvSpPr txBox="1"/>
              <p:nvPr/>
            </p:nvSpPr>
            <p:spPr>
              <a:xfrm>
                <a:off x="4235164" y="928279"/>
                <a:ext cx="7889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P(torr)</a:t>
                </a:r>
                <a:endParaRPr lang="en-US" sz="1400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1B152240-B890-4C59-8EB4-417EBE26F50D}"/>
                  </a:ext>
                </a:extLst>
              </p:cNvPr>
              <p:cNvSpPr txBox="1"/>
              <p:nvPr/>
            </p:nvSpPr>
            <p:spPr>
              <a:xfrm>
                <a:off x="8001219" y="2683015"/>
                <a:ext cx="48289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t (s)</a:t>
                </a:r>
                <a:endParaRPr lang="en-US" sz="1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133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487A0B-CEDA-667B-6944-DEE8FDA8E5AA}"/>
              </a:ext>
            </a:extLst>
          </p:cNvPr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 dirty="0" err="1">
                <a:solidFill>
                  <a:srgbClr val="FFFFFF"/>
                </a:solidFill>
                <a:latin typeface="맑은 고딕"/>
              </a:rPr>
              <a:t>그림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4. 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산화물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종류별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ALD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공정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윈도우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비교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종류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및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온도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범위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
(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한국기계연구원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배치식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ALD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장비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측정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맑은 고딕"/>
              </a:rPr>
              <a:t>예정</a:t>
            </a:r>
            <a:r>
              <a:rPr sz="1300" b="1" dirty="0">
                <a:solidFill>
                  <a:srgbClr val="FFFFFF"/>
                </a:solidFill>
                <a:latin typeface="맑은 고딕"/>
              </a:rPr>
              <a:t>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B5CE607-E60B-4EF4-E294-E52E85D1F0E2}"/>
              </a:ext>
            </a:extLst>
          </p:cNvPr>
          <p:cNvGrpSpPr/>
          <p:nvPr/>
        </p:nvGrpSpPr>
        <p:grpSpPr>
          <a:xfrm>
            <a:off x="255362" y="1219594"/>
            <a:ext cx="11192638" cy="3582772"/>
            <a:chOff x="255362" y="1219594"/>
            <a:chExt cx="11192638" cy="358277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D2BCDE-8B05-4D72-842B-3E40C2F9815E}"/>
                </a:ext>
              </a:extLst>
            </p:cNvPr>
            <p:cNvSpPr/>
            <p:nvPr/>
          </p:nvSpPr>
          <p:spPr>
            <a:xfrm>
              <a:off x="1800000" y="3974720"/>
              <a:ext cx="9360000" cy="288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36F3E6-2F2E-302C-9927-5D979E217100}"/>
                </a:ext>
              </a:extLst>
            </p:cNvPr>
            <p:cNvSpPr txBox="1"/>
            <p:nvPr/>
          </p:nvSpPr>
          <p:spPr>
            <a:xfrm>
              <a:off x="5323840" y="4402256"/>
              <a:ext cx="18897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공정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</a:t>
              </a:r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온도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(°C)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FA1365-2337-D009-D15C-B8E4379C3EC0}"/>
                </a:ext>
              </a:extLst>
            </p:cNvPr>
            <p:cNvSpPr/>
            <p:nvPr/>
          </p:nvSpPr>
          <p:spPr>
            <a:xfrm>
              <a:off x="17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984F62-5A47-2B9A-040B-C676FB0FD85F}"/>
                </a:ext>
              </a:extLst>
            </p:cNvPr>
            <p:cNvSpPr txBox="1"/>
            <p:nvPr/>
          </p:nvSpPr>
          <p:spPr>
            <a:xfrm>
              <a:off x="15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50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9738C9-1952-7BE9-C04A-594C910D84B3}"/>
                </a:ext>
              </a:extLst>
            </p:cNvPr>
            <p:cNvSpPr/>
            <p:nvPr/>
          </p:nvSpPr>
          <p:spPr>
            <a:xfrm>
              <a:off x="33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C6543F3-DC3F-CCEA-D894-DBFA6C76102F}"/>
                </a:ext>
              </a:extLst>
            </p:cNvPr>
            <p:cNvSpPr txBox="1"/>
            <p:nvPr/>
          </p:nvSpPr>
          <p:spPr>
            <a:xfrm>
              <a:off x="30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100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0350C4-8878-5142-61EC-0F84FE63260C}"/>
                </a:ext>
              </a:extLst>
            </p:cNvPr>
            <p:cNvSpPr/>
            <p:nvPr/>
          </p:nvSpPr>
          <p:spPr>
            <a:xfrm>
              <a:off x="490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700B530-3DF4-5153-05FC-75E8FBE7984C}"/>
                </a:ext>
              </a:extLst>
            </p:cNvPr>
            <p:cNvSpPr txBox="1"/>
            <p:nvPr/>
          </p:nvSpPr>
          <p:spPr>
            <a:xfrm>
              <a:off x="463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 dirty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150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63A3835-5F2D-FBCF-02D8-0136F6E85476}"/>
                </a:ext>
              </a:extLst>
            </p:cNvPr>
            <p:cNvSpPr/>
            <p:nvPr/>
          </p:nvSpPr>
          <p:spPr>
            <a:xfrm>
              <a:off x="646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42DD1F-EB86-C031-0601-9A3668562434}"/>
                </a:ext>
              </a:extLst>
            </p:cNvPr>
            <p:cNvSpPr txBox="1"/>
            <p:nvPr/>
          </p:nvSpPr>
          <p:spPr>
            <a:xfrm>
              <a:off x="619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200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A45B0B6-2ADD-7F78-F8FF-F371E448D82D}"/>
                </a:ext>
              </a:extLst>
            </p:cNvPr>
            <p:cNvSpPr/>
            <p:nvPr/>
          </p:nvSpPr>
          <p:spPr>
            <a:xfrm>
              <a:off x="802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90549E-1EC6-A97A-44AE-CD18826C5535}"/>
                </a:ext>
              </a:extLst>
            </p:cNvPr>
            <p:cNvSpPr txBox="1"/>
            <p:nvPr/>
          </p:nvSpPr>
          <p:spPr>
            <a:xfrm>
              <a:off x="775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250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09493E1-6F97-6D28-03CD-ECF36DB91CEA}"/>
                </a:ext>
              </a:extLst>
            </p:cNvPr>
            <p:cNvSpPr/>
            <p:nvPr/>
          </p:nvSpPr>
          <p:spPr>
            <a:xfrm>
              <a:off x="95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586992-4585-AC52-18A0-8822B17534BB}"/>
                </a:ext>
              </a:extLst>
            </p:cNvPr>
            <p:cNvSpPr txBox="1"/>
            <p:nvPr/>
          </p:nvSpPr>
          <p:spPr>
            <a:xfrm>
              <a:off x="93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300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935037-FC5D-8937-0C39-D9D4F6552D3D}"/>
                </a:ext>
              </a:extLst>
            </p:cNvPr>
            <p:cNvSpPr/>
            <p:nvPr/>
          </p:nvSpPr>
          <p:spPr>
            <a:xfrm>
              <a:off x="111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1EF49C-D747-9FEB-4DA7-B19486012E42}"/>
                </a:ext>
              </a:extLst>
            </p:cNvPr>
            <p:cNvSpPr txBox="1"/>
            <p:nvPr/>
          </p:nvSpPr>
          <p:spPr>
            <a:xfrm>
              <a:off x="108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350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F82A22-B00D-2139-5FF7-2EE925DEDE07}"/>
                </a:ext>
              </a:extLst>
            </p:cNvPr>
            <p:cNvSpPr/>
            <p:nvPr/>
          </p:nvSpPr>
          <p:spPr>
            <a:xfrm>
              <a:off x="1800000" y="126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5730542-15EC-D9B6-ABF6-B6A63D9CE59C}"/>
                </a:ext>
              </a:extLst>
            </p:cNvPr>
            <p:cNvSpPr/>
            <p:nvPr/>
          </p:nvSpPr>
          <p:spPr>
            <a:xfrm>
              <a:off x="2423160" y="1288800"/>
              <a:ext cx="5616840" cy="338400"/>
            </a:xfrm>
            <a:prstGeom prst="rect">
              <a:avLst/>
            </a:prstGeom>
            <a:solidFill>
              <a:srgbClr val="2E74B5"/>
            </a:solidFill>
            <a:ln w="6350">
              <a:solidFill>
                <a:srgbClr val="2E7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100–250°C  ALD Window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A0B7BE9-E7CE-E8C9-DE51-410E320B9AB4}"/>
                </a:ext>
              </a:extLst>
            </p:cNvPr>
            <p:cNvSpPr txBox="1"/>
            <p:nvPr/>
          </p:nvSpPr>
          <p:spPr>
            <a:xfrm>
              <a:off x="466755" y="1219594"/>
              <a:ext cx="13946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Al₂O</a:t>
              </a: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₃   </a:t>
              </a:r>
              <a:br>
                <a:rPr lang="en-US"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(TMA / H₂O)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989851E-3BF1-D7EE-8737-0AE4BCA1A35A}"/>
                </a:ext>
              </a:extLst>
            </p:cNvPr>
            <p:cNvSpPr/>
            <p:nvPr/>
          </p:nvSpPr>
          <p:spPr>
            <a:xfrm>
              <a:off x="1800000" y="198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D51CF6A-DF81-7A55-FC53-699617043625}"/>
                </a:ext>
              </a:extLst>
            </p:cNvPr>
            <p:cNvSpPr/>
            <p:nvPr/>
          </p:nvSpPr>
          <p:spPr>
            <a:xfrm>
              <a:off x="2423160" y="2003720"/>
              <a:ext cx="4272280" cy="338400"/>
            </a:xfrm>
            <a:prstGeom prst="rect">
              <a:avLst/>
            </a:prstGeom>
            <a:solidFill>
              <a:srgbClr val="37861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100–200°C  ALD Window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38DBB74-57AC-92B1-BFB1-0BE55F46831B}"/>
                </a:ext>
              </a:extLst>
            </p:cNvPr>
            <p:cNvSpPr txBox="1"/>
            <p:nvPr/>
          </p:nvSpPr>
          <p:spPr>
            <a:xfrm>
              <a:off x="376303" y="1909381"/>
              <a:ext cx="14395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ZnO</a:t>
              </a:r>
              <a:br>
                <a:rPr lang="en-US"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</a:t>
              </a:r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DEZn</a:t>
              </a: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/ H₂O)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449EFB1-FBA8-5A66-651F-EA68CD18D6C5}"/>
                </a:ext>
              </a:extLst>
            </p:cNvPr>
            <p:cNvSpPr/>
            <p:nvPr/>
          </p:nvSpPr>
          <p:spPr>
            <a:xfrm>
              <a:off x="1800000" y="270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926B2AC-203B-9072-16F7-EE0415987BDD}"/>
                </a:ext>
              </a:extLst>
            </p:cNvPr>
            <p:cNvSpPr/>
            <p:nvPr/>
          </p:nvSpPr>
          <p:spPr>
            <a:xfrm>
              <a:off x="2875280" y="2728800"/>
              <a:ext cx="5164720" cy="338400"/>
            </a:xfrm>
            <a:prstGeom prst="rect">
              <a:avLst/>
            </a:prstGeom>
            <a:solidFill>
              <a:srgbClr val="7B2F8E"/>
            </a:solidFill>
            <a:ln w="6350">
              <a:solidFill>
                <a:srgbClr val="7B2F8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150–250°C  ALD Window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14EEB3-F426-62F4-C905-B0F916B0CAE3}"/>
                </a:ext>
              </a:extLst>
            </p:cNvPr>
            <p:cNvSpPr txBox="1"/>
            <p:nvPr/>
          </p:nvSpPr>
          <p:spPr>
            <a:xfrm>
              <a:off x="255362" y="2633491"/>
              <a:ext cx="157217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V₂O₅</a:t>
              </a:r>
              <a:br>
                <a:rPr lang="en-US"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(VTIP / H₂O)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A2EAF3E-B64A-1E39-C88D-ED84E149C4D9}"/>
                </a:ext>
              </a:extLst>
            </p:cNvPr>
            <p:cNvSpPr/>
            <p:nvPr/>
          </p:nvSpPr>
          <p:spPr>
            <a:xfrm>
              <a:off x="1800000" y="342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F62696-59FD-51A5-387A-63AD746F8906}"/>
                </a:ext>
              </a:extLst>
            </p:cNvPr>
            <p:cNvSpPr/>
            <p:nvPr/>
          </p:nvSpPr>
          <p:spPr>
            <a:xfrm>
              <a:off x="4920000" y="3448800"/>
              <a:ext cx="4680000" cy="338400"/>
            </a:xfrm>
            <a:prstGeom prst="rect">
              <a:avLst/>
            </a:prstGeom>
            <a:solidFill>
              <a:srgbClr val="ED7D31"/>
            </a:solidFill>
            <a:ln w="63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150–300°C  ALD Window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DDE83C1-FA3C-C3DC-723C-BC53ADF6F381}"/>
                </a:ext>
              </a:extLst>
            </p:cNvPr>
            <p:cNvSpPr txBox="1"/>
            <p:nvPr/>
          </p:nvSpPr>
          <p:spPr>
            <a:xfrm>
              <a:off x="311860" y="3343331"/>
              <a:ext cx="14833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TiO</a:t>
              </a:r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₂</a:t>
              </a:r>
              <a:endParaRPr lang="en-US" sz="1200" b="1" dirty="0">
                <a:solidFill>
                  <a:srgbClr val="ED7D31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  <a:p>
              <a:pPr algn="ctr"/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(TTIP / H₂O)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7F1AF2CE-8C3F-7BC5-76F7-DF3139CF6719}"/>
              </a:ext>
            </a:extLst>
          </p:cNvPr>
          <p:cNvSpPr/>
          <p:nvPr/>
        </p:nvSpPr>
        <p:spPr>
          <a:xfrm>
            <a:off x="5634520" y="4908600"/>
            <a:ext cx="523748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 dirty="0">
                <a:solidFill>
                  <a:srgbClr val="1F497D"/>
                </a:solidFill>
                <a:latin typeface="맑은 고딕"/>
              </a:rPr>
              <a:t>■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한국기계연구원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배치식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ALD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장비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2대에서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측정·확정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예정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(1차년도)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4BEB83-EFFE-C5E2-4329-A73F0B99E3A1}"/>
              </a:ext>
            </a:extLst>
          </p:cNvPr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  <p:extLst>
      <p:ext uri="{BB962C8B-B14F-4D97-AF65-F5344CB8AC3E}">
        <p14:creationId xmlns:p14="http://schemas.microsoft.com/office/powerpoint/2010/main" val="56214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40A7FC-2A9C-43A5-0932-B37D78C81A0E}"/>
              </a:ext>
            </a:extLst>
          </p:cNvPr>
          <p:cNvSpPr/>
          <p:nvPr/>
        </p:nvSpPr>
        <p:spPr>
          <a:xfrm>
            <a:off x="157276" y="2165808"/>
            <a:ext cx="2289447" cy="500027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rPr>
              <a:t>㈜에버인더스</a:t>
            </a:r>
            <a:endParaRPr sz="2000" b="1" dirty="0">
              <a:solidFill>
                <a:srgbClr val="FFFFFF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27F3E3-456E-D175-E29D-74CD25195714}"/>
              </a:ext>
            </a:extLst>
          </p:cNvPr>
          <p:cNvSpPr/>
          <p:nvPr/>
        </p:nvSpPr>
        <p:spPr>
          <a:xfrm>
            <a:off x="5997431" y="2165808"/>
            <a:ext cx="2289447" cy="500027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rPr>
              <a:t>㈜대성기계공업</a:t>
            </a:r>
            <a:endParaRPr sz="2000" b="1" dirty="0">
              <a:solidFill>
                <a:srgbClr val="FFFFFF"/>
              </a:solidFill>
              <a:latin typeface="나눔스퀘어 네오 Heavy" panose="00000A00000000000000" pitchFamily="2" charset="-127"/>
              <a:ea typeface="나눔스퀘어 네오 Heavy" panose="00000A00000000000000" pitchFamily="2" charset="-12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5845C2-230C-80F9-8DE2-5D99570425AF}"/>
              </a:ext>
            </a:extLst>
          </p:cNvPr>
          <p:cNvSpPr/>
          <p:nvPr/>
        </p:nvSpPr>
        <p:spPr>
          <a:xfrm>
            <a:off x="157276" y="2665836"/>
            <a:ext cx="2289447" cy="1709078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8465710-AAEA-130B-5950-E446764736AD}"/>
              </a:ext>
            </a:extLst>
          </p:cNvPr>
          <p:cNvGrpSpPr/>
          <p:nvPr/>
        </p:nvGrpSpPr>
        <p:grpSpPr>
          <a:xfrm>
            <a:off x="3082785" y="2165808"/>
            <a:ext cx="2289447" cy="2209106"/>
            <a:chOff x="4404360" y="1365000"/>
            <a:chExt cx="1772020" cy="14950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89DCBD9-64BB-ABF1-CFB6-E47A786093C5}"/>
                </a:ext>
              </a:extLst>
            </p:cNvPr>
            <p:cNvSpPr/>
            <p:nvPr/>
          </p:nvSpPr>
          <p:spPr>
            <a:xfrm>
              <a:off x="4404360" y="1365000"/>
              <a:ext cx="1772020" cy="338400"/>
            </a:xfrm>
            <a:prstGeom prst="rect">
              <a:avLst/>
            </a:prstGeom>
            <a:solidFill>
              <a:srgbClr val="37861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ko-KR" altLang="en-US"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한국기계연구원</a:t>
              </a:r>
              <a:endParaRPr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1E98BDD-AE6A-F28E-A013-6B3F9F9303B9}"/>
                </a:ext>
              </a:extLst>
            </p:cNvPr>
            <p:cNvSpPr/>
            <p:nvPr/>
          </p:nvSpPr>
          <p:spPr>
            <a:xfrm>
              <a:off x="4404360" y="1703400"/>
              <a:ext cx="1772020" cy="1156640"/>
            </a:xfrm>
            <a:prstGeom prst="rect">
              <a:avLst/>
            </a:prstGeom>
            <a:noFill/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95CE04A4-AE6B-C0BA-6005-10DDE887658B}"/>
              </a:ext>
            </a:extLst>
          </p:cNvPr>
          <p:cNvSpPr/>
          <p:nvPr/>
        </p:nvSpPr>
        <p:spPr>
          <a:xfrm>
            <a:off x="5997431" y="2665836"/>
            <a:ext cx="2289447" cy="1709078"/>
          </a:xfrm>
          <a:prstGeom prst="rect">
            <a:avLst/>
          </a:prstGeom>
          <a:noFill/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E46277-C0B0-AB61-5B9B-49466211D123}"/>
              </a:ext>
            </a:extLst>
          </p:cNvPr>
          <p:cNvSpPr txBox="1"/>
          <p:nvPr/>
        </p:nvSpPr>
        <p:spPr>
          <a:xfrm>
            <a:off x="157275" y="2687232"/>
            <a:ext cx="22894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나트륨이온 전지용</a:t>
            </a:r>
            <a:b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</a:b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층상형 양극제 제공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A6CA13-7B7E-A915-ADA1-1DA89B335BBE}"/>
              </a:ext>
            </a:extLst>
          </p:cNvPr>
          <p:cNvSpPr txBox="1"/>
          <p:nvPr/>
        </p:nvSpPr>
        <p:spPr>
          <a:xfrm>
            <a:off x="3082784" y="2711724"/>
            <a:ext cx="228944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배치식 </a:t>
            </a:r>
            <a: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ALD </a:t>
            </a: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공정 최적화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공정윈도우 확정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코팅층 종합 분석</a:t>
            </a:r>
            <a:b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</a:br>
            <a:r>
              <a:rPr lang="en-US" altLang="ko-KR" sz="11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(</a:t>
            </a:r>
            <a:r>
              <a:rPr lang="ko-KR" alt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미세구조</a:t>
            </a:r>
            <a:r>
              <a:rPr lang="en-US" altLang="ko-KR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</a:t>
            </a:r>
            <a:r>
              <a:rPr lang="ko-KR" alt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결정성</a:t>
            </a:r>
            <a:r>
              <a:rPr lang="en-US" altLang="ko-KR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</a:t>
            </a:r>
            <a:r>
              <a:rPr lang="ko-KR" alt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분광학적 분석</a:t>
            </a:r>
            <a:r>
              <a:rPr lang="en-US" altLang="ko-KR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</a:t>
            </a:r>
            <a:r>
              <a:rPr lang="ko-KR" alt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성분 분석</a:t>
            </a:r>
            <a:r>
              <a:rPr lang="en-US" altLang="ko-KR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</a:t>
            </a:r>
            <a:r>
              <a:rPr lang="ko-KR" alt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전기화학적 분석</a:t>
            </a:r>
            <a:r>
              <a:rPr lang="en-US" altLang="ko-KR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)</a:t>
            </a:r>
            <a:endParaRPr lang="en-US" altLang="ko-KR" sz="11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D9BDA6-B0FA-AC1C-1CB3-B46639DB5A32}"/>
              </a:ext>
            </a:extLst>
          </p:cNvPr>
          <p:cNvSpPr txBox="1"/>
          <p:nvPr/>
        </p:nvSpPr>
        <p:spPr>
          <a:xfrm>
            <a:off x="6008293" y="2711724"/>
            <a:ext cx="228944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레서피 적용 </a:t>
            </a:r>
            <a:b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</a:br>
            <a: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  <a:sym typeface="Wingdings" panose="05000000000000000000" pitchFamily="2" charset="2"/>
              </a:rPr>
              <a:t>스케일업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  <a:sym typeface="Wingdings" panose="05000000000000000000" pitchFamily="2" charset="2"/>
            </a:endParaRPr>
          </a:p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연속공정 안정화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10 kg/h </a:t>
            </a:r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양산 실증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  <a:p>
            <a:pPr marL="177800" indent="-177800" algn="just">
              <a:buFont typeface="Arial" panose="020B0604020202020204" pitchFamily="34" charset="0"/>
              <a:buChar char="•"/>
            </a:pP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1B7AFA-BAF9-8D13-F932-D1E10A22C7F4}"/>
              </a:ext>
            </a:extLst>
          </p:cNvPr>
          <p:cNvSpPr txBox="1"/>
          <p:nvPr/>
        </p:nvSpPr>
        <p:spPr>
          <a:xfrm>
            <a:off x="7654978" y="1389382"/>
            <a:ext cx="1657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코팅시료 제공</a:t>
            </a:r>
            <a:endParaRPr lang="en-US" sz="16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DCE290-BB53-108F-F0AA-4AE225CCF27D}"/>
              </a:ext>
            </a:extLst>
          </p:cNvPr>
          <p:cNvCxnSpPr>
            <a:cxnSpLocks/>
          </p:cNvCxnSpPr>
          <p:nvPr/>
        </p:nvCxnSpPr>
        <p:spPr>
          <a:xfrm>
            <a:off x="2563655" y="3391840"/>
            <a:ext cx="440888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A50A772-1591-D858-5064-465C04F427D7}"/>
              </a:ext>
            </a:extLst>
          </p:cNvPr>
          <p:cNvCxnSpPr>
            <a:cxnSpLocks/>
          </p:cNvCxnSpPr>
          <p:nvPr/>
        </p:nvCxnSpPr>
        <p:spPr>
          <a:xfrm>
            <a:off x="5471404" y="3376248"/>
            <a:ext cx="440888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6BD5669-F7CB-9E20-D45B-AABAE2633291}"/>
              </a:ext>
            </a:extLst>
          </p:cNvPr>
          <p:cNvCxnSpPr>
            <a:cxnSpLocks/>
          </p:cNvCxnSpPr>
          <p:nvPr/>
        </p:nvCxnSpPr>
        <p:spPr>
          <a:xfrm>
            <a:off x="5691847" y="2038111"/>
            <a:ext cx="0" cy="1322704"/>
          </a:xfrm>
          <a:prstGeom prst="line">
            <a:avLst/>
          </a:prstGeom>
          <a:ln w="9525">
            <a:solidFill>
              <a:schemeClr val="bg1"/>
            </a:solidFill>
            <a:tailEnd type="oval"/>
          </a:ln>
          <a:effectLst>
            <a:glow rad="63500">
              <a:srgbClr val="C00000">
                <a:alpha val="40000"/>
              </a:srgb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FE16079-7FC8-17F0-2996-58DA59170D67}"/>
              </a:ext>
            </a:extLst>
          </p:cNvPr>
          <p:cNvSpPr txBox="1"/>
          <p:nvPr/>
        </p:nvSpPr>
        <p:spPr>
          <a:xfrm>
            <a:off x="4303774" y="1427578"/>
            <a:ext cx="29656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레서피 패키지 제공</a:t>
            </a:r>
            <a:b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</a:br>
            <a: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(</a:t>
            </a:r>
            <a:r>
              <a:rPr lang="en-US" sz="12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온도</a:t>
            </a:r>
            <a:r>
              <a:rPr 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pulse </a:t>
            </a:r>
            <a:r>
              <a:rPr lang="en-US" sz="12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시간</a:t>
            </a:r>
            <a:r>
              <a:rPr 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, GPC, </a:t>
            </a:r>
            <a:r>
              <a:rPr lang="en-US" sz="12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공정</a:t>
            </a:r>
            <a:r>
              <a:rPr lang="en-US" sz="12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 </a:t>
            </a:r>
            <a:r>
              <a:rPr lang="en-US" sz="12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윈도우</a:t>
            </a:r>
            <a:r>
              <a:rPr lang="en-US" altLang="ko-KR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)</a:t>
            </a:r>
            <a:endParaRPr lang="en-US" sz="16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939D59F-A5CD-4A7B-AEEE-55CD24F7A512}"/>
              </a:ext>
            </a:extLst>
          </p:cNvPr>
          <p:cNvCxnSpPr>
            <a:cxnSpLocks/>
          </p:cNvCxnSpPr>
          <p:nvPr/>
        </p:nvCxnSpPr>
        <p:spPr>
          <a:xfrm>
            <a:off x="8297739" y="3374694"/>
            <a:ext cx="465261" cy="0"/>
          </a:xfrm>
          <a:prstGeom prst="straightConnector1">
            <a:avLst/>
          </a:prstGeom>
          <a:ln w="22225">
            <a:solidFill>
              <a:schemeClr val="tx1"/>
            </a:solidFill>
            <a:tailEnd type="arrow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397916-C1F4-650C-CC44-58270FDDD9FD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8483483" y="1727936"/>
            <a:ext cx="0" cy="1632879"/>
          </a:xfrm>
          <a:prstGeom prst="line">
            <a:avLst/>
          </a:prstGeom>
          <a:ln w="9525">
            <a:solidFill>
              <a:schemeClr val="bg1"/>
            </a:solidFill>
            <a:tailEnd type="oval"/>
          </a:ln>
          <a:effectLst>
            <a:glow rad="63500">
              <a:srgbClr val="C00000">
                <a:alpha val="40000"/>
              </a:srgbClr>
            </a:glow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8711B3F-DCF4-232F-A1EC-093307BD5E26}"/>
              </a:ext>
            </a:extLst>
          </p:cNvPr>
          <p:cNvGrpSpPr/>
          <p:nvPr/>
        </p:nvGrpSpPr>
        <p:grpSpPr>
          <a:xfrm>
            <a:off x="9003243" y="1931678"/>
            <a:ext cx="2289447" cy="2731459"/>
            <a:chOff x="9369859" y="1643456"/>
            <a:chExt cx="2289447" cy="273145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B22DFAF-71AE-75FE-907A-D949281C1979}"/>
                </a:ext>
              </a:extLst>
            </p:cNvPr>
            <p:cNvSpPr/>
            <p:nvPr/>
          </p:nvSpPr>
          <p:spPr>
            <a:xfrm>
              <a:off x="9369859" y="1643456"/>
              <a:ext cx="2289447" cy="500027"/>
            </a:xfrm>
            <a:prstGeom prst="rect">
              <a:avLst/>
            </a:prstGeom>
            <a:solidFill>
              <a:srgbClr val="37861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ko-KR" altLang="en-US"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한국기계연구원</a:t>
              </a:r>
              <a:endParaRPr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FCA991-EEFC-4DD1-5BDC-DF60507A75E2}"/>
                </a:ext>
              </a:extLst>
            </p:cNvPr>
            <p:cNvSpPr/>
            <p:nvPr/>
          </p:nvSpPr>
          <p:spPr>
            <a:xfrm>
              <a:off x="9369859" y="2143484"/>
              <a:ext cx="2289447" cy="652881"/>
            </a:xfrm>
            <a:prstGeom prst="rect">
              <a:avLst/>
            </a:prstGeom>
            <a:noFill/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FE437A5-4E04-63F3-AC81-DA8039E7F0AF}"/>
                </a:ext>
              </a:extLst>
            </p:cNvPr>
            <p:cNvSpPr/>
            <p:nvPr/>
          </p:nvSpPr>
          <p:spPr>
            <a:xfrm>
              <a:off x="9369859" y="3272007"/>
              <a:ext cx="2289447" cy="500027"/>
            </a:xfrm>
            <a:prstGeom prst="rect">
              <a:avLst/>
            </a:prstGeom>
            <a:solidFill>
              <a:srgbClr val="C0000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lang="ko-KR" altLang="en-US" sz="20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㈜씨오알엔</a:t>
              </a:r>
              <a:endParaRPr sz="2000" b="1" dirty="0">
                <a:solidFill>
                  <a:srgbClr val="FFFFFF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5620E916-BA4B-9D92-F822-8A8FCC86494C}"/>
                </a:ext>
              </a:extLst>
            </p:cNvPr>
            <p:cNvSpPr/>
            <p:nvPr/>
          </p:nvSpPr>
          <p:spPr>
            <a:xfrm>
              <a:off x="9369859" y="3772035"/>
              <a:ext cx="2289447" cy="602880"/>
            </a:xfrm>
            <a:prstGeom prst="rect">
              <a:avLst/>
            </a:prstGeom>
            <a:noFill/>
            <a:ln w="31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60448E-68E4-ACF7-F894-CA51A88B286F}"/>
                </a:ext>
              </a:extLst>
            </p:cNvPr>
            <p:cNvSpPr txBox="1"/>
            <p:nvPr/>
          </p:nvSpPr>
          <p:spPr>
            <a:xfrm>
              <a:off x="9369860" y="2312061"/>
              <a:ext cx="228944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7800" indent="-177800" algn="just">
                <a:buFont typeface="Arial" panose="020B0604020202020204" pitchFamily="34" charset="0"/>
                <a:buChar char="•"/>
              </a:pP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코팅층 분석</a:t>
              </a:r>
              <a:r>
                <a:rPr lang="en-US" altLang="ko-KR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/</a:t>
              </a:r>
              <a:r>
                <a:rPr lang="ko-KR" altLang="en-US" sz="1600" b="1" dirty="0">
                  <a:latin typeface="나눔스퀘어 ExtraBold" panose="020B0600000101010101" pitchFamily="50" charset="-127"/>
                  <a:ea typeface="나눔스퀘어 ExtraBold" panose="020B0600000101010101" pitchFamily="50" charset="-127"/>
                </a:rPr>
                <a:t>검증</a:t>
              </a:r>
              <a:endParaRPr lang="en-US" altLang="ko-KR" sz="11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A0C3282-9F0F-E174-CF8D-487E2758C17F}"/>
              </a:ext>
            </a:extLst>
          </p:cNvPr>
          <p:cNvGrpSpPr/>
          <p:nvPr/>
        </p:nvGrpSpPr>
        <p:grpSpPr>
          <a:xfrm>
            <a:off x="8743169" y="2696182"/>
            <a:ext cx="212443" cy="1380067"/>
            <a:chOff x="9157415" y="2553496"/>
            <a:chExt cx="212443" cy="1380067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525C7C3-C8ED-9801-02C2-190BC4ACBB9B}"/>
                </a:ext>
              </a:extLst>
            </p:cNvPr>
            <p:cNvCxnSpPr>
              <a:cxnSpLocks/>
            </p:cNvCxnSpPr>
            <p:nvPr/>
          </p:nvCxnSpPr>
          <p:spPr>
            <a:xfrm>
              <a:off x="9157415" y="2553496"/>
              <a:ext cx="0" cy="138006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none"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15B065C-E6A8-4909-2B07-6572153B4258}"/>
                </a:ext>
              </a:extLst>
            </p:cNvPr>
            <p:cNvGrpSpPr/>
            <p:nvPr/>
          </p:nvGrpSpPr>
          <p:grpSpPr>
            <a:xfrm>
              <a:off x="9157415" y="2553496"/>
              <a:ext cx="212443" cy="1380067"/>
              <a:chOff x="8786065" y="2553496"/>
              <a:chExt cx="583794" cy="1380067"/>
            </a:xfrm>
          </p:grpSpPr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E07608E-7A25-8822-909F-AB09A81585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86065" y="3933563"/>
                <a:ext cx="583794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arrow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7AB7E638-39FE-14D4-235E-A13CA417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86065" y="2553496"/>
                <a:ext cx="583794" cy="0"/>
              </a:xfrm>
              <a:prstGeom prst="straightConnector1">
                <a:avLst/>
              </a:prstGeom>
              <a:ln w="22225">
                <a:solidFill>
                  <a:schemeClr val="tx1"/>
                </a:solidFill>
                <a:tailEnd type="arrow"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6A869490-53C6-6822-5BE1-DBCF682B3D96}"/>
              </a:ext>
            </a:extLst>
          </p:cNvPr>
          <p:cNvSpPr txBox="1"/>
          <p:nvPr/>
        </p:nvSpPr>
        <p:spPr>
          <a:xfrm>
            <a:off x="9054988" y="4124685"/>
            <a:ext cx="22377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 algn="just">
              <a:buFont typeface="Arial" panose="020B0604020202020204" pitchFamily="34" charset="0"/>
              <a:buChar char="•"/>
            </a:pPr>
            <a:r>
              <a:rPr 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1Ah </a:t>
            </a:r>
            <a:r>
              <a:rPr lang="en-US" sz="16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파우치셀</a:t>
            </a:r>
            <a:r>
              <a:rPr 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 </a:t>
            </a:r>
            <a:br>
              <a:rPr 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</a:br>
            <a:r>
              <a:rPr lang="en-US" sz="1600" b="1" dirty="0" err="1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제작·평가</a:t>
            </a:r>
            <a:r>
              <a:rPr lang="en-US" sz="1600" b="1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 </a:t>
            </a:r>
            <a:endParaRPr lang="en-US" altLang="ko-KR" sz="1600" b="1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6FBC537-AD23-503C-489C-E3DD5184642A}"/>
              </a:ext>
            </a:extLst>
          </p:cNvPr>
          <p:cNvCxnSpPr>
            <a:cxnSpLocks/>
          </p:cNvCxnSpPr>
          <p:nvPr/>
        </p:nvCxnSpPr>
        <p:spPr>
          <a:xfrm>
            <a:off x="10031284" y="3091056"/>
            <a:ext cx="0" cy="469173"/>
          </a:xfrm>
          <a:prstGeom prst="straightConnector1">
            <a:avLst/>
          </a:prstGeom>
          <a:ln w="22225">
            <a:solidFill>
              <a:schemeClr val="tx1"/>
            </a:solidFill>
            <a:headEnd type="arrow"/>
            <a:tailEnd type="arrow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952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3.  ALD 공정의 자기제한 반응(Self-limiting growth) 메커니즘 및 사이클 도식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980000"/>
            <a:ext cx="2340000" cy="18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980000"/>
            <a:ext cx="23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Precursor A
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금속 전구체(A)를
표면 활성 사이트에
화학흡착 → 포화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54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88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88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Purge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전구체 및
부산물을 불활성
가스(N₂)로 제거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82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16000" y="1980000"/>
            <a:ext cx="2340000" cy="180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16000" y="1980000"/>
            <a:ext cx="23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Reactant B
(H₂O)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H₂O를 공급하여
표면 반응 완료
(산화물 형성)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44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4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④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2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H₂O 및
부산물 제거
→ 1 사이클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41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↺  위 4단계 사이클 반복  →  1 사이클당 GPC(Growth Per Cycle) = 0.1 ~ 2.0 Å  |  총 두께 = GPC × 사이클 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자기제한 반응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GPC는 pulse 시간과 무관
→ 두께 재현성 완벽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완전 피복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복잡한 3D 입자 형상도
100% 균일 코팅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nm 정밀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사이클 수로
1 nm 이하 제어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0" y="5580000"/>
            <a:ext cx="9360000" cy="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0" y="5688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  <a:latin typeface="맑은 고딕"/>
              </a:rPr>
              <a:t>공정 온도 (°C)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5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126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60000" y="1288800"/>
            <a:ext cx="4680000" cy="338400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100–250°C  ALD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" y="131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4B5"/>
                </a:solidFill>
                <a:latin typeface="맑은 고딕"/>
              </a:rPr>
              <a:t>Al₂O₃   (TMA / H₂O)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198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60000" y="2008800"/>
            <a:ext cx="3120000" cy="338400"/>
          </a:xfrm>
          <a:prstGeom prst="rect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100–200°C  ALD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203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10"/>
                </a:solidFill>
                <a:latin typeface="맑은 고딕"/>
              </a:rPr>
              <a:t>ZnO   (DEZn / H₂O)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0000" y="270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2728800"/>
            <a:ext cx="3120000" cy="338400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150–250°C  ALD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00" y="275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8E"/>
                </a:solidFill>
                <a:latin typeface="맑은 고딕"/>
              </a:rPr>
              <a:t>V₂O₅   (VTIP / H₂O)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342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20000" y="3448800"/>
            <a:ext cx="4680000" cy="338400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150–300°C  ALD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347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D7D31"/>
                </a:solidFill>
                <a:latin typeface="맑은 고딕"/>
              </a:rPr>
              <a:t>TiO₂   (TTIP / H₂O)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248000"/>
            <a:ext cx="648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1F497D"/>
                </a:solidFill>
                <a:latin typeface="맑은 고딕"/>
              </a:rPr>
              <a:t>■ 한국기계연구원 배치식 ALD 장비 2대에서 측정·확정 예정 (1차년도)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5.  본 과제 핵심 기술 연계 파이프라인
한국기계연구원 배치식 ALD 레시피 개발 → 대성기계공업 연속식 ALD 이전·적용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792000"/>
            <a:ext cx="2700000" cy="792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F497D"/>
                </a:solidFill>
                <a:latin typeface="맑은 고딕"/>
              </a:rPr>
              <a:t>에버인더스
고-Ni 층상 양극재 제공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60000" y="1188000"/>
            <a:ext cx="54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00000" y="720000"/>
            <a:ext cx="4860000" cy="36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0000" y="720000"/>
            <a:ext cx="486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한국기계연구원  (배치식 ALD 장비 2대 보유)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ED7D31"/>
                </a:solidFill>
                <a:latin typeface="맑은 고딕"/>
              </a:rPr>
              <a:t>ALD #1
TiO₂  (TTIP/H₂O)
→ 1차년도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8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2E74B5"/>
                </a:solidFill>
                <a:latin typeface="맑은 고딕"/>
              </a:rPr>
              <a:t>ALD #2
Al₂O₃ (TMA/H₂O)
→ 1차년도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7B2F8E"/>
                </a:solidFill>
                <a:latin typeface="맑은 고딕"/>
              </a:rPr>
              <a:t>ALD #1
V₂O₅  (VTIP/H₂O)
→ 2차년도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48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378610"/>
                </a:solidFill>
                <a:latin typeface="맑은 고딕"/>
              </a:rPr>
              <a:t>ALD #2
ZnO   (DEZn/H₂O)
→ 2차년도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8000" y="34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→ 공정 윈도우 확정 → 레시피 패키지 작성 (GPC, 온도, pulse/purge 시간, NDA 체결)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0000" y="4392000"/>
            <a:ext cx="0" cy="46800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00000" y="442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 (NDA 체결)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4860000"/>
            <a:ext cx="4860000" cy="1368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0" y="4860000"/>
            <a:ext cx="486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대성기계공업  (연속식 분말 ALD 장비 보유)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529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① FBR에 레시피 적용 (1차) → ② OPERIO 10 이전 (2차) → ③ 10 kg/h 양산 (3차)
RTD 기반 체류시간 최적화 | 연속 운전 안정화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68000" y="5544000"/>
            <a:ext cx="612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80000" y="5040000"/>
            <a:ext cx="2700000" cy="1188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기계연 코팅층 분석
HRTEM / EELS / XPS
→ 품질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000" y="792000"/>
            <a:ext cx="2700000" cy="1152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씨오알엔 (CORN)
전극 제조
1Ah 파우치셀 제작·평가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배치식 ALD에서 확립한 레시피가 대성기계 연속식 ALD에 이전되며, 기계연이 코팅 시료를 분석·검증하는 순환 피드백 구조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6.  연속식 분말 ALD 기술의 산업별 응용 분야 및 시장 확장 가능성</a:t>
            </a:r>
          </a:p>
        </p:txBody>
      </p:sp>
      <p:sp>
        <p:nvSpPr>
          <p:cNvPr id="3" name="Oval 2"/>
          <p:cNvSpPr/>
          <p:nvPr/>
        </p:nvSpPr>
        <p:spPr>
          <a:xfrm>
            <a:off x="5112001" y="2772001"/>
            <a:ext cx="2015998" cy="2015998"/>
          </a:xfrm>
          <a:prstGeom prst="ellipse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연속식
분말 ALD
플랫폼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000" y="3420000"/>
            <a:ext cx="2088000" cy="72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이차전지
양극재·음극재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611600" y="3780000"/>
            <a:ext cx="500401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51999" y="1299969"/>
            <a:ext cx="2088000" cy="720000"/>
          </a:xfrm>
          <a:prstGeom prst="roundRect">
            <a:avLst/>
          </a:prstGeom>
          <a:solidFill>
            <a:srgbClr val="378610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촉매·촉매 지지체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365799" y="1940562"/>
            <a:ext cx="250201" cy="966485"/>
          </a:xfrm>
          <a:prstGeom prst="line">
            <a:avLst/>
          </a:prstGeom>
          <a:ln w="19050">
            <a:solidFill>
              <a:srgbClr val="37861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000" y="1299969"/>
            <a:ext cx="2088000" cy="720000"/>
          </a:xfrm>
          <a:prstGeom prst="roundRect">
            <a:avLst/>
          </a:prstGeom>
          <a:solidFill>
            <a:srgbClr val="2E74B5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수소연료전지
전극재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623999" y="1940562"/>
            <a:ext cx="250201" cy="966485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24000" y="3420000"/>
            <a:ext cx="2088000" cy="720000"/>
          </a:xfrm>
          <a:prstGeom prst="roundRect">
            <a:avLst/>
          </a:prstGeom>
          <a:solidFill>
            <a:srgbClr val="7B2F8E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전자·반도체
소재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7999" y="3780000"/>
            <a:ext cx="500401" cy="0"/>
          </a:xfrm>
          <a:prstGeom prst="line">
            <a:avLst/>
          </a:prstGeom>
          <a:ln w="1905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0000" y="5540030"/>
            <a:ext cx="2088000" cy="7200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기능성 세라믹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3999" y="4652952"/>
            <a:ext cx="250201" cy="966485"/>
          </a:xfrm>
          <a:prstGeom prst="line">
            <a:avLst/>
          </a:prstGeom>
          <a:ln w="1905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2000" y="5540030"/>
            <a:ext cx="2088000" cy="72000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에너지저장
소재 (ESS)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65800" y="4652952"/>
            <a:ext cx="250200" cy="966485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0000" y="6534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본 과제에서 개발되는 연속식 분말 ALD 공정 기술은 배터리 소재 외 다양한 산업 분야로 확장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7.  1차년도: 한국기계연구원 배치식 ALD 장비 2대 병렬 운용
TiO₂·Al₂O₃ 레시피 개발 및 대성기계 FBR 이전 프로세스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2160000" cy="7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에버인더스
(양극재 제공)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40000" y="1260000"/>
            <a:ext cx="540000" cy="0"/>
          </a:xfrm>
          <a:prstGeom prst="line">
            <a:avLst/>
          </a:prstGeom>
          <a:ln w="317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000" y="7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0" y="792000"/>
            <a:ext cx="360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#1  (TiO₂)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TTIP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150~300°C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0" y="25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0" y="2592000"/>
            <a:ext cx="360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#2  (Al₂O₃)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000" y="2951999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TMA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100~250°C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80000" y="1602000"/>
            <a:ext cx="720000" cy="0"/>
          </a:xfrm>
          <a:prstGeom prst="line">
            <a:avLst/>
          </a:prstGeom>
          <a:ln w="254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80000" y="3401999"/>
            <a:ext cx="720000" cy="0"/>
          </a:xfrm>
          <a:prstGeom prst="line">
            <a:avLst/>
          </a:prstGeom>
          <a:ln w="2540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00000" y="1260000"/>
            <a:ext cx="2340000" cy="18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레시피 패키지
(온도·GPC·pulse
/purge 시간·
공정 윈도우)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8000" y="3240000"/>
            <a:ext cx="2160000" cy="27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NDA 체결 → 기계연→대성기계 이전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40000" y="2160000"/>
            <a:ext cx="72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60000" y="1620000"/>
            <a:ext cx="1800000" cy="1080000"/>
          </a:xfrm>
          <a:prstGeom prst="roundRect">
            <a:avLst/>
          </a:prstGeom>
          <a:solidFill>
            <a:srgbClr val="E2EFD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대성기계
FBR 적용
검증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80000" y="4140000"/>
            <a:ext cx="720000" cy="54000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00000" y="4680000"/>
            <a:ext cx="4500000" cy="12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00000" y="4680000"/>
            <a:ext cx="450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 분석 (기계연)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5022000"/>
            <a:ext cx="43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SEM-EDX | TEM | XRD | XPS | Raman | BET | PSD
→ 코팅 두께·균일도·조성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장비 #1(TiO₂)과 #2(Al₂O₃)를 동시 병렬 운용하여 1차년도 내 2종 레시피를 확립하고 대성기계 FBR로 이전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8.  에버인더스 제공 고-Ni 층상 나트륨이온전지 양극재 ALD 코팅 전
기초 특성 분석 (SEM, XRD, XPS, BET)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900000"/>
            <a:ext cx="2448000" cy="39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SEM-EDX
(형상·입도)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1차 입자 형상 확인
• 입도 분포 (D50)
• 원소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40000" y="900000"/>
            <a:ext cx="2448000" cy="39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XRD
(결정 구조)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R-3m 공간군 확인
• 격자 상수 측정
• 불순물 상 검출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0000" y="900000"/>
            <a:ext cx="2448000" cy="39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XPS
(표면 화학)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Ni/Mn/Fe 산화수
• 표면 Na 농도
• 결합 에너지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00000" y="900000"/>
            <a:ext cx="2448000" cy="396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BET / PSD
(비표면적)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비표면적 (m²/g)
• 기공 크기 분포
• 입도 분포 (D10/50/90)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031999"/>
            <a:ext cx="11520000" cy="360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목적: ALD 코팅 전 초기 양극재 baseline 특성 확립 → 코팅 후 특성 변화 정량 비교를 위한 기준값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4500000"/>
            <a:ext cx="11520000" cy="1260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4572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예상 특성값 범위:
• 입도 (D50): 5~15 μm  |  비표면적: 0.5~2.0 m²/g
• 결정 구조: R-3m 공간군 (Layered 구조)  |  Ni 함량: 40~60 at%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9.  배치식 ALD 장비에서 측정한 TiO₂ 및 Al₂O₃ Self-limiting 반응 조건
(GPC vs. 전구체 Pulse 시간) — 포화 구간이 연속식 FBR 최소 체류시간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D7D31"/>
                </a:solidFill>
                <a:latin typeface="맑은 고딕"/>
              </a:rPr>
              <a:t>TiO₂ (TTIP/H₂O)
온도: ~200°C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7" name="Oval 6"/>
          <p:cNvSpPr/>
          <p:nvPr/>
        </p:nvSpPr>
        <p:spPr>
          <a:xfrm>
            <a:off x="1196800" y="41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6800" y="35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1240000" y="3600000"/>
            <a:ext cx="520000" cy="600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36800" y="314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1760000" y="3192000"/>
            <a:ext cx="520000" cy="40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56800" y="29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0000" y="3000000"/>
            <a:ext cx="520000" cy="192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7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800000" y="2952000"/>
            <a:ext cx="520000" cy="4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79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20000" y="2952000"/>
            <a:ext cx="52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3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3840000" y="2952000"/>
            <a:ext cx="104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78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~2.0 s → GPC ≈ 0.7 Å/cycle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000" y="1080000"/>
            <a:ext cx="260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8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4B5"/>
                </a:solidFill>
                <a:latin typeface="맑은 고딕"/>
              </a:rPr>
              <a:t>Al₂O₃ (TMA/H₂O)
온도: ~150°C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27" name="Oval 26"/>
          <p:cNvSpPr/>
          <p:nvPr/>
        </p:nvSpPr>
        <p:spPr>
          <a:xfrm>
            <a:off x="6644800" y="39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56800" y="29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6688000" y="3000000"/>
            <a:ext cx="312000" cy="96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68800" y="23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 flipV="1">
            <a:off x="7000000" y="2400000"/>
            <a:ext cx="312000" cy="60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76800" y="21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7312000" y="2160000"/>
            <a:ext cx="208000" cy="24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9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20000" y="2087999"/>
            <a:ext cx="520000" cy="72001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51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8040000" y="2087999"/>
            <a:ext cx="52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55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560000" y="2087999"/>
            <a:ext cx="104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5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~1.0 s → GPC ≈ 1.08 Å/cycle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0000" y="1080000"/>
            <a:ext cx="364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포화 Pulse 시간 → 대성기계 FBR의 최소 체류시간(RTD) 기준으로 이전 (batch pulse time → continuous RTD 변환)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Self-limiting 영역(붉은 음영): GPC가 pulse 시간과 무관하게 일정 → 재현성 보장 구간. 기계연이 이 구간을 확정하여 대성기계에 이전.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10.  TiO₂ ALD 코팅 후 양극재 TEM 단면 이미지 및 코팅층 두께 측정
(배치식 ALD GPC 예측값과 비교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600000" cy="288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코팅 전 (Bare)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결정 격자 명확
표면 원자 노출
코팅층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600000" cy="21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600000" cy="288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(30 cycle, ~2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2.1 ± 0.2 nm
격자-코팅 계면 명확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600000" cy="32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600000" cy="288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(50 cycle, ~3.5 nm)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3.4 ± 0.3 nm
GPC × 사이클 일치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220000"/>
            <a:ext cx="1152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GPC 예측값 검증 (배치식 ALD #1, TiO₂, ~200°C)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사이클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예측 두께 (GPC × cycle)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TEM 측정값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오차 (%)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30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2.1 nm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2.1 ± 0.2 nm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50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3.5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3.4 ± 0.3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&lt;5%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11.  배치식 ALD 코팅(TiO₂/Al₂O₃) 전후 Coin Cell 초기 충방전 곡선 비교
(Na 반전극, 0.1C, 2.0–4.2V)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720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0000" y="5399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비용량 (mAh/g)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23999"/>
            <a:ext cx="50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497D"/>
                </a:solidFill>
                <a:latin typeface="맑은 고딕"/>
              </a:rPr>
              <a:t>전압
(V vs.
Na/Na⁺)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6000" y="531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1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6000" y="4331780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4238180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6000" y="3349962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3256362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000" y="2368144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000" y="2274544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" y="1386326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000" y="1292726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" y="99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89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382544"/>
            <a:ext cx="978000" cy="29634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40000" y="1793453"/>
            <a:ext cx="97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0000" y="1400726"/>
            <a:ext cx="193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20000" y="1204362"/>
            <a:ext cx="978000" cy="21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80000" y="1106180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60000" y="1007999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00000" y="1007999"/>
            <a:ext cx="25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80000" y="1106180"/>
            <a:ext cx="73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1204362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60000" y="1597089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20000" y="1989817"/>
            <a:ext cx="145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80000" y="2578908"/>
            <a:ext cx="1458000" cy="237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0000" y="2382544"/>
            <a:ext cx="1218000" cy="29634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0000" y="1793453"/>
            <a:ext cx="1218000" cy="6070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80000" y="1400726"/>
            <a:ext cx="193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00000" y="1204362"/>
            <a:ext cx="1218000" cy="2143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00000" y="1106180"/>
            <a:ext cx="49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60000" y="1106180"/>
            <a:ext cx="73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00000" y="1204362"/>
            <a:ext cx="978000" cy="31254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0000" y="1498908"/>
            <a:ext cx="97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000000" y="1891635"/>
            <a:ext cx="1458000" cy="50890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320000" y="2382544"/>
            <a:ext cx="1698000" cy="257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80000" y="2382544"/>
            <a:ext cx="1074000" cy="296345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136000" y="1793453"/>
            <a:ext cx="1266000" cy="60709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4000" y="1400726"/>
            <a:ext cx="193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4000" y="1204362"/>
            <a:ext cx="1170000" cy="2143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56000" y="1106180"/>
            <a:ext cx="498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4000" y="1106180"/>
            <a:ext cx="690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4000" y="1204362"/>
            <a:ext cx="978000" cy="31254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44000" y="1498908"/>
            <a:ext cx="97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904000" y="1891635"/>
            <a:ext cx="1458000" cy="50890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24000" y="2382544"/>
            <a:ext cx="1698000" cy="257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00000" y="792000"/>
            <a:ext cx="432000" cy="14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0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 (미코팅)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60000" y="792000"/>
            <a:ext cx="432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6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0000" y="792000"/>
            <a:ext cx="432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3999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1차년도 평가 목표값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8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방전 용량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68000" y="169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120 mAh/g 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8000" y="20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쿨롱 효율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8000" y="23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80%  (목표치)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8000" y="27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계면저항 (EIS)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8000" y="29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70 Ω·cm²  코팅 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8000" y="33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코팅 피복률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8000" y="36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85%  TEM/XPS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68000" y="4031999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GPC 재현성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8000" y="42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15%  배치 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12.  2차년도: 4종 ALD 레시피 완성 → 대성기계 OPERIO 10 이전·검증·피드백 루프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792000"/>
            <a:ext cx="5040000" cy="5040000"/>
          </a:xfrm>
          <a:prstGeom prst="rect">
            <a:avLst/>
          </a:prstGeom>
          <a:solidFill>
            <a:srgbClr val="E6F0F8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한국기계연구원 (2차년도 추가)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00" y="126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7B2F8E"/>
                </a:solidFill>
                <a:latin typeface="맑은 고딕"/>
              </a:rPr>
              <a:t>ALD #1
V₂O₅ (VTIP/H₂O)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" y="270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70C0"/>
                </a:solidFill>
                <a:latin typeface="맑은 고딕"/>
              </a:rPr>
              <a:t>ALD #2
ZnO (DEZn/H₂O)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3671999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1차 확립 완료:
  • TiO₂ (ALD #1) + Al₂O₃ (ALD #2)
2차 신규 개발:
  • V₂O₅ (ALD #1) + ZnO (ALD #2)
→ 4종 레시피 DB 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20000" y="3240000"/>
            <a:ext cx="900000" cy="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48000" y="288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D7D31"/>
                </a:solidFill>
                <a:latin typeface="맑은 고딕"/>
              </a:rPr>
              <a:t>레시피
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2160000"/>
            <a:ext cx="3240000" cy="2160000"/>
          </a:xfrm>
          <a:prstGeom prst="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2160000"/>
            <a:ext cx="32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 OPERIO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0" y="2556000"/>
            <a:ext cx="30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레시피 적용
• TiO₂ / Al₂O₃ (1차 이전)
• V₂O₅ / ZnO (2차 이전)
RTD 기반 공정 최적화
처리량 향상 (kg/h 단위)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0000" y="3240000"/>
            <a:ext cx="72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88000" y="2951999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맑은 고딕"/>
              </a:rPr>
              <a:t>시료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0000" y="2160000"/>
            <a:ext cx="1980000" cy="21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80000" y="2160000"/>
            <a:ext cx="198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기계연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2000" y="2520000"/>
            <a:ext cx="1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HRTEM/EELS
Raman/FTIR
XPS
SEM-EDX
→ 품질 확인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70000" y="4320000"/>
            <a:ext cx="0" cy="90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420000" y="5220000"/>
            <a:ext cx="7650000" cy="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0000" y="5040000"/>
            <a:ext cx="0" cy="18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40000" y="4968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맑은 고딕"/>
              </a:rPr>
              <a:t>← 피드백: 레시피 수정·재이전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0000" y="4680000"/>
            <a:ext cx="3600000" cy="9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전기화학 평가
Coin Cell 100 cycle @ 0.5C
→ 용량 유지율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13.  HRTEM을 통한 배치식 ALD vs. 연속식 ALD(OPERIO 10) 코팅층 품질 비교
— 레시피 이전 적합성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배치식 ALD
(기계연, 레시피 원본)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균일 비결정질 TiO₂ 코팅층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2.0 ± 0.15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선명, 핀홀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× 사이클 정확 일치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0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연속식 ALD
(대성기계 OPERIO 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152000"/>
            <a:ext cx="5040000" cy="180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이전 후 코팅층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2.1 ± 0.25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선명도 배치와 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피복률 ≥ 90% 목표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220000"/>
            <a:ext cx="11160000" cy="7200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000" y="5292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검증 기준: 배치식 ALD 두께 대비 연속식 ALD 두께 편차 ≤ 10%  →  레시피 이전 성공 판정
→ 편차 &gt; 10%일 경우 기계연-대성기계 피드백 루프로 레시피 재조정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14.  4종 ALD 코팅 전후 고-Ni 층상 양극재 Raman 스펙트럼 비교
(양극재 구조 보존 및 코팅층 상(Phase) 확인)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756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75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Raman Shift (cm⁻¹)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059999"/>
            <a:ext cx="5039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강도 (a.u.)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68000" y="3780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A₁g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500" y="2916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Eg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901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9201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9390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9579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9768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995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20146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0335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20524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13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090250" y="4118399"/>
            <a:ext cx="21600" cy="1209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1091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1280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1469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58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84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2036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2225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2414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2603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279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802250" y="3866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Eg(TiO₂)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63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42826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43015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43204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43393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4358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3771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43960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44149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4338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452750" y="4809599"/>
            <a:ext cx="21600" cy="518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44716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44905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45094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45283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4547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45661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45850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6039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46228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641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164750" y="45576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B1g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7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54166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54355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54544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54733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5492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5111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5300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5489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5678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586750" y="4982399"/>
            <a:ext cx="21600" cy="34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6056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245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434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6623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681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57001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57190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7379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57568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5775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298750" y="4730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A1g+B1g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440000" y="1115999"/>
            <a:ext cx="360000" cy="12599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187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80000" y="1115999"/>
            <a:ext cx="360000" cy="12599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421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20000" y="1115999"/>
            <a:ext cx="360000" cy="12599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67"/>
          <p:cNvSpPr txBox="1"/>
          <p:nvPr/>
        </p:nvSpPr>
        <p:spPr>
          <a:xfrm>
            <a:off x="655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Raman 분석 해석 포인트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568000" y="140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A₁g (~590 cm⁻¹):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568000" y="1684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TM-O 스트레칭 모드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568000" y="1965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코팅 후 이동/억압 없으면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568000" y="2246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  양극재 구조 보존 확인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8568000" y="2527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8568000" y="280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Eg (~480 cm⁻¹):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568000" y="3088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O-TM-O 굽힘 모드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568000" y="3369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8568000" y="3650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TiO₂ 코팅층 확인: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568000" y="3931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145 cm⁻¹ Eg 피크 출현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8568000" y="421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ALD TiO₂ 비결정질 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15.  4종 ALD 산화물 코팅 양극재 Coin Cell 100 사이클 용량 유지율 비교
(배치식 ALD, Na 반전극, 0.5C)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864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86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사이클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59999"/>
            <a:ext cx="6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용량 유지율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014479"/>
            <a:ext cx="446400" cy="18929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000" y="1189374"/>
            <a:ext cx="446400" cy="1759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84000" y="1350882"/>
            <a:ext cx="446400" cy="1517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6000" y="1488259"/>
            <a:ext cx="446400" cy="1162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48000" y="1590089"/>
            <a:ext cx="446400" cy="11405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000" y="1689749"/>
            <a:ext cx="446400" cy="99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2000" y="1774772"/>
            <a:ext cx="446400" cy="870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4000" y="1847405"/>
            <a:ext cx="446400" cy="6142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6000" y="1894431"/>
            <a:ext cx="446400" cy="676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08000" y="1947700"/>
            <a:ext cx="446400" cy="601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40000" y="1993455"/>
            <a:ext cx="446400" cy="38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72000" y="2017728"/>
            <a:ext cx="446400" cy="484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04000" y="2051737"/>
            <a:ext cx="446400" cy="4385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000" y="2081188"/>
            <a:ext cx="446400" cy="3999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68000" y="2106781"/>
            <a:ext cx="446400" cy="2160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0000" y="2113988"/>
            <a:ext cx="446400" cy="3396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32000" y="2133551"/>
            <a:ext cx="446400" cy="3162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4000" y="2150774"/>
            <a:ext cx="446400" cy="1452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96000" y="2150896"/>
            <a:ext cx="446400" cy="2796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8000" y="2164461"/>
            <a:ext cx="446400" cy="2654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6000" y="2068607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Bare (미코팅): 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1014479"/>
            <a:ext cx="446400" cy="10307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52000" y="1103158"/>
            <a:ext cx="446400" cy="1029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584000" y="1191686"/>
            <a:ext cx="446400" cy="9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6000" y="1267287"/>
            <a:ext cx="446400" cy="639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448000" y="1316824"/>
            <a:ext cx="446400" cy="697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80000" y="1372219"/>
            <a:ext cx="446400" cy="619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12000" y="1419773"/>
            <a:ext cx="446400" cy="553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744000" y="1460689"/>
            <a:ext cx="446400" cy="345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76000" y="1480868"/>
            <a:ext cx="446400" cy="449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08000" y="1511410"/>
            <a:ext cx="446400" cy="409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40000" y="1537927"/>
            <a:ext cx="446400" cy="223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72000" y="1545916"/>
            <a:ext cx="446400" cy="346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04000" y="1566141"/>
            <a:ext cx="446400" cy="32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6000" y="1583924"/>
            <a:ext cx="446400" cy="3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768000" y="1598487"/>
            <a:ext cx="446400" cy="15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00000" y="1598487"/>
            <a:ext cx="446400" cy="2688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632000" y="1610973"/>
            <a:ext cx="446400" cy="256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64000" y="1617256"/>
            <a:ext cx="446400" cy="193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496000" y="1617256"/>
            <a:ext cx="446400" cy="23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928000" y="1626529"/>
            <a:ext cx="446400" cy="22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96000" y="1527042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D7D31"/>
                </a:solidFill>
                <a:latin typeface="맑은 고딕"/>
              </a:rPr>
              <a:t>TiO₂ ALD: 85%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0" y="1014479"/>
            <a:ext cx="446400" cy="8981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2000" y="1089894"/>
            <a:ext cx="446400" cy="917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584000" y="1167195"/>
            <a:ext cx="446400" cy="80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016000" y="1233291"/>
            <a:ext cx="446400" cy="558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48000" y="1274783"/>
            <a:ext cx="446400" cy="62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80000" y="1323368"/>
            <a:ext cx="446400" cy="561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312000" y="1365157"/>
            <a:ext cx="446400" cy="504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744000" y="1401194"/>
            <a:ext cx="446400" cy="3044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6000" y="1417242"/>
            <a:ext cx="446400" cy="4144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608000" y="1444289"/>
            <a:ext cx="446400" cy="3795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040000" y="1467846"/>
            <a:ext cx="446400" cy="198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72000" y="1473330"/>
            <a:ext cx="446400" cy="325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904000" y="1491434"/>
            <a:ext cx="446400" cy="303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336000" y="1507422"/>
            <a:ext cx="446400" cy="285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68000" y="1519180"/>
            <a:ext cx="446400" cy="1683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0000" y="1519180"/>
            <a:ext cx="446400" cy="2579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632000" y="1530577"/>
            <a:ext cx="446400" cy="247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064000" y="1535158"/>
            <a:ext cx="446400" cy="201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96000" y="1535158"/>
            <a:ext cx="446400" cy="2301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928000" y="1543771"/>
            <a:ext cx="446400" cy="223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6000" y="1443724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E74B5"/>
                </a:solidFill>
                <a:latin typeface="맑은 고딕"/>
              </a:rPr>
              <a:t>Al₂O₃ ALD: 87%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0" y="1014479"/>
            <a:ext cx="446400" cy="11634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52000" y="1116422"/>
            <a:ext cx="446400" cy="11415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584000" y="1216178"/>
            <a:ext cx="446400" cy="995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016000" y="1301282"/>
            <a:ext cx="446400" cy="7198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448000" y="1358865"/>
            <a:ext cx="446400" cy="766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80000" y="1421070"/>
            <a:ext cx="446400" cy="6771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12000" y="1474388"/>
            <a:ext cx="446400" cy="6019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4000" y="1520184"/>
            <a:ext cx="446400" cy="3870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76000" y="1544493"/>
            <a:ext cx="446400" cy="4843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608000" y="1578532"/>
            <a:ext cx="446400" cy="4387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040000" y="1608008"/>
            <a:ext cx="446400" cy="2489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472000" y="1618503"/>
            <a:ext cx="446400" cy="3674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04000" y="1640848"/>
            <a:ext cx="446400" cy="3397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336000" y="1660426"/>
            <a:ext cx="446400" cy="3163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768000" y="1677662"/>
            <a:ext cx="446400" cy="1453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200000" y="1677795"/>
            <a:ext cx="446400" cy="2797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632000" y="1691370"/>
            <a:ext cx="446400" cy="2655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64000" y="1699355"/>
            <a:ext cx="446400" cy="1856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496000" y="1699355"/>
            <a:ext cx="446400" cy="2433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928000" y="1709288"/>
            <a:ext cx="446400" cy="23471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396000" y="161036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B2F8E"/>
                </a:solidFill>
                <a:latin typeface="맑은 고딕"/>
              </a:rPr>
              <a:t>V₂O₅ ALD: 84%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0000" y="1014479"/>
            <a:ext cx="446400" cy="10971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152000" y="1109790"/>
            <a:ext cx="446400" cy="1085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584000" y="1203932"/>
            <a:ext cx="446400" cy="9475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016000" y="1284285"/>
            <a:ext cx="446400" cy="6796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448000" y="1337845"/>
            <a:ext cx="446400" cy="73199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880000" y="1396644"/>
            <a:ext cx="446400" cy="6483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312000" y="1447080"/>
            <a:ext cx="446400" cy="5775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744000" y="1490437"/>
            <a:ext cx="446400" cy="3664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176000" y="1512680"/>
            <a:ext cx="446400" cy="4669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4608000" y="1544971"/>
            <a:ext cx="446400" cy="4239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040000" y="1572968"/>
            <a:ext cx="446400" cy="236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72000" y="1582210"/>
            <a:ext cx="446400" cy="35685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904000" y="1603495"/>
            <a:ext cx="446400" cy="3308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36000" y="1622175"/>
            <a:ext cx="446400" cy="3087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768000" y="1638141"/>
            <a:ext cx="446400" cy="1491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7200000" y="1638141"/>
            <a:ext cx="446400" cy="2743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632000" y="1651172"/>
            <a:ext cx="446400" cy="2609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064000" y="1658306"/>
            <a:ext cx="446400" cy="18958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496000" y="1658306"/>
            <a:ext cx="446400" cy="2400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928000" y="1667909"/>
            <a:ext cx="446400" cy="2319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396000" y="1568701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10"/>
                </a:solidFill>
                <a:latin typeface="맑은 고딕"/>
              </a:rPr>
              <a:t>ZnO ALD: 85%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0000" y="1645199"/>
            <a:ext cx="8640000" cy="2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8000" y="1404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맑은 고딕"/>
              </a:rPr>
              <a:t>목표: 85% 이상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000" y="219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0000" y="197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1763998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60000" y="1547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0000" y="1331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0000" y="111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000" y="89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5868000"/>
            <a:ext cx="1152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2차년도 목표: 배치식 ALD 코팅 시료 100 cycle 용량 유지율 ≥ 85%  (Na 반전극, 0.5C, 2.0–4.2V)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16.  3차년도: 최종 레시피 양산(10 kg/h) 이전·검증 체계 및 1Ah 파우치셀 연계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3240000" cy="198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900000"/>
            <a:ext cx="32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레시피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1260000"/>
            <a:ext cx="30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ALD 레시피 DB 완성
• TiO₂  • Al₂O₃  • V₂O₅  • ZnO
GPC × 사이클 → 두께 예측 공식
공정 윈도우 데이터베이스
레시피 패키지 최종본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20000" y="1890000"/>
            <a:ext cx="72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48000" y="1620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ED7D31"/>
                </a:solidFill>
                <a:latin typeface="맑은 고딕"/>
              </a:rPr>
              <a:t>최종 이전
(10 kg/h)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0000" y="900000"/>
            <a:ext cx="3600000" cy="198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40000" y="900000"/>
            <a:ext cx="36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대성기계 10 kg/h 연속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2000" y="1260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24시간 연속 운전 안정화
두께 편차 ≤ 5% 달성
GPC 재현성 ≤ 5%
SOP (표준 운전 절차) 완성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40000" y="1890000"/>
            <a:ext cx="54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80000" y="900000"/>
            <a:ext cx="3780000" cy="198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900000"/>
            <a:ext cx="378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분석·검증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000" y="126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HRTEM·EELS (원자 계면)
XPS·Raman·FTIR
Post-mortem 분석 (200 cycle)
코팅 피복률 ≥ 95% 달성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0000" y="2880000"/>
            <a:ext cx="0" cy="540000"/>
          </a:xfrm>
          <a:prstGeom prst="line">
            <a:avLst/>
          </a:prstGeom>
          <a:ln w="381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060000" y="3420000"/>
            <a:ext cx="6120000" cy="1980000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60000" y="3420000"/>
            <a:ext cx="6120000" cy="324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씨오알엔 (CORN) — 1Ah 파우치셀 제작·평가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999" y="3780000"/>
            <a:ext cx="59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1Ah 파우치셀 제작 → 충방전 평가 (0.1C, 0.5C, 1C)
계면저항 ≤ 50 Ω·cm²  |  쿨롱 효율 ≥ 85%
전극 제조 조건 최적화  |  셀 레벨 특성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최종 레시피 DB가 대성기계 10 kg/h 연속 운전으로 이전되고, 씨오알엔의 1Ah 파우치셀 평가로 기술 완성도를 검증하는 3차년도 최종 체계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17.  Post-mortem TEM 분석: 200 cycle 충방전 후 ALD TiO₂ 코팅층 구조 안정성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초기 상태
(코팅 직후)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780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3744000"/>
            <a:ext cx="378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초기 상태
(코팅 직후)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2 nm TiO₂ 코팅
계면 명확
Ni 표면 산화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100 cycle 후
(Post-mortem)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780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3744000"/>
            <a:ext cx="378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 cycle 후
(Post-mortem)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두께 유지
계면 미세 변화 모니터링
SEI 층 형성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200 cycle 후
(Post-mortem)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780000" cy="14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3744000"/>
            <a:ext cx="3780000" cy="30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200 cycle 후
(Post-mortem)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구조 안정성
최종 확인
두께 편차 ≤ 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4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0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Post-mortem 분석 항목:  HRTEM (코팅층 두께)  |  EELS (TM 원자가 변화)  |  XPS (표면 산화)  |  SEM-EDX (원소 분포)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436000"/>
            <a:ext cx="11520000" cy="684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5508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3차년도 목표: 200 cycle 후 코팅층 두께 유지율 ≥ 90%,  Ni²⁺→Ni⁴⁺ 산화 억제 효과 EELS 정량 확인
→ ALD 계면 보호층의 장기 안정성 규명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18.  한국기계연구원 ↔ 대성기계공업 ALD 레시피 이전 및 품질 검증 피드백 순환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440000"/>
            <a:ext cx="4320000" cy="324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440000"/>
            <a:ext cx="432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한국기계연구원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배치식 ALD 장비 2대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레시피 개발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Self-limiting 조건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측정·검증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HRTEM·XPS·Raman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품질 판정 (OK/NG)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수정 (피드백 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0000" y="1440000"/>
            <a:ext cx="4320000" cy="324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80000" y="1440000"/>
            <a:ext cx="432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대성기계공업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연속식 분말 ALD 장비 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수령 및 FBR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OPERIO 10 이전·적용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RTD 기반 공정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 kg/h 양산 운전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시료 기계연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파라미터 데이터 공유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SOP 작성·유지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0" y="2520000"/>
            <a:ext cx="270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8000" y="219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
(온도·GPC·pulse 시간·NDA)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80000" y="3600000"/>
            <a:ext cx="2700000" cy="0"/>
          </a:xfrm>
          <a:prstGeom prst="line">
            <a:avLst/>
          </a:prstGeom>
          <a:ln w="444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88000" y="363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0000"/>
                </a:solidFill>
                <a:latin typeface="맑은 고딕"/>
              </a:rPr>
              <a:t>코팅 시료 제공 / 공정 데이터
→ 기계연 분석 결과 피드백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0000" y="1620000"/>
            <a:ext cx="2340000" cy="36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NDA (비밀유지협약) 체결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0000" y="4968000"/>
            <a:ext cx="2340000" cy="1007999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씨오알엔
1Ah 파우치셀
제작·평가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0000" y="4680000"/>
            <a:ext cx="0" cy="288000"/>
          </a:xfrm>
          <a:prstGeom prst="line">
            <a:avLst/>
          </a:prstGeom>
          <a:ln w="254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기계연(레시피 개발·검증) ↔ 대성기계(적용·스케일업)의 순환 피드백이 3개년에 걸쳐 반복되며, 씨오알엔 파우치셀 평가가 최종 검증 단계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19.  한국기계연구원 3개년 연구 추진 로드맵
배치식 ALD 레시피 개발 → 연속식 이전·검증 → 양산 실증의 단계적 기술 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0" y="792000"/>
            <a:ext cx="342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1차년도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2차년도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3차년도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1152000"/>
            <a:ext cx="2340000" cy="1152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ALD 레시피
개발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600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800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TiO₂ (TTIP/H₂O)
ALD #1
Al₂O₃ (TMA/H₂O)
ALD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V₂O₅ (VTIP/H₂O)
ALD #1
ZnO (DEZn/H₂O)
ALD #2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4종 DB 완성
최적 조건 최종 확정
공정 윈도우 데이터베이스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대성기계
이전·적용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FBR 이전·검증
RTD 매핑
TiO₂/Al₂O₃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OPERIO 10 이전
4종 레시피 적용
kg/h 단위 스케일업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10 kg/h 양산
24시간 연속 운전
SOP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
분석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SEM·XRD·XPS·BET
기초 분석
coin cell (0.1C)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HRTEM·EELS
Raman·FTIR
100 cycle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Post-mortem
200 cycle 분석
최종 품질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전기화학
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초기 ICE ≥ 80%
계면저항 ≤ 70 Ω·cm²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100 cycle ≥ 85%
4종 비교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1Ah 파우치셀
ICE ≥ 85%
계면저항 ≤ 50 Ω·cm²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80000" y="6552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497D"/>
                </a:solidFill>
                <a:latin typeface="맑은 고딕"/>
              </a:rPr>
              <a:t>최종 목표: 3차년도 완료 시 → ALD 레시피 DB 4종 완성 + 대성기계 10 kg/h 양산 이전 + 1Ah 파우치셀 실증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3408</Words>
  <Application>Microsoft Office PowerPoint</Application>
  <PresentationFormat>Custom</PresentationFormat>
  <Paragraphs>388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4" baseType="lpstr">
      <vt:lpstr>나눔스퀘어 ExtraBold</vt:lpstr>
      <vt:lpstr>나눔스퀘어 네오 Bold</vt:lpstr>
      <vt:lpstr>나눔스퀘어 네오 Heavy</vt:lpstr>
      <vt:lpstr>맑은 고딕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SMLEE</dc:creator>
  <cp:keywords/>
  <dc:description>generated using python-pptx</dc:description>
  <cp:lastModifiedBy>Seung-Mo Lee</cp:lastModifiedBy>
  <cp:revision>8</cp:revision>
  <dcterms:created xsi:type="dcterms:W3CDTF">2013-01-27T09:14:16Z</dcterms:created>
  <dcterms:modified xsi:type="dcterms:W3CDTF">2026-05-09T05:03:42Z</dcterms:modified>
  <cp:category/>
</cp:coreProperties>
</file>