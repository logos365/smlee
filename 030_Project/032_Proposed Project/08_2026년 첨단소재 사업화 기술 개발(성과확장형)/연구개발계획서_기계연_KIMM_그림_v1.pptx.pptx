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75" r:id="rId4"/>
    <p:sldId id="276" r:id="rId5"/>
    <p:sldId id="27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</p:sldIdLst>
  <p:sldSz cx="12193588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4660"/>
  </p:normalViewPr>
  <p:slideViewPr>
    <p:cSldViewPr snapToGrid="0" snapToObjects="1">
      <p:cViewPr>
        <p:scale>
          <a:sx n="125" d="100"/>
          <a:sy n="125" d="100"/>
        </p:scale>
        <p:origin x="800" y="68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microsoft.com/office/2007/relationships/hdphoto" Target="../media/hdphoto2.wdp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microsoft.com/office/2007/relationships/hdphoto" Target="../media/hdphoto2.wdp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microsoft.com/office/2007/relationships/hdphoto" Target="../media/hdphoto3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microsoft.com/office/2007/relationships/hdphoto" Target="../media/hdphoto2.wdp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1.  기존 배터리 소재 코팅 공정 및 분말 ALD 코팅 공정 비교
(미코팅 vs. 습식코팅 vs. ALD 코팅 단면 모식도)</a:t>
            </a:r>
          </a:p>
        </p:txBody>
      </p:sp>
      <p:sp>
        <p:nvSpPr>
          <p:cNvPr id="3" name="Oval 2"/>
          <p:cNvSpPr/>
          <p:nvPr/>
        </p:nvSpPr>
        <p:spPr>
          <a:xfrm>
            <a:off x="540000" y="2160000"/>
            <a:ext cx="2880000" cy="2880000"/>
          </a:xfrm>
          <a:prstGeom prst="ellipse">
            <a:avLst/>
          </a:prstGeom>
          <a:solidFill>
            <a:srgbClr val="BDD7EE"/>
          </a:solidFill>
          <a:ln w="2540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0000" y="3420000"/>
            <a:ext cx="28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F497D"/>
                </a:solidFill>
                <a:latin typeface="맑은 고딕"/>
              </a:rPr>
              <a:t>양극재
입자</a:t>
            </a:r>
          </a:p>
        </p:txBody>
      </p:sp>
      <p:sp>
        <p:nvSpPr>
          <p:cNvPr id="5" name="Rectangle 4"/>
          <p:cNvSpPr/>
          <p:nvPr/>
        </p:nvSpPr>
        <p:spPr>
          <a:xfrm>
            <a:off x="720000" y="1440000"/>
            <a:ext cx="2520000" cy="324000"/>
          </a:xfrm>
          <a:prstGeom prst="rect">
            <a:avLst/>
          </a:prstGeom>
          <a:solidFill>
            <a:srgbClr val="595959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① 미코팅 (Bare)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000" y="5148000"/>
            <a:ext cx="25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595959"/>
                </a:solidFill>
                <a:latin typeface="맑은 고딕"/>
              </a:rPr>
              <a:t>전해질과 직접 반응
표면 열화 발생</a:t>
            </a:r>
          </a:p>
        </p:txBody>
      </p:sp>
      <p:sp>
        <p:nvSpPr>
          <p:cNvPr id="7" name="Oval 6"/>
          <p:cNvSpPr/>
          <p:nvPr/>
        </p:nvSpPr>
        <p:spPr>
          <a:xfrm>
            <a:off x="3564000" y="1944000"/>
            <a:ext cx="3312000" cy="3312000"/>
          </a:xfrm>
          <a:prstGeom prst="ellipse">
            <a:avLst/>
          </a:prstGeom>
          <a:solidFill>
            <a:srgbClr val="ED7D31"/>
          </a:solidFill>
          <a:ln w="63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3780000" y="2160000"/>
            <a:ext cx="2880000" cy="2880000"/>
          </a:xfrm>
          <a:prstGeom prst="ellipse">
            <a:avLst/>
          </a:prstGeom>
          <a:solidFill>
            <a:srgbClr val="BDD7EE"/>
          </a:solidFill>
          <a:ln w="2540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780000" y="3420000"/>
            <a:ext cx="28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F497D"/>
                </a:solidFill>
                <a:latin typeface="맑은 고딕"/>
              </a:rPr>
              <a:t>양극재
입자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60000" y="1440000"/>
            <a:ext cx="2520000" cy="324000"/>
          </a:xfrm>
          <a:prstGeom prst="rect">
            <a:avLst/>
          </a:prstGeom>
          <a:solidFill>
            <a:srgbClr val="595959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② Sol-Gel / 습식코팅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60000" y="5148000"/>
            <a:ext cx="25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595959"/>
                </a:solidFill>
                <a:latin typeface="맑은 고딕"/>
              </a:rPr>
              <a:t>불균일 μm급 코팅
Na⁺ 확산 저해</a:t>
            </a:r>
          </a:p>
        </p:txBody>
      </p:sp>
      <p:sp>
        <p:nvSpPr>
          <p:cNvPr id="12" name="Oval 11"/>
          <p:cNvSpPr/>
          <p:nvPr/>
        </p:nvSpPr>
        <p:spPr>
          <a:xfrm>
            <a:off x="6930000" y="2070000"/>
            <a:ext cx="3060000" cy="3060000"/>
          </a:xfrm>
          <a:prstGeom prst="ellipse">
            <a:avLst/>
          </a:prstGeom>
          <a:solidFill>
            <a:srgbClr val="378610"/>
          </a:solidFill>
          <a:ln w="63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7020000" y="2160000"/>
            <a:ext cx="2880000" cy="2880000"/>
          </a:xfrm>
          <a:prstGeom prst="ellipse">
            <a:avLst/>
          </a:prstGeom>
          <a:solidFill>
            <a:srgbClr val="BDD7EE"/>
          </a:solidFill>
          <a:ln w="2540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020000" y="3420000"/>
            <a:ext cx="28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F497D"/>
                </a:solidFill>
                <a:latin typeface="맑은 고딕"/>
              </a:rPr>
              <a:t>양극재
입자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00000" y="1440000"/>
            <a:ext cx="2520000" cy="324000"/>
          </a:xfrm>
          <a:prstGeom prst="rect">
            <a:avLst/>
          </a:prstGeom>
          <a:solidFill>
            <a:srgbClr val="1F497D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③ ALD 코팅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00000" y="5148000"/>
            <a:ext cx="25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595959"/>
                </a:solidFill>
                <a:latin typeface="맑은 고딕"/>
              </a:rPr>
              <a:t>균일 nm급 코팅
계면 부반응 차단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20000" y="5832000"/>
            <a:ext cx="5220000" cy="251999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595959"/>
                </a:solidFill>
                <a:latin typeface="맑은 고딕"/>
              </a:rPr>
              <a:t>Sol-Gel: μm급 두꺼운 불균일 코팅  |  ALD: nm급 (1~10 nm) 정밀 균일 코팅  |  ← ALD가 목표 기술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0000" y="6570000"/>
            <a:ext cx="118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95959"/>
                </a:solidFill>
                <a:latin typeface="맑은 고딕"/>
              </a:rPr>
              <a:t>* 회색 원 = 양극재 입자(코어)  /  주황 = 습식코팅층(불균일)  /  초록 = ALD 코팅층(균일)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2.  분말 ALD 공정 및 기타 코팅법에 따른 분말 코팅층 형상 비교
(SEM/TEM 단면 이미지 모식도)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0000" y="792000"/>
            <a:ext cx="5400000" cy="5220000"/>
          </a:xfrm>
          <a:prstGeom prst="rect">
            <a:avLst/>
          </a:prstGeom>
          <a:solidFill>
            <a:srgbClr val="F8F8F8"/>
          </a:solidFill>
          <a:ln w="254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40000" y="792000"/>
            <a:ext cx="5400000" cy="324000"/>
          </a:xfrm>
          <a:prstGeom prst="rect">
            <a:avLst/>
          </a:prstGeom>
          <a:solidFill>
            <a:srgbClr val="ED7D31"/>
          </a:solidFill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</a:rPr>
              <a:t>Sol-Gel / 습식코팅</a:t>
            </a:r>
          </a:p>
        </p:txBody>
      </p:sp>
      <p:sp>
        <p:nvSpPr>
          <p:cNvPr id="5" name="Oval 4"/>
          <p:cNvSpPr/>
          <p:nvPr/>
        </p:nvSpPr>
        <p:spPr>
          <a:xfrm>
            <a:off x="756001" y="1296001"/>
            <a:ext cx="1367998" cy="1367998"/>
          </a:xfrm>
          <a:prstGeom prst="ellipse">
            <a:avLst/>
          </a:prstGeom>
          <a:solidFill>
            <a:srgbClr val="ED7D31"/>
          </a:solidFill>
          <a:ln w="63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936001" y="1476001"/>
            <a:ext cx="1007998" cy="1007998"/>
          </a:xfrm>
          <a:prstGeom prst="ellipse">
            <a:avLst/>
          </a:prstGeom>
          <a:solidFill>
            <a:srgbClr val="BDD7EE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2124001" y="1296001"/>
            <a:ext cx="1367998" cy="1094398"/>
          </a:xfrm>
          <a:prstGeom prst="ellipse">
            <a:avLst/>
          </a:prstGeom>
          <a:solidFill>
            <a:srgbClr val="ED7D31"/>
          </a:solidFill>
          <a:ln w="63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2304001" y="1476001"/>
            <a:ext cx="1007998" cy="1007998"/>
          </a:xfrm>
          <a:prstGeom prst="ellipse">
            <a:avLst/>
          </a:prstGeom>
          <a:solidFill>
            <a:srgbClr val="BDD7EE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3492001" y="1296001"/>
            <a:ext cx="1367998" cy="1367998"/>
          </a:xfrm>
          <a:prstGeom prst="ellipse">
            <a:avLst/>
          </a:prstGeom>
          <a:solidFill>
            <a:srgbClr val="ED7D31"/>
          </a:solidFill>
          <a:ln w="63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3672001" y="1476001"/>
            <a:ext cx="1007998" cy="1007998"/>
          </a:xfrm>
          <a:prstGeom prst="ellipse">
            <a:avLst/>
          </a:prstGeom>
          <a:solidFill>
            <a:srgbClr val="BDD7EE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160000" y="3348000"/>
            <a:ext cx="2160000" cy="2880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FFFFFF"/>
                </a:solidFill>
                <a:latin typeface="맑은 고딕"/>
              </a:rPr>
              <a:t>코팅 두께:
1~5 μm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0000" y="3780000"/>
            <a:ext cx="50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μm급 두꺼운 코팅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000" y="4068000"/>
            <a:ext cx="50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불균일한 두께 분포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000" y="4356000"/>
            <a:ext cx="50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입자 간 결착·응집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0000" y="4644000"/>
            <a:ext cx="50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부분 비피복 발생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0000" y="4932000"/>
            <a:ext cx="50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Na⁺ 확산 저해 가능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0000" y="792000"/>
            <a:ext cx="5400000" cy="5220000"/>
          </a:xfrm>
          <a:prstGeom prst="rect">
            <a:avLst/>
          </a:prstGeom>
          <a:solidFill>
            <a:srgbClr val="F8F8F8"/>
          </a:solidFill>
          <a:ln w="2540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300000" y="792000"/>
            <a:ext cx="5400000" cy="324000"/>
          </a:xfrm>
          <a:prstGeom prst="rect">
            <a:avLst/>
          </a:prstGeom>
          <a:solidFill>
            <a:srgbClr val="378610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</a:rPr>
              <a:t>ALD 코팅 (본 과제)</a:t>
            </a:r>
          </a:p>
        </p:txBody>
      </p:sp>
      <p:sp>
        <p:nvSpPr>
          <p:cNvPr id="19" name="Oval 18"/>
          <p:cNvSpPr/>
          <p:nvPr/>
        </p:nvSpPr>
        <p:spPr>
          <a:xfrm>
            <a:off x="6642001" y="1422001"/>
            <a:ext cx="1115998" cy="1115998"/>
          </a:xfrm>
          <a:prstGeom prst="ellipse">
            <a:avLst/>
          </a:prstGeom>
          <a:solidFill>
            <a:srgbClr val="378610"/>
          </a:solidFill>
          <a:ln w="63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6696001" y="1476001"/>
            <a:ext cx="1007998" cy="1007998"/>
          </a:xfrm>
          <a:prstGeom prst="ellipse">
            <a:avLst/>
          </a:prstGeom>
          <a:solidFill>
            <a:srgbClr val="BDD7EE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8010001" y="1422001"/>
            <a:ext cx="1115998" cy="1115998"/>
          </a:xfrm>
          <a:prstGeom prst="ellipse">
            <a:avLst/>
          </a:prstGeom>
          <a:solidFill>
            <a:srgbClr val="378610"/>
          </a:solidFill>
          <a:ln w="63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8064001" y="1476001"/>
            <a:ext cx="1007998" cy="1007998"/>
          </a:xfrm>
          <a:prstGeom prst="ellipse">
            <a:avLst/>
          </a:prstGeom>
          <a:solidFill>
            <a:srgbClr val="BDD7EE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9378001" y="1422001"/>
            <a:ext cx="1115998" cy="1115998"/>
          </a:xfrm>
          <a:prstGeom prst="ellipse">
            <a:avLst/>
          </a:prstGeom>
          <a:solidFill>
            <a:srgbClr val="378610"/>
          </a:solidFill>
          <a:ln w="63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9432001" y="1476001"/>
            <a:ext cx="1007998" cy="1007998"/>
          </a:xfrm>
          <a:prstGeom prst="ellipse">
            <a:avLst/>
          </a:prstGeom>
          <a:solidFill>
            <a:srgbClr val="BDD7EE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920000" y="3348000"/>
            <a:ext cx="2160000" cy="288000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FFFFFF"/>
                </a:solidFill>
                <a:latin typeface="맑은 고딕"/>
              </a:rPr>
              <a:t>코팅 두께:
1~10 nm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80000" y="3780000"/>
            <a:ext cx="50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nm급 (1~10 nm) 코팅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80000" y="4068000"/>
            <a:ext cx="50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전 표면 균일 피복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80000" y="4356000"/>
            <a:ext cx="50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개별 입자 독립 코팅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80000" y="4644000"/>
            <a:ext cx="50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100% 피복률 가능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80000" y="4932000"/>
            <a:ext cx="50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Na⁺ 확산 유지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80000" y="3420000"/>
            <a:ext cx="10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F497D"/>
                </a:solidFill>
                <a:latin typeface="맑은 고딕"/>
              </a:rPr>
              <a:t>← 비교 →
ALD 우수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diagram of different types of material&#10;&#10;AI-generated content may be incorrect.">
            <a:extLst>
              <a:ext uri="{FF2B5EF4-FFF2-40B4-BE49-F238E27FC236}">
                <a16:creationId xmlns:a16="http://schemas.microsoft.com/office/drawing/2014/main" id="{BF98601F-FBB7-086F-B2DF-113D549FA16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8223"/>
          <a:stretch/>
        </p:blipFill>
        <p:spPr>
          <a:xfrm>
            <a:off x="303131" y="241727"/>
            <a:ext cx="4546900" cy="3187273"/>
          </a:xfrm>
          <a:prstGeom prst="rect">
            <a:avLst/>
          </a:prstGeom>
        </p:spPr>
      </p:pic>
      <p:pic>
        <p:nvPicPr>
          <p:cNvPr id="4" name="Picture 2" descr="Three Arrow Circle Sign Reload, Loop Symbol - Download Free 3D model by  B1Blender (@B1Blender) [549c9fb]">
            <a:extLst>
              <a:ext uri="{FF2B5EF4-FFF2-40B4-BE49-F238E27FC236}">
                <a16:creationId xmlns:a16="http://schemas.microsoft.com/office/drawing/2014/main" id="{58E72D28-5FFC-1279-7A7D-C2AA10AAC49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6667" b="76852" l="32396" r="67500">
                        <a14:foregroundMark x1="55625" y1="19167" x2="55677" y2="22130"/>
                        <a14:foregroundMark x1="63542" y1="36574" x2="65729" y2="46296"/>
                        <a14:foregroundMark x1="65729" y1="46296" x2="65313" y2="63241"/>
                        <a14:foregroundMark x1="65313" y1="63241" x2="60208" y2="73241"/>
                        <a14:foregroundMark x1="60208" y1="73241" x2="59948" y2="73148"/>
                        <a14:foregroundMark x1="37031" y1="57315" x2="45052" y2="73333"/>
                        <a14:foregroundMark x1="45052" y1="73333" x2="50625" y2="76944"/>
                        <a14:foregroundMark x1="50625" y1="76944" x2="54948" y2="76759"/>
                        <a14:foregroundMark x1="67656" y1="49815" x2="67448" y2="60556"/>
                        <a14:foregroundMark x1="55625" y1="16759" x2="55625" y2="16759"/>
                        <a14:foregroundMark x1="34479" y1="61204" x2="33698" y2="64630"/>
                        <a14:foregroundMark x1="32396" y1="65926" x2="32396" y2="65926"/>
                      </a14:backgroundRemoval>
                    </a14:imgEffect>
                    <a14:imgEffect>
                      <a14:saturation sat="4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1597" t="14558" r="30422" b="19185"/>
          <a:stretch/>
        </p:blipFill>
        <p:spPr bwMode="auto">
          <a:xfrm>
            <a:off x="8277625" y="1672899"/>
            <a:ext cx="1051318" cy="10316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A2087C6A-5AB3-C36C-A012-ECD973DAFA71}"/>
              </a:ext>
            </a:extLst>
          </p:cNvPr>
          <p:cNvGrpSpPr/>
          <p:nvPr/>
        </p:nvGrpSpPr>
        <p:grpSpPr>
          <a:xfrm>
            <a:off x="9312679" y="944339"/>
            <a:ext cx="1100652" cy="1288395"/>
            <a:chOff x="4540535" y="510372"/>
            <a:chExt cx="1100652" cy="1288395"/>
          </a:xfrm>
        </p:grpSpPr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781232B3-38D3-66D5-DE28-3DD7AF618993}"/>
                </a:ext>
              </a:extLst>
            </p:cNvPr>
            <p:cNvSpPr/>
            <p:nvPr/>
          </p:nvSpPr>
          <p:spPr>
            <a:xfrm>
              <a:off x="4562956" y="510372"/>
              <a:ext cx="1037842" cy="1288395"/>
            </a:xfrm>
            <a:prstGeom prst="rect">
              <a:avLst/>
            </a:prstGeom>
            <a:gradFill>
              <a:gsLst>
                <a:gs pos="0">
                  <a:schemeClr val="bg2">
                    <a:lumMod val="90000"/>
                  </a:schemeClr>
                </a:gs>
                <a:gs pos="100000">
                  <a:schemeClr val="bg2">
                    <a:lumMod val="75000"/>
                    <a:alpha val="63000"/>
                  </a:schemeClr>
                </a:gs>
              </a:gsLst>
            </a:gradFill>
            <a:ln>
              <a:noFill/>
            </a:ln>
            <a:scene3d>
              <a:camera prst="isometricOffAxis2Top"/>
              <a:lightRig rig="morning" dir="t"/>
            </a:scene3d>
            <a:sp3d extrusionH="95250" prstMaterial="flat"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605C3228-6C62-5852-B3B6-51E3C40D7D28}"/>
                </a:ext>
              </a:extLst>
            </p:cNvPr>
            <p:cNvGrpSpPr/>
            <p:nvPr/>
          </p:nvGrpSpPr>
          <p:grpSpPr>
            <a:xfrm>
              <a:off x="4540535" y="907639"/>
              <a:ext cx="1100652" cy="457076"/>
              <a:chOff x="7197429" y="1152057"/>
              <a:chExt cx="1100652" cy="457076"/>
            </a:xfrm>
          </p:grpSpPr>
          <p:grpSp>
            <p:nvGrpSpPr>
              <p:cNvPr id="116" name="Group 115">
                <a:extLst>
                  <a:ext uri="{FF2B5EF4-FFF2-40B4-BE49-F238E27FC236}">
                    <a16:creationId xmlns:a16="http://schemas.microsoft.com/office/drawing/2014/main" id="{4BE09ED1-9CFE-9FBF-0466-86A58290253F}"/>
                  </a:ext>
                </a:extLst>
              </p:cNvPr>
              <p:cNvGrpSpPr/>
              <p:nvPr/>
            </p:nvGrpSpPr>
            <p:grpSpPr>
              <a:xfrm>
                <a:off x="7570280" y="1152057"/>
                <a:ext cx="727801" cy="232844"/>
                <a:chOff x="6561481" y="1836490"/>
                <a:chExt cx="727801" cy="232844"/>
              </a:xfrm>
            </p:grpSpPr>
            <p:pic>
              <p:nvPicPr>
                <p:cNvPr id="135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08EF5097-21D9-D918-1E01-19B61C67178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6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DE57A8A7-7904-0838-2B84-888BE8C005D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41C273D8-8CBE-2E09-EF46-13B107370E0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8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2E5BB6E9-5ACD-F1A0-A006-D3B8EB7566E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9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E5934A0-0732-84DE-54DE-FE1080AE2D8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117" name="Group 116">
                <a:extLst>
                  <a:ext uri="{FF2B5EF4-FFF2-40B4-BE49-F238E27FC236}">
                    <a16:creationId xmlns:a16="http://schemas.microsoft.com/office/drawing/2014/main" id="{47212514-1E7B-8508-0780-D6505F188937}"/>
                  </a:ext>
                </a:extLst>
              </p:cNvPr>
              <p:cNvGrpSpPr/>
              <p:nvPr/>
            </p:nvGrpSpPr>
            <p:grpSpPr>
              <a:xfrm>
                <a:off x="7451507" y="1229540"/>
                <a:ext cx="727801" cy="232844"/>
                <a:chOff x="6561481" y="1836490"/>
                <a:chExt cx="727801" cy="232844"/>
              </a:xfrm>
            </p:grpSpPr>
            <p:pic>
              <p:nvPicPr>
                <p:cNvPr id="130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0B947339-E4C3-DD8D-46FB-A132EA8A449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A57931BB-25F9-DB1F-8EB3-A3070A517A5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2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7321CD45-84C8-CB09-D27D-22D84FCC4F4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CF271F6E-07B1-949D-6A73-26CD8C68E0BC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FEB11C6C-33A9-8583-FD2C-D2136917C0CC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118" name="Group 117">
                <a:extLst>
                  <a:ext uri="{FF2B5EF4-FFF2-40B4-BE49-F238E27FC236}">
                    <a16:creationId xmlns:a16="http://schemas.microsoft.com/office/drawing/2014/main" id="{9422A42B-9D94-443E-8549-23908BE1F9CD}"/>
                  </a:ext>
                </a:extLst>
              </p:cNvPr>
              <p:cNvGrpSpPr/>
              <p:nvPr/>
            </p:nvGrpSpPr>
            <p:grpSpPr>
              <a:xfrm>
                <a:off x="7320281" y="1308323"/>
                <a:ext cx="727801" cy="232844"/>
                <a:chOff x="6561481" y="1836490"/>
                <a:chExt cx="727801" cy="232844"/>
              </a:xfrm>
            </p:grpSpPr>
            <p:pic>
              <p:nvPicPr>
                <p:cNvPr id="125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6425445C-69A6-DF9D-64C9-D885602D5B0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6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A576B64C-6632-2E67-E65D-553E18BF6F1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F9A7BDF4-8639-7C35-B9B7-DD12A7DC608A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8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0BEA4DFC-63F4-8772-B371-A07415F36145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9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C36182E3-CCC5-DC36-0303-0D58ED6A256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119" name="Group 118">
                <a:extLst>
                  <a:ext uri="{FF2B5EF4-FFF2-40B4-BE49-F238E27FC236}">
                    <a16:creationId xmlns:a16="http://schemas.microsoft.com/office/drawing/2014/main" id="{6A942BE9-3C52-3859-7A71-56CDE1A3B96C}"/>
                  </a:ext>
                </a:extLst>
              </p:cNvPr>
              <p:cNvGrpSpPr/>
              <p:nvPr/>
            </p:nvGrpSpPr>
            <p:grpSpPr>
              <a:xfrm>
                <a:off x="7197429" y="1376289"/>
                <a:ext cx="727801" cy="232844"/>
                <a:chOff x="6561481" y="1836490"/>
                <a:chExt cx="727801" cy="232844"/>
              </a:xfrm>
            </p:grpSpPr>
            <p:pic>
              <p:nvPicPr>
                <p:cNvPr id="120" name="Picture 119" descr="3d Sphere Sphere PNG &amp; clipart images | TOPpng">
                  <a:extLst>
                    <a:ext uri="{FF2B5EF4-FFF2-40B4-BE49-F238E27FC236}">
                      <a16:creationId xmlns:a16="http://schemas.microsoft.com/office/drawing/2014/main" id="{C53679FC-C47F-A521-CF5D-1D63692798C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071042E4-16A5-ACB0-F950-641FD50903AC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7156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2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4FFC63C9-BAB9-0AEC-6E28-5ABDE8D446C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2831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9B37E1CA-24DA-045D-0129-69611B98B62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8506" y="19042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02EC85E-8171-2D59-62F2-6FF922747ADA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094C22D5-61B8-8D69-00BF-70A8A2F269BE}"/>
              </a:ext>
            </a:extLst>
          </p:cNvPr>
          <p:cNvSpPr/>
          <p:nvPr/>
        </p:nvSpPr>
        <p:spPr>
          <a:xfrm>
            <a:off x="7529007" y="944339"/>
            <a:ext cx="1037842" cy="1288395"/>
          </a:xfrm>
          <a:prstGeom prst="rect">
            <a:avLst/>
          </a:prstGeom>
          <a:gradFill>
            <a:gsLst>
              <a:gs pos="0">
                <a:schemeClr val="bg2">
                  <a:lumMod val="90000"/>
                </a:schemeClr>
              </a:gs>
              <a:gs pos="100000">
                <a:schemeClr val="bg2">
                  <a:lumMod val="75000"/>
                  <a:alpha val="63000"/>
                </a:schemeClr>
              </a:gs>
            </a:gsLst>
          </a:gradFill>
          <a:ln>
            <a:noFill/>
          </a:ln>
          <a:scene3d>
            <a:camera prst="isometricOffAxis2Top"/>
            <a:lightRig rig="morning" dir="t"/>
          </a:scene3d>
          <a:sp3d extrusionH="95250" prstMaterial="flat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94F0329-0EEA-D059-71D0-1D70411B0300}"/>
              </a:ext>
            </a:extLst>
          </p:cNvPr>
          <p:cNvGrpSpPr/>
          <p:nvPr/>
        </p:nvGrpSpPr>
        <p:grpSpPr>
          <a:xfrm>
            <a:off x="7326442" y="1302970"/>
            <a:ext cx="1449434" cy="337229"/>
            <a:chOff x="1590955" y="1300484"/>
            <a:chExt cx="897356" cy="208781"/>
          </a:xfrm>
        </p:grpSpPr>
        <p:pic>
          <p:nvPicPr>
            <p:cNvPr id="105" name="Picture 8" descr="3d Sphere Sphere PNG &amp; clipart images | TOPpng">
              <a:extLst>
                <a:ext uri="{FF2B5EF4-FFF2-40B4-BE49-F238E27FC236}">
                  <a16:creationId xmlns:a16="http://schemas.microsoft.com/office/drawing/2014/main" id="{2C1182EC-DD32-32B6-8C4E-1EBFEEA446E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590955" y="1453187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6" name="Picture 8" descr="3d Sphere Sphere PNG &amp; clipart images | TOPpng">
              <a:extLst>
                <a:ext uri="{FF2B5EF4-FFF2-40B4-BE49-F238E27FC236}">
                  <a16:creationId xmlns:a16="http://schemas.microsoft.com/office/drawing/2014/main" id="{A067D7A5-88E3-2978-A91E-F61C6448F2D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855315" y="1453187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7" name="Picture 8" descr="3d Sphere Sphere PNG &amp; clipart images | TOPpng">
              <a:extLst>
                <a:ext uri="{FF2B5EF4-FFF2-40B4-BE49-F238E27FC236}">
                  <a16:creationId xmlns:a16="http://schemas.microsoft.com/office/drawing/2014/main" id="{E72D1184-B02E-2902-7080-CAED3E3A5AF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35881" y="132133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8" name="Picture 8" descr="3d Sphere Sphere PNG &amp; clipart images | TOPpng">
              <a:extLst>
                <a:ext uri="{FF2B5EF4-FFF2-40B4-BE49-F238E27FC236}">
                  <a16:creationId xmlns:a16="http://schemas.microsoft.com/office/drawing/2014/main" id="{4E535E84-9468-E432-40E9-F17E819DFE8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431979" y="1367170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9" name="Picture 8" descr="3d Sphere Sphere PNG &amp; clipart images | TOPpng">
              <a:extLst>
                <a:ext uri="{FF2B5EF4-FFF2-40B4-BE49-F238E27FC236}">
                  <a16:creationId xmlns:a16="http://schemas.microsoft.com/office/drawing/2014/main" id="{D94AAA68-733C-5213-8D20-ED1A602B957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252218" y="1387839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0" name="Picture 8" descr="3d Sphere Sphere PNG &amp; clipart images | TOPpng">
              <a:extLst>
                <a:ext uri="{FF2B5EF4-FFF2-40B4-BE49-F238E27FC236}">
                  <a16:creationId xmlns:a16="http://schemas.microsoft.com/office/drawing/2014/main" id="{CAADBFFE-C172-4430-BED2-116C87E856B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772863" y="1349373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1" name="Picture 8" descr="3d Sphere Sphere PNG &amp; clipart images | TOPpng">
              <a:extLst>
                <a:ext uri="{FF2B5EF4-FFF2-40B4-BE49-F238E27FC236}">
                  <a16:creationId xmlns:a16="http://schemas.microsoft.com/office/drawing/2014/main" id="{80BFBAB5-1692-6A3D-678F-0332C557E72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895755" y="13004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2" name="Picture 8" descr="3d Sphere Sphere PNG &amp; clipart images | TOPpng">
              <a:extLst>
                <a:ext uri="{FF2B5EF4-FFF2-40B4-BE49-F238E27FC236}">
                  <a16:creationId xmlns:a16="http://schemas.microsoft.com/office/drawing/2014/main" id="{885DC732-6625-A209-1A11-F89F244725A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160115" y="13004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3" name="Picture 8" descr="3d Sphere Sphere PNG &amp; clipart images | TOPpng">
              <a:extLst>
                <a:ext uri="{FF2B5EF4-FFF2-40B4-BE49-F238E27FC236}">
                  <a16:creationId xmlns:a16="http://schemas.microsoft.com/office/drawing/2014/main" id="{5A8BDA01-2B20-CF49-D7AB-22D35AE9B8A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308550" y="1304319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4DAC3EC3-109B-2FFB-969C-560D01C60F8D}"/>
              </a:ext>
            </a:extLst>
          </p:cNvPr>
          <p:cNvGrpSpPr/>
          <p:nvPr/>
        </p:nvGrpSpPr>
        <p:grpSpPr>
          <a:xfrm>
            <a:off x="9322800" y="2286943"/>
            <a:ext cx="1100652" cy="1288395"/>
            <a:chOff x="3481469" y="2556202"/>
            <a:chExt cx="1100652" cy="1288395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D250AA01-7696-1E67-E02D-E01FD5B59C32}"/>
                </a:ext>
              </a:extLst>
            </p:cNvPr>
            <p:cNvSpPr/>
            <p:nvPr/>
          </p:nvSpPr>
          <p:spPr>
            <a:xfrm>
              <a:off x="3503890" y="2556202"/>
              <a:ext cx="1037842" cy="1288395"/>
            </a:xfrm>
            <a:prstGeom prst="rect">
              <a:avLst/>
            </a:prstGeom>
            <a:gradFill>
              <a:gsLst>
                <a:gs pos="0">
                  <a:schemeClr val="bg2">
                    <a:lumMod val="90000"/>
                  </a:schemeClr>
                </a:gs>
                <a:gs pos="100000">
                  <a:schemeClr val="bg2">
                    <a:lumMod val="75000"/>
                    <a:alpha val="63000"/>
                  </a:schemeClr>
                </a:gs>
              </a:gsLst>
            </a:gradFill>
            <a:ln>
              <a:noFill/>
            </a:ln>
            <a:scene3d>
              <a:camera prst="isometricOffAxis2Top"/>
              <a:lightRig rig="morning" dir="t"/>
            </a:scene3d>
            <a:sp3d extrusionH="95250" prstMaterial="flat"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1446FDFD-A08C-A6B1-8B68-7C85130C0D95}"/>
                </a:ext>
              </a:extLst>
            </p:cNvPr>
            <p:cNvGrpSpPr/>
            <p:nvPr/>
          </p:nvGrpSpPr>
          <p:grpSpPr>
            <a:xfrm>
              <a:off x="3481469" y="2953469"/>
              <a:ext cx="1100652" cy="457076"/>
              <a:chOff x="7197429" y="1152057"/>
              <a:chExt cx="1100652" cy="457076"/>
            </a:xfrm>
          </p:grpSpPr>
          <p:grpSp>
            <p:nvGrpSpPr>
              <p:cNvPr id="81" name="Group 80">
                <a:extLst>
                  <a:ext uri="{FF2B5EF4-FFF2-40B4-BE49-F238E27FC236}">
                    <a16:creationId xmlns:a16="http://schemas.microsoft.com/office/drawing/2014/main" id="{C396379C-EB43-8D0A-DBAE-3B73974FA680}"/>
                  </a:ext>
                </a:extLst>
              </p:cNvPr>
              <p:cNvGrpSpPr/>
              <p:nvPr/>
            </p:nvGrpSpPr>
            <p:grpSpPr>
              <a:xfrm>
                <a:off x="7570280" y="1152057"/>
                <a:ext cx="727801" cy="232844"/>
                <a:chOff x="6561481" y="1836490"/>
                <a:chExt cx="727801" cy="232844"/>
              </a:xfrm>
            </p:grpSpPr>
            <p:pic>
              <p:nvPicPr>
                <p:cNvPr id="100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E73A149D-C3A8-8E3B-46AE-3858150AF0C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92D861AB-F683-27F5-8EFF-C0799F15565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2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6B81EE71-CEF2-6789-E654-F395287F0D1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35C9F96-273B-D893-492B-9D6AA0E32D6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95A62001-66BE-7B78-ED6E-09B907F599A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82" name="Group 81">
                <a:extLst>
                  <a:ext uri="{FF2B5EF4-FFF2-40B4-BE49-F238E27FC236}">
                    <a16:creationId xmlns:a16="http://schemas.microsoft.com/office/drawing/2014/main" id="{1E77CC69-F2BF-2ED0-E995-4355BD348C8E}"/>
                  </a:ext>
                </a:extLst>
              </p:cNvPr>
              <p:cNvGrpSpPr/>
              <p:nvPr/>
            </p:nvGrpSpPr>
            <p:grpSpPr>
              <a:xfrm>
                <a:off x="7451507" y="1229540"/>
                <a:ext cx="727801" cy="232844"/>
                <a:chOff x="6561481" y="1836490"/>
                <a:chExt cx="727801" cy="232844"/>
              </a:xfrm>
            </p:grpSpPr>
            <p:pic>
              <p:nvPicPr>
                <p:cNvPr id="95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1225CA95-BBC7-D9F4-66A5-A636485FF41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6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FD845D64-99A9-E576-FE3A-E697080E499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011F67E7-EF33-D56D-A03E-051B85B9A183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8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1C7186F6-8FD6-EA82-BA38-EAA45466E90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9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3285A2CF-21A6-FF69-E053-A7B23E52DF9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83" name="Group 82">
                <a:extLst>
                  <a:ext uri="{FF2B5EF4-FFF2-40B4-BE49-F238E27FC236}">
                    <a16:creationId xmlns:a16="http://schemas.microsoft.com/office/drawing/2014/main" id="{77836DEF-A942-5376-0EAF-A791E296EF9F}"/>
                  </a:ext>
                </a:extLst>
              </p:cNvPr>
              <p:cNvGrpSpPr/>
              <p:nvPr/>
            </p:nvGrpSpPr>
            <p:grpSpPr>
              <a:xfrm>
                <a:off x="7320281" y="1308323"/>
                <a:ext cx="727801" cy="232844"/>
                <a:chOff x="6561481" y="1836490"/>
                <a:chExt cx="727801" cy="232844"/>
              </a:xfrm>
            </p:grpSpPr>
            <p:pic>
              <p:nvPicPr>
                <p:cNvPr id="90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54D2A5B3-F492-0431-B112-9FF08188B37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74F0831-018C-3533-9FAE-D4C023562D3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2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119E91F-59C5-F016-5A96-B2C0CBE6ED4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CDCB11AD-4FA3-FB9C-AAAF-AF9E97A9981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8CB1039-AB07-4EF9-DC69-FAC5D73819C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84" name="Group 83">
                <a:extLst>
                  <a:ext uri="{FF2B5EF4-FFF2-40B4-BE49-F238E27FC236}">
                    <a16:creationId xmlns:a16="http://schemas.microsoft.com/office/drawing/2014/main" id="{B84038BE-BE43-F9AB-5419-F3331C2529CE}"/>
                  </a:ext>
                </a:extLst>
              </p:cNvPr>
              <p:cNvGrpSpPr/>
              <p:nvPr/>
            </p:nvGrpSpPr>
            <p:grpSpPr>
              <a:xfrm>
                <a:off x="7197429" y="1376289"/>
                <a:ext cx="727801" cy="232844"/>
                <a:chOff x="6561481" y="1836490"/>
                <a:chExt cx="727801" cy="232844"/>
              </a:xfrm>
            </p:grpSpPr>
            <p:pic>
              <p:nvPicPr>
                <p:cNvPr id="85" name="Picture 84" descr="3d Sphere Sphere PNG &amp; clipart images | TOPpng">
                  <a:extLst>
                    <a:ext uri="{FF2B5EF4-FFF2-40B4-BE49-F238E27FC236}">
                      <a16:creationId xmlns:a16="http://schemas.microsoft.com/office/drawing/2014/main" id="{E2E3B9AB-8258-3825-0EED-8B39C3710A0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86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4810F0DF-22E7-3091-4E83-187AC435D13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7156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8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CD7F393-F07E-58E2-A2ED-8B64567223D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2831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88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53189AD9-D5A2-A1E8-FD82-19A7949B471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8506" y="19042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89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6F3674EA-378B-252F-E1A1-F3DA98DF768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4EFB100A-9B3D-9DF3-B11A-D382E96542E0}"/>
              </a:ext>
            </a:extLst>
          </p:cNvPr>
          <p:cNvSpPr/>
          <p:nvPr/>
        </p:nvSpPr>
        <p:spPr>
          <a:xfrm>
            <a:off x="7565644" y="2286943"/>
            <a:ext cx="1037842" cy="1288395"/>
          </a:xfrm>
          <a:prstGeom prst="rect">
            <a:avLst/>
          </a:prstGeom>
          <a:gradFill>
            <a:gsLst>
              <a:gs pos="0">
                <a:schemeClr val="bg2">
                  <a:lumMod val="90000"/>
                </a:schemeClr>
              </a:gs>
              <a:gs pos="100000">
                <a:schemeClr val="bg2">
                  <a:lumMod val="75000"/>
                  <a:alpha val="63000"/>
                </a:schemeClr>
              </a:gs>
            </a:gsLst>
          </a:gradFill>
          <a:ln>
            <a:noFill/>
          </a:ln>
          <a:scene3d>
            <a:camera prst="isometricOffAxis2Top"/>
            <a:lightRig rig="morning" dir="t"/>
          </a:scene3d>
          <a:sp3d extrusionH="95250" prstMaterial="flat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1F1D21E2-F2B7-A170-8D4F-A7C3F885A520}"/>
              </a:ext>
            </a:extLst>
          </p:cNvPr>
          <p:cNvGrpSpPr/>
          <p:nvPr/>
        </p:nvGrpSpPr>
        <p:grpSpPr>
          <a:xfrm>
            <a:off x="7543223" y="2684210"/>
            <a:ext cx="1100652" cy="457076"/>
            <a:chOff x="7197429" y="1152057"/>
            <a:chExt cx="1100652" cy="457076"/>
          </a:xfrm>
        </p:grpSpPr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61942D93-62C1-9653-3C82-B131C3E4BD32}"/>
                </a:ext>
              </a:extLst>
            </p:cNvPr>
            <p:cNvGrpSpPr/>
            <p:nvPr/>
          </p:nvGrpSpPr>
          <p:grpSpPr>
            <a:xfrm>
              <a:off x="7570280" y="1152057"/>
              <a:ext cx="727801" cy="232844"/>
              <a:chOff x="6561481" y="1836490"/>
              <a:chExt cx="727801" cy="232844"/>
            </a:xfrm>
          </p:grpSpPr>
          <p:pic>
            <p:nvPicPr>
              <p:cNvPr id="74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C3567F16-8A21-16F9-6F76-ADF2376B31D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561481" y="1836490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5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DFEC5658-EE44-5E19-52E9-DCC92A1CCEC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708870" y="185265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6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A807E1BB-A4BC-450A-D7D5-AF905C15BF5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853973" y="187412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7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278D850F-289C-5227-D825-E33F0C2B9CB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999076" y="189559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8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3507EBC3-B23B-018F-3843-846EB0AEC36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7144179" y="1924884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02F281DA-09EE-B35D-BD22-00E3699BA1CC}"/>
                </a:ext>
              </a:extLst>
            </p:cNvPr>
            <p:cNvGrpSpPr/>
            <p:nvPr/>
          </p:nvGrpSpPr>
          <p:grpSpPr>
            <a:xfrm>
              <a:off x="7451507" y="1229540"/>
              <a:ext cx="727801" cy="232844"/>
              <a:chOff x="6561481" y="1836490"/>
              <a:chExt cx="727801" cy="232844"/>
            </a:xfrm>
          </p:grpSpPr>
          <p:pic>
            <p:nvPicPr>
              <p:cNvPr id="69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94B0AA59-9D6A-04CA-B768-B5D3113973B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561481" y="1836490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0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9481C710-6FB3-049D-B429-74E9E1D329A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708870" y="185265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1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2F6BA6F7-C824-79AB-8F4F-F6C4F639C06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853973" y="187412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2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028E8735-1B0A-365C-19C2-6E2A10992A6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999076" y="189559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3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7C942E41-F734-747F-55D6-68BEF740730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7144179" y="1924884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801FBED9-1E47-2744-CFF8-844ACEF3123F}"/>
                </a:ext>
              </a:extLst>
            </p:cNvPr>
            <p:cNvGrpSpPr/>
            <p:nvPr/>
          </p:nvGrpSpPr>
          <p:grpSpPr>
            <a:xfrm>
              <a:off x="7320281" y="1308323"/>
              <a:ext cx="727801" cy="232844"/>
              <a:chOff x="6561481" y="1836490"/>
              <a:chExt cx="727801" cy="232844"/>
            </a:xfrm>
          </p:grpSpPr>
          <p:pic>
            <p:nvPicPr>
              <p:cNvPr id="64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EB97A618-07DF-92DF-1C3E-33BEB458D07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561481" y="1836490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5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B42EE510-7527-8858-2346-D134164FCC6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708870" y="185265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6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8CB6A59D-FAED-BFCC-976D-B7E43029E07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853973" y="187412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7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2643A788-B020-833A-9305-68EEB64B167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999076" y="189559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8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B289C5EF-9B10-53C1-DCF4-D4F8B2FC54A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7144179" y="1924884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A36AB6EA-6E54-8BF4-8FB6-15A1502CBC0D}"/>
                </a:ext>
              </a:extLst>
            </p:cNvPr>
            <p:cNvGrpSpPr/>
            <p:nvPr/>
          </p:nvGrpSpPr>
          <p:grpSpPr>
            <a:xfrm>
              <a:off x="7197429" y="1376289"/>
              <a:ext cx="727801" cy="232844"/>
              <a:chOff x="6561481" y="1836490"/>
              <a:chExt cx="727801" cy="232844"/>
            </a:xfrm>
          </p:grpSpPr>
          <p:pic>
            <p:nvPicPr>
              <p:cNvPr id="59" name="Picture 58" descr="3d Sphere Sphere PNG &amp; clipart images | TOPpng">
                <a:extLst>
                  <a:ext uri="{FF2B5EF4-FFF2-40B4-BE49-F238E27FC236}">
                    <a16:creationId xmlns:a16="http://schemas.microsoft.com/office/drawing/2014/main" id="{AA846CCE-5CB4-5C89-EF80-51C67A89F07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561481" y="1836490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0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232D9E8E-44A4-7256-1B87-0089539139F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707156" y="185265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1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FBA4E396-BAF1-0F49-F2BC-7603D07E989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852831" y="187412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2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B3196B97-F9E2-96AA-849B-E840213A56E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998506" y="190425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3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6AC8495F-C083-F537-8E10-415D4F157B3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7144179" y="1924884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91195F9-09E3-02E9-D37B-B970C6EB70E8}"/>
              </a:ext>
            </a:extLst>
          </p:cNvPr>
          <p:cNvGrpSpPr/>
          <p:nvPr/>
        </p:nvGrpSpPr>
        <p:grpSpPr>
          <a:xfrm rot="971198">
            <a:off x="9462023" y="2372684"/>
            <a:ext cx="951271" cy="368321"/>
            <a:chOff x="1921727" y="1452884"/>
            <a:chExt cx="539223" cy="208781"/>
          </a:xfrm>
        </p:grpSpPr>
        <p:pic>
          <p:nvPicPr>
            <p:cNvPr id="48" name="Picture 8" descr="3d Sphere Sphere PNG &amp; clipart images | TOPpng">
              <a:extLst>
                <a:ext uri="{FF2B5EF4-FFF2-40B4-BE49-F238E27FC236}">
                  <a16:creationId xmlns:a16="http://schemas.microsoft.com/office/drawing/2014/main" id="{0249C297-B666-2186-4E5E-FEBCC1B41A2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07715" y="1605587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9" name="Picture 8" descr="3d Sphere Sphere PNG &amp; clipart images | TOPpng">
              <a:extLst>
                <a:ext uri="{FF2B5EF4-FFF2-40B4-BE49-F238E27FC236}">
                  <a16:creationId xmlns:a16="http://schemas.microsoft.com/office/drawing/2014/main" id="{863CDA0D-B73F-DECF-5594-64DDEB8B66A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188281" y="147373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0" name="Picture 8" descr="3d Sphere Sphere PNG &amp; clipart images | TOPpng">
              <a:extLst>
                <a:ext uri="{FF2B5EF4-FFF2-40B4-BE49-F238E27FC236}">
                  <a16:creationId xmlns:a16="http://schemas.microsoft.com/office/drawing/2014/main" id="{1DD0A6DC-5E61-7007-561E-8955145B4B3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404618" y="1540239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1" name="Picture 8" descr="3d Sphere Sphere PNG &amp; clipart images | TOPpng">
              <a:extLst>
                <a:ext uri="{FF2B5EF4-FFF2-40B4-BE49-F238E27FC236}">
                  <a16:creationId xmlns:a16="http://schemas.microsoft.com/office/drawing/2014/main" id="{20C18D86-0B49-F9C8-2985-B1F2FAF32D4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921727" y="156279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2" name="Picture 8" descr="3d Sphere Sphere PNG &amp; clipart images | TOPpng">
              <a:extLst>
                <a:ext uri="{FF2B5EF4-FFF2-40B4-BE49-F238E27FC236}">
                  <a16:creationId xmlns:a16="http://schemas.microsoft.com/office/drawing/2014/main" id="{752B58E8-E33A-1234-71CB-A8D1C65E55D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32984" y="1535223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3" name="Picture 8" descr="3d Sphere Sphere PNG &amp; clipart images | TOPpng">
              <a:extLst>
                <a:ext uri="{FF2B5EF4-FFF2-40B4-BE49-F238E27FC236}">
                  <a16:creationId xmlns:a16="http://schemas.microsoft.com/office/drawing/2014/main" id="{1B0BED7E-20F1-4320-5E29-A8ECAD4E182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312515" y="14528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4" name="Picture 8" descr="3d Sphere Sphere PNG &amp; clipart images | TOPpng">
              <a:extLst>
                <a:ext uri="{FF2B5EF4-FFF2-40B4-BE49-F238E27FC236}">
                  <a16:creationId xmlns:a16="http://schemas.microsoft.com/office/drawing/2014/main" id="{2B545396-F8C2-43E3-9B09-5CB4B77AB4F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129310" y="153899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BD1BFA2E-05B5-426E-97E3-14A569B0A5AF}"/>
              </a:ext>
            </a:extLst>
          </p:cNvPr>
          <p:cNvSpPr txBox="1"/>
          <p:nvPr/>
        </p:nvSpPr>
        <p:spPr>
          <a:xfrm>
            <a:off x="8365245" y="1991297"/>
            <a:ext cx="87873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rPr>
              <a:t>ALD</a:t>
            </a:r>
            <a:b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rPr>
            </a:b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rPr>
              <a:t>1 cycle</a:t>
            </a:r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59DF334-F9A5-BB88-B14D-82730E2CEC8E}"/>
              </a:ext>
            </a:extLst>
          </p:cNvPr>
          <p:cNvGrpSpPr/>
          <p:nvPr/>
        </p:nvGrpSpPr>
        <p:grpSpPr>
          <a:xfrm flipH="1">
            <a:off x="9345221" y="1203297"/>
            <a:ext cx="1131422" cy="201954"/>
            <a:chOff x="1772863" y="1300484"/>
            <a:chExt cx="715448" cy="122764"/>
          </a:xfrm>
        </p:grpSpPr>
        <p:pic>
          <p:nvPicPr>
            <p:cNvPr id="42" name="Picture 8" descr="3d Sphere Sphere PNG &amp; clipart images | TOPpng">
              <a:extLst>
                <a:ext uri="{FF2B5EF4-FFF2-40B4-BE49-F238E27FC236}">
                  <a16:creationId xmlns:a16="http://schemas.microsoft.com/office/drawing/2014/main" id="{5328EF33-9F40-EB9C-D5D7-2B9BA545014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35881" y="132133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3" name="Picture 8" descr="3d Sphere Sphere PNG &amp; clipart images | TOPpng">
              <a:extLst>
                <a:ext uri="{FF2B5EF4-FFF2-40B4-BE49-F238E27FC236}">
                  <a16:creationId xmlns:a16="http://schemas.microsoft.com/office/drawing/2014/main" id="{5764CFD8-888C-1796-58C0-9D6F5B4D455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431979" y="1367170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4" name="Picture 8" descr="3d Sphere Sphere PNG &amp; clipart images | TOPpng">
              <a:extLst>
                <a:ext uri="{FF2B5EF4-FFF2-40B4-BE49-F238E27FC236}">
                  <a16:creationId xmlns:a16="http://schemas.microsoft.com/office/drawing/2014/main" id="{B5893BA6-6D5C-73F4-65B0-15C872CC001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772863" y="1349373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5" name="Picture 8" descr="3d Sphere Sphere PNG &amp; clipart images | TOPpng">
              <a:extLst>
                <a:ext uri="{FF2B5EF4-FFF2-40B4-BE49-F238E27FC236}">
                  <a16:creationId xmlns:a16="http://schemas.microsoft.com/office/drawing/2014/main" id="{62B58A89-A828-CA08-3183-9991D71D534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895755" y="13004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6" name="Picture 8" descr="3d Sphere Sphere PNG &amp; clipart images | TOPpng">
              <a:extLst>
                <a:ext uri="{FF2B5EF4-FFF2-40B4-BE49-F238E27FC236}">
                  <a16:creationId xmlns:a16="http://schemas.microsoft.com/office/drawing/2014/main" id="{2FA3F051-18C0-E9E0-27BB-72AB07753C5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160115" y="13004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7" name="Picture 8" descr="3d Sphere Sphere PNG &amp; clipart images | TOPpng">
              <a:extLst>
                <a:ext uri="{FF2B5EF4-FFF2-40B4-BE49-F238E27FC236}">
                  <a16:creationId xmlns:a16="http://schemas.microsoft.com/office/drawing/2014/main" id="{B8243AE8-FC5C-CD9F-6400-8AAB101C27B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303438" y="1323596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FA62059-1D22-0507-5D40-8244A06046C1}"/>
              </a:ext>
            </a:extLst>
          </p:cNvPr>
          <p:cNvGrpSpPr/>
          <p:nvPr/>
        </p:nvGrpSpPr>
        <p:grpSpPr>
          <a:xfrm rot="9070823" flipH="1">
            <a:off x="7359797" y="2369952"/>
            <a:ext cx="848451" cy="512228"/>
            <a:chOff x="1871546" y="1349070"/>
            <a:chExt cx="497301" cy="316630"/>
          </a:xfrm>
        </p:grpSpPr>
        <p:pic>
          <p:nvPicPr>
            <p:cNvPr id="35" name="Picture 8" descr="3d Sphere Sphere PNG &amp; clipart images | TOPpng">
              <a:extLst>
                <a:ext uri="{FF2B5EF4-FFF2-40B4-BE49-F238E27FC236}">
                  <a16:creationId xmlns:a16="http://schemas.microsoft.com/office/drawing/2014/main" id="{197A3A93-000C-7F1B-6204-EF14E69AC66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871546" y="1609622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6" name="Picture 8" descr="3d Sphere Sphere PNG &amp; clipart images | TOPpng">
              <a:extLst>
                <a:ext uri="{FF2B5EF4-FFF2-40B4-BE49-F238E27FC236}">
                  <a16:creationId xmlns:a16="http://schemas.microsoft.com/office/drawing/2014/main" id="{C54461F3-7024-31C6-93E1-E9C2E26AC8C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07715" y="1605587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7" name="Picture 8" descr="3d Sphere Sphere PNG &amp; clipart images | TOPpng">
              <a:extLst>
                <a:ext uri="{FF2B5EF4-FFF2-40B4-BE49-F238E27FC236}">
                  <a16:creationId xmlns:a16="http://schemas.microsoft.com/office/drawing/2014/main" id="{E7ED11B5-DE17-6A89-9360-908B5C763E1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188281" y="147373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8" name="Picture 8" descr="3d Sphere Sphere PNG &amp; clipart images | TOPpng">
              <a:extLst>
                <a:ext uri="{FF2B5EF4-FFF2-40B4-BE49-F238E27FC236}">
                  <a16:creationId xmlns:a16="http://schemas.microsoft.com/office/drawing/2014/main" id="{26DA634F-E0C1-4CF9-5CFF-3CDBF44D0FA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925263" y="1501773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9" name="Picture 8" descr="3d Sphere Sphere PNG &amp; clipart images | TOPpng">
              <a:extLst>
                <a:ext uri="{FF2B5EF4-FFF2-40B4-BE49-F238E27FC236}">
                  <a16:creationId xmlns:a16="http://schemas.microsoft.com/office/drawing/2014/main" id="{E04369EC-ECCA-0DCC-436C-41D6E51BB07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48155" y="14528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0" name="Picture 8" descr="3d Sphere Sphere PNG &amp; clipart images | TOPpng">
              <a:extLst>
                <a:ext uri="{FF2B5EF4-FFF2-40B4-BE49-F238E27FC236}">
                  <a16:creationId xmlns:a16="http://schemas.microsoft.com/office/drawing/2014/main" id="{6C9EC7FD-8E3A-C824-44B5-61282957D55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312515" y="14528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" name="Picture 8" descr="3d Sphere Sphere PNG &amp; clipart images | TOPpng">
              <a:extLst>
                <a:ext uri="{FF2B5EF4-FFF2-40B4-BE49-F238E27FC236}">
                  <a16:creationId xmlns:a16="http://schemas.microsoft.com/office/drawing/2014/main" id="{D6787C49-0E5E-C617-33A8-C5C416613D5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230063" y="1349070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3A827DA6-6F83-6ADD-34CF-7C27EFD93ED4}"/>
              </a:ext>
            </a:extLst>
          </p:cNvPr>
          <p:cNvSpPr txBox="1"/>
          <p:nvPr/>
        </p:nvSpPr>
        <p:spPr>
          <a:xfrm>
            <a:off x="7153063" y="890624"/>
            <a:ext cx="992680" cy="276999"/>
          </a:xfrm>
          <a:prstGeom prst="rect">
            <a:avLst/>
          </a:prstGeom>
          <a:solidFill>
            <a:srgbClr val="1976D2"/>
          </a:solidFill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solidFill>
                  <a:schemeClr val="bg1"/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rPr>
              <a:t>DEZ Supply</a:t>
            </a:r>
            <a:endParaRPr lang="en-US" altLang="ko-KR" sz="1200" dirty="0">
              <a:solidFill>
                <a:schemeClr val="bg1"/>
              </a:solidFill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  <a:latin typeface="프리젠테이션 9 Black" pitchFamily="2" charset="-127"/>
              <a:ea typeface="프리젠테이션 9 Black" pitchFamily="2" charset="-127"/>
              <a:cs typeface="Arial" panose="020B06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881177C-116A-56F8-CE56-8880D6ACB975}"/>
              </a:ext>
            </a:extLst>
          </p:cNvPr>
          <p:cNvSpPr txBox="1"/>
          <p:nvPr/>
        </p:nvSpPr>
        <p:spPr>
          <a:xfrm>
            <a:off x="9487261" y="2024606"/>
            <a:ext cx="1163567" cy="276999"/>
          </a:xfrm>
          <a:prstGeom prst="rect">
            <a:avLst/>
          </a:prstGeom>
          <a:solidFill>
            <a:srgbClr val="43A047"/>
          </a:solidFill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1200">
                <a:solidFill>
                  <a:schemeClr val="bg1"/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defRPr>
            </a:lvl1pPr>
          </a:lstStyle>
          <a:p>
            <a:r>
              <a:rPr lang="en-US" dirty="0" err="1"/>
              <a:t>HF·Py</a:t>
            </a:r>
            <a:r>
              <a:rPr lang="en-US" dirty="0"/>
              <a:t> Supply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6DDBC6C-0B87-134C-E682-DF6A2A360B04}"/>
              </a:ext>
            </a:extLst>
          </p:cNvPr>
          <p:cNvSpPr txBox="1"/>
          <p:nvPr/>
        </p:nvSpPr>
        <p:spPr>
          <a:xfrm>
            <a:off x="9712238" y="890624"/>
            <a:ext cx="902188" cy="276999"/>
          </a:xfrm>
          <a:prstGeom prst="rect">
            <a:avLst/>
          </a:prstGeom>
          <a:solidFill>
            <a:srgbClr val="F9A825"/>
          </a:solidFill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1200">
                <a:solidFill>
                  <a:schemeClr val="bg1"/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defRPr>
            </a:lvl1pPr>
          </a:lstStyle>
          <a:p>
            <a:r>
              <a:rPr lang="en-US" dirty="0"/>
              <a:t>DEZ Purge</a:t>
            </a:r>
            <a:endParaRPr lang="en-US" altLang="ko-KR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A9205AE-11B8-5BEC-1B1C-FDCD23088C4E}"/>
              </a:ext>
            </a:extLst>
          </p:cNvPr>
          <p:cNvSpPr txBox="1"/>
          <p:nvPr/>
        </p:nvSpPr>
        <p:spPr>
          <a:xfrm>
            <a:off x="7146851" y="2024606"/>
            <a:ext cx="1082949" cy="276999"/>
          </a:xfrm>
          <a:prstGeom prst="rect">
            <a:avLst/>
          </a:prstGeom>
          <a:solidFill>
            <a:srgbClr val="EF5350"/>
          </a:solidFill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1200">
                <a:solidFill>
                  <a:schemeClr val="bg1"/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defRPr>
            </a:lvl1pPr>
          </a:lstStyle>
          <a:p>
            <a:r>
              <a:rPr lang="en-US" dirty="0" err="1"/>
              <a:t>HF·Py</a:t>
            </a:r>
            <a:r>
              <a:rPr lang="en-US" dirty="0"/>
              <a:t> Purge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5CA07D4-2093-505B-499D-40C3AB8F67AD}"/>
              </a:ext>
            </a:extLst>
          </p:cNvPr>
          <p:cNvSpPr txBox="1"/>
          <p:nvPr/>
        </p:nvSpPr>
        <p:spPr>
          <a:xfrm>
            <a:off x="7259121" y="3242147"/>
            <a:ext cx="16204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DEZ:</a:t>
            </a:r>
            <a:r>
              <a:rPr lang="pl-PL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  Zn(CH</a:t>
            </a:r>
            <a:r>
              <a:rPr lang="pl-PL" sz="1100" baseline="-250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2</a:t>
            </a:r>
            <a:r>
              <a:rPr lang="pl-PL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CH</a:t>
            </a:r>
            <a:r>
              <a:rPr lang="pl-PL" sz="1100" baseline="-250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3</a:t>
            </a:r>
            <a:r>
              <a:rPr lang="pl-PL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)</a:t>
            </a:r>
            <a:r>
              <a:rPr lang="pl-PL" sz="1100" baseline="-250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2</a:t>
            </a:r>
            <a:r>
              <a:rPr lang="en-US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 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626F56E-4B6C-8CDC-C211-1316C1241C52}"/>
              </a:ext>
            </a:extLst>
          </p:cNvPr>
          <p:cNvSpPr txBox="1"/>
          <p:nvPr/>
        </p:nvSpPr>
        <p:spPr>
          <a:xfrm>
            <a:off x="8399598" y="3242147"/>
            <a:ext cx="16204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HF:</a:t>
            </a:r>
            <a:r>
              <a:rPr lang="pl-PL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  </a:t>
            </a:r>
            <a:r>
              <a:rPr lang="en-US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Hydrogen fluoride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BDFA656-7A9C-728E-F684-E413B511ADC4}"/>
              </a:ext>
            </a:extLst>
          </p:cNvPr>
          <p:cNvSpPr txBox="1"/>
          <p:nvPr/>
        </p:nvSpPr>
        <p:spPr>
          <a:xfrm>
            <a:off x="9812121" y="3241351"/>
            <a:ext cx="91221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 err="1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Py</a:t>
            </a:r>
            <a:r>
              <a:rPr lang="en-US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:</a:t>
            </a:r>
            <a:r>
              <a:rPr lang="pl-PL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  </a:t>
            </a:r>
            <a:r>
              <a:rPr lang="en-US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Pyridine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7AA68B2-509B-AF33-95B0-C514AB0A7F65}"/>
              </a:ext>
            </a:extLst>
          </p:cNvPr>
          <p:cNvSpPr/>
          <p:nvPr/>
        </p:nvSpPr>
        <p:spPr>
          <a:xfrm>
            <a:off x="7122848" y="844903"/>
            <a:ext cx="3554644" cy="2628373"/>
          </a:xfrm>
          <a:prstGeom prst="rect">
            <a:avLst/>
          </a:prstGeom>
          <a:noFill/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0C49109-3CF1-6AA0-618E-43E54BA3E027}"/>
              </a:ext>
            </a:extLst>
          </p:cNvPr>
          <p:cNvGrpSpPr/>
          <p:nvPr/>
        </p:nvGrpSpPr>
        <p:grpSpPr>
          <a:xfrm>
            <a:off x="6933800" y="3586977"/>
            <a:ext cx="3778565" cy="887344"/>
            <a:chOff x="1133496" y="3707498"/>
            <a:chExt cx="3778565" cy="887344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48CEA866-67C3-8828-C392-40E7E7EFC21B}"/>
                </a:ext>
              </a:extLst>
            </p:cNvPr>
            <p:cNvGrpSpPr/>
            <p:nvPr/>
          </p:nvGrpSpPr>
          <p:grpSpPr>
            <a:xfrm>
              <a:off x="1133496" y="3772935"/>
              <a:ext cx="3250094" cy="784423"/>
              <a:chOff x="3293632" y="4015904"/>
              <a:chExt cx="1852988" cy="679556"/>
            </a:xfrm>
          </p:grpSpPr>
          <p:pic>
            <p:nvPicPr>
              <p:cNvPr id="32" name="Picture 6">
                <a:extLst>
                  <a:ext uri="{FF2B5EF4-FFF2-40B4-BE49-F238E27FC236}">
                    <a16:creationId xmlns:a16="http://schemas.microsoft.com/office/drawing/2014/main" id="{E0841D25-F48A-D6DE-4F5C-58DB68D6A01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b="34006"/>
              <a:stretch/>
            </p:blipFill>
            <p:spPr bwMode="auto">
              <a:xfrm>
                <a:off x="3293632" y="4015904"/>
                <a:ext cx="1852988" cy="45358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E201EB61-A45D-0EF8-5F6F-FF08DC46376D}"/>
                  </a:ext>
                </a:extLst>
              </p:cNvPr>
              <p:cNvCxnSpPr/>
              <p:nvPr/>
            </p:nvCxnSpPr>
            <p:spPr>
              <a:xfrm>
                <a:off x="3598088" y="4506483"/>
                <a:ext cx="1265234" cy="0"/>
              </a:xfrm>
              <a:prstGeom prst="straightConnector1">
                <a:avLst/>
              </a:prstGeom>
              <a:ln w="9525">
                <a:solidFill>
                  <a:schemeClr val="tx1">
                    <a:lumMod val="75000"/>
                    <a:lumOff val="25000"/>
                  </a:schemeClr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01EC890B-0E91-2A8E-DEC0-31AE289EAB0F}"/>
                  </a:ext>
                </a:extLst>
              </p:cNvPr>
              <p:cNvSpPr txBox="1"/>
              <p:nvPr/>
            </p:nvSpPr>
            <p:spPr>
              <a:xfrm>
                <a:off x="3692308" y="4468824"/>
                <a:ext cx="1084855" cy="2266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b="1" dirty="0">
                    <a:effectLst/>
                    <a:latin typeface="프리젠테이션 7 Bold" pitchFamily="2" charset="-127"/>
                    <a:ea typeface="프리젠테이션 7 Bold" pitchFamily="2" charset="-127"/>
                  </a:rPr>
                  <a:t># of ALD cycles</a:t>
                </a:r>
                <a:endParaRPr lang="ko-KR" altLang="en-US" sz="1100" b="1" dirty="0">
                  <a:effectLst/>
                  <a:latin typeface="프리젠테이션 7 Bold" pitchFamily="2" charset="-127"/>
                  <a:ea typeface="프리젠테이션 7 Bold" pitchFamily="2" charset="-127"/>
                </a:endParaRPr>
              </a:p>
            </p:txBody>
          </p:sp>
        </p:grp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9E7216C5-2553-C879-2622-B0680D31980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83312" y="3882181"/>
              <a:ext cx="238689" cy="83829"/>
            </a:xfrm>
            <a:prstGeom prst="straightConnector1">
              <a:avLst/>
            </a:prstGeom>
            <a:ln w="6350">
              <a:solidFill>
                <a:schemeClr val="tx1">
                  <a:lumMod val="75000"/>
                  <a:lumOff val="25000"/>
                </a:schemeClr>
              </a:solidFill>
              <a:tailEnd type="arrow"/>
            </a:ln>
            <a:effectLst>
              <a:glow rad="63500">
                <a:srgbClr val="43A047">
                  <a:alpha val="40000"/>
                </a:srgbClr>
              </a:glow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34BF0D4-1902-128B-B521-3F5BF03610A4}"/>
                </a:ext>
              </a:extLst>
            </p:cNvPr>
            <p:cNvSpPr txBox="1"/>
            <p:nvPr/>
          </p:nvSpPr>
          <p:spPr>
            <a:xfrm>
              <a:off x="4281794" y="3707498"/>
              <a:ext cx="471047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 err="1">
                  <a:latin typeface="프리젠테이션 7 Bold" pitchFamily="2" charset="-127"/>
                  <a:ea typeface="프리젠테이션 7 Bold" pitchFamily="2" charset="-127"/>
                </a:rPr>
                <a:t>MF</a:t>
              </a:r>
              <a:r>
                <a:rPr lang="en-US" altLang="ko-KR" sz="1200" b="1" baseline="-25000" dirty="0" err="1">
                  <a:latin typeface="프리젠테이션 7 Bold" pitchFamily="2" charset="-127"/>
                  <a:ea typeface="프리젠테이션 7 Bold" pitchFamily="2" charset="-127"/>
                </a:rPr>
                <a:t>x</a:t>
              </a:r>
              <a:endParaRPr lang="en-US" sz="1200" b="1" baseline="-25000" dirty="0">
                <a:latin typeface="프리젠테이션 7 Bold" pitchFamily="2" charset="-127"/>
                <a:ea typeface="프리젠테이션 7 Bold" pitchFamily="2" charset="-127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81A2DC6-2DE1-D15F-5AEC-18C2967D080B}"/>
                </a:ext>
              </a:extLst>
            </p:cNvPr>
            <p:cNvSpPr txBox="1"/>
            <p:nvPr/>
          </p:nvSpPr>
          <p:spPr>
            <a:xfrm>
              <a:off x="3731940" y="4348621"/>
              <a:ext cx="1180121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000" dirty="0" err="1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MF</a:t>
              </a:r>
              <a:r>
                <a:rPr lang="en-US" altLang="ko-KR" sz="1000" baseline="-25000" dirty="0" err="1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x</a:t>
              </a:r>
              <a:r>
                <a:rPr lang="en-US" altLang="ko-KR" sz="1000" dirty="0" err="1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:Metal</a:t>
              </a:r>
              <a:r>
                <a:rPr lang="en-US" altLang="ko-KR" sz="1000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 Fluoride</a:t>
              </a:r>
              <a:endParaRPr lang="en-US" sz="10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55F01E44-2E0E-E8E9-22EA-8B92F1FD4AA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018969" y="4086055"/>
              <a:ext cx="195200" cy="91742"/>
            </a:xfrm>
            <a:prstGeom prst="straightConnector1">
              <a:avLst/>
            </a:prstGeom>
            <a:ln w="6350">
              <a:solidFill>
                <a:schemeClr val="tx1">
                  <a:lumMod val="75000"/>
                  <a:lumOff val="25000"/>
                </a:schemeClr>
              </a:solidFill>
              <a:tailEnd type="arrow"/>
            </a:ln>
            <a:effectLst>
              <a:glow rad="139700">
                <a:schemeClr val="accent6">
                  <a:satMod val="175000"/>
                  <a:alpha val="40000"/>
                </a:schemeClr>
              </a:glow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5E47EAD0-3636-849E-3C63-27D0F8F33142}"/>
                </a:ext>
              </a:extLst>
            </p:cNvPr>
            <p:cNvSpPr txBox="1"/>
            <p:nvPr/>
          </p:nvSpPr>
          <p:spPr>
            <a:xfrm>
              <a:off x="4171313" y="4059504"/>
              <a:ext cx="516544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Cu</a:t>
              </a:r>
              <a:endParaRPr lang="en-US" sz="1200" dirty="0"/>
            </a:p>
          </p:txBody>
        </p:sp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02FD3180-0C47-DA78-84FE-00B81BF32754}"/>
              </a:ext>
            </a:extLst>
          </p:cNvPr>
          <p:cNvSpPr/>
          <p:nvPr/>
        </p:nvSpPr>
        <p:spPr>
          <a:xfrm>
            <a:off x="7122848" y="3505338"/>
            <a:ext cx="3554644" cy="952827"/>
          </a:xfrm>
          <a:prstGeom prst="rect">
            <a:avLst/>
          </a:prstGeom>
          <a:noFill/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0AA8685-6851-583F-1CC7-0F1E9FBAFB8A}"/>
              </a:ext>
            </a:extLst>
          </p:cNvPr>
          <p:cNvSpPr txBox="1"/>
          <p:nvPr/>
        </p:nvSpPr>
        <p:spPr>
          <a:xfrm>
            <a:off x="8065822" y="3464365"/>
            <a:ext cx="164832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50" dirty="0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박막 형성 단면 모식도</a:t>
            </a:r>
          </a:p>
        </p:txBody>
      </p:sp>
    </p:spTree>
    <p:extLst>
      <p:ext uri="{BB962C8B-B14F-4D97-AF65-F5344CB8AC3E}">
        <p14:creationId xmlns:p14="http://schemas.microsoft.com/office/powerpoint/2010/main" val="12171726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diagram of different types of material&#10;&#10;AI-generated content may be incorrect.">
            <a:extLst>
              <a:ext uri="{FF2B5EF4-FFF2-40B4-BE49-F238E27FC236}">
                <a16:creationId xmlns:a16="http://schemas.microsoft.com/office/drawing/2014/main" id="{BF98601F-FBB7-086F-B2DF-113D549FA16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8223"/>
          <a:stretch/>
        </p:blipFill>
        <p:spPr>
          <a:xfrm>
            <a:off x="303131" y="241727"/>
            <a:ext cx="4546900" cy="3187273"/>
          </a:xfrm>
          <a:prstGeom prst="rect">
            <a:avLst/>
          </a:prstGeom>
        </p:spPr>
      </p:pic>
      <p:pic>
        <p:nvPicPr>
          <p:cNvPr id="4" name="Picture 2" descr="Three Arrow Circle Sign Reload, Loop Symbol - Download Free 3D model by  B1Blender (@B1Blender) [549c9fb]">
            <a:extLst>
              <a:ext uri="{FF2B5EF4-FFF2-40B4-BE49-F238E27FC236}">
                <a16:creationId xmlns:a16="http://schemas.microsoft.com/office/drawing/2014/main" id="{58E72D28-5FFC-1279-7A7D-C2AA10AAC49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6667" b="76852" l="32396" r="67500">
                        <a14:foregroundMark x1="55625" y1="19167" x2="55677" y2="22130"/>
                        <a14:foregroundMark x1="63542" y1="36574" x2="65729" y2="46296"/>
                        <a14:foregroundMark x1="65729" y1="46296" x2="65313" y2="63241"/>
                        <a14:foregroundMark x1="65313" y1="63241" x2="60208" y2="73241"/>
                        <a14:foregroundMark x1="60208" y1="73241" x2="59948" y2="73148"/>
                        <a14:foregroundMark x1="37031" y1="57315" x2="45052" y2="73333"/>
                        <a14:foregroundMark x1="45052" y1="73333" x2="50625" y2="76944"/>
                        <a14:foregroundMark x1="50625" y1="76944" x2="54948" y2="76759"/>
                        <a14:foregroundMark x1="67656" y1="49815" x2="67448" y2="60556"/>
                        <a14:foregroundMark x1="55625" y1="16759" x2="55625" y2="16759"/>
                        <a14:foregroundMark x1="34479" y1="61204" x2="33698" y2="64630"/>
                        <a14:foregroundMark x1="32396" y1="65926" x2="32396" y2="65926"/>
                      </a14:backgroundRemoval>
                    </a14:imgEffect>
                    <a14:imgEffect>
                      <a14:saturation sat="4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1597" t="14558" r="30422" b="19185"/>
          <a:stretch/>
        </p:blipFill>
        <p:spPr bwMode="auto">
          <a:xfrm>
            <a:off x="8277625" y="1672899"/>
            <a:ext cx="1051318" cy="10316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A2087C6A-5AB3-C36C-A012-ECD973DAFA71}"/>
              </a:ext>
            </a:extLst>
          </p:cNvPr>
          <p:cNvGrpSpPr/>
          <p:nvPr/>
        </p:nvGrpSpPr>
        <p:grpSpPr>
          <a:xfrm>
            <a:off x="9312679" y="944339"/>
            <a:ext cx="1100652" cy="1288395"/>
            <a:chOff x="4540535" y="510372"/>
            <a:chExt cx="1100652" cy="1288395"/>
          </a:xfrm>
        </p:grpSpPr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781232B3-38D3-66D5-DE28-3DD7AF618993}"/>
                </a:ext>
              </a:extLst>
            </p:cNvPr>
            <p:cNvSpPr/>
            <p:nvPr/>
          </p:nvSpPr>
          <p:spPr>
            <a:xfrm>
              <a:off x="4562956" y="510372"/>
              <a:ext cx="1037842" cy="1288395"/>
            </a:xfrm>
            <a:prstGeom prst="rect">
              <a:avLst/>
            </a:prstGeom>
            <a:gradFill>
              <a:gsLst>
                <a:gs pos="0">
                  <a:schemeClr val="bg2">
                    <a:lumMod val="90000"/>
                  </a:schemeClr>
                </a:gs>
                <a:gs pos="100000">
                  <a:schemeClr val="bg2">
                    <a:lumMod val="75000"/>
                    <a:alpha val="63000"/>
                  </a:schemeClr>
                </a:gs>
              </a:gsLst>
            </a:gradFill>
            <a:ln>
              <a:noFill/>
            </a:ln>
            <a:scene3d>
              <a:camera prst="isometricOffAxis2Top"/>
              <a:lightRig rig="morning" dir="t"/>
            </a:scene3d>
            <a:sp3d extrusionH="95250" prstMaterial="flat"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605C3228-6C62-5852-B3B6-51E3C40D7D28}"/>
                </a:ext>
              </a:extLst>
            </p:cNvPr>
            <p:cNvGrpSpPr/>
            <p:nvPr/>
          </p:nvGrpSpPr>
          <p:grpSpPr>
            <a:xfrm>
              <a:off x="4540535" y="907639"/>
              <a:ext cx="1100652" cy="457076"/>
              <a:chOff x="7197429" y="1152057"/>
              <a:chExt cx="1100652" cy="457076"/>
            </a:xfrm>
          </p:grpSpPr>
          <p:grpSp>
            <p:nvGrpSpPr>
              <p:cNvPr id="116" name="Group 115">
                <a:extLst>
                  <a:ext uri="{FF2B5EF4-FFF2-40B4-BE49-F238E27FC236}">
                    <a16:creationId xmlns:a16="http://schemas.microsoft.com/office/drawing/2014/main" id="{4BE09ED1-9CFE-9FBF-0466-86A58290253F}"/>
                  </a:ext>
                </a:extLst>
              </p:cNvPr>
              <p:cNvGrpSpPr/>
              <p:nvPr/>
            </p:nvGrpSpPr>
            <p:grpSpPr>
              <a:xfrm>
                <a:off x="7570280" y="1152057"/>
                <a:ext cx="727801" cy="232844"/>
                <a:chOff x="6561481" y="1836490"/>
                <a:chExt cx="727801" cy="232844"/>
              </a:xfrm>
            </p:grpSpPr>
            <p:pic>
              <p:nvPicPr>
                <p:cNvPr id="135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08EF5097-21D9-D918-1E01-19B61C67178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6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DE57A8A7-7904-0838-2B84-888BE8C005D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41C273D8-8CBE-2E09-EF46-13B107370E0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8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2E5BB6E9-5ACD-F1A0-A006-D3B8EB7566E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9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E5934A0-0732-84DE-54DE-FE1080AE2D8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117" name="Group 116">
                <a:extLst>
                  <a:ext uri="{FF2B5EF4-FFF2-40B4-BE49-F238E27FC236}">
                    <a16:creationId xmlns:a16="http://schemas.microsoft.com/office/drawing/2014/main" id="{47212514-1E7B-8508-0780-D6505F188937}"/>
                  </a:ext>
                </a:extLst>
              </p:cNvPr>
              <p:cNvGrpSpPr/>
              <p:nvPr/>
            </p:nvGrpSpPr>
            <p:grpSpPr>
              <a:xfrm>
                <a:off x="7451507" y="1229540"/>
                <a:ext cx="727801" cy="232844"/>
                <a:chOff x="6561481" y="1836490"/>
                <a:chExt cx="727801" cy="232844"/>
              </a:xfrm>
            </p:grpSpPr>
            <p:pic>
              <p:nvPicPr>
                <p:cNvPr id="130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0B947339-E4C3-DD8D-46FB-A132EA8A449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A57931BB-25F9-DB1F-8EB3-A3070A517A5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2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7321CD45-84C8-CB09-D27D-22D84FCC4F4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CF271F6E-07B1-949D-6A73-26CD8C68E0BC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FEB11C6C-33A9-8583-FD2C-D2136917C0CC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118" name="Group 117">
                <a:extLst>
                  <a:ext uri="{FF2B5EF4-FFF2-40B4-BE49-F238E27FC236}">
                    <a16:creationId xmlns:a16="http://schemas.microsoft.com/office/drawing/2014/main" id="{9422A42B-9D94-443E-8549-23908BE1F9CD}"/>
                  </a:ext>
                </a:extLst>
              </p:cNvPr>
              <p:cNvGrpSpPr/>
              <p:nvPr/>
            </p:nvGrpSpPr>
            <p:grpSpPr>
              <a:xfrm>
                <a:off x="7320281" y="1308323"/>
                <a:ext cx="727801" cy="232844"/>
                <a:chOff x="6561481" y="1836490"/>
                <a:chExt cx="727801" cy="232844"/>
              </a:xfrm>
            </p:grpSpPr>
            <p:pic>
              <p:nvPicPr>
                <p:cNvPr id="125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6425445C-69A6-DF9D-64C9-D885602D5B0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6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A576B64C-6632-2E67-E65D-553E18BF6F1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F9A7BDF4-8639-7C35-B9B7-DD12A7DC608A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8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0BEA4DFC-63F4-8772-B371-A07415F36145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9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C36182E3-CCC5-DC36-0303-0D58ED6A256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119" name="Group 118">
                <a:extLst>
                  <a:ext uri="{FF2B5EF4-FFF2-40B4-BE49-F238E27FC236}">
                    <a16:creationId xmlns:a16="http://schemas.microsoft.com/office/drawing/2014/main" id="{6A942BE9-3C52-3859-7A71-56CDE1A3B96C}"/>
                  </a:ext>
                </a:extLst>
              </p:cNvPr>
              <p:cNvGrpSpPr/>
              <p:nvPr/>
            </p:nvGrpSpPr>
            <p:grpSpPr>
              <a:xfrm>
                <a:off x="7197429" y="1376289"/>
                <a:ext cx="727801" cy="232844"/>
                <a:chOff x="6561481" y="1836490"/>
                <a:chExt cx="727801" cy="232844"/>
              </a:xfrm>
            </p:grpSpPr>
            <p:pic>
              <p:nvPicPr>
                <p:cNvPr id="120" name="Picture 119" descr="3d Sphere Sphere PNG &amp; clipart images | TOPpng">
                  <a:extLst>
                    <a:ext uri="{FF2B5EF4-FFF2-40B4-BE49-F238E27FC236}">
                      <a16:creationId xmlns:a16="http://schemas.microsoft.com/office/drawing/2014/main" id="{C53679FC-C47F-A521-CF5D-1D63692798C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071042E4-16A5-ACB0-F950-641FD50903AC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7156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2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4FFC63C9-BAB9-0AEC-6E28-5ABDE8D446C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2831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9B37E1CA-24DA-045D-0129-69611B98B62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8506" y="19042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02EC85E-8171-2D59-62F2-6FF922747ADA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094C22D5-61B8-8D69-00BF-70A8A2F269BE}"/>
              </a:ext>
            </a:extLst>
          </p:cNvPr>
          <p:cNvSpPr/>
          <p:nvPr/>
        </p:nvSpPr>
        <p:spPr>
          <a:xfrm>
            <a:off x="7529007" y="944339"/>
            <a:ext cx="1037842" cy="1288395"/>
          </a:xfrm>
          <a:prstGeom prst="rect">
            <a:avLst/>
          </a:prstGeom>
          <a:gradFill>
            <a:gsLst>
              <a:gs pos="0">
                <a:schemeClr val="bg2">
                  <a:lumMod val="90000"/>
                </a:schemeClr>
              </a:gs>
              <a:gs pos="100000">
                <a:schemeClr val="bg2">
                  <a:lumMod val="75000"/>
                  <a:alpha val="63000"/>
                </a:schemeClr>
              </a:gs>
            </a:gsLst>
          </a:gradFill>
          <a:ln>
            <a:noFill/>
          </a:ln>
          <a:scene3d>
            <a:camera prst="isometricOffAxis2Top"/>
            <a:lightRig rig="morning" dir="t"/>
          </a:scene3d>
          <a:sp3d extrusionH="95250" prstMaterial="flat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94F0329-0EEA-D059-71D0-1D70411B0300}"/>
              </a:ext>
            </a:extLst>
          </p:cNvPr>
          <p:cNvGrpSpPr/>
          <p:nvPr/>
        </p:nvGrpSpPr>
        <p:grpSpPr>
          <a:xfrm>
            <a:off x="7326442" y="1302970"/>
            <a:ext cx="1449434" cy="337229"/>
            <a:chOff x="1590955" y="1300484"/>
            <a:chExt cx="897356" cy="208781"/>
          </a:xfrm>
        </p:grpSpPr>
        <p:pic>
          <p:nvPicPr>
            <p:cNvPr id="105" name="Picture 8" descr="3d Sphere Sphere PNG &amp; clipart images | TOPpng">
              <a:extLst>
                <a:ext uri="{FF2B5EF4-FFF2-40B4-BE49-F238E27FC236}">
                  <a16:creationId xmlns:a16="http://schemas.microsoft.com/office/drawing/2014/main" id="{2C1182EC-DD32-32B6-8C4E-1EBFEEA446E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590955" y="1453187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6" name="Picture 8" descr="3d Sphere Sphere PNG &amp; clipart images | TOPpng">
              <a:extLst>
                <a:ext uri="{FF2B5EF4-FFF2-40B4-BE49-F238E27FC236}">
                  <a16:creationId xmlns:a16="http://schemas.microsoft.com/office/drawing/2014/main" id="{A067D7A5-88E3-2978-A91E-F61C6448F2D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855315" y="1453187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7" name="Picture 8" descr="3d Sphere Sphere PNG &amp; clipart images | TOPpng">
              <a:extLst>
                <a:ext uri="{FF2B5EF4-FFF2-40B4-BE49-F238E27FC236}">
                  <a16:creationId xmlns:a16="http://schemas.microsoft.com/office/drawing/2014/main" id="{E72D1184-B02E-2902-7080-CAED3E3A5AF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35881" y="132133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8" name="Picture 8" descr="3d Sphere Sphere PNG &amp; clipart images | TOPpng">
              <a:extLst>
                <a:ext uri="{FF2B5EF4-FFF2-40B4-BE49-F238E27FC236}">
                  <a16:creationId xmlns:a16="http://schemas.microsoft.com/office/drawing/2014/main" id="{4E535E84-9468-E432-40E9-F17E819DFE8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431979" y="1367170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9" name="Picture 8" descr="3d Sphere Sphere PNG &amp; clipart images | TOPpng">
              <a:extLst>
                <a:ext uri="{FF2B5EF4-FFF2-40B4-BE49-F238E27FC236}">
                  <a16:creationId xmlns:a16="http://schemas.microsoft.com/office/drawing/2014/main" id="{D94AAA68-733C-5213-8D20-ED1A602B957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252218" y="1387839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0" name="Picture 8" descr="3d Sphere Sphere PNG &amp; clipart images | TOPpng">
              <a:extLst>
                <a:ext uri="{FF2B5EF4-FFF2-40B4-BE49-F238E27FC236}">
                  <a16:creationId xmlns:a16="http://schemas.microsoft.com/office/drawing/2014/main" id="{CAADBFFE-C172-4430-BED2-116C87E856B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772863" y="1349373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1" name="Picture 8" descr="3d Sphere Sphere PNG &amp; clipart images | TOPpng">
              <a:extLst>
                <a:ext uri="{FF2B5EF4-FFF2-40B4-BE49-F238E27FC236}">
                  <a16:creationId xmlns:a16="http://schemas.microsoft.com/office/drawing/2014/main" id="{80BFBAB5-1692-6A3D-678F-0332C557E72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895755" y="13004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2" name="Picture 8" descr="3d Sphere Sphere PNG &amp; clipart images | TOPpng">
              <a:extLst>
                <a:ext uri="{FF2B5EF4-FFF2-40B4-BE49-F238E27FC236}">
                  <a16:creationId xmlns:a16="http://schemas.microsoft.com/office/drawing/2014/main" id="{885DC732-6625-A209-1A11-F89F244725A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160115" y="13004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3" name="Picture 8" descr="3d Sphere Sphere PNG &amp; clipart images | TOPpng">
              <a:extLst>
                <a:ext uri="{FF2B5EF4-FFF2-40B4-BE49-F238E27FC236}">
                  <a16:creationId xmlns:a16="http://schemas.microsoft.com/office/drawing/2014/main" id="{5A8BDA01-2B20-CF49-D7AB-22D35AE9B8A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308550" y="1304319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4DAC3EC3-109B-2FFB-969C-560D01C60F8D}"/>
              </a:ext>
            </a:extLst>
          </p:cNvPr>
          <p:cNvGrpSpPr/>
          <p:nvPr/>
        </p:nvGrpSpPr>
        <p:grpSpPr>
          <a:xfrm>
            <a:off x="9322800" y="2286943"/>
            <a:ext cx="1100652" cy="1288395"/>
            <a:chOff x="3481469" y="2556202"/>
            <a:chExt cx="1100652" cy="1288395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D250AA01-7696-1E67-E02D-E01FD5B59C32}"/>
                </a:ext>
              </a:extLst>
            </p:cNvPr>
            <p:cNvSpPr/>
            <p:nvPr/>
          </p:nvSpPr>
          <p:spPr>
            <a:xfrm>
              <a:off x="3503890" y="2556202"/>
              <a:ext cx="1037842" cy="1288395"/>
            </a:xfrm>
            <a:prstGeom prst="rect">
              <a:avLst/>
            </a:prstGeom>
            <a:gradFill>
              <a:gsLst>
                <a:gs pos="0">
                  <a:schemeClr val="bg2">
                    <a:lumMod val="90000"/>
                  </a:schemeClr>
                </a:gs>
                <a:gs pos="100000">
                  <a:schemeClr val="bg2">
                    <a:lumMod val="75000"/>
                    <a:alpha val="63000"/>
                  </a:schemeClr>
                </a:gs>
              </a:gsLst>
            </a:gradFill>
            <a:ln>
              <a:noFill/>
            </a:ln>
            <a:scene3d>
              <a:camera prst="isometricOffAxis2Top"/>
              <a:lightRig rig="morning" dir="t"/>
            </a:scene3d>
            <a:sp3d extrusionH="95250" prstMaterial="flat"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1446FDFD-A08C-A6B1-8B68-7C85130C0D95}"/>
                </a:ext>
              </a:extLst>
            </p:cNvPr>
            <p:cNvGrpSpPr/>
            <p:nvPr/>
          </p:nvGrpSpPr>
          <p:grpSpPr>
            <a:xfrm>
              <a:off x="3481469" y="2953469"/>
              <a:ext cx="1100652" cy="457076"/>
              <a:chOff x="7197429" y="1152057"/>
              <a:chExt cx="1100652" cy="457076"/>
            </a:xfrm>
          </p:grpSpPr>
          <p:grpSp>
            <p:nvGrpSpPr>
              <p:cNvPr id="81" name="Group 80">
                <a:extLst>
                  <a:ext uri="{FF2B5EF4-FFF2-40B4-BE49-F238E27FC236}">
                    <a16:creationId xmlns:a16="http://schemas.microsoft.com/office/drawing/2014/main" id="{C396379C-EB43-8D0A-DBAE-3B73974FA680}"/>
                  </a:ext>
                </a:extLst>
              </p:cNvPr>
              <p:cNvGrpSpPr/>
              <p:nvPr/>
            </p:nvGrpSpPr>
            <p:grpSpPr>
              <a:xfrm>
                <a:off x="7570280" y="1152057"/>
                <a:ext cx="727801" cy="232844"/>
                <a:chOff x="6561481" y="1836490"/>
                <a:chExt cx="727801" cy="232844"/>
              </a:xfrm>
            </p:grpSpPr>
            <p:pic>
              <p:nvPicPr>
                <p:cNvPr id="100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E73A149D-C3A8-8E3B-46AE-3858150AF0C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92D861AB-F683-27F5-8EFF-C0799F15565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2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6B81EE71-CEF2-6789-E654-F395287F0D1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35C9F96-273B-D893-492B-9D6AA0E32D6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95A62001-66BE-7B78-ED6E-09B907F599A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82" name="Group 81">
                <a:extLst>
                  <a:ext uri="{FF2B5EF4-FFF2-40B4-BE49-F238E27FC236}">
                    <a16:creationId xmlns:a16="http://schemas.microsoft.com/office/drawing/2014/main" id="{1E77CC69-F2BF-2ED0-E995-4355BD348C8E}"/>
                  </a:ext>
                </a:extLst>
              </p:cNvPr>
              <p:cNvGrpSpPr/>
              <p:nvPr/>
            </p:nvGrpSpPr>
            <p:grpSpPr>
              <a:xfrm>
                <a:off x="7451507" y="1229540"/>
                <a:ext cx="727801" cy="232844"/>
                <a:chOff x="6561481" y="1836490"/>
                <a:chExt cx="727801" cy="232844"/>
              </a:xfrm>
            </p:grpSpPr>
            <p:pic>
              <p:nvPicPr>
                <p:cNvPr id="95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1225CA95-BBC7-D9F4-66A5-A636485FF41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6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FD845D64-99A9-E576-FE3A-E697080E499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011F67E7-EF33-D56D-A03E-051B85B9A183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8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1C7186F6-8FD6-EA82-BA38-EAA45466E90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9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3285A2CF-21A6-FF69-E053-A7B23E52DF9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83" name="Group 82">
                <a:extLst>
                  <a:ext uri="{FF2B5EF4-FFF2-40B4-BE49-F238E27FC236}">
                    <a16:creationId xmlns:a16="http://schemas.microsoft.com/office/drawing/2014/main" id="{77836DEF-A942-5376-0EAF-A791E296EF9F}"/>
                  </a:ext>
                </a:extLst>
              </p:cNvPr>
              <p:cNvGrpSpPr/>
              <p:nvPr/>
            </p:nvGrpSpPr>
            <p:grpSpPr>
              <a:xfrm>
                <a:off x="7320281" y="1308323"/>
                <a:ext cx="727801" cy="232844"/>
                <a:chOff x="6561481" y="1836490"/>
                <a:chExt cx="727801" cy="232844"/>
              </a:xfrm>
            </p:grpSpPr>
            <p:pic>
              <p:nvPicPr>
                <p:cNvPr id="90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54D2A5B3-F492-0431-B112-9FF08188B37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74F0831-018C-3533-9FAE-D4C023562D3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2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119E91F-59C5-F016-5A96-B2C0CBE6ED4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CDCB11AD-4FA3-FB9C-AAAF-AF9E97A9981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8CB1039-AB07-4EF9-DC69-FAC5D73819C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84" name="Group 83">
                <a:extLst>
                  <a:ext uri="{FF2B5EF4-FFF2-40B4-BE49-F238E27FC236}">
                    <a16:creationId xmlns:a16="http://schemas.microsoft.com/office/drawing/2014/main" id="{B84038BE-BE43-F9AB-5419-F3331C2529CE}"/>
                  </a:ext>
                </a:extLst>
              </p:cNvPr>
              <p:cNvGrpSpPr/>
              <p:nvPr/>
            </p:nvGrpSpPr>
            <p:grpSpPr>
              <a:xfrm>
                <a:off x="7197429" y="1376289"/>
                <a:ext cx="727801" cy="232844"/>
                <a:chOff x="6561481" y="1836490"/>
                <a:chExt cx="727801" cy="232844"/>
              </a:xfrm>
            </p:grpSpPr>
            <p:pic>
              <p:nvPicPr>
                <p:cNvPr id="85" name="Picture 84" descr="3d Sphere Sphere PNG &amp; clipart images | TOPpng">
                  <a:extLst>
                    <a:ext uri="{FF2B5EF4-FFF2-40B4-BE49-F238E27FC236}">
                      <a16:creationId xmlns:a16="http://schemas.microsoft.com/office/drawing/2014/main" id="{E2E3B9AB-8258-3825-0EED-8B39C3710A0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86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4810F0DF-22E7-3091-4E83-187AC435D13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7156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8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CD7F393-F07E-58E2-A2ED-8B64567223D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2831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88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53189AD9-D5A2-A1E8-FD82-19A7949B471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8506" y="19042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89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6F3674EA-378B-252F-E1A1-F3DA98DF768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4EFB100A-9B3D-9DF3-B11A-D382E96542E0}"/>
              </a:ext>
            </a:extLst>
          </p:cNvPr>
          <p:cNvSpPr/>
          <p:nvPr/>
        </p:nvSpPr>
        <p:spPr>
          <a:xfrm>
            <a:off x="7565644" y="2286943"/>
            <a:ext cx="1037842" cy="1288395"/>
          </a:xfrm>
          <a:prstGeom prst="rect">
            <a:avLst/>
          </a:prstGeom>
          <a:gradFill>
            <a:gsLst>
              <a:gs pos="0">
                <a:schemeClr val="bg2">
                  <a:lumMod val="90000"/>
                </a:schemeClr>
              </a:gs>
              <a:gs pos="100000">
                <a:schemeClr val="bg2">
                  <a:lumMod val="75000"/>
                  <a:alpha val="63000"/>
                </a:schemeClr>
              </a:gs>
            </a:gsLst>
          </a:gradFill>
          <a:ln>
            <a:noFill/>
          </a:ln>
          <a:scene3d>
            <a:camera prst="isometricOffAxis2Top"/>
            <a:lightRig rig="morning" dir="t"/>
          </a:scene3d>
          <a:sp3d extrusionH="95250" prstMaterial="flat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1F1D21E2-F2B7-A170-8D4F-A7C3F885A520}"/>
              </a:ext>
            </a:extLst>
          </p:cNvPr>
          <p:cNvGrpSpPr/>
          <p:nvPr/>
        </p:nvGrpSpPr>
        <p:grpSpPr>
          <a:xfrm>
            <a:off x="7543223" y="2684210"/>
            <a:ext cx="1100652" cy="457076"/>
            <a:chOff x="7197429" y="1152057"/>
            <a:chExt cx="1100652" cy="457076"/>
          </a:xfrm>
        </p:grpSpPr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61942D93-62C1-9653-3C82-B131C3E4BD32}"/>
                </a:ext>
              </a:extLst>
            </p:cNvPr>
            <p:cNvGrpSpPr/>
            <p:nvPr/>
          </p:nvGrpSpPr>
          <p:grpSpPr>
            <a:xfrm>
              <a:off x="7570280" y="1152057"/>
              <a:ext cx="727801" cy="232844"/>
              <a:chOff x="6561481" y="1836490"/>
              <a:chExt cx="727801" cy="232844"/>
            </a:xfrm>
          </p:grpSpPr>
          <p:pic>
            <p:nvPicPr>
              <p:cNvPr id="74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C3567F16-8A21-16F9-6F76-ADF2376B31D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561481" y="1836490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5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DFEC5658-EE44-5E19-52E9-DCC92A1CCEC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708870" y="185265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6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A807E1BB-A4BC-450A-D7D5-AF905C15BF5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853973" y="187412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7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278D850F-289C-5227-D825-E33F0C2B9CB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999076" y="189559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8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3507EBC3-B23B-018F-3843-846EB0AEC36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7144179" y="1924884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02F281DA-09EE-B35D-BD22-00E3699BA1CC}"/>
                </a:ext>
              </a:extLst>
            </p:cNvPr>
            <p:cNvGrpSpPr/>
            <p:nvPr/>
          </p:nvGrpSpPr>
          <p:grpSpPr>
            <a:xfrm>
              <a:off x="7451507" y="1229540"/>
              <a:ext cx="727801" cy="232844"/>
              <a:chOff x="6561481" y="1836490"/>
              <a:chExt cx="727801" cy="232844"/>
            </a:xfrm>
          </p:grpSpPr>
          <p:pic>
            <p:nvPicPr>
              <p:cNvPr id="69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94B0AA59-9D6A-04CA-B768-B5D3113973B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561481" y="1836490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0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9481C710-6FB3-049D-B429-74E9E1D329A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708870" y="185265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1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2F6BA6F7-C824-79AB-8F4F-F6C4F639C06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853973" y="187412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2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028E8735-1B0A-365C-19C2-6E2A10992A6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999076" y="189559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3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7C942E41-F734-747F-55D6-68BEF740730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7144179" y="1924884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801FBED9-1E47-2744-CFF8-844ACEF3123F}"/>
                </a:ext>
              </a:extLst>
            </p:cNvPr>
            <p:cNvGrpSpPr/>
            <p:nvPr/>
          </p:nvGrpSpPr>
          <p:grpSpPr>
            <a:xfrm>
              <a:off x="7320281" y="1308323"/>
              <a:ext cx="727801" cy="232844"/>
              <a:chOff x="6561481" y="1836490"/>
              <a:chExt cx="727801" cy="232844"/>
            </a:xfrm>
          </p:grpSpPr>
          <p:pic>
            <p:nvPicPr>
              <p:cNvPr id="64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EB97A618-07DF-92DF-1C3E-33BEB458D07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561481" y="1836490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5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B42EE510-7527-8858-2346-D134164FCC6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708870" y="185265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6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8CB6A59D-FAED-BFCC-976D-B7E43029E07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853973" y="187412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7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2643A788-B020-833A-9305-68EEB64B167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999076" y="189559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8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B289C5EF-9B10-53C1-DCF4-D4F8B2FC54A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7144179" y="1924884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A36AB6EA-6E54-8BF4-8FB6-15A1502CBC0D}"/>
                </a:ext>
              </a:extLst>
            </p:cNvPr>
            <p:cNvGrpSpPr/>
            <p:nvPr/>
          </p:nvGrpSpPr>
          <p:grpSpPr>
            <a:xfrm>
              <a:off x="7197429" y="1376289"/>
              <a:ext cx="727801" cy="232844"/>
              <a:chOff x="6561481" y="1836490"/>
              <a:chExt cx="727801" cy="232844"/>
            </a:xfrm>
          </p:grpSpPr>
          <p:pic>
            <p:nvPicPr>
              <p:cNvPr id="59" name="Picture 58" descr="3d Sphere Sphere PNG &amp; clipart images | TOPpng">
                <a:extLst>
                  <a:ext uri="{FF2B5EF4-FFF2-40B4-BE49-F238E27FC236}">
                    <a16:creationId xmlns:a16="http://schemas.microsoft.com/office/drawing/2014/main" id="{AA846CCE-5CB4-5C89-EF80-51C67A89F07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561481" y="1836490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0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232D9E8E-44A4-7256-1B87-0089539139F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707156" y="185265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1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FBA4E396-BAF1-0F49-F2BC-7603D07E989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852831" y="187412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2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B3196B97-F9E2-96AA-849B-E840213A56E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998506" y="190425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3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6AC8495F-C083-F537-8E10-415D4F157B3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7144179" y="1924884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91195F9-09E3-02E9-D37B-B970C6EB70E8}"/>
              </a:ext>
            </a:extLst>
          </p:cNvPr>
          <p:cNvGrpSpPr/>
          <p:nvPr/>
        </p:nvGrpSpPr>
        <p:grpSpPr>
          <a:xfrm rot="971198">
            <a:off x="9462023" y="2372684"/>
            <a:ext cx="951271" cy="368321"/>
            <a:chOff x="1921727" y="1452884"/>
            <a:chExt cx="539223" cy="208781"/>
          </a:xfrm>
        </p:grpSpPr>
        <p:pic>
          <p:nvPicPr>
            <p:cNvPr id="48" name="Picture 8" descr="3d Sphere Sphere PNG &amp; clipart images | TOPpng">
              <a:extLst>
                <a:ext uri="{FF2B5EF4-FFF2-40B4-BE49-F238E27FC236}">
                  <a16:creationId xmlns:a16="http://schemas.microsoft.com/office/drawing/2014/main" id="{0249C297-B666-2186-4E5E-FEBCC1B41A2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07715" y="1605587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9" name="Picture 8" descr="3d Sphere Sphere PNG &amp; clipart images | TOPpng">
              <a:extLst>
                <a:ext uri="{FF2B5EF4-FFF2-40B4-BE49-F238E27FC236}">
                  <a16:creationId xmlns:a16="http://schemas.microsoft.com/office/drawing/2014/main" id="{863CDA0D-B73F-DECF-5594-64DDEB8B66A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188281" y="147373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0" name="Picture 8" descr="3d Sphere Sphere PNG &amp; clipart images | TOPpng">
              <a:extLst>
                <a:ext uri="{FF2B5EF4-FFF2-40B4-BE49-F238E27FC236}">
                  <a16:creationId xmlns:a16="http://schemas.microsoft.com/office/drawing/2014/main" id="{1DD0A6DC-5E61-7007-561E-8955145B4B3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404618" y="1540239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1" name="Picture 8" descr="3d Sphere Sphere PNG &amp; clipart images | TOPpng">
              <a:extLst>
                <a:ext uri="{FF2B5EF4-FFF2-40B4-BE49-F238E27FC236}">
                  <a16:creationId xmlns:a16="http://schemas.microsoft.com/office/drawing/2014/main" id="{20C18D86-0B49-F9C8-2985-B1F2FAF32D4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921727" y="156279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2" name="Picture 8" descr="3d Sphere Sphere PNG &amp; clipart images | TOPpng">
              <a:extLst>
                <a:ext uri="{FF2B5EF4-FFF2-40B4-BE49-F238E27FC236}">
                  <a16:creationId xmlns:a16="http://schemas.microsoft.com/office/drawing/2014/main" id="{752B58E8-E33A-1234-71CB-A8D1C65E55D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32984" y="1535223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3" name="Picture 8" descr="3d Sphere Sphere PNG &amp; clipart images | TOPpng">
              <a:extLst>
                <a:ext uri="{FF2B5EF4-FFF2-40B4-BE49-F238E27FC236}">
                  <a16:creationId xmlns:a16="http://schemas.microsoft.com/office/drawing/2014/main" id="{1B0BED7E-20F1-4320-5E29-A8ECAD4E182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312515" y="14528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4" name="Picture 8" descr="3d Sphere Sphere PNG &amp; clipart images | TOPpng">
              <a:extLst>
                <a:ext uri="{FF2B5EF4-FFF2-40B4-BE49-F238E27FC236}">
                  <a16:creationId xmlns:a16="http://schemas.microsoft.com/office/drawing/2014/main" id="{2B545396-F8C2-43E3-9B09-5CB4B77AB4F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129310" y="153899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BD1BFA2E-05B5-426E-97E3-14A569B0A5AF}"/>
              </a:ext>
            </a:extLst>
          </p:cNvPr>
          <p:cNvSpPr txBox="1"/>
          <p:nvPr/>
        </p:nvSpPr>
        <p:spPr>
          <a:xfrm>
            <a:off x="8365245" y="1991297"/>
            <a:ext cx="87873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rPr>
              <a:t>ALD</a:t>
            </a:r>
            <a:b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rPr>
            </a:b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rPr>
              <a:t>1 cycle</a:t>
            </a:r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59DF334-F9A5-BB88-B14D-82730E2CEC8E}"/>
              </a:ext>
            </a:extLst>
          </p:cNvPr>
          <p:cNvGrpSpPr/>
          <p:nvPr/>
        </p:nvGrpSpPr>
        <p:grpSpPr>
          <a:xfrm flipH="1">
            <a:off x="9345221" y="1203297"/>
            <a:ext cx="1131422" cy="201954"/>
            <a:chOff x="1772863" y="1300484"/>
            <a:chExt cx="715448" cy="122764"/>
          </a:xfrm>
        </p:grpSpPr>
        <p:pic>
          <p:nvPicPr>
            <p:cNvPr id="42" name="Picture 8" descr="3d Sphere Sphere PNG &amp; clipart images | TOPpng">
              <a:extLst>
                <a:ext uri="{FF2B5EF4-FFF2-40B4-BE49-F238E27FC236}">
                  <a16:creationId xmlns:a16="http://schemas.microsoft.com/office/drawing/2014/main" id="{5328EF33-9F40-EB9C-D5D7-2B9BA545014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35881" y="132133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3" name="Picture 8" descr="3d Sphere Sphere PNG &amp; clipart images | TOPpng">
              <a:extLst>
                <a:ext uri="{FF2B5EF4-FFF2-40B4-BE49-F238E27FC236}">
                  <a16:creationId xmlns:a16="http://schemas.microsoft.com/office/drawing/2014/main" id="{5764CFD8-888C-1796-58C0-9D6F5B4D455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431979" y="1367170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4" name="Picture 8" descr="3d Sphere Sphere PNG &amp; clipart images | TOPpng">
              <a:extLst>
                <a:ext uri="{FF2B5EF4-FFF2-40B4-BE49-F238E27FC236}">
                  <a16:creationId xmlns:a16="http://schemas.microsoft.com/office/drawing/2014/main" id="{B5893BA6-6D5C-73F4-65B0-15C872CC001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772863" y="1349373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5" name="Picture 8" descr="3d Sphere Sphere PNG &amp; clipart images | TOPpng">
              <a:extLst>
                <a:ext uri="{FF2B5EF4-FFF2-40B4-BE49-F238E27FC236}">
                  <a16:creationId xmlns:a16="http://schemas.microsoft.com/office/drawing/2014/main" id="{62B58A89-A828-CA08-3183-9991D71D534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895755" y="13004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6" name="Picture 8" descr="3d Sphere Sphere PNG &amp; clipart images | TOPpng">
              <a:extLst>
                <a:ext uri="{FF2B5EF4-FFF2-40B4-BE49-F238E27FC236}">
                  <a16:creationId xmlns:a16="http://schemas.microsoft.com/office/drawing/2014/main" id="{2FA3F051-18C0-E9E0-27BB-72AB07753C5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160115" y="13004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7" name="Picture 8" descr="3d Sphere Sphere PNG &amp; clipart images | TOPpng">
              <a:extLst>
                <a:ext uri="{FF2B5EF4-FFF2-40B4-BE49-F238E27FC236}">
                  <a16:creationId xmlns:a16="http://schemas.microsoft.com/office/drawing/2014/main" id="{B8243AE8-FC5C-CD9F-6400-8AAB101C27B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303438" y="1323596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FA62059-1D22-0507-5D40-8244A06046C1}"/>
              </a:ext>
            </a:extLst>
          </p:cNvPr>
          <p:cNvGrpSpPr/>
          <p:nvPr/>
        </p:nvGrpSpPr>
        <p:grpSpPr>
          <a:xfrm rot="9070823" flipH="1">
            <a:off x="7359797" y="2369952"/>
            <a:ext cx="848451" cy="512228"/>
            <a:chOff x="1871546" y="1349070"/>
            <a:chExt cx="497301" cy="316630"/>
          </a:xfrm>
        </p:grpSpPr>
        <p:pic>
          <p:nvPicPr>
            <p:cNvPr id="35" name="Picture 8" descr="3d Sphere Sphere PNG &amp; clipart images | TOPpng">
              <a:extLst>
                <a:ext uri="{FF2B5EF4-FFF2-40B4-BE49-F238E27FC236}">
                  <a16:creationId xmlns:a16="http://schemas.microsoft.com/office/drawing/2014/main" id="{197A3A93-000C-7F1B-6204-EF14E69AC66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871546" y="1609622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6" name="Picture 8" descr="3d Sphere Sphere PNG &amp; clipart images | TOPpng">
              <a:extLst>
                <a:ext uri="{FF2B5EF4-FFF2-40B4-BE49-F238E27FC236}">
                  <a16:creationId xmlns:a16="http://schemas.microsoft.com/office/drawing/2014/main" id="{C54461F3-7024-31C6-93E1-E9C2E26AC8C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07715" y="1605587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7" name="Picture 8" descr="3d Sphere Sphere PNG &amp; clipart images | TOPpng">
              <a:extLst>
                <a:ext uri="{FF2B5EF4-FFF2-40B4-BE49-F238E27FC236}">
                  <a16:creationId xmlns:a16="http://schemas.microsoft.com/office/drawing/2014/main" id="{E7ED11B5-DE17-6A89-9360-908B5C763E1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188281" y="147373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8" name="Picture 8" descr="3d Sphere Sphere PNG &amp; clipart images | TOPpng">
              <a:extLst>
                <a:ext uri="{FF2B5EF4-FFF2-40B4-BE49-F238E27FC236}">
                  <a16:creationId xmlns:a16="http://schemas.microsoft.com/office/drawing/2014/main" id="{26DA634F-E0C1-4CF9-5CFF-3CDBF44D0FA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925263" y="1501773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9" name="Picture 8" descr="3d Sphere Sphere PNG &amp; clipart images | TOPpng">
              <a:extLst>
                <a:ext uri="{FF2B5EF4-FFF2-40B4-BE49-F238E27FC236}">
                  <a16:creationId xmlns:a16="http://schemas.microsoft.com/office/drawing/2014/main" id="{E04369EC-ECCA-0DCC-436C-41D6E51BB07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48155" y="14528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0" name="Picture 8" descr="3d Sphere Sphere PNG &amp; clipart images | TOPpng">
              <a:extLst>
                <a:ext uri="{FF2B5EF4-FFF2-40B4-BE49-F238E27FC236}">
                  <a16:creationId xmlns:a16="http://schemas.microsoft.com/office/drawing/2014/main" id="{6C9EC7FD-8E3A-C824-44B5-61282957D55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312515" y="14528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" name="Picture 8" descr="3d Sphere Sphere PNG &amp; clipart images | TOPpng">
              <a:extLst>
                <a:ext uri="{FF2B5EF4-FFF2-40B4-BE49-F238E27FC236}">
                  <a16:creationId xmlns:a16="http://schemas.microsoft.com/office/drawing/2014/main" id="{D6787C49-0E5E-C617-33A8-C5C416613D5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230063" y="1349070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3A827DA6-6F83-6ADD-34CF-7C27EFD93ED4}"/>
              </a:ext>
            </a:extLst>
          </p:cNvPr>
          <p:cNvSpPr txBox="1"/>
          <p:nvPr/>
        </p:nvSpPr>
        <p:spPr>
          <a:xfrm>
            <a:off x="7153063" y="890624"/>
            <a:ext cx="992680" cy="276999"/>
          </a:xfrm>
          <a:prstGeom prst="rect">
            <a:avLst/>
          </a:prstGeom>
          <a:solidFill>
            <a:srgbClr val="1976D2"/>
          </a:solidFill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solidFill>
                  <a:schemeClr val="bg1"/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rPr>
              <a:t>DEZ Supply</a:t>
            </a:r>
            <a:endParaRPr lang="en-US" altLang="ko-KR" sz="1200" dirty="0">
              <a:solidFill>
                <a:schemeClr val="bg1"/>
              </a:solidFill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  <a:latin typeface="프리젠테이션 9 Black" pitchFamily="2" charset="-127"/>
              <a:ea typeface="프리젠테이션 9 Black" pitchFamily="2" charset="-127"/>
              <a:cs typeface="Arial" panose="020B06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881177C-116A-56F8-CE56-8880D6ACB975}"/>
              </a:ext>
            </a:extLst>
          </p:cNvPr>
          <p:cNvSpPr txBox="1"/>
          <p:nvPr/>
        </p:nvSpPr>
        <p:spPr>
          <a:xfrm>
            <a:off x="9487261" y="2024606"/>
            <a:ext cx="1163567" cy="276999"/>
          </a:xfrm>
          <a:prstGeom prst="rect">
            <a:avLst/>
          </a:prstGeom>
          <a:solidFill>
            <a:srgbClr val="43A047"/>
          </a:solidFill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1200">
                <a:solidFill>
                  <a:schemeClr val="bg1"/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defRPr>
            </a:lvl1pPr>
          </a:lstStyle>
          <a:p>
            <a:r>
              <a:rPr lang="en-US" dirty="0"/>
              <a:t>H</a:t>
            </a:r>
            <a:r>
              <a:rPr lang="en-US" baseline="-25000" dirty="0"/>
              <a:t>2</a:t>
            </a:r>
            <a:r>
              <a:rPr lang="en-US" dirty="0"/>
              <a:t>O Supply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6DDBC6C-0B87-134C-E682-DF6A2A360B04}"/>
              </a:ext>
            </a:extLst>
          </p:cNvPr>
          <p:cNvSpPr txBox="1"/>
          <p:nvPr/>
        </p:nvSpPr>
        <p:spPr>
          <a:xfrm>
            <a:off x="9712238" y="890624"/>
            <a:ext cx="902188" cy="276999"/>
          </a:xfrm>
          <a:prstGeom prst="rect">
            <a:avLst/>
          </a:prstGeom>
          <a:solidFill>
            <a:srgbClr val="F9A825"/>
          </a:solidFill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1200">
                <a:solidFill>
                  <a:schemeClr val="bg1"/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defRPr>
            </a:lvl1pPr>
          </a:lstStyle>
          <a:p>
            <a:r>
              <a:rPr lang="en-US" dirty="0"/>
              <a:t>DEZ Purge</a:t>
            </a:r>
            <a:endParaRPr lang="en-US" altLang="ko-KR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A9205AE-11B8-5BEC-1B1C-FDCD23088C4E}"/>
              </a:ext>
            </a:extLst>
          </p:cNvPr>
          <p:cNvSpPr txBox="1"/>
          <p:nvPr/>
        </p:nvSpPr>
        <p:spPr>
          <a:xfrm>
            <a:off x="7146851" y="2024606"/>
            <a:ext cx="1082949" cy="276999"/>
          </a:xfrm>
          <a:prstGeom prst="rect">
            <a:avLst/>
          </a:prstGeom>
          <a:solidFill>
            <a:srgbClr val="EF5350"/>
          </a:solidFill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1200">
                <a:solidFill>
                  <a:schemeClr val="bg1"/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defRPr>
            </a:lvl1pPr>
          </a:lstStyle>
          <a:p>
            <a:r>
              <a:rPr lang="en-US" dirty="0"/>
              <a:t>H</a:t>
            </a:r>
            <a:r>
              <a:rPr lang="en-US" baseline="-25000" dirty="0"/>
              <a:t>2</a:t>
            </a:r>
            <a:r>
              <a:rPr lang="en-US" dirty="0"/>
              <a:t>O Purge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5CA07D4-2093-505B-499D-40C3AB8F67AD}"/>
              </a:ext>
            </a:extLst>
          </p:cNvPr>
          <p:cNvSpPr txBox="1"/>
          <p:nvPr/>
        </p:nvSpPr>
        <p:spPr>
          <a:xfrm>
            <a:off x="7259121" y="3242147"/>
            <a:ext cx="16204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DEZ:</a:t>
            </a:r>
            <a:r>
              <a:rPr lang="pl-PL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  Zn(CH</a:t>
            </a:r>
            <a:r>
              <a:rPr lang="pl-PL" sz="1100" baseline="-250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2</a:t>
            </a:r>
            <a:r>
              <a:rPr lang="pl-PL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CH</a:t>
            </a:r>
            <a:r>
              <a:rPr lang="pl-PL" sz="1100" baseline="-250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3</a:t>
            </a:r>
            <a:r>
              <a:rPr lang="pl-PL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)</a:t>
            </a:r>
            <a:r>
              <a:rPr lang="pl-PL" sz="1100" baseline="-250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2</a:t>
            </a:r>
            <a:r>
              <a:rPr lang="en-US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 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626F56E-4B6C-8CDC-C211-1316C1241C52}"/>
              </a:ext>
            </a:extLst>
          </p:cNvPr>
          <p:cNvSpPr txBox="1"/>
          <p:nvPr/>
        </p:nvSpPr>
        <p:spPr>
          <a:xfrm>
            <a:off x="8399598" y="3242147"/>
            <a:ext cx="16204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H</a:t>
            </a:r>
            <a:r>
              <a:rPr lang="en-US" sz="1100" baseline="-250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2</a:t>
            </a:r>
            <a:r>
              <a:rPr lang="en-US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O:</a:t>
            </a:r>
            <a:r>
              <a:rPr lang="pl-PL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  </a:t>
            </a:r>
            <a:r>
              <a:rPr lang="en-US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Water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7AA68B2-509B-AF33-95B0-C514AB0A7F65}"/>
              </a:ext>
            </a:extLst>
          </p:cNvPr>
          <p:cNvSpPr/>
          <p:nvPr/>
        </p:nvSpPr>
        <p:spPr>
          <a:xfrm>
            <a:off x="7122848" y="844903"/>
            <a:ext cx="3554644" cy="2628373"/>
          </a:xfrm>
          <a:prstGeom prst="rect">
            <a:avLst/>
          </a:prstGeom>
          <a:noFill/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1721C89-2CBE-137F-7072-EDFCA4D63697}"/>
              </a:ext>
            </a:extLst>
          </p:cNvPr>
          <p:cNvGrpSpPr/>
          <p:nvPr/>
        </p:nvGrpSpPr>
        <p:grpSpPr>
          <a:xfrm>
            <a:off x="7086200" y="4908954"/>
            <a:ext cx="3778565" cy="1009956"/>
            <a:chOff x="6933800" y="3464365"/>
            <a:chExt cx="3778565" cy="1009956"/>
          </a:xfrm>
        </p:grpSpPr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00C49109-3CF1-6AA0-618E-43E54BA3E027}"/>
                </a:ext>
              </a:extLst>
            </p:cNvPr>
            <p:cNvGrpSpPr/>
            <p:nvPr/>
          </p:nvGrpSpPr>
          <p:grpSpPr>
            <a:xfrm>
              <a:off x="6933800" y="3586977"/>
              <a:ext cx="3778565" cy="887344"/>
              <a:chOff x="1133496" y="3707498"/>
              <a:chExt cx="3778565" cy="887344"/>
            </a:xfrm>
          </p:grpSpPr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48CEA866-67C3-8828-C392-40E7E7EFC21B}"/>
                  </a:ext>
                </a:extLst>
              </p:cNvPr>
              <p:cNvGrpSpPr/>
              <p:nvPr/>
            </p:nvGrpSpPr>
            <p:grpSpPr>
              <a:xfrm>
                <a:off x="1133496" y="3772935"/>
                <a:ext cx="3250094" cy="784423"/>
                <a:chOff x="3293632" y="4015904"/>
                <a:chExt cx="1852988" cy="679556"/>
              </a:xfrm>
            </p:grpSpPr>
            <p:pic>
              <p:nvPicPr>
                <p:cNvPr id="32" name="Picture 6">
                  <a:extLst>
                    <a:ext uri="{FF2B5EF4-FFF2-40B4-BE49-F238E27FC236}">
                      <a16:creationId xmlns:a16="http://schemas.microsoft.com/office/drawing/2014/main" id="{E0841D25-F48A-D6DE-4F5C-58DB68D6A01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b="34006"/>
                <a:stretch/>
              </p:blipFill>
              <p:spPr bwMode="auto">
                <a:xfrm>
                  <a:off x="3293632" y="4015904"/>
                  <a:ext cx="1852988" cy="45358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cxnSp>
              <p:nvCxnSpPr>
                <p:cNvPr id="33" name="Straight Arrow Connector 32">
                  <a:extLst>
                    <a:ext uri="{FF2B5EF4-FFF2-40B4-BE49-F238E27FC236}">
                      <a16:creationId xmlns:a16="http://schemas.microsoft.com/office/drawing/2014/main" id="{E201EB61-A45D-0EF8-5F6F-FF08DC46376D}"/>
                    </a:ext>
                  </a:extLst>
                </p:cNvPr>
                <p:cNvCxnSpPr/>
                <p:nvPr/>
              </p:nvCxnSpPr>
              <p:spPr>
                <a:xfrm>
                  <a:off x="3598088" y="4506483"/>
                  <a:ext cx="1265234" cy="0"/>
                </a:xfrm>
                <a:prstGeom prst="straightConnector1">
                  <a:avLst/>
                </a:prstGeom>
                <a:ln w="9525">
                  <a:solidFill>
                    <a:schemeClr val="tx1">
                      <a:lumMod val="75000"/>
                      <a:lumOff val="25000"/>
                    </a:schemeClr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01EC890B-0E91-2A8E-DEC0-31AE289EAB0F}"/>
                    </a:ext>
                  </a:extLst>
                </p:cNvPr>
                <p:cNvSpPr txBox="1"/>
                <p:nvPr/>
              </p:nvSpPr>
              <p:spPr>
                <a:xfrm>
                  <a:off x="3692308" y="4468824"/>
                  <a:ext cx="1084855" cy="22663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altLang="ko-KR" sz="1100" b="1" dirty="0">
                      <a:effectLst/>
                      <a:latin typeface="프리젠테이션 7 Bold" pitchFamily="2" charset="-127"/>
                      <a:ea typeface="프리젠테이션 7 Bold" pitchFamily="2" charset="-127"/>
                    </a:rPr>
                    <a:t># of ALD cycles</a:t>
                  </a:r>
                  <a:endParaRPr lang="ko-KR" altLang="en-US" sz="1100" b="1" dirty="0">
                    <a:effectLst/>
                    <a:latin typeface="프리젠테이션 7 Bold" pitchFamily="2" charset="-127"/>
                    <a:ea typeface="프리젠테이션 7 Bold" pitchFamily="2" charset="-127"/>
                  </a:endParaRPr>
                </a:p>
              </p:txBody>
            </p:sp>
          </p:grp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9E7216C5-2553-C879-2622-B0680D31980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083312" y="3882181"/>
                <a:ext cx="238689" cy="83829"/>
              </a:xfrm>
              <a:prstGeom prst="straightConnector1">
                <a:avLst/>
              </a:prstGeom>
              <a:ln w="6350">
                <a:solidFill>
                  <a:schemeClr val="tx1">
                    <a:lumMod val="75000"/>
                    <a:lumOff val="25000"/>
                  </a:schemeClr>
                </a:solidFill>
                <a:tailEnd type="arrow"/>
              </a:ln>
              <a:effectLst>
                <a:glow rad="63500">
                  <a:srgbClr val="43A047">
                    <a:alpha val="40000"/>
                  </a:srgbClr>
                </a:glow>
                <a:outerShdw blurRad="40000" dist="20000" dir="5400000" rotWithShape="0">
                  <a:srgbClr val="000000">
                    <a:alpha val="38000"/>
                  </a:srgbClr>
                </a:outerShd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34BF0D4-1902-128B-B521-3F5BF03610A4}"/>
                  </a:ext>
                </a:extLst>
              </p:cNvPr>
              <p:cNvSpPr txBox="1"/>
              <p:nvPr/>
            </p:nvSpPr>
            <p:spPr>
              <a:xfrm>
                <a:off x="4281794" y="3707498"/>
                <a:ext cx="471047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200" b="1" dirty="0" err="1">
                    <a:latin typeface="프리젠테이션 7 Bold" pitchFamily="2" charset="-127"/>
                    <a:ea typeface="프리젠테이션 7 Bold" pitchFamily="2" charset="-127"/>
                  </a:rPr>
                  <a:t>MF</a:t>
                </a:r>
                <a:r>
                  <a:rPr lang="en-US" altLang="ko-KR" sz="1200" b="1" baseline="-25000" dirty="0" err="1">
                    <a:latin typeface="프리젠테이션 7 Bold" pitchFamily="2" charset="-127"/>
                    <a:ea typeface="프리젠테이션 7 Bold" pitchFamily="2" charset="-127"/>
                  </a:rPr>
                  <a:t>x</a:t>
                </a:r>
                <a:endParaRPr lang="en-US" sz="1200" b="1" baseline="-25000" dirty="0">
                  <a:latin typeface="프리젠테이션 7 Bold" pitchFamily="2" charset="-127"/>
                  <a:ea typeface="프리젠테이션 7 Bold" pitchFamily="2" charset="-127"/>
                </a:endParaRP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581A2DC6-2DE1-D15F-5AEC-18C2967D080B}"/>
                  </a:ext>
                </a:extLst>
              </p:cNvPr>
              <p:cNvSpPr txBox="1"/>
              <p:nvPr/>
            </p:nvSpPr>
            <p:spPr>
              <a:xfrm>
                <a:off x="3731940" y="4348621"/>
                <a:ext cx="1180121" cy="2462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000" dirty="0" err="1">
                    <a:effectLst>
                      <a:outerShdw blurRad="50800" dist="38100" dir="8100000" algn="tr" rotWithShape="0">
                        <a:prstClr val="black">
                          <a:alpha val="40000"/>
                        </a:prstClr>
                      </a:outerShdw>
                    </a:effectLst>
                    <a:ea typeface="프리젠테이션 9 Black" pitchFamily="2" charset="-127"/>
                    <a:cs typeface="Arial" panose="020B0604020202020204" pitchFamily="34" charset="0"/>
                  </a:rPr>
                  <a:t>MF</a:t>
                </a:r>
                <a:r>
                  <a:rPr lang="en-US" altLang="ko-KR" sz="1000" baseline="-25000" dirty="0" err="1">
                    <a:effectLst>
                      <a:outerShdw blurRad="50800" dist="38100" dir="8100000" algn="tr" rotWithShape="0">
                        <a:prstClr val="black">
                          <a:alpha val="40000"/>
                        </a:prstClr>
                      </a:outerShdw>
                    </a:effectLst>
                    <a:ea typeface="프리젠테이션 9 Black" pitchFamily="2" charset="-127"/>
                    <a:cs typeface="Arial" panose="020B0604020202020204" pitchFamily="34" charset="0"/>
                  </a:rPr>
                  <a:t>x</a:t>
                </a:r>
                <a:r>
                  <a:rPr lang="en-US" altLang="ko-KR" sz="1000" dirty="0" err="1">
                    <a:effectLst>
                      <a:outerShdw blurRad="50800" dist="38100" dir="8100000" algn="tr" rotWithShape="0">
                        <a:prstClr val="black">
                          <a:alpha val="40000"/>
                        </a:prstClr>
                      </a:outerShdw>
                    </a:effectLst>
                    <a:ea typeface="프리젠테이션 9 Black" pitchFamily="2" charset="-127"/>
                    <a:cs typeface="Arial" panose="020B0604020202020204" pitchFamily="34" charset="0"/>
                  </a:rPr>
                  <a:t>:Metal</a:t>
                </a:r>
                <a:r>
                  <a:rPr lang="en-US" altLang="ko-KR" sz="1000" dirty="0">
                    <a:effectLst>
                      <a:outerShdw blurRad="50800" dist="38100" dir="8100000" algn="tr" rotWithShape="0">
                        <a:prstClr val="black">
                          <a:alpha val="40000"/>
                        </a:prstClr>
                      </a:outerShdw>
                    </a:effectLst>
                    <a:ea typeface="프리젠테이션 9 Black" pitchFamily="2" charset="-127"/>
                    <a:cs typeface="Arial" panose="020B0604020202020204" pitchFamily="34" charset="0"/>
                  </a:rPr>
                  <a:t> Fluoride</a:t>
                </a:r>
                <a:endParaRPr lang="en-US" sz="1000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endParaRPr>
              </a:p>
            </p:txBody>
          </p:sp>
          <p:cxnSp>
            <p:nvCxnSpPr>
              <p:cNvPr id="30" name="Straight Arrow Connector 29">
                <a:extLst>
                  <a:ext uri="{FF2B5EF4-FFF2-40B4-BE49-F238E27FC236}">
                    <a16:creationId xmlns:a16="http://schemas.microsoft.com/office/drawing/2014/main" id="{55F01E44-2E0E-E8E9-22EA-8B92F1FD4AA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018969" y="4086055"/>
                <a:ext cx="195200" cy="91742"/>
              </a:xfrm>
              <a:prstGeom prst="straightConnector1">
                <a:avLst/>
              </a:prstGeom>
              <a:ln w="6350">
                <a:solidFill>
                  <a:schemeClr val="tx1">
                    <a:lumMod val="75000"/>
                    <a:lumOff val="25000"/>
                  </a:schemeClr>
                </a:solidFill>
                <a:tailEnd type="arrow"/>
              </a:ln>
              <a:effectLst>
                <a:glow rad="139700">
                  <a:schemeClr val="accent6">
                    <a:satMod val="175000"/>
                    <a:alpha val="40000"/>
                  </a:schemeClr>
                </a:glow>
                <a:outerShdw blurRad="40000" dist="20000" dir="5400000" rotWithShape="0">
                  <a:srgbClr val="000000">
                    <a:alpha val="38000"/>
                  </a:srgbClr>
                </a:outerShd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5E47EAD0-3636-849E-3C63-27D0F8F33142}"/>
                  </a:ext>
                </a:extLst>
              </p:cNvPr>
              <p:cNvSpPr txBox="1"/>
              <p:nvPr/>
            </p:nvSpPr>
            <p:spPr>
              <a:xfrm>
                <a:off x="4171313" y="4059504"/>
                <a:ext cx="516544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200" b="1" dirty="0">
                    <a:effectLst/>
                    <a:latin typeface="프리젠테이션 7 Bold" pitchFamily="2" charset="-127"/>
                    <a:ea typeface="프리젠테이션 7 Bold" pitchFamily="2" charset="-127"/>
                  </a:rPr>
                  <a:t>Cu</a:t>
                </a:r>
                <a:endParaRPr lang="en-US" sz="1200" dirty="0"/>
              </a:p>
            </p:txBody>
          </p:sp>
        </p:grp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02FD3180-0C47-DA78-84FE-00B81BF32754}"/>
                </a:ext>
              </a:extLst>
            </p:cNvPr>
            <p:cNvSpPr/>
            <p:nvPr/>
          </p:nvSpPr>
          <p:spPr>
            <a:xfrm>
              <a:off x="7122848" y="3505338"/>
              <a:ext cx="3554644" cy="952827"/>
            </a:xfrm>
            <a:prstGeom prst="rect">
              <a:avLst/>
            </a:prstGeom>
            <a:noFill/>
            <a:ln w="635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0AA8685-6851-583F-1CC7-0F1E9FBAFB8A}"/>
                </a:ext>
              </a:extLst>
            </p:cNvPr>
            <p:cNvSpPr txBox="1"/>
            <p:nvPr/>
          </p:nvSpPr>
          <p:spPr>
            <a:xfrm>
              <a:off x="8065822" y="3464365"/>
              <a:ext cx="1648324" cy="2539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1050" dirty="0">
                  <a:solidFill>
                    <a:srgbClr val="6A1B9A"/>
                  </a:solidFill>
                  <a:latin typeface="에스코어 드림 9 Black" panose="020B0A03030302020204" pitchFamily="34" charset="-127"/>
                  <a:ea typeface="에스코어 드림 9 Black" panose="020B0A03030302020204" pitchFamily="34" charset="-127"/>
                </a:rPr>
                <a:t>박막 형성 단면 모식도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40563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2" name="Group 151">
            <a:extLst>
              <a:ext uri="{FF2B5EF4-FFF2-40B4-BE49-F238E27FC236}">
                <a16:creationId xmlns:a16="http://schemas.microsoft.com/office/drawing/2014/main" id="{589DDBBA-A1C8-F3B4-6A4D-DDFB405859EB}"/>
              </a:ext>
            </a:extLst>
          </p:cNvPr>
          <p:cNvGrpSpPr/>
          <p:nvPr/>
        </p:nvGrpSpPr>
        <p:grpSpPr>
          <a:xfrm>
            <a:off x="492178" y="677110"/>
            <a:ext cx="7980072" cy="2730435"/>
            <a:chOff x="487098" y="677110"/>
            <a:chExt cx="7980072" cy="2730435"/>
          </a:xfrm>
        </p:grpSpPr>
        <p:pic>
          <p:nvPicPr>
            <p:cNvPr id="4" name="Picture 2" descr="Three Arrow Circle Sign Reload, Loop Symbol - Download Free 3D model by  B1Blender (@B1Blender) [549c9fb]">
              <a:extLst>
                <a:ext uri="{FF2B5EF4-FFF2-40B4-BE49-F238E27FC236}">
                  <a16:creationId xmlns:a16="http://schemas.microsoft.com/office/drawing/2014/main" id="{58E72D28-5FFC-1279-7A7D-C2AA10AAC49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6667" b="76852" l="32396" r="67500">
                          <a14:foregroundMark x1="55625" y1="19167" x2="55677" y2="22130"/>
                          <a14:foregroundMark x1="63542" y1="36574" x2="65729" y2="46296"/>
                          <a14:foregroundMark x1="65729" y1="46296" x2="65313" y2="63241"/>
                          <a14:foregroundMark x1="65313" y1="63241" x2="60208" y2="73241"/>
                          <a14:foregroundMark x1="60208" y1="73241" x2="59948" y2="73148"/>
                          <a14:foregroundMark x1="37031" y1="57315" x2="45052" y2="73333"/>
                          <a14:foregroundMark x1="45052" y1="73333" x2="50625" y2="76944"/>
                          <a14:foregroundMark x1="50625" y1="76944" x2="54948" y2="76759"/>
                          <a14:foregroundMark x1="67656" y1="49815" x2="67448" y2="60556"/>
                          <a14:foregroundMark x1="55625" y1="16759" x2="55625" y2="16759"/>
                          <a14:foregroundMark x1="34479" y1="61204" x2="33698" y2="64630"/>
                          <a14:foregroundMark x1="32396" y1="65926" x2="32396" y2="65926"/>
                        </a14:backgroundRemoval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1597" t="14558" r="30422" b="19185"/>
            <a:stretch/>
          </p:blipFill>
          <p:spPr bwMode="auto">
            <a:xfrm>
              <a:off x="1641875" y="1505106"/>
              <a:ext cx="1051318" cy="103162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A2087C6A-5AB3-C36C-A012-ECD973DAFA71}"/>
                </a:ext>
              </a:extLst>
            </p:cNvPr>
            <p:cNvGrpSpPr/>
            <p:nvPr/>
          </p:nvGrpSpPr>
          <p:grpSpPr>
            <a:xfrm>
              <a:off x="2676929" y="776546"/>
              <a:ext cx="1100652" cy="1288395"/>
              <a:chOff x="4540535" y="510372"/>
              <a:chExt cx="1100652" cy="1288395"/>
            </a:xfrm>
          </p:grpSpPr>
          <p:sp>
            <p:nvSpPr>
              <p:cNvPr id="114" name="Rectangle 113">
                <a:extLst>
                  <a:ext uri="{FF2B5EF4-FFF2-40B4-BE49-F238E27FC236}">
                    <a16:creationId xmlns:a16="http://schemas.microsoft.com/office/drawing/2014/main" id="{781232B3-38D3-66D5-DE28-3DD7AF618993}"/>
                  </a:ext>
                </a:extLst>
              </p:cNvPr>
              <p:cNvSpPr/>
              <p:nvPr/>
            </p:nvSpPr>
            <p:spPr>
              <a:xfrm>
                <a:off x="4562956" y="510372"/>
                <a:ext cx="1037842" cy="1288395"/>
              </a:xfrm>
              <a:prstGeom prst="rect">
                <a:avLst/>
              </a:prstGeom>
              <a:gradFill>
                <a:gsLst>
                  <a:gs pos="0">
                    <a:schemeClr val="bg2">
                      <a:lumMod val="90000"/>
                    </a:schemeClr>
                  </a:gs>
                  <a:gs pos="100000">
                    <a:schemeClr val="bg2">
                      <a:lumMod val="75000"/>
                      <a:alpha val="63000"/>
                    </a:schemeClr>
                  </a:gs>
                </a:gsLst>
              </a:gradFill>
              <a:ln>
                <a:noFill/>
              </a:ln>
              <a:scene3d>
                <a:camera prst="isometricOffAxis2Top"/>
                <a:lightRig rig="morning" dir="t"/>
              </a:scene3d>
              <a:sp3d extrusionH="95250" prstMaterial="flat"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5" name="Group 114">
                <a:extLst>
                  <a:ext uri="{FF2B5EF4-FFF2-40B4-BE49-F238E27FC236}">
                    <a16:creationId xmlns:a16="http://schemas.microsoft.com/office/drawing/2014/main" id="{605C3228-6C62-5852-B3B6-51E3C40D7D28}"/>
                  </a:ext>
                </a:extLst>
              </p:cNvPr>
              <p:cNvGrpSpPr/>
              <p:nvPr/>
            </p:nvGrpSpPr>
            <p:grpSpPr>
              <a:xfrm>
                <a:off x="4540535" y="907639"/>
                <a:ext cx="1100652" cy="457076"/>
                <a:chOff x="7197429" y="1152057"/>
                <a:chExt cx="1100652" cy="457076"/>
              </a:xfrm>
            </p:grpSpPr>
            <p:grpSp>
              <p:nvGrpSpPr>
                <p:cNvPr id="116" name="Group 115">
                  <a:extLst>
                    <a:ext uri="{FF2B5EF4-FFF2-40B4-BE49-F238E27FC236}">
                      <a16:creationId xmlns:a16="http://schemas.microsoft.com/office/drawing/2014/main" id="{4BE09ED1-9CFE-9FBF-0466-86A58290253F}"/>
                    </a:ext>
                  </a:extLst>
                </p:cNvPr>
                <p:cNvGrpSpPr/>
                <p:nvPr/>
              </p:nvGrpSpPr>
              <p:grpSpPr>
                <a:xfrm>
                  <a:off x="7570280" y="1152057"/>
                  <a:ext cx="727801" cy="232844"/>
                  <a:chOff x="6561481" y="1836490"/>
                  <a:chExt cx="727801" cy="232844"/>
                </a:xfrm>
              </p:grpSpPr>
              <p:pic>
                <p:nvPicPr>
                  <p:cNvPr id="135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08EF5097-21D9-D918-1E01-19B61C671781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561481" y="1836490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36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DE57A8A7-7904-0838-2B84-888BE8C005D1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708870" y="18526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37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41C273D8-8CBE-2E09-EF46-13B107370E00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853973" y="187412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38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2E5BB6E9-5ACD-F1A0-A006-D3B8EB7566E0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999076" y="189559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39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BE5934A0-0732-84DE-54DE-FE1080AE2D8E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7144179" y="1924884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  <p:grpSp>
              <p:nvGrpSpPr>
                <p:cNvPr id="117" name="Group 116">
                  <a:extLst>
                    <a:ext uri="{FF2B5EF4-FFF2-40B4-BE49-F238E27FC236}">
                      <a16:creationId xmlns:a16="http://schemas.microsoft.com/office/drawing/2014/main" id="{47212514-1E7B-8508-0780-D6505F188937}"/>
                    </a:ext>
                  </a:extLst>
                </p:cNvPr>
                <p:cNvGrpSpPr/>
                <p:nvPr/>
              </p:nvGrpSpPr>
              <p:grpSpPr>
                <a:xfrm>
                  <a:off x="7451507" y="1229540"/>
                  <a:ext cx="727801" cy="232844"/>
                  <a:chOff x="6561481" y="1836490"/>
                  <a:chExt cx="727801" cy="232844"/>
                </a:xfrm>
              </p:grpSpPr>
              <p:pic>
                <p:nvPicPr>
                  <p:cNvPr id="130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0B947339-E4C3-DD8D-46FB-A132EA8A449B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561481" y="1836490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31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A57931BB-25F9-DB1F-8EB3-A3070A517A59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708870" y="18526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32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7321CD45-84C8-CB09-D27D-22D84FCC4F40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853973" y="187412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33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CF271F6E-07B1-949D-6A73-26CD8C68E0BC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999076" y="189559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34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FEB11C6C-33A9-8583-FD2C-D2136917C0CC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7144179" y="1924884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  <p:grpSp>
              <p:nvGrpSpPr>
                <p:cNvPr id="118" name="Group 117">
                  <a:extLst>
                    <a:ext uri="{FF2B5EF4-FFF2-40B4-BE49-F238E27FC236}">
                      <a16:creationId xmlns:a16="http://schemas.microsoft.com/office/drawing/2014/main" id="{9422A42B-9D94-443E-8549-23908BE1F9CD}"/>
                    </a:ext>
                  </a:extLst>
                </p:cNvPr>
                <p:cNvGrpSpPr/>
                <p:nvPr/>
              </p:nvGrpSpPr>
              <p:grpSpPr>
                <a:xfrm>
                  <a:off x="7320281" y="1308323"/>
                  <a:ext cx="727801" cy="232844"/>
                  <a:chOff x="6561481" y="1836490"/>
                  <a:chExt cx="727801" cy="232844"/>
                </a:xfrm>
              </p:grpSpPr>
              <p:pic>
                <p:nvPicPr>
                  <p:cNvPr id="125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6425445C-69A6-DF9D-64C9-D885602D5B09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561481" y="1836490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26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A576B64C-6632-2E67-E65D-553E18BF6F1F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708870" y="18526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27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F9A7BDF4-8639-7C35-B9B7-DD12A7DC608A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853973" y="187412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28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0BEA4DFC-63F4-8772-B371-A07415F36145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999076" y="189559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29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C36182E3-CCC5-DC36-0303-0D58ED6A256D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7144179" y="1924884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  <p:grpSp>
              <p:nvGrpSpPr>
                <p:cNvPr id="119" name="Group 118">
                  <a:extLst>
                    <a:ext uri="{FF2B5EF4-FFF2-40B4-BE49-F238E27FC236}">
                      <a16:creationId xmlns:a16="http://schemas.microsoft.com/office/drawing/2014/main" id="{6A942BE9-3C52-3859-7A71-56CDE1A3B96C}"/>
                    </a:ext>
                  </a:extLst>
                </p:cNvPr>
                <p:cNvGrpSpPr/>
                <p:nvPr/>
              </p:nvGrpSpPr>
              <p:grpSpPr>
                <a:xfrm>
                  <a:off x="7197429" y="1376289"/>
                  <a:ext cx="727801" cy="232844"/>
                  <a:chOff x="6561481" y="1836490"/>
                  <a:chExt cx="727801" cy="232844"/>
                </a:xfrm>
              </p:grpSpPr>
              <p:pic>
                <p:nvPicPr>
                  <p:cNvPr id="120" name="Picture 119" descr="3d Sphere Sphere PNG &amp; clipart images | TOPpng">
                    <a:extLst>
                      <a:ext uri="{FF2B5EF4-FFF2-40B4-BE49-F238E27FC236}">
                        <a16:creationId xmlns:a16="http://schemas.microsoft.com/office/drawing/2014/main" id="{C53679FC-C47F-A521-CF5D-1D63692798CD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561481" y="1836490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21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071042E4-16A5-ACB0-F950-641FD50903AC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707156" y="18526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22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4FFC63C9-BAB9-0AEC-6E28-5ABDE8D446C4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852831" y="187412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23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9B37E1CA-24DA-045D-0129-69611B98B62F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998506" y="19042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24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B02EC85E-8171-2D59-62F2-6FF922747ADA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7144179" y="1924884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</p:grpSp>
        </p:grp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94C22D5-61B8-8D69-00BF-70A8A2F269BE}"/>
                </a:ext>
              </a:extLst>
            </p:cNvPr>
            <p:cNvSpPr/>
            <p:nvPr/>
          </p:nvSpPr>
          <p:spPr>
            <a:xfrm>
              <a:off x="893257" y="776546"/>
              <a:ext cx="1037842" cy="1288395"/>
            </a:xfrm>
            <a:prstGeom prst="rect">
              <a:avLst/>
            </a:prstGeom>
            <a:gradFill>
              <a:gsLst>
                <a:gs pos="0">
                  <a:schemeClr val="bg2">
                    <a:lumMod val="90000"/>
                  </a:schemeClr>
                </a:gs>
                <a:gs pos="100000">
                  <a:schemeClr val="bg2">
                    <a:lumMod val="75000"/>
                    <a:alpha val="63000"/>
                  </a:schemeClr>
                </a:gs>
              </a:gsLst>
            </a:gradFill>
            <a:ln>
              <a:noFill/>
            </a:ln>
            <a:scene3d>
              <a:camera prst="isometricOffAxis2Top"/>
              <a:lightRig rig="morning" dir="t"/>
            </a:scene3d>
            <a:sp3d extrusionH="95250" prstMaterial="flat"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594F0329-0EEA-D059-71D0-1D70411B0300}"/>
                </a:ext>
              </a:extLst>
            </p:cNvPr>
            <p:cNvGrpSpPr/>
            <p:nvPr/>
          </p:nvGrpSpPr>
          <p:grpSpPr>
            <a:xfrm>
              <a:off x="690692" y="1135177"/>
              <a:ext cx="1449434" cy="337229"/>
              <a:chOff x="1590955" y="1300484"/>
              <a:chExt cx="897356" cy="208781"/>
            </a:xfrm>
          </p:grpSpPr>
          <p:pic>
            <p:nvPicPr>
              <p:cNvPr id="105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2C1182EC-DD32-32B6-8C4E-1EBFEEA446E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1590955" y="1453187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6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A067D7A5-88E3-2978-A91E-F61C6448F2D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1855315" y="1453187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7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E72D1184-B02E-2902-7080-CAED3E3A5AF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035881" y="132133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8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4E535E84-9468-E432-40E9-F17E819DFE8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431979" y="1367170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9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D94AAA68-733C-5213-8D20-ED1A602B957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252218" y="1387839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0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CAADBFFE-C172-4430-BED2-116C87E856B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1772863" y="1349373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1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80BFBAB5-1692-6A3D-678F-0332C557E72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1895755" y="130048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2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885DC732-6625-A209-1A11-F89F244725A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160115" y="130048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3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5A8BDA01-2B20-CF49-D7AB-22D35AE9B8A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308550" y="1304319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4DAC3EC3-109B-2FFB-969C-560D01C60F8D}"/>
                </a:ext>
              </a:extLst>
            </p:cNvPr>
            <p:cNvGrpSpPr/>
            <p:nvPr/>
          </p:nvGrpSpPr>
          <p:grpSpPr>
            <a:xfrm>
              <a:off x="2687050" y="2119150"/>
              <a:ext cx="1100652" cy="1288395"/>
              <a:chOff x="3481469" y="2556202"/>
              <a:chExt cx="1100652" cy="1288395"/>
            </a:xfrm>
          </p:grpSpPr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D250AA01-7696-1E67-E02D-E01FD5B59C32}"/>
                  </a:ext>
                </a:extLst>
              </p:cNvPr>
              <p:cNvSpPr/>
              <p:nvPr/>
            </p:nvSpPr>
            <p:spPr>
              <a:xfrm>
                <a:off x="3503890" y="2556202"/>
                <a:ext cx="1037842" cy="1288395"/>
              </a:xfrm>
              <a:prstGeom prst="rect">
                <a:avLst/>
              </a:prstGeom>
              <a:gradFill>
                <a:gsLst>
                  <a:gs pos="0">
                    <a:schemeClr val="bg2">
                      <a:lumMod val="90000"/>
                    </a:schemeClr>
                  </a:gs>
                  <a:gs pos="100000">
                    <a:schemeClr val="bg2">
                      <a:lumMod val="75000"/>
                      <a:alpha val="63000"/>
                    </a:schemeClr>
                  </a:gs>
                </a:gsLst>
              </a:gradFill>
              <a:ln>
                <a:noFill/>
              </a:ln>
              <a:scene3d>
                <a:camera prst="isometricOffAxis2Top"/>
                <a:lightRig rig="morning" dir="t"/>
              </a:scene3d>
              <a:sp3d extrusionH="95250" prstMaterial="flat"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80" name="Group 79">
                <a:extLst>
                  <a:ext uri="{FF2B5EF4-FFF2-40B4-BE49-F238E27FC236}">
                    <a16:creationId xmlns:a16="http://schemas.microsoft.com/office/drawing/2014/main" id="{1446FDFD-A08C-A6B1-8B68-7C85130C0D95}"/>
                  </a:ext>
                </a:extLst>
              </p:cNvPr>
              <p:cNvGrpSpPr/>
              <p:nvPr/>
            </p:nvGrpSpPr>
            <p:grpSpPr>
              <a:xfrm>
                <a:off x="3481469" y="2953469"/>
                <a:ext cx="1100652" cy="457076"/>
                <a:chOff x="7197429" y="1152057"/>
                <a:chExt cx="1100652" cy="457076"/>
              </a:xfrm>
            </p:grpSpPr>
            <p:grpSp>
              <p:nvGrpSpPr>
                <p:cNvPr id="81" name="Group 80">
                  <a:extLst>
                    <a:ext uri="{FF2B5EF4-FFF2-40B4-BE49-F238E27FC236}">
                      <a16:creationId xmlns:a16="http://schemas.microsoft.com/office/drawing/2014/main" id="{C396379C-EB43-8D0A-DBAE-3B73974FA680}"/>
                    </a:ext>
                  </a:extLst>
                </p:cNvPr>
                <p:cNvGrpSpPr/>
                <p:nvPr/>
              </p:nvGrpSpPr>
              <p:grpSpPr>
                <a:xfrm>
                  <a:off x="7570280" y="1152057"/>
                  <a:ext cx="727801" cy="232844"/>
                  <a:chOff x="6561481" y="1836490"/>
                  <a:chExt cx="727801" cy="232844"/>
                </a:xfrm>
              </p:grpSpPr>
              <p:pic>
                <p:nvPicPr>
                  <p:cNvPr id="100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E73A149D-C3A8-8E3B-46AE-3858150AF0C4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561481" y="1836490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01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92D861AB-F683-27F5-8EFF-C0799F155654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708870" y="18526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02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6B81EE71-CEF2-6789-E654-F395287F0D1B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853973" y="187412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03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835C9F96-273B-D893-492B-9D6AA0E32D6E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999076" y="189559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04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95A62001-66BE-7B78-ED6E-09B907F599AD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7144179" y="1924884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  <p:grpSp>
              <p:nvGrpSpPr>
                <p:cNvPr id="82" name="Group 81">
                  <a:extLst>
                    <a:ext uri="{FF2B5EF4-FFF2-40B4-BE49-F238E27FC236}">
                      <a16:creationId xmlns:a16="http://schemas.microsoft.com/office/drawing/2014/main" id="{1E77CC69-F2BF-2ED0-E995-4355BD348C8E}"/>
                    </a:ext>
                  </a:extLst>
                </p:cNvPr>
                <p:cNvGrpSpPr/>
                <p:nvPr/>
              </p:nvGrpSpPr>
              <p:grpSpPr>
                <a:xfrm>
                  <a:off x="7451507" y="1229540"/>
                  <a:ext cx="727801" cy="232844"/>
                  <a:chOff x="6561481" y="1836490"/>
                  <a:chExt cx="727801" cy="232844"/>
                </a:xfrm>
              </p:grpSpPr>
              <p:pic>
                <p:nvPicPr>
                  <p:cNvPr id="95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1225CA95-BBC7-D9F4-66A5-A636485FF410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561481" y="1836490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96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FD845D64-99A9-E576-FE3A-E697080E4992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duotone>
                      <a:prstClr val="black"/>
                      <a:srgbClr val="00B050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708870" y="18526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97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011F67E7-EF33-D56D-A03E-051B85B9A183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853973" y="187412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98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1C7186F6-8FD6-EA82-BA38-EAA45466E902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999076" y="189559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99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3285A2CF-21A6-FF69-E053-A7B23E52DF94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7144179" y="1924884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  <p:grpSp>
              <p:nvGrpSpPr>
                <p:cNvPr id="83" name="Group 82">
                  <a:extLst>
                    <a:ext uri="{FF2B5EF4-FFF2-40B4-BE49-F238E27FC236}">
                      <a16:creationId xmlns:a16="http://schemas.microsoft.com/office/drawing/2014/main" id="{77836DEF-A942-5376-0EAF-A791E296EF9F}"/>
                    </a:ext>
                  </a:extLst>
                </p:cNvPr>
                <p:cNvGrpSpPr/>
                <p:nvPr/>
              </p:nvGrpSpPr>
              <p:grpSpPr>
                <a:xfrm>
                  <a:off x="7320281" y="1308323"/>
                  <a:ext cx="727801" cy="232844"/>
                  <a:chOff x="6561481" y="1836490"/>
                  <a:chExt cx="727801" cy="232844"/>
                </a:xfrm>
              </p:grpSpPr>
              <p:pic>
                <p:nvPicPr>
                  <p:cNvPr id="90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54D2A5B3-F492-0431-B112-9FF08188B377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duotone>
                      <a:prstClr val="black"/>
                      <a:srgbClr val="00B050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561481" y="1836490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91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874F0831-018C-3533-9FAE-D4C023562D31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duotone>
                      <a:prstClr val="black"/>
                      <a:srgbClr val="00B050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708870" y="18526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92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8119E91F-59C5-F016-5A96-B2C0CBE6ED4B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853973" y="187412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93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CDCB11AD-4FA3-FB9C-AAAF-AF9E97A99818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duotone>
                      <a:prstClr val="black"/>
                      <a:srgbClr val="00B050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999076" y="189559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94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B8CB1039-AB07-4EF9-DC69-FAC5D73819C0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duotone>
                      <a:prstClr val="black"/>
                      <a:srgbClr val="00B050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7144179" y="1924884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  <p:grpSp>
              <p:nvGrpSpPr>
                <p:cNvPr id="84" name="Group 83">
                  <a:extLst>
                    <a:ext uri="{FF2B5EF4-FFF2-40B4-BE49-F238E27FC236}">
                      <a16:creationId xmlns:a16="http://schemas.microsoft.com/office/drawing/2014/main" id="{B84038BE-BE43-F9AB-5419-F3331C2529CE}"/>
                    </a:ext>
                  </a:extLst>
                </p:cNvPr>
                <p:cNvGrpSpPr/>
                <p:nvPr/>
              </p:nvGrpSpPr>
              <p:grpSpPr>
                <a:xfrm>
                  <a:off x="7197429" y="1376289"/>
                  <a:ext cx="727801" cy="232844"/>
                  <a:chOff x="6561481" y="1836490"/>
                  <a:chExt cx="727801" cy="232844"/>
                </a:xfrm>
              </p:grpSpPr>
              <p:pic>
                <p:nvPicPr>
                  <p:cNvPr id="85" name="Picture 84" descr="3d Sphere Sphere PNG &amp; clipart images | TOPpng">
                    <a:extLst>
                      <a:ext uri="{FF2B5EF4-FFF2-40B4-BE49-F238E27FC236}">
                        <a16:creationId xmlns:a16="http://schemas.microsoft.com/office/drawing/2014/main" id="{E2E3B9AB-8258-3825-0EED-8B39C3710A0B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duotone>
                      <a:prstClr val="black"/>
                      <a:srgbClr val="00B050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561481" y="1836490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86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4810F0DF-22E7-3091-4E83-187AC435D132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duotone>
                      <a:prstClr val="black"/>
                      <a:srgbClr val="00B050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707156" y="18526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87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BCD7F393-F07E-58E2-A2ED-8B64567223D0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duotone>
                      <a:prstClr val="black"/>
                      <a:srgbClr val="00B050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852831" y="187412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88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53189AD9-D5A2-A1E8-FD82-19A7949B4716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duotone>
                      <a:prstClr val="black"/>
                      <a:srgbClr val="00B050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998506" y="19042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89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6F3674EA-378B-252F-E1A1-F3DA98DF7681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duotone>
                      <a:prstClr val="black"/>
                      <a:srgbClr val="00B050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7144179" y="1924884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</p:grpSp>
        </p:grp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EFB100A-9B3D-9DF3-B11A-D382E96542E0}"/>
                </a:ext>
              </a:extLst>
            </p:cNvPr>
            <p:cNvSpPr/>
            <p:nvPr/>
          </p:nvSpPr>
          <p:spPr>
            <a:xfrm>
              <a:off x="929894" y="2119150"/>
              <a:ext cx="1037842" cy="1288395"/>
            </a:xfrm>
            <a:prstGeom prst="rect">
              <a:avLst/>
            </a:prstGeom>
            <a:gradFill>
              <a:gsLst>
                <a:gs pos="0">
                  <a:schemeClr val="bg2">
                    <a:lumMod val="90000"/>
                  </a:schemeClr>
                </a:gs>
                <a:gs pos="100000">
                  <a:schemeClr val="bg2">
                    <a:lumMod val="75000"/>
                    <a:alpha val="63000"/>
                  </a:schemeClr>
                </a:gs>
              </a:gsLst>
            </a:gradFill>
            <a:ln>
              <a:noFill/>
            </a:ln>
            <a:scene3d>
              <a:camera prst="isometricOffAxis2Top"/>
              <a:lightRig rig="morning" dir="t"/>
            </a:scene3d>
            <a:sp3d extrusionH="95250" prstMaterial="flat"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1F1D21E2-F2B7-A170-8D4F-A7C3F885A520}"/>
                </a:ext>
              </a:extLst>
            </p:cNvPr>
            <p:cNvGrpSpPr/>
            <p:nvPr/>
          </p:nvGrpSpPr>
          <p:grpSpPr>
            <a:xfrm>
              <a:off x="907473" y="2516417"/>
              <a:ext cx="1100652" cy="457076"/>
              <a:chOff x="7197429" y="1152057"/>
              <a:chExt cx="1100652" cy="457076"/>
            </a:xfrm>
          </p:grpSpPr>
          <p:grpSp>
            <p:nvGrpSpPr>
              <p:cNvPr id="55" name="Group 54">
                <a:extLst>
                  <a:ext uri="{FF2B5EF4-FFF2-40B4-BE49-F238E27FC236}">
                    <a16:creationId xmlns:a16="http://schemas.microsoft.com/office/drawing/2014/main" id="{61942D93-62C1-9653-3C82-B131C3E4BD32}"/>
                  </a:ext>
                </a:extLst>
              </p:cNvPr>
              <p:cNvGrpSpPr/>
              <p:nvPr/>
            </p:nvGrpSpPr>
            <p:grpSpPr>
              <a:xfrm>
                <a:off x="7570280" y="1152057"/>
                <a:ext cx="727801" cy="232844"/>
                <a:chOff x="6561481" y="1836490"/>
                <a:chExt cx="727801" cy="232844"/>
              </a:xfrm>
            </p:grpSpPr>
            <p:pic>
              <p:nvPicPr>
                <p:cNvPr id="7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C3567F16-8A21-16F9-6F76-ADF2376B31D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75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DFEC5658-EE44-5E19-52E9-DCC92A1CCEC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76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A807E1BB-A4BC-450A-D7D5-AF905C15BF5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7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278D850F-289C-5227-D825-E33F0C2B9CB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78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3507EBC3-B23B-018F-3843-846EB0AEC36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02F281DA-09EE-B35D-BD22-00E3699BA1CC}"/>
                  </a:ext>
                </a:extLst>
              </p:cNvPr>
              <p:cNvGrpSpPr/>
              <p:nvPr/>
            </p:nvGrpSpPr>
            <p:grpSpPr>
              <a:xfrm>
                <a:off x="7451507" y="1229540"/>
                <a:ext cx="727801" cy="232844"/>
                <a:chOff x="6561481" y="1836490"/>
                <a:chExt cx="727801" cy="232844"/>
              </a:xfrm>
            </p:grpSpPr>
            <p:pic>
              <p:nvPicPr>
                <p:cNvPr id="69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94B0AA59-9D6A-04CA-B768-B5D3113973B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70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9481C710-6FB3-049D-B429-74E9E1D329A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7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2F6BA6F7-C824-79AB-8F4F-F6C4F639C06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72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028E8735-1B0A-365C-19C2-6E2A10992A6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7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7C942E41-F734-747F-55D6-68BEF740730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801FBED9-1E47-2744-CFF8-844ACEF3123F}"/>
                  </a:ext>
                </a:extLst>
              </p:cNvPr>
              <p:cNvGrpSpPr/>
              <p:nvPr/>
            </p:nvGrpSpPr>
            <p:grpSpPr>
              <a:xfrm>
                <a:off x="7320281" y="1308323"/>
                <a:ext cx="727801" cy="232844"/>
                <a:chOff x="6561481" y="1836490"/>
                <a:chExt cx="727801" cy="232844"/>
              </a:xfrm>
            </p:grpSpPr>
            <p:pic>
              <p:nvPicPr>
                <p:cNvPr id="6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EB97A618-07DF-92DF-1C3E-33BEB458D07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5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42EE510-7527-8858-2346-D134164FCC6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6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CB6A59D-FAED-BFCC-976D-B7E43029E07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2643A788-B020-833A-9305-68EEB64B167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8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289C5EF-9B10-53C1-DCF4-D4F8B2FC54A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58" name="Group 57">
                <a:extLst>
                  <a:ext uri="{FF2B5EF4-FFF2-40B4-BE49-F238E27FC236}">
                    <a16:creationId xmlns:a16="http://schemas.microsoft.com/office/drawing/2014/main" id="{A36AB6EA-6E54-8BF4-8FB6-15A1502CBC0D}"/>
                  </a:ext>
                </a:extLst>
              </p:cNvPr>
              <p:cNvGrpSpPr/>
              <p:nvPr/>
            </p:nvGrpSpPr>
            <p:grpSpPr>
              <a:xfrm>
                <a:off x="7197429" y="1376289"/>
                <a:ext cx="727801" cy="232844"/>
                <a:chOff x="6561481" y="1836490"/>
                <a:chExt cx="727801" cy="232844"/>
              </a:xfrm>
            </p:grpSpPr>
            <p:pic>
              <p:nvPicPr>
                <p:cNvPr id="59" name="Picture 58" descr="3d Sphere Sphere PNG &amp; clipart images | TOPpng">
                  <a:extLst>
                    <a:ext uri="{FF2B5EF4-FFF2-40B4-BE49-F238E27FC236}">
                      <a16:creationId xmlns:a16="http://schemas.microsoft.com/office/drawing/2014/main" id="{AA846CCE-5CB4-5C89-EF80-51C67A89F073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0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232D9E8E-44A4-7256-1B87-0089539139F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7156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FBA4E396-BAF1-0F49-F2BC-7603D07E989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2831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2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3196B97-F9E2-96AA-849B-E840213A56E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8506" y="19042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6AC8495F-C083-F537-8E10-415D4F157B3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791195F9-09E3-02E9-D37B-B970C6EB70E8}"/>
                </a:ext>
              </a:extLst>
            </p:cNvPr>
            <p:cNvGrpSpPr/>
            <p:nvPr/>
          </p:nvGrpSpPr>
          <p:grpSpPr>
            <a:xfrm rot="971198">
              <a:off x="2826273" y="2204891"/>
              <a:ext cx="951271" cy="368321"/>
              <a:chOff x="1921727" y="1452884"/>
              <a:chExt cx="539223" cy="208781"/>
            </a:xfrm>
          </p:grpSpPr>
          <p:pic>
            <p:nvPicPr>
              <p:cNvPr id="48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0249C297-B666-2186-4E5E-FEBCC1B41A2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007715" y="1605587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9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863CDA0D-B73F-DECF-5594-64DDEB8B66A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188281" y="147373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0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1DD0A6DC-5E61-7007-561E-8955145B4B3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404618" y="1540239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1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20C18D86-0B49-F9C8-2985-B1F2FAF32D4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1921727" y="156279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2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752B58E8-E33A-1234-71CB-A8D1C65E55D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032984" y="1535223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3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1B0BED7E-20F1-4320-5E29-A8ECAD4E182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312515" y="145288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4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2B545396-F8C2-43E3-9B09-5CB4B77AB4F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129310" y="153899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D1BFA2E-05B5-426E-97E3-14A569B0A5AF}"/>
                </a:ext>
              </a:extLst>
            </p:cNvPr>
            <p:cNvSpPr txBox="1"/>
            <p:nvPr/>
          </p:nvSpPr>
          <p:spPr>
            <a:xfrm>
              <a:off x="1729495" y="1823504"/>
              <a:ext cx="87873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ALD</a:t>
              </a:r>
              <a:br>
                <a:rPr lang="en-US" sz="14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</a:br>
              <a:r>
                <a:rPr lang="en-US" sz="14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1 cycle</a:t>
              </a:r>
              <a:endPara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</a:endParaRPr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259DF334-F9A5-BB88-B14D-82730E2CEC8E}"/>
                </a:ext>
              </a:extLst>
            </p:cNvPr>
            <p:cNvGrpSpPr/>
            <p:nvPr/>
          </p:nvGrpSpPr>
          <p:grpSpPr>
            <a:xfrm flipH="1">
              <a:off x="2709471" y="1035504"/>
              <a:ext cx="1131422" cy="201954"/>
              <a:chOff x="1772863" y="1300484"/>
              <a:chExt cx="715448" cy="122764"/>
            </a:xfrm>
          </p:grpSpPr>
          <p:pic>
            <p:nvPicPr>
              <p:cNvPr id="42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5328EF33-9F40-EB9C-D5D7-2B9BA545014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035881" y="132133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3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5764CFD8-888C-1796-58C0-9D6F5B4D455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431979" y="1367170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4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B5893BA6-6D5C-73F4-65B0-15C872CC001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1772863" y="1349373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5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62B58A89-A828-CA08-3183-9991D71D534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1895755" y="130048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6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2FA3F051-18C0-E9E0-27BB-72AB07753C5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160115" y="130048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7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B8243AE8-FC5C-CD9F-6400-8AAB101C27B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303438" y="1323596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3FA62059-1D22-0507-5D40-8244A06046C1}"/>
                </a:ext>
              </a:extLst>
            </p:cNvPr>
            <p:cNvGrpSpPr/>
            <p:nvPr/>
          </p:nvGrpSpPr>
          <p:grpSpPr>
            <a:xfrm rot="9070823" flipH="1">
              <a:off x="724047" y="2202159"/>
              <a:ext cx="848451" cy="512228"/>
              <a:chOff x="1871546" y="1349070"/>
              <a:chExt cx="497301" cy="316630"/>
            </a:xfrm>
          </p:grpSpPr>
          <p:pic>
            <p:nvPicPr>
              <p:cNvPr id="35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197A3A93-000C-7F1B-6204-EF14E69AC66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1871546" y="1609622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6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C54461F3-7024-31C6-93E1-E9C2E26AC8C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007715" y="1605587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7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E7ED11B5-DE17-6A89-9360-908B5C763E1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188281" y="147373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8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26DA634F-E0C1-4CF9-5CFF-3CDBF44D0FA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1925263" y="1501773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9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E04369EC-ECCA-0DCC-436C-41D6E51BB07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048155" y="145288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0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6C9EC7FD-8E3A-C824-44B5-61282957D55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312515" y="145288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1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D6787C49-0E5E-C617-33A8-C5C416613D5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230063" y="1349070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A827DA6-6F83-6ADD-34CF-7C27EFD93ED4}"/>
                </a:ext>
              </a:extLst>
            </p:cNvPr>
            <p:cNvSpPr txBox="1"/>
            <p:nvPr/>
          </p:nvSpPr>
          <p:spPr>
            <a:xfrm>
              <a:off x="517313" y="722831"/>
              <a:ext cx="992680" cy="276999"/>
            </a:xfrm>
            <a:prstGeom prst="rect">
              <a:avLst/>
            </a:prstGeom>
            <a:solidFill>
              <a:srgbClr val="1976D2"/>
            </a:solidFill>
          </p:spPr>
          <p:txBody>
            <a:bodyPr wrap="square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DEZ Supply</a:t>
              </a:r>
              <a:endParaRPr lang="en-US" altLang="ko-KR" sz="1200" dirty="0">
                <a:solidFill>
                  <a:schemeClr val="bg1"/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6881177C-116A-56F8-CE56-8880D6ACB975}"/>
                </a:ext>
              </a:extLst>
            </p:cNvPr>
            <p:cNvSpPr txBox="1"/>
            <p:nvPr/>
          </p:nvSpPr>
          <p:spPr>
            <a:xfrm>
              <a:off x="2851511" y="1856813"/>
              <a:ext cx="1163567" cy="276999"/>
            </a:xfrm>
            <a:prstGeom prst="rect">
              <a:avLst/>
            </a:prstGeom>
            <a:solidFill>
              <a:srgbClr val="43A047"/>
            </a:solidFill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ctr">
                <a:defRPr sz="1200">
                  <a:solidFill>
                    <a:schemeClr val="bg1"/>
                  </a:solidFill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defRPr>
              </a:lvl1pPr>
            </a:lstStyle>
            <a:p>
              <a:r>
                <a:rPr lang="en-US" dirty="0"/>
                <a:t>H</a:t>
              </a:r>
              <a:r>
                <a:rPr lang="en-US" baseline="-25000" dirty="0"/>
                <a:t>2</a:t>
              </a:r>
              <a:r>
                <a:rPr lang="en-US" dirty="0"/>
                <a:t>O Supply 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6DDBC6C-0B87-134C-E682-DF6A2A360B04}"/>
                </a:ext>
              </a:extLst>
            </p:cNvPr>
            <p:cNvSpPr txBox="1"/>
            <p:nvPr/>
          </p:nvSpPr>
          <p:spPr>
            <a:xfrm>
              <a:off x="3076488" y="722831"/>
              <a:ext cx="902188" cy="276999"/>
            </a:xfrm>
            <a:prstGeom prst="rect">
              <a:avLst/>
            </a:prstGeom>
            <a:solidFill>
              <a:srgbClr val="F9A825"/>
            </a:solidFill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ctr">
                <a:defRPr sz="1200">
                  <a:solidFill>
                    <a:schemeClr val="bg1"/>
                  </a:solidFill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defRPr>
              </a:lvl1pPr>
            </a:lstStyle>
            <a:p>
              <a:r>
                <a:rPr lang="en-US" dirty="0"/>
                <a:t>DEZ Purge</a:t>
              </a:r>
              <a:endParaRPr lang="en-US" altLang="ko-KR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A9205AE-11B8-5BEC-1B1C-FDCD23088C4E}"/>
                </a:ext>
              </a:extLst>
            </p:cNvPr>
            <p:cNvSpPr txBox="1"/>
            <p:nvPr/>
          </p:nvSpPr>
          <p:spPr>
            <a:xfrm>
              <a:off x="511101" y="1856813"/>
              <a:ext cx="1082949" cy="276999"/>
            </a:xfrm>
            <a:prstGeom prst="rect">
              <a:avLst/>
            </a:prstGeom>
            <a:solidFill>
              <a:srgbClr val="EF5350"/>
            </a:solidFill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ctr">
                <a:defRPr sz="1200">
                  <a:solidFill>
                    <a:schemeClr val="bg1"/>
                  </a:solidFill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defRPr>
              </a:lvl1pPr>
            </a:lstStyle>
            <a:p>
              <a:r>
                <a:rPr lang="en-US" dirty="0"/>
                <a:t>H</a:t>
              </a:r>
              <a:r>
                <a:rPr lang="en-US" baseline="-25000" dirty="0"/>
                <a:t>2</a:t>
              </a:r>
              <a:r>
                <a:rPr lang="en-US" dirty="0"/>
                <a:t>O Purge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5CA07D4-2093-505B-499D-40C3AB8F67AD}"/>
                </a:ext>
              </a:extLst>
            </p:cNvPr>
            <p:cNvSpPr txBox="1"/>
            <p:nvPr/>
          </p:nvSpPr>
          <p:spPr>
            <a:xfrm>
              <a:off x="623371" y="3074354"/>
              <a:ext cx="1620420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100" b="1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DEZ:</a:t>
              </a:r>
              <a:r>
                <a:rPr lang="pl-PL" sz="1100" b="1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  Zn(CH</a:t>
              </a:r>
              <a:r>
                <a:rPr lang="pl-PL" sz="1100" b="1" baseline="-25000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2</a:t>
              </a:r>
              <a:r>
                <a:rPr lang="pl-PL" sz="1100" b="1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CH</a:t>
              </a:r>
              <a:r>
                <a:rPr lang="pl-PL" sz="1100" b="1" baseline="-25000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3</a:t>
              </a:r>
              <a:r>
                <a:rPr lang="pl-PL" sz="1100" b="1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)</a:t>
              </a:r>
              <a:r>
                <a:rPr lang="pl-PL" sz="1100" b="1" baseline="-25000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2</a:t>
              </a:r>
              <a:r>
                <a:rPr lang="en-US" sz="1100" b="1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 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6626F56E-4B6C-8CDC-C211-1316C1241C52}"/>
                </a:ext>
              </a:extLst>
            </p:cNvPr>
            <p:cNvSpPr txBox="1"/>
            <p:nvPr/>
          </p:nvSpPr>
          <p:spPr>
            <a:xfrm>
              <a:off x="1763848" y="3074354"/>
              <a:ext cx="1620420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100" b="1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H</a:t>
              </a:r>
              <a:r>
                <a:rPr lang="en-US" sz="1100" b="1" baseline="-25000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2</a:t>
              </a:r>
              <a:r>
                <a:rPr lang="en-US" sz="1100" b="1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O:</a:t>
              </a:r>
              <a:r>
                <a:rPr lang="pl-PL" sz="1100" b="1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  </a:t>
              </a:r>
              <a:r>
                <a:rPr lang="en-US" sz="1100" b="1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Water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D7AA68B2-509B-AF33-95B0-C514AB0A7F65}"/>
                </a:ext>
              </a:extLst>
            </p:cNvPr>
            <p:cNvSpPr/>
            <p:nvPr/>
          </p:nvSpPr>
          <p:spPr>
            <a:xfrm>
              <a:off x="487098" y="677110"/>
              <a:ext cx="7980072" cy="2628373"/>
            </a:xfrm>
            <a:prstGeom prst="rect">
              <a:avLst/>
            </a:prstGeom>
            <a:noFill/>
            <a:ln w="635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7593317B-9CEA-0CC5-0AF4-48A131C7E6D0}"/>
                </a:ext>
              </a:extLst>
            </p:cNvPr>
            <p:cNvSpPr/>
            <p:nvPr/>
          </p:nvSpPr>
          <p:spPr>
            <a:xfrm>
              <a:off x="4600966" y="743040"/>
              <a:ext cx="3350248" cy="277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Pressure Change in ALD Reactor</a:t>
              </a:r>
            </a:p>
          </p:txBody>
        </p:sp>
        <p:grpSp>
          <p:nvGrpSpPr>
            <p:cNvPr id="151" name="Group 150">
              <a:extLst>
                <a:ext uri="{FF2B5EF4-FFF2-40B4-BE49-F238E27FC236}">
                  <a16:creationId xmlns:a16="http://schemas.microsoft.com/office/drawing/2014/main" id="{09064674-13F9-B595-C00B-15533BE23395}"/>
                </a:ext>
              </a:extLst>
            </p:cNvPr>
            <p:cNvGrpSpPr/>
            <p:nvPr/>
          </p:nvGrpSpPr>
          <p:grpSpPr>
            <a:xfrm>
              <a:off x="4218222" y="1053682"/>
              <a:ext cx="4248948" cy="2243868"/>
              <a:chOff x="4235164" y="928279"/>
              <a:chExt cx="4248948" cy="2243868"/>
            </a:xfrm>
          </p:grpSpPr>
          <p:pic>
            <p:nvPicPr>
              <p:cNvPr id="21" name="Picture 5" descr="Picture5">
                <a:extLst>
                  <a:ext uri="{FF2B5EF4-FFF2-40B4-BE49-F238E27FC236}">
                    <a16:creationId xmlns:a16="http://schemas.microsoft.com/office/drawing/2014/main" id="{9D7B5360-A6A9-2C60-0394-4652AABA28B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061" t="18857"/>
              <a:stretch/>
            </p:blipFill>
            <p:spPr bwMode="auto">
              <a:xfrm>
                <a:off x="4298230" y="1127755"/>
                <a:ext cx="4088055" cy="181517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EC21C13F-EE77-1F63-1ED3-34F6D32CB7ED}"/>
                  </a:ext>
                </a:extLst>
              </p:cNvPr>
              <p:cNvSpPr txBox="1"/>
              <p:nvPr/>
            </p:nvSpPr>
            <p:spPr>
              <a:xfrm>
                <a:off x="4907857" y="2864370"/>
                <a:ext cx="162042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b="1" dirty="0">
                    <a:effectLst>
                      <a:outerShdw blurRad="50800" dist="38100" dir="8100000" algn="tr" rotWithShape="0">
                        <a:prstClr val="black">
                          <a:alpha val="40000"/>
                        </a:prstClr>
                      </a:outerShdw>
                    </a:effectLst>
                    <a:ea typeface="프리젠테이션 9 Black" pitchFamily="2" charset="-127"/>
                    <a:cs typeface="Arial" panose="020B0604020202020204" pitchFamily="34" charset="0"/>
                  </a:rPr>
                  <a:t>E: Exposure</a:t>
                </a:r>
              </a:p>
            </p:txBody>
          </p:sp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A8D02F63-79CF-6651-0278-1F56CC78B68B}"/>
                  </a:ext>
                </a:extLst>
              </p:cNvPr>
              <p:cNvSpPr txBox="1"/>
              <p:nvPr/>
            </p:nvSpPr>
            <p:spPr>
              <a:xfrm>
                <a:off x="6120707" y="2864370"/>
                <a:ext cx="162042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b="1" dirty="0">
                    <a:effectLst>
                      <a:outerShdw blurRad="50800" dist="38100" dir="8100000" algn="tr" rotWithShape="0">
                        <a:prstClr val="black">
                          <a:alpha val="40000"/>
                        </a:prstClr>
                      </a:outerShdw>
                    </a:effectLst>
                    <a:ea typeface="프리젠테이션 9 Black" pitchFamily="2" charset="-127"/>
                    <a:cs typeface="Arial" panose="020B0604020202020204" pitchFamily="34" charset="0"/>
                  </a:rPr>
                  <a:t>P: Purge</a:t>
                </a:r>
              </a:p>
            </p:txBody>
          </p:sp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2AEC28F2-262A-0966-733A-2DE41D3B1A25}"/>
                  </a:ext>
                </a:extLst>
              </p:cNvPr>
              <p:cNvSpPr/>
              <p:nvPr/>
            </p:nvSpPr>
            <p:spPr>
              <a:xfrm>
                <a:off x="4271566" y="1440841"/>
                <a:ext cx="188394" cy="1265121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5" name="TextBox 144">
                <a:extLst>
                  <a:ext uri="{FF2B5EF4-FFF2-40B4-BE49-F238E27FC236}">
                    <a16:creationId xmlns:a16="http://schemas.microsoft.com/office/drawing/2014/main" id="{AFE55A93-24BD-DBDF-DF2E-B8B5BE00903F}"/>
                  </a:ext>
                </a:extLst>
              </p:cNvPr>
              <p:cNvSpPr txBox="1"/>
              <p:nvPr/>
            </p:nvSpPr>
            <p:spPr>
              <a:xfrm>
                <a:off x="7733630" y="1352198"/>
                <a:ext cx="502769" cy="276999"/>
              </a:xfrm>
              <a:prstGeom prst="rect">
                <a:avLst/>
              </a:prstGeom>
              <a:solidFill>
                <a:schemeClr val="tx2">
                  <a:lumMod val="75000"/>
                </a:schemeClr>
              </a:solidFill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algn="ctr">
                  <a:defRPr sz="1200">
                    <a:solidFill>
                      <a:schemeClr val="bg1"/>
                    </a:solidFill>
                    <a:effectLst>
                      <a:outerShdw blurRad="50800" dist="38100" dir="8100000" algn="tr" rotWithShape="0">
                        <a:prstClr val="black">
                          <a:alpha val="40000"/>
                        </a:prstClr>
                      </a:outerShdw>
                    </a:effectLst>
                    <a:latin typeface="프리젠테이션 9 Black" pitchFamily="2" charset="-127"/>
                    <a:ea typeface="프리젠테이션 9 Black" pitchFamily="2" charset="-127"/>
                    <a:cs typeface="Arial" panose="020B0604020202020204" pitchFamily="34" charset="0"/>
                  </a:defRPr>
                </a:lvl1pPr>
              </a:lstStyle>
              <a:p>
                <a:r>
                  <a:rPr lang="en-US"/>
                  <a:t>DEZ</a:t>
                </a:r>
                <a:endParaRPr lang="en-US" dirty="0"/>
              </a:p>
            </p:txBody>
          </p:sp>
          <p:sp>
            <p:nvSpPr>
              <p:cNvPr id="146" name="TextBox 145">
                <a:extLst>
                  <a:ext uri="{FF2B5EF4-FFF2-40B4-BE49-F238E27FC236}">
                    <a16:creationId xmlns:a16="http://schemas.microsoft.com/office/drawing/2014/main" id="{11D20656-F541-A3C5-B9A5-3E27FDCE60E8}"/>
                  </a:ext>
                </a:extLst>
              </p:cNvPr>
              <p:cNvSpPr txBox="1"/>
              <p:nvPr/>
            </p:nvSpPr>
            <p:spPr>
              <a:xfrm>
                <a:off x="7733630" y="2285779"/>
                <a:ext cx="502769" cy="276999"/>
              </a:xfrm>
              <a:prstGeom prst="rect">
                <a:avLst/>
              </a:prstGeom>
              <a:solidFill>
                <a:srgbClr val="C00000"/>
              </a:solidFill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algn="ctr">
                  <a:defRPr sz="1200">
                    <a:solidFill>
                      <a:schemeClr val="bg1"/>
                    </a:solidFill>
                    <a:effectLst>
                      <a:outerShdw blurRad="50800" dist="38100" dir="8100000" algn="tr" rotWithShape="0">
                        <a:prstClr val="black">
                          <a:alpha val="40000"/>
                        </a:prstClr>
                      </a:outerShdw>
                    </a:effectLst>
                    <a:latin typeface="프리젠테이션 9 Black" pitchFamily="2" charset="-127"/>
                    <a:ea typeface="프리젠테이션 9 Black" pitchFamily="2" charset="-127"/>
                    <a:cs typeface="Arial" panose="020B0604020202020204" pitchFamily="34" charset="0"/>
                  </a:defRPr>
                </a:lvl1pPr>
              </a:lstStyle>
              <a:p>
                <a:r>
                  <a:rPr lang="en-US" dirty="0"/>
                  <a:t>H</a:t>
                </a:r>
                <a:r>
                  <a:rPr lang="en-US" baseline="-25000" dirty="0"/>
                  <a:t>2</a:t>
                </a:r>
                <a:r>
                  <a:rPr lang="en-US" dirty="0"/>
                  <a:t>O</a:t>
                </a:r>
              </a:p>
            </p:txBody>
          </p:sp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3D129BAD-5DB9-0326-1A9D-8EF0FCC8EBCA}"/>
                  </a:ext>
                </a:extLst>
              </p:cNvPr>
              <p:cNvSpPr txBox="1"/>
              <p:nvPr/>
            </p:nvSpPr>
            <p:spPr>
              <a:xfrm>
                <a:off x="4235164" y="928279"/>
                <a:ext cx="78895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b="1" dirty="0">
                    <a:effectLst>
                      <a:outerShdw blurRad="50800" dist="38100" dir="8100000" algn="tr" rotWithShape="0">
                        <a:prstClr val="black">
                          <a:alpha val="40000"/>
                        </a:prstClr>
                      </a:outerShdw>
                    </a:effectLst>
                    <a:ea typeface="프리젠테이션 9 Black" pitchFamily="2" charset="-127"/>
                    <a:cs typeface="Arial" panose="020B0604020202020204" pitchFamily="34" charset="0"/>
                  </a:rPr>
                  <a:t>P(torr)</a:t>
                </a:r>
                <a:endParaRPr lang="en-US" sz="1400" dirty="0"/>
              </a:p>
            </p:txBody>
          </p:sp>
          <p:sp>
            <p:nvSpPr>
              <p:cNvPr id="150" name="TextBox 149">
                <a:extLst>
                  <a:ext uri="{FF2B5EF4-FFF2-40B4-BE49-F238E27FC236}">
                    <a16:creationId xmlns:a16="http://schemas.microsoft.com/office/drawing/2014/main" id="{1B152240-B890-4C59-8EB4-417EBE26F50D}"/>
                  </a:ext>
                </a:extLst>
              </p:cNvPr>
              <p:cNvSpPr txBox="1"/>
              <p:nvPr/>
            </p:nvSpPr>
            <p:spPr>
              <a:xfrm>
                <a:off x="8001219" y="2683015"/>
                <a:ext cx="48289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effectLst>
                      <a:outerShdw blurRad="50800" dist="38100" dir="8100000" algn="tr" rotWithShape="0">
                        <a:prstClr val="black">
                          <a:alpha val="40000"/>
                        </a:prstClr>
                      </a:outerShdw>
                    </a:effectLst>
                    <a:ea typeface="프리젠테이션 9 Black" pitchFamily="2" charset="-127"/>
                    <a:cs typeface="Arial" panose="020B0604020202020204" pitchFamily="34" charset="0"/>
                  </a:rPr>
                  <a:t>t (s)</a:t>
                </a:r>
                <a:endParaRPr lang="en-US" sz="1400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4513308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3.  ALD 공정의 자기제한 반응(Self-limiting growth) 메커니즘 및 사이클 도식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0000" y="1980000"/>
            <a:ext cx="2340000" cy="1800000"/>
          </a:xfrm>
          <a:prstGeom prst="roundRect">
            <a:avLst/>
          </a:prstGeom>
          <a:solidFill>
            <a:srgbClr val="E6F0F8"/>
          </a:solidFill>
          <a:ln w="317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60000" y="1980000"/>
            <a:ext cx="2340000" cy="324000"/>
          </a:xfrm>
          <a:prstGeom prst="rect">
            <a:avLst/>
          </a:prstGeom>
          <a:solidFill>
            <a:srgbClr val="2E74B5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① Precursor A
Pulse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8000" y="2376000"/>
            <a:ext cx="2124000" cy="12960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595959"/>
                </a:solidFill>
                <a:latin typeface="맑은 고딕"/>
              </a:rPr>
              <a:t>금속 전구체(A)를
표면 활성 사이트에
화학흡착 → 포화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54000" y="2880000"/>
            <a:ext cx="252000" cy="0"/>
          </a:xfrm>
          <a:prstGeom prst="line">
            <a:avLst/>
          </a:prstGeom>
          <a:ln w="3810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988000" y="1980000"/>
            <a:ext cx="2340000" cy="1800000"/>
          </a:xfrm>
          <a:prstGeom prst="roundRect">
            <a:avLst/>
          </a:prstGeom>
          <a:solidFill>
            <a:srgbClr val="D6DCE4"/>
          </a:solidFill>
          <a:ln w="317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988000" y="1980000"/>
            <a:ext cx="2340000" cy="324000"/>
          </a:xfrm>
          <a:prstGeom prst="rect">
            <a:avLst/>
          </a:prstGeom>
          <a:solidFill>
            <a:srgbClr val="595959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② Purge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96000" y="2376000"/>
            <a:ext cx="2124000" cy="12960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595959"/>
                </a:solidFill>
                <a:latin typeface="맑은 고딕"/>
              </a:rPr>
              <a:t>과잉 전구체 및
부산물을 불활성
가스(N₂)로 제거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382000" y="2880000"/>
            <a:ext cx="252000" cy="0"/>
          </a:xfrm>
          <a:prstGeom prst="line">
            <a:avLst/>
          </a:prstGeom>
          <a:ln w="3810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616000" y="1980000"/>
            <a:ext cx="2340000" cy="1800000"/>
          </a:xfrm>
          <a:prstGeom prst="roundRect">
            <a:avLst/>
          </a:prstGeom>
          <a:solidFill>
            <a:srgbClr val="E2EFDA"/>
          </a:solidFill>
          <a:ln w="317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16000" y="1980000"/>
            <a:ext cx="2340000" cy="324000"/>
          </a:xfrm>
          <a:prstGeom prst="rect">
            <a:avLst/>
          </a:prstGeom>
          <a:solidFill>
            <a:srgbClr val="378610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③ Reactant B
(H₂O) Pulse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24000" y="2376000"/>
            <a:ext cx="2124000" cy="12960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595959"/>
                </a:solidFill>
                <a:latin typeface="맑은 고딕"/>
              </a:rPr>
              <a:t>H₂O를 공급하여
표면 반응 완료
(산화물 형성)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010000" y="2880000"/>
            <a:ext cx="252000" cy="0"/>
          </a:xfrm>
          <a:prstGeom prst="line">
            <a:avLst/>
          </a:prstGeom>
          <a:ln w="3810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244000" y="1980000"/>
            <a:ext cx="2340000" cy="1800000"/>
          </a:xfrm>
          <a:prstGeom prst="roundRect">
            <a:avLst/>
          </a:prstGeom>
          <a:solidFill>
            <a:srgbClr val="D6DCE4"/>
          </a:solidFill>
          <a:ln w="317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244000" y="1980000"/>
            <a:ext cx="2340000" cy="324000"/>
          </a:xfrm>
          <a:prstGeom prst="rect">
            <a:avLst/>
          </a:prstGeom>
          <a:solidFill>
            <a:srgbClr val="595959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④ Purge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2000" y="2376000"/>
            <a:ext cx="2124000" cy="12960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595959"/>
                </a:solidFill>
                <a:latin typeface="맑은 고딕"/>
              </a:rPr>
              <a:t>과잉 H₂O 및
부산물 제거
→ 1 사이클 완료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0000" y="4140000"/>
            <a:ext cx="11520000" cy="324000"/>
          </a:xfrm>
          <a:prstGeom prst="rect">
            <a:avLst/>
          </a:prstGeom>
          <a:solidFill>
            <a:srgbClr val="1F497D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↺  위 4단계 사이클 반복  →  1 사이클당 GPC(Growth Per Cycle) = 0.1 ~ 2.0 Å  |  총 두께 = GPC × 사이클 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0000" y="4680000"/>
            <a:ext cx="3780000" cy="1007999"/>
          </a:xfrm>
          <a:prstGeom prst="roundRect">
            <a:avLst/>
          </a:prstGeom>
          <a:solidFill>
            <a:srgbClr val="E2EFDA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68000" y="4752000"/>
            <a:ext cx="36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378610"/>
                </a:solidFill>
                <a:latin typeface="맑은 고딕"/>
              </a:rPr>
              <a:t>✓ 자기제한 반응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8000" y="5112000"/>
            <a:ext cx="36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맑은 고딕"/>
              </a:rPr>
              <a:t>GPC는 pulse 시간과 무관
→ 두께 재현성 완벽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20000" y="4680000"/>
            <a:ext cx="3780000" cy="1007999"/>
          </a:xfrm>
          <a:prstGeom prst="roundRect">
            <a:avLst/>
          </a:prstGeom>
          <a:solidFill>
            <a:srgbClr val="E2EFDA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428000" y="4752000"/>
            <a:ext cx="36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378610"/>
                </a:solidFill>
                <a:latin typeface="맑은 고딕"/>
              </a:rPr>
              <a:t>✓ 완전 피복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28000" y="5112000"/>
            <a:ext cx="36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맑은 고딕"/>
              </a:rPr>
              <a:t>복잡한 3D 입자 형상도
100% 균일 코팅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80000" y="4680000"/>
            <a:ext cx="3780000" cy="1007999"/>
          </a:xfrm>
          <a:prstGeom prst="roundRect">
            <a:avLst/>
          </a:prstGeom>
          <a:solidFill>
            <a:srgbClr val="E2EFDA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388000" y="4752000"/>
            <a:ext cx="36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378610"/>
                </a:solidFill>
                <a:latin typeface="맑은 고딕"/>
              </a:rPr>
              <a:t>✓ nm 정밀 제어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8000" y="5112000"/>
            <a:ext cx="36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맑은 고딕"/>
              </a:rPr>
              <a:t>사이클 수로
1 nm 이하 제어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4.  산화물 종류별 ALD 공정 윈도우 비교 — 전구체 종류 및 온도 범위
(한국기계연구원 배치식 ALD 장비 측정 예정)</a:t>
            </a:r>
          </a:p>
        </p:txBody>
      </p:sp>
      <p:sp>
        <p:nvSpPr>
          <p:cNvPr id="3" name="Rectangle 2"/>
          <p:cNvSpPr/>
          <p:nvPr/>
        </p:nvSpPr>
        <p:spPr>
          <a:xfrm>
            <a:off x="1800000" y="5580000"/>
            <a:ext cx="9360000" cy="288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320000" y="5688000"/>
            <a:ext cx="57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F497D"/>
                </a:solidFill>
                <a:latin typeface="맑은 고딕"/>
              </a:rPr>
              <a:t>공정 온도 (°C)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9200" y="5580000"/>
            <a:ext cx="21600" cy="900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512000" y="5688000"/>
            <a:ext cx="57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F497D"/>
                </a:solidFill>
                <a:latin typeface="맑은 고딕"/>
              </a:rPr>
              <a:t>50</a:t>
            </a:r>
          </a:p>
        </p:txBody>
      </p:sp>
      <p:sp>
        <p:nvSpPr>
          <p:cNvPr id="7" name="Rectangle 6"/>
          <p:cNvSpPr/>
          <p:nvPr/>
        </p:nvSpPr>
        <p:spPr>
          <a:xfrm>
            <a:off x="3349200" y="5580000"/>
            <a:ext cx="21600" cy="900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072000" y="5688000"/>
            <a:ext cx="57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F497D"/>
                </a:solidFill>
                <a:latin typeface="맑은 고딕"/>
              </a:rPr>
              <a:t>100</a:t>
            </a:r>
          </a:p>
        </p:txBody>
      </p:sp>
      <p:sp>
        <p:nvSpPr>
          <p:cNvPr id="9" name="Rectangle 8"/>
          <p:cNvSpPr/>
          <p:nvPr/>
        </p:nvSpPr>
        <p:spPr>
          <a:xfrm>
            <a:off x="4909200" y="5580000"/>
            <a:ext cx="21600" cy="900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32000" y="5688000"/>
            <a:ext cx="57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F497D"/>
                </a:solidFill>
                <a:latin typeface="맑은 고딕"/>
              </a:rPr>
              <a:t>150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69200" y="5580000"/>
            <a:ext cx="21600" cy="900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92000" y="5688000"/>
            <a:ext cx="57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F497D"/>
                </a:solidFill>
                <a:latin typeface="맑은 고딕"/>
              </a:rPr>
              <a:t>200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29200" y="5580000"/>
            <a:ext cx="21600" cy="900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52000" y="5688000"/>
            <a:ext cx="57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F497D"/>
                </a:solidFill>
                <a:latin typeface="맑은 고딕"/>
              </a:rPr>
              <a:t>250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589200" y="5580000"/>
            <a:ext cx="21600" cy="900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312000" y="5688000"/>
            <a:ext cx="57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F497D"/>
                </a:solidFill>
                <a:latin typeface="맑은 고딕"/>
              </a:rPr>
              <a:t>300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149200" y="5580000"/>
            <a:ext cx="21600" cy="900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872000" y="5688000"/>
            <a:ext cx="57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F497D"/>
                </a:solidFill>
                <a:latin typeface="맑은 고딕"/>
              </a:rPr>
              <a:t>350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00000" y="1260000"/>
            <a:ext cx="9360000" cy="39600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360000" y="1288800"/>
            <a:ext cx="4680000" cy="338400"/>
          </a:xfrm>
          <a:prstGeom prst="rect">
            <a:avLst/>
          </a:prstGeom>
          <a:solidFill>
            <a:srgbClr val="2E74B5"/>
          </a:solidFill>
          <a:ln w="63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100–250°C  ALD Window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000" y="1314000"/>
            <a:ext cx="16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4B5"/>
                </a:solidFill>
                <a:latin typeface="맑은 고딕"/>
              </a:rPr>
              <a:t>Al₂O₃   (TMA / H₂O)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00000" y="1980000"/>
            <a:ext cx="9360000" cy="39600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360000" y="2008800"/>
            <a:ext cx="3120000" cy="338400"/>
          </a:xfrm>
          <a:prstGeom prst="rect">
            <a:avLst/>
          </a:prstGeom>
          <a:solidFill>
            <a:srgbClr val="378610"/>
          </a:solidFill>
          <a:ln w="63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100–200°C  ALD Window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000" y="2034000"/>
            <a:ext cx="16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78610"/>
                </a:solidFill>
                <a:latin typeface="맑은 고딕"/>
              </a:rPr>
              <a:t>ZnO   (DEZn / H₂O)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800000" y="2700000"/>
            <a:ext cx="9360000" cy="39600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920000" y="2728800"/>
            <a:ext cx="3120000" cy="338400"/>
          </a:xfrm>
          <a:prstGeom prst="rect">
            <a:avLst/>
          </a:prstGeom>
          <a:solidFill>
            <a:srgbClr val="7B2F8E"/>
          </a:solidFill>
          <a:ln w="635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150–250°C  ALD Window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000" y="2754000"/>
            <a:ext cx="16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B2F8E"/>
                </a:solidFill>
                <a:latin typeface="맑은 고딕"/>
              </a:rPr>
              <a:t>V₂O₅   (VTIP / H₂O)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800000" y="3420000"/>
            <a:ext cx="9360000" cy="39600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920000" y="3448800"/>
            <a:ext cx="4680000" cy="338400"/>
          </a:xfrm>
          <a:prstGeom prst="rect">
            <a:avLst/>
          </a:prstGeom>
          <a:solidFill>
            <a:srgbClr val="ED7D31"/>
          </a:solidFill>
          <a:ln w="63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150–300°C  ALD Window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000" y="3474000"/>
            <a:ext cx="16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D7D31"/>
                </a:solidFill>
                <a:latin typeface="맑은 고딕"/>
              </a:rPr>
              <a:t>TiO₂   (TTIP / H₂O)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0000" y="4248000"/>
            <a:ext cx="6480000" cy="251999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950" b="0">
                <a:solidFill>
                  <a:srgbClr val="1F497D"/>
                </a:solidFill>
                <a:latin typeface="맑은 고딕"/>
              </a:rPr>
              <a:t>■ 한국기계연구원 배치식 ALD 장비 2대에서 측정·확정 예정 (1차년도)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0000" y="6570000"/>
            <a:ext cx="118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95959"/>
                </a:solidFill>
                <a:latin typeface="맑은 고딕"/>
              </a:rPr>
              <a:t>* ALD Window = GPC가 일정한 자기제한 반응 안정 영역.  범위 외에서는 GPC 편차 증가 또는 CVD 모드 전환.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5.  본 과제 핵심 기술 연계 파이프라인
한국기계연구원 배치식 ALD 레시피 개발 → 대성기계공업 연속식 ALD 이전·적용 흐름도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0000" y="792000"/>
            <a:ext cx="2700000" cy="792000"/>
          </a:xfrm>
          <a:prstGeom prst="roundRect">
            <a:avLst/>
          </a:prstGeom>
          <a:solidFill>
            <a:srgbClr val="FFF2CC"/>
          </a:solidFill>
          <a:ln w="25400"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1F497D"/>
                </a:solidFill>
                <a:latin typeface="맑은 고딕"/>
              </a:rPr>
              <a:t>에버인더스
고-Ni 층상 양극재 제공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060000" y="1188000"/>
            <a:ext cx="540000" cy="0"/>
          </a:xfrm>
          <a:prstGeom prst="line">
            <a:avLst/>
          </a:prstGeom>
          <a:ln w="3810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3600000" y="720000"/>
            <a:ext cx="4860000" cy="3600000"/>
          </a:xfrm>
          <a:prstGeom prst="roundRect">
            <a:avLst/>
          </a:prstGeom>
          <a:solidFill>
            <a:srgbClr val="E6F0F8"/>
          </a:solidFill>
          <a:ln w="317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00000" y="720000"/>
            <a:ext cx="4860000" cy="360000"/>
          </a:xfrm>
          <a:prstGeom prst="rect">
            <a:avLst/>
          </a:prstGeom>
          <a:solidFill>
            <a:srgbClr val="2E74B5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</a:rPr>
              <a:t>한국기계연구원  (배치식 ALD 장비 2대 보유)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80000" y="1188000"/>
            <a:ext cx="2088000" cy="1007999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0">
                <a:solidFill>
                  <a:srgbClr val="ED7D31"/>
                </a:solidFill>
                <a:latin typeface="맑은 고딕"/>
              </a:rPr>
              <a:t>ALD #1
TiO₂  (TTIP/H₂O)
→ 1차년도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48000" y="1188000"/>
            <a:ext cx="2088000" cy="1007999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0">
                <a:solidFill>
                  <a:srgbClr val="2E74B5"/>
                </a:solidFill>
                <a:latin typeface="맑은 고딕"/>
              </a:rPr>
              <a:t>ALD #2
Al₂O₃ (TMA/H₂O)
→ 1차년도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80000" y="2304000"/>
            <a:ext cx="2088000" cy="1007999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0">
                <a:solidFill>
                  <a:srgbClr val="7B2F8E"/>
                </a:solidFill>
                <a:latin typeface="맑은 고딕"/>
              </a:rPr>
              <a:t>ALD #1
V₂O₅  (VTIP/H₂O)
→ 2차년도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48000" y="2304000"/>
            <a:ext cx="2088000" cy="1007999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0">
                <a:solidFill>
                  <a:srgbClr val="378610"/>
                </a:solidFill>
                <a:latin typeface="맑은 고딕"/>
              </a:rPr>
              <a:t>ALD #2
ZnO   (DEZn/H₂O)
→ 2차년도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8000" y="3420000"/>
            <a:ext cx="46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F497D"/>
                </a:solidFill>
                <a:latin typeface="맑은 고딕"/>
              </a:rPr>
              <a:t>→ 공정 윈도우 확정 → 레시피 패키지 작성 (GPC, 온도, pulse/purge 시간, NDA 체결)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30000" y="4392000"/>
            <a:ext cx="0" cy="468000"/>
          </a:xfrm>
          <a:prstGeom prst="line">
            <a:avLst/>
          </a:prstGeom>
          <a:ln w="5080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500000" y="4428000"/>
            <a:ext cx="30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ED7D31"/>
                </a:solidFill>
                <a:latin typeface="맑은 고딕"/>
              </a:rPr>
              <a:t>레시피 패키지 이전 (NDA 체결)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00000" y="4860000"/>
            <a:ext cx="4860000" cy="1368000"/>
          </a:xfrm>
          <a:prstGeom prst="roundRect">
            <a:avLst/>
          </a:prstGeom>
          <a:solidFill>
            <a:srgbClr val="E2EFDA"/>
          </a:solidFill>
          <a:ln w="317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600000" y="4860000"/>
            <a:ext cx="4860000" cy="360000"/>
          </a:xfrm>
          <a:prstGeom prst="rect">
            <a:avLst/>
          </a:prstGeom>
          <a:solidFill>
            <a:srgbClr val="378610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</a:rPr>
              <a:t>대성기계공업  (연속식 분말 ALD 장비 보유)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08000" y="5292000"/>
            <a:ext cx="46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맑은 고딕"/>
              </a:rPr>
              <a:t>① FBR에 레시피 적용 (1차) → ② OPERIO 10 이전 (2차) → ③ 10 kg/h 양산 (3차)
RTD 기반 체류시간 최적화 | 연속 운전 안정화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568000" y="5544000"/>
            <a:ext cx="612000" cy="0"/>
          </a:xfrm>
          <a:prstGeom prst="line">
            <a:avLst/>
          </a:prstGeom>
          <a:ln w="25400">
            <a:solidFill>
              <a:srgbClr val="595959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180000" y="5040000"/>
            <a:ext cx="2700000" cy="11880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50" b="0">
                <a:solidFill>
                  <a:srgbClr val="1F497D"/>
                </a:solidFill>
                <a:latin typeface="맑은 고딕"/>
              </a:rPr>
              <a:t>기계연 코팅층 분석
HRTEM / EELS / XPS
→ 품질 검증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80000" y="792000"/>
            <a:ext cx="2700000" cy="11520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50" b="0">
                <a:solidFill>
                  <a:srgbClr val="1F497D"/>
                </a:solidFill>
                <a:latin typeface="맑은 고딕"/>
              </a:rPr>
              <a:t>씨오알엔 (CORN)
전극 제조
1Ah 파우치셀 제작·평가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0000" y="6570000"/>
            <a:ext cx="118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95959"/>
                </a:solidFill>
                <a:latin typeface="맑은 고딕"/>
              </a:rPr>
              <a:t>* 기계연 배치식 ALD에서 확립한 레시피가 대성기계 연속식 ALD에 이전되며, 기계연이 코팅 시료를 분석·검증하는 순환 피드백 구조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6.  연속식 분말 ALD 기술의 산업별 응용 분야 및 시장 확장 가능성</a:t>
            </a:r>
          </a:p>
        </p:txBody>
      </p:sp>
      <p:sp>
        <p:nvSpPr>
          <p:cNvPr id="3" name="Oval 2"/>
          <p:cNvSpPr/>
          <p:nvPr/>
        </p:nvSpPr>
        <p:spPr>
          <a:xfrm>
            <a:off x="5112001" y="2772001"/>
            <a:ext cx="2015998" cy="2015998"/>
          </a:xfrm>
          <a:prstGeom prst="ellipse">
            <a:avLst/>
          </a:prstGeom>
          <a:solidFill>
            <a:srgbClr val="1F497D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연속식
분말 ALD
플랫폼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628000" y="3420000"/>
            <a:ext cx="2088000" cy="720000"/>
          </a:xfrm>
          <a:prstGeom prst="roundRect">
            <a:avLst/>
          </a:prstGeom>
          <a:solidFill>
            <a:srgbClr val="ED7D31"/>
          </a:solidFill>
          <a:ln w="127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이차전지
양극재·음극재</a:t>
            </a:r>
          </a:p>
        </p:txBody>
      </p:sp>
      <p:cxnSp>
        <p:nvCxnSpPr>
          <p:cNvPr id="5" name="Connector 4"/>
          <p:cNvCxnSpPr/>
          <p:nvPr/>
        </p:nvCxnSpPr>
        <p:spPr>
          <a:xfrm flipH="1">
            <a:off x="4611600" y="3780000"/>
            <a:ext cx="500401" cy="0"/>
          </a:xfrm>
          <a:prstGeom prst="line">
            <a:avLst/>
          </a:prstGeom>
          <a:ln w="1905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3851999" y="1299969"/>
            <a:ext cx="2088000" cy="720000"/>
          </a:xfrm>
          <a:prstGeom prst="roundRect">
            <a:avLst/>
          </a:prstGeom>
          <a:solidFill>
            <a:srgbClr val="378610"/>
          </a:solidFill>
          <a:ln w="1270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촉매·촉매 지지체</a:t>
            </a:r>
          </a:p>
        </p:txBody>
      </p:sp>
      <p:cxnSp>
        <p:nvCxnSpPr>
          <p:cNvPr id="7" name="Connector 6"/>
          <p:cNvCxnSpPr/>
          <p:nvPr/>
        </p:nvCxnSpPr>
        <p:spPr>
          <a:xfrm flipH="1" flipV="1">
            <a:off x="5365799" y="1940562"/>
            <a:ext cx="250201" cy="966485"/>
          </a:xfrm>
          <a:prstGeom prst="line">
            <a:avLst/>
          </a:prstGeom>
          <a:ln w="19050">
            <a:solidFill>
              <a:srgbClr val="37861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300000" y="1299969"/>
            <a:ext cx="2088000" cy="720000"/>
          </a:xfrm>
          <a:prstGeom prst="roundRect">
            <a:avLst/>
          </a:prstGeom>
          <a:solidFill>
            <a:srgbClr val="2E74B5"/>
          </a:solidFill>
          <a:ln w="1270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수소연료전지
전극재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6623999" y="1940562"/>
            <a:ext cx="250201" cy="966485"/>
          </a:xfrm>
          <a:prstGeom prst="line">
            <a:avLst/>
          </a:prstGeom>
          <a:ln w="19050">
            <a:solidFill>
              <a:srgbClr val="2E74B5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524000" y="3420000"/>
            <a:ext cx="2088000" cy="720000"/>
          </a:xfrm>
          <a:prstGeom prst="roundRect">
            <a:avLst/>
          </a:prstGeom>
          <a:solidFill>
            <a:srgbClr val="7B2F8E"/>
          </a:solidFill>
          <a:ln w="1270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전자·반도체
소재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27999" y="3780000"/>
            <a:ext cx="500401" cy="0"/>
          </a:xfrm>
          <a:prstGeom prst="line">
            <a:avLst/>
          </a:prstGeom>
          <a:ln w="19050">
            <a:solidFill>
              <a:srgbClr val="7B2F8E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300000" y="5540030"/>
            <a:ext cx="2088000" cy="720000"/>
          </a:xfrm>
          <a:prstGeom prst="roundRect">
            <a:avLst/>
          </a:prstGeom>
          <a:solidFill>
            <a:srgbClr val="0070C0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기능성 세라믹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623999" y="4652952"/>
            <a:ext cx="250201" cy="966485"/>
          </a:xfrm>
          <a:prstGeom prst="line">
            <a:avLst/>
          </a:prstGeom>
          <a:ln w="19050">
            <a:solidFill>
              <a:srgbClr val="0070C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852000" y="5540030"/>
            <a:ext cx="2088000" cy="720000"/>
          </a:xfrm>
          <a:prstGeom prst="roundRect">
            <a:avLst/>
          </a:prstGeom>
          <a:solidFill>
            <a:srgbClr val="C0000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에너지저장
소재 (ESS)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5365800" y="4652952"/>
            <a:ext cx="250200" cy="966485"/>
          </a:xfrm>
          <a:prstGeom prst="line">
            <a:avLst/>
          </a:prstGeom>
          <a:ln w="19050">
            <a:solidFill>
              <a:srgbClr val="C0000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80000" y="6534000"/>
            <a:ext cx="118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95959"/>
                </a:solidFill>
                <a:latin typeface="맑은 고딕"/>
              </a:rPr>
              <a:t>* 본 과제에서 개발되는 연속식 분말 ALD 공정 기술은 배터리 소재 외 다양한 산업 분야로 확장 가능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7.  1차년도: 한국기계연구원 배치식 ALD 장비 2대 병렬 운용
TiO₂·Al₂O₃ 레시피 개발 및 대성기계 FBR 이전 프로세스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0000" y="900000"/>
            <a:ext cx="2160000" cy="720000"/>
          </a:xfrm>
          <a:prstGeom prst="roundRect">
            <a:avLst/>
          </a:prstGeom>
          <a:solidFill>
            <a:srgbClr val="FFF2CC"/>
          </a:solidFill>
          <a:ln w="25400"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1F497D"/>
                </a:solidFill>
                <a:latin typeface="맑은 고딕"/>
              </a:rPr>
              <a:t>에버인더스
(양극재 제공)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340000" y="1260000"/>
            <a:ext cx="540000" cy="0"/>
          </a:xfrm>
          <a:prstGeom prst="line">
            <a:avLst/>
          </a:prstGeom>
          <a:ln w="3175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2880000" y="792000"/>
            <a:ext cx="3600000" cy="1620000"/>
          </a:xfrm>
          <a:prstGeom prst="roundRect">
            <a:avLst/>
          </a:prstGeom>
          <a:solidFill>
            <a:srgbClr val="E6F0F8"/>
          </a:solidFill>
          <a:ln w="317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880000" y="792000"/>
            <a:ext cx="3600000" cy="306000"/>
          </a:xfrm>
          <a:prstGeom prst="rect">
            <a:avLst/>
          </a:prstGeom>
          <a:solidFill>
            <a:srgbClr val="ED7D31"/>
          </a:solidFill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배치식 ALD 장비 #1  (TiO₂)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88000" y="1152000"/>
            <a:ext cx="3420000" cy="115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>
                <a:solidFill>
                  <a:srgbClr val="595959"/>
                </a:solidFill>
                <a:latin typeface="맑은 고딕"/>
              </a:rPr>
              <a:t>• 전구체: TTIP / H₂O</a:t>
            </a:r>
          </a:p>
          <a:p>
            <a:pPr algn="l"/>
            <a:r>
              <a:rPr sz="950">
                <a:solidFill>
                  <a:srgbClr val="595959"/>
                </a:solidFill>
                <a:latin typeface="맑은 고딕"/>
              </a:rPr>
              <a:t>• 온도: 150~300°C 탐색</a:t>
            </a:r>
          </a:p>
          <a:p>
            <a:pPr algn="l"/>
            <a:r>
              <a:rPr sz="950">
                <a:solidFill>
                  <a:srgbClr val="595959"/>
                </a:solidFill>
                <a:latin typeface="맑은 고딕"/>
              </a:rPr>
              <a:t>• GPC 측정 (Self-limiting 확인)</a:t>
            </a:r>
          </a:p>
          <a:p>
            <a:pPr algn="l"/>
            <a:r>
              <a:rPr sz="950">
                <a:solidFill>
                  <a:srgbClr val="595959"/>
                </a:solidFill>
                <a:latin typeface="맑은 고딕"/>
              </a:rPr>
              <a:t>• 공정 윈도우 확정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80000" y="2592000"/>
            <a:ext cx="3600000" cy="1620000"/>
          </a:xfrm>
          <a:prstGeom prst="roundRect">
            <a:avLst/>
          </a:prstGeom>
          <a:solidFill>
            <a:srgbClr val="E6F0F8"/>
          </a:solidFill>
          <a:ln w="317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880000" y="2592000"/>
            <a:ext cx="3600000" cy="306000"/>
          </a:xfrm>
          <a:prstGeom prst="rect">
            <a:avLst/>
          </a:prstGeom>
          <a:solidFill>
            <a:srgbClr val="2E74B5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배치식 ALD 장비 #2  (Al₂O₃)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88000" y="2951999"/>
            <a:ext cx="3420000" cy="115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>
                <a:solidFill>
                  <a:srgbClr val="595959"/>
                </a:solidFill>
                <a:latin typeface="맑은 고딕"/>
              </a:rPr>
              <a:t>• 전구체: TMA / H₂O</a:t>
            </a:r>
          </a:p>
          <a:p>
            <a:pPr algn="l"/>
            <a:r>
              <a:rPr sz="950">
                <a:solidFill>
                  <a:srgbClr val="595959"/>
                </a:solidFill>
                <a:latin typeface="맑은 고딕"/>
              </a:rPr>
              <a:t>• 온도: 100~250°C 탐색</a:t>
            </a:r>
          </a:p>
          <a:p>
            <a:pPr algn="l"/>
            <a:r>
              <a:rPr sz="950">
                <a:solidFill>
                  <a:srgbClr val="595959"/>
                </a:solidFill>
                <a:latin typeface="맑은 고딕"/>
              </a:rPr>
              <a:t>• GPC 측정 (Self-limiting 확인)</a:t>
            </a:r>
          </a:p>
          <a:p>
            <a:pPr algn="l"/>
            <a:r>
              <a:rPr sz="950">
                <a:solidFill>
                  <a:srgbClr val="595959"/>
                </a:solidFill>
                <a:latin typeface="맑은 고딕"/>
              </a:rPr>
              <a:t>• 공정 윈도우 확정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80000" y="1602000"/>
            <a:ext cx="720000" cy="0"/>
          </a:xfrm>
          <a:prstGeom prst="line">
            <a:avLst/>
          </a:prstGeom>
          <a:ln w="2540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480000" y="3401999"/>
            <a:ext cx="720000" cy="0"/>
          </a:xfrm>
          <a:prstGeom prst="line">
            <a:avLst/>
          </a:prstGeom>
          <a:ln w="25400">
            <a:solidFill>
              <a:srgbClr val="2E74B5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200000" y="1260000"/>
            <a:ext cx="2340000" cy="1800000"/>
          </a:xfrm>
          <a:prstGeom prst="roundRect">
            <a:avLst/>
          </a:prstGeom>
          <a:solidFill>
            <a:srgbClr val="FFF2CC"/>
          </a:solidFill>
          <a:ln w="254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1F497D"/>
                </a:solidFill>
                <a:latin typeface="맑은 고딕"/>
              </a:rPr>
              <a:t>레시피 패키지
(온도·GPC·pulse
/purge 시간·
공정 윈도우)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08000" y="3240000"/>
            <a:ext cx="2160000" cy="270000"/>
          </a:xfrm>
          <a:prstGeom prst="rect">
            <a:avLst/>
          </a:prstGeom>
          <a:solidFill>
            <a:srgbClr val="C00000"/>
          </a:solidFill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NDA 체결 → 기계연→대성기계 이전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540000" y="2160000"/>
            <a:ext cx="720000" cy="0"/>
          </a:xfrm>
          <a:prstGeom prst="line">
            <a:avLst/>
          </a:prstGeom>
          <a:ln w="3810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0260000" y="1620000"/>
            <a:ext cx="1800000" cy="1080000"/>
          </a:xfrm>
          <a:prstGeom prst="roundRect">
            <a:avLst/>
          </a:prstGeom>
          <a:solidFill>
            <a:srgbClr val="E2EFDA"/>
          </a:solidFill>
          <a:ln w="2540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1F497D"/>
                </a:solidFill>
                <a:latin typeface="맑은 고딕"/>
              </a:rPr>
              <a:t>대성기계
FBR 적용
검증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80000" y="4140000"/>
            <a:ext cx="720000" cy="540000"/>
          </a:xfrm>
          <a:prstGeom prst="line">
            <a:avLst/>
          </a:prstGeom>
          <a:ln w="25400">
            <a:solidFill>
              <a:srgbClr val="1F497D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200000" y="4680000"/>
            <a:ext cx="4500000" cy="1260000"/>
          </a:xfrm>
          <a:prstGeom prst="roundRect">
            <a:avLst/>
          </a:prstGeom>
          <a:solidFill>
            <a:srgbClr val="D6DCE4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200000" y="4680000"/>
            <a:ext cx="4500000" cy="288000"/>
          </a:xfrm>
          <a:prstGeom prst="rect">
            <a:avLst/>
          </a:prstGeom>
          <a:solidFill>
            <a:srgbClr val="1F497D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코팅층 분석 (기계연)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08000" y="5022000"/>
            <a:ext cx="4320000" cy="82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SEM-EDX | TEM | XRD | XPS | Raman | BET | PSD
→ 코팅 두께·균일도·조성 확인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000" y="6570000"/>
            <a:ext cx="118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95959"/>
                </a:solidFill>
                <a:latin typeface="맑은 고딕"/>
              </a:rPr>
              <a:t>* 장비 #1(TiO₂)과 #2(Al₂O₃)를 동시 병렬 운용하여 1차년도 내 2종 레시피를 확립하고 대성기계 FBR로 이전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8.  에버인더스 제공 고-Ni 층상 나트륨이온전지 양극재 ALD 코팅 전
기초 특성 분석 (SEM, XRD, XPS, BET)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0000" y="900000"/>
            <a:ext cx="2448000" cy="2880000"/>
          </a:xfrm>
          <a:prstGeom prst="roundRect">
            <a:avLst/>
          </a:prstGeom>
          <a:solidFill>
            <a:srgbClr val="D6DCE4"/>
          </a:solidFill>
          <a:ln w="2540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60000" y="900000"/>
            <a:ext cx="2448000" cy="396000"/>
          </a:xfrm>
          <a:prstGeom prst="rect">
            <a:avLst/>
          </a:prstGeom>
          <a:solidFill>
            <a:srgbClr val="2E74B5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SEM-EDX
(형상·입도)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4000" y="1404000"/>
            <a:ext cx="2160000" cy="115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595959"/>
                </a:solidFill>
                <a:latin typeface="맑은 고딕"/>
              </a:rPr>
              <a:t>[측정 이미지
삽입 예정]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8000" y="2628000"/>
            <a:ext cx="2232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1차 입자 형상 확인
• 입도 분포 (D50)
• 원소 mapping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0000" y="900000"/>
            <a:ext cx="2448000" cy="2880000"/>
          </a:xfrm>
          <a:prstGeom prst="roundRect">
            <a:avLst/>
          </a:prstGeom>
          <a:solidFill>
            <a:srgbClr val="D6DCE4"/>
          </a:solidFill>
          <a:ln w="2540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240000" y="900000"/>
            <a:ext cx="2448000" cy="396000"/>
          </a:xfrm>
          <a:prstGeom prst="rect">
            <a:avLst/>
          </a:prstGeom>
          <a:solidFill>
            <a:srgbClr val="378610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XRD
(결정 구조)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4000" y="1404000"/>
            <a:ext cx="2160000" cy="115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595959"/>
                </a:solidFill>
                <a:latin typeface="맑은 고딕"/>
              </a:rPr>
              <a:t>[측정 이미지
삽입 예정]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48000" y="2628000"/>
            <a:ext cx="2232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R-3m 공간군 확인
• 격자 상수 측정
• 불순물 상 검출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0000" y="900000"/>
            <a:ext cx="2448000" cy="2880000"/>
          </a:xfrm>
          <a:prstGeom prst="roundRect">
            <a:avLst/>
          </a:prstGeom>
          <a:solidFill>
            <a:srgbClr val="D6DCE4"/>
          </a:solidFill>
          <a:ln w="254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20000" y="900000"/>
            <a:ext cx="2448000" cy="396000"/>
          </a:xfrm>
          <a:prstGeom prst="rect">
            <a:avLst/>
          </a:prstGeom>
          <a:solidFill>
            <a:srgbClr val="ED7D31"/>
          </a:solidFill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XPS
(표면 화학)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4000" y="1404000"/>
            <a:ext cx="2160000" cy="115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595959"/>
                </a:solidFill>
                <a:latin typeface="맑은 고딕"/>
              </a:rPr>
              <a:t>[측정 이미지
삽입 예정]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8000" y="2628000"/>
            <a:ext cx="2232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Ni/Mn/Fe 산화수
• 표면 Na 농도
• 결합 에너지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0000" y="900000"/>
            <a:ext cx="2448000" cy="2880000"/>
          </a:xfrm>
          <a:prstGeom prst="roundRect">
            <a:avLst/>
          </a:prstGeom>
          <a:solidFill>
            <a:srgbClr val="D6DCE4"/>
          </a:solidFill>
          <a:ln w="2540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9000000" y="900000"/>
            <a:ext cx="2448000" cy="396000"/>
          </a:xfrm>
          <a:prstGeom prst="rect">
            <a:avLst/>
          </a:prstGeom>
          <a:solidFill>
            <a:srgbClr val="7B2F8E"/>
          </a:solidFill>
          <a:ln w="1905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BET / PSD
(비표면적)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0" y="1404000"/>
            <a:ext cx="2160000" cy="115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595959"/>
                </a:solidFill>
                <a:latin typeface="맑은 고딕"/>
              </a:rPr>
              <a:t>[측정 이미지
삽입 예정]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08000" y="2628000"/>
            <a:ext cx="2232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비표면적 (m²/g)
• 기공 크기 분포
• 입도 분포 (D10/50/90)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0000" y="4031999"/>
            <a:ext cx="11520000" cy="360000"/>
          </a:xfrm>
          <a:prstGeom prst="rect">
            <a:avLst/>
          </a:prstGeom>
          <a:solidFill>
            <a:srgbClr val="1F497D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목적: ALD 코팅 전 초기 양극재 baseline 특성 확립 → 코팅 후 특성 변화 정량 비교를 위한 기준값 확보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0000" y="4500000"/>
            <a:ext cx="11520000" cy="1260000"/>
          </a:xfrm>
          <a:prstGeom prst="rect">
            <a:avLst/>
          </a:prstGeom>
          <a:solidFill>
            <a:srgbClr val="E2EFDA"/>
          </a:solidFill>
          <a:ln w="1270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68000" y="4572000"/>
            <a:ext cx="1134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맑은 고딕"/>
              </a:rPr>
              <a:t>예상 특성값 범위:
• 입도 (D50): 5~15 μm  |  비표면적: 0.5~2.0 m²/g
• 결정 구조: R-3m 공간군 (Layered 구조)  |  Ni 함량: 40~60 at%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9.  배치식 ALD 장비에서 측정한 TiO₂ 및 Al₂O₃ Self-limiting 반응 조건
(GPC vs. 전구체 Pulse 시간) — 포화 구간이 연속식 FBR 최소 체류시간 기준</a:t>
            </a:r>
          </a:p>
        </p:txBody>
      </p:sp>
      <p:sp>
        <p:nvSpPr>
          <p:cNvPr id="3" name="Rectangle 2"/>
          <p:cNvSpPr/>
          <p:nvPr/>
        </p:nvSpPr>
        <p:spPr>
          <a:xfrm>
            <a:off x="720000" y="1080000"/>
            <a:ext cx="4680000" cy="3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0000" y="756000"/>
            <a:ext cx="46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D7D31"/>
                </a:solidFill>
                <a:latin typeface="맑은 고딕"/>
              </a:rPr>
              <a:t>TiO₂ (TTIP/H₂O)
온도: ~200°C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4716000"/>
            <a:ext cx="46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1F497D"/>
                </a:solidFill>
                <a:latin typeface="맑은 고딕"/>
              </a:rPr>
              <a:t>전구체 Pulse 시간 (s)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000" y="2700000"/>
            <a:ext cx="5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F497D"/>
                </a:solidFill>
                <a:latin typeface="맑은 고딕"/>
              </a:rPr>
              <a:t>GPC
(Å/cycle)</a:t>
            </a:r>
          </a:p>
        </p:txBody>
      </p:sp>
      <p:sp>
        <p:nvSpPr>
          <p:cNvPr id="7" name="Oval 6"/>
          <p:cNvSpPr/>
          <p:nvPr/>
        </p:nvSpPr>
        <p:spPr>
          <a:xfrm>
            <a:off x="1196800" y="4156800"/>
            <a:ext cx="86400" cy="86400"/>
          </a:xfrm>
          <a:prstGeom prst="ellipse">
            <a:avLst/>
          </a:prstGeom>
          <a:solidFill>
            <a:srgbClr val="ED7D31"/>
          </a:solidFill>
          <a:ln w="63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716800" y="3556800"/>
            <a:ext cx="86400" cy="86400"/>
          </a:xfrm>
          <a:prstGeom prst="ellipse">
            <a:avLst/>
          </a:prstGeom>
          <a:solidFill>
            <a:srgbClr val="ED7D31"/>
          </a:solidFill>
          <a:ln w="63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" name="Connector 8"/>
          <p:cNvCxnSpPr/>
          <p:nvPr/>
        </p:nvCxnSpPr>
        <p:spPr>
          <a:xfrm flipV="1">
            <a:off x="1240000" y="3600000"/>
            <a:ext cx="520000" cy="600000"/>
          </a:xfrm>
          <a:prstGeom prst="line">
            <a:avLst/>
          </a:prstGeom>
          <a:ln w="1905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2236800" y="3148800"/>
            <a:ext cx="86400" cy="86400"/>
          </a:xfrm>
          <a:prstGeom prst="ellipse">
            <a:avLst/>
          </a:prstGeom>
          <a:solidFill>
            <a:srgbClr val="ED7D31"/>
          </a:solidFill>
          <a:ln w="63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" name="Connector 10"/>
          <p:cNvCxnSpPr/>
          <p:nvPr/>
        </p:nvCxnSpPr>
        <p:spPr>
          <a:xfrm flipV="1">
            <a:off x="1760000" y="3192000"/>
            <a:ext cx="520000" cy="408000"/>
          </a:xfrm>
          <a:prstGeom prst="line">
            <a:avLst/>
          </a:prstGeom>
          <a:ln w="1905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2756800" y="2956800"/>
            <a:ext cx="86400" cy="86400"/>
          </a:xfrm>
          <a:prstGeom prst="ellipse">
            <a:avLst/>
          </a:prstGeom>
          <a:solidFill>
            <a:srgbClr val="ED7D31"/>
          </a:solidFill>
          <a:ln w="63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3" name="Connector 12"/>
          <p:cNvCxnSpPr/>
          <p:nvPr/>
        </p:nvCxnSpPr>
        <p:spPr>
          <a:xfrm flipV="1">
            <a:off x="2280000" y="3000000"/>
            <a:ext cx="520000" cy="192000"/>
          </a:xfrm>
          <a:prstGeom prst="line">
            <a:avLst/>
          </a:prstGeom>
          <a:ln w="1905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276800" y="2908800"/>
            <a:ext cx="86400" cy="86400"/>
          </a:xfrm>
          <a:prstGeom prst="ellipse">
            <a:avLst/>
          </a:prstGeom>
          <a:solidFill>
            <a:srgbClr val="ED7D31"/>
          </a:solidFill>
          <a:ln w="63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" name="Connector 14"/>
          <p:cNvCxnSpPr/>
          <p:nvPr/>
        </p:nvCxnSpPr>
        <p:spPr>
          <a:xfrm flipV="1">
            <a:off x="2800000" y="2952000"/>
            <a:ext cx="520000" cy="48000"/>
          </a:xfrm>
          <a:prstGeom prst="line">
            <a:avLst/>
          </a:prstGeom>
          <a:ln w="1905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3796800" y="2908800"/>
            <a:ext cx="86400" cy="86400"/>
          </a:xfrm>
          <a:prstGeom prst="ellipse">
            <a:avLst/>
          </a:prstGeom>
          <a:solidFill>
            <a:srgbClr val="ED7D31"/>
          </a:solidFill>
          <a:ln w="63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7" name="Connector 16"/>
          <p:cNvCxnSpPr/>
          <p:nvPr/>
        </p:nvCxnSpPr>
        <p:spPr>
          <a:xfrm>
            <a:off x="3320000" y="2952000"/>
            <a:ext cx="520000" cy="0"/>
          </a:xfrm>
          <a:prstGeom prst="line">
            <a:avLst/>
          </a:prstGeom>
          <a:ln w="1905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4836800" y="2908800"/>
            <a:ext cx="86400" cy="86400"/>
          </a:xfrm>
          <a:prstGeom prst="ellipse">
            <a:avLst/>
          </a:prstGeom>
          <a:solidFill>
            <a:srgbClr val="ED7D31"/>
          </a:solidFill>
          <a:ln w="63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9" name="Connector 18"/>
          <p:cNvCxnSpPr/>
          <p:nvPr/>
        </p:nvCxnSpPr>
        <p:spPr>
          <a:xfrm>
            <a:off x="3840000" y="2952000"/>
            <a:ext cx="1040000" cy="0"/>
          </a:xfrm>
          <a:prstGeom prst="line">
            <a:avLst/>
          </a:prstGeom>
          <a:ln w="1905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2789200" y="1080000"/>
            <a:ext cx="21600" cy="3600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836000" y="1152000"/>
            <a:ext cx="16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00000"/>
                </a:solidFill>
                <a:latin typeface="맑은 고딕"/>
              </a:rPr>
              <a:t>포화: ~2.0 s → GPC ≈ 0.7 Å/cycle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00000" y="1080000"/>
            <a:ext cx="2600000" cy="3600000"/>
          </a:xfrm>
          <a:prstGeom prst="rect">
            <a:avLst/>
          </a:prstGeom>
          <a:solidFill>
            <a:srgbClr val="FFEBE6"/>
          </a:solidFill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480000" y="1080000"/>
            <a:ext cx="4680000" cy="3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80000" y="756000"/>
            <a:ext cx="46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E74B5"/>
                </a:solidFill>
                <a:latin typeface="맑은 고딕"/>
              </a:rPr>
              <a:t>Al₂O₃ (TMA/H₂O)
온도: ~150°C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80000" y="4716000"/>
            <a:ext cx="46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1F497D"/>
                </a:solidFill>
                <a:latin typeface="맑은 고딕"/>
              </a:rPr>
              <a:t>전구체 Pulse 시간 (s)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04000" y="2700000"/>
            <a:ext cx="5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F497D"/>
                </a:solidFill>
                <a:latin typeface="맑은 고딕"/>
              </a:rPr>
              <a:t>GPC
(Å/cycle)</a:t>
            </a:r>
          </a:p>
        </p:txBody>
      </p:sp>
      <p:sp>
        <p:nvSpPr>
          <p:cNvPr id="27" name="Oval 26"/>
          <p:cNvSpPr/>
          <p:nvPr/>
        </p:nvSpPr>
        <p:spPr>
          <a:xfrm>
            <a:off x="6644800" y="3916800"/>
            <a:ext cx="86400" cy="86400"/>
          </a:xfrm>
          <a:prstGeom prst="ellipse">
            <a:avLst/>
          </a:prstGeom>
          <a:solidFill>
            <a:srgbClr val="2E74B5"/>
          </a:solidFill>
          <a:ln w="63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6956800" y="2956800"/>
            <a:ext cx="86400" cy="86400"/>
          </a:xfrm>
          <a:prstGeom prst="ellipse">
            <a:avLst/>
          </a:prstGeom>
          <a:solidFill>
            <a:srgbClr val="2E74B5"/>
          </a:solidFill>
          <a:ln w="63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9" name="Connector 28"/>
          <p:cNvCxnSpPr/>
          <p:nvPr/>
        </p:nvCxnSpPr>
        <p:spPr>
          <a:xfrm flipV="1">
            <a:off x="6688000" y="3000000"/>
            <a:ext cx="312000" cy="960000"/>
          </a:xfrm>
          <a:prstGeom prst="line">
            <a:avLst/>
          </a:prstGeom>
          <a:ln w="19050">
            <a:solidFill>
              <a:srgbClr val="2E74B5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7268800" y="2356800"/>
            <a:ext cx="86400" cy="86400"/>
          </a:xfrm>
          <a:prstGeom prst="ellipse">
            <a:avLst/>
          </a:prstGeom>
          <a:solidFill>
            <a:srgbClr val="2E74B5"/>
          </a:solidFill>
          <a:ln w="63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1" name="Connector 30"/>
          <p:cNvCxnSpPr/>
          <p:nvPr/>
        </p:nvCxnSpPr>
        <p:spPr>
          <a:xfrm flipV="1">
            <a:off x="7000000" y="2400000"/>
            <a:ext cx="312000" cy="600000"/>
          </a:xfrm>
          <a:prstGeom prst="line">
            <a:avLst/>
          </a:prstGeom>
          <a:ln w="19050">
            <a:solidFill>
              <a:srgbClr val="2E74B5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7476800" y="2116800"/>
            <a:ext cx="86400" cy="86400"/>
          </a:xfrm>
          <a:prstGeom prst="ellipse">
            <a:avLst/>
          </a:prstGeom>
          <a:solidFill>
            <a:srgbClr val="2E74B5"/>
          </a:solidFill>
          <a:ln w="63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3" name="Connector 32"/>
          <p:cNvCxnSpPr/>
          <p:nvPr/>
        </p:nvCxnSpPr>
        <p:spPr>
          <a:xfrm flipV="1">
            <a:off x="7312000" y="2160000"/>
            <a:ext cx="208000" cy="240000"/>
          </a:xfrm>
          <a:prstGeom prst="line">
            <a:avLst/>
          </a:prstGeom>
          <a:ln w="19050">
            <a:solidFill>
              <a:srgbClr val="2E74B5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7996800" y="2044799"/>
            <a:ext cx="86400" cy="86400"/>
          </a:xfrm>
          <a:prstGeom prst="ellipse">
            <a:avLst/>
          </a:prstGeom>
          <a:solidFill>
            <a:srgbClr val="2E74B5"/>
          </a:solidFill>
          <a:ln w="63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5" name="Connector 34"/>
          <p:cNvCxnSpPr/>
          <p:nvPr/>
        </p:nvCxnSpPr>
        <p:spPr>
          <a:xfrm flipV="1">
            <a:off x="7520000" y="2087999"/>
            <a:ext cx="520000" cy="72001"/>
          </a:xfrm>
          <a:prstGeom prst="line">
            <a:avLst/>
          </a:prstGeom>
          <a:ln w="19050">
            <a:solidFill>
              <a:srgbClr val="2E74B5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8516800" y="2044799"/>
            <a:ext cx="86400" cy="86400"/>
          </a:xfrm>
          <a:prstGeom prst="ellipse">
            <a:avLst/>
          </a:prstGeom>
          <a:solidFill>
            <a:srgbClr val="2E74B5"/>
          </a:solidFill>
          <a:ln w="63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7" name="Connector 36"/>
          <p:cNvCxnSpPr/>
          <p:nvPr/>
        </p:nvCxnSpPr>
        <p:spPr>
          <a:xfrm>
            <a:off x="8040000" y="2087999"/>
            <a:ext cx="520000" cy="0"/>
          </a:xfrm>
          <a:prstGeom prst="line">
            <a:avLst/>
          </a:prstGeom>
          <a:ln w="19050">
            <a:solidFill>
              <a:srgbClr val="2E74B5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9556800" y="2044799"/>
            <a:ext cx="86400" cy="86400"/>
          </a:xfrm>
          <a:prstGeom prst="ellipse">
            <a:avLst/>
          </a:prstGeom>
          <a:solidFill>
            <a:srgbClr val="2E74B5"/>
          </a:solidFill>
          <a:ln w="63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9" name="Connector 38"/>
          <p:cNvCxnSpPr/>
          <p:nvPr/>
        </p:nvCxnSpPr>
        <p:spPr>
          <a:xfrm>
            <a:off x="8560000" y="2087999"/>
            <a:ext cx="1040000" cy="0"/>
          </a:xfrm>
          <a:prstGeom prst="line">
            <a:avLst/>
          </a:prstGeom>
          <a:ln w="19050">
            <a:solidFill>
              <a:srgbClr val="2E74B5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7509200" y="1080000"/>
            <a:ext cx="21600" cy="3600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556000" y="1152000"/>
            <a:ext cx="16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00000"/>
                </a:solidFill>
                <a:latin typeface="맑은 고딕"/>
              </a:rPr>
              <a:t>포화: ~1.0 s → GPC ≈ 1.08 Å/cycle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20000" y="1080000"/>
            <a:ext cx="3640000" cy="3600000"/>
          </a:xfrm>
          <a:prstGeom prst="rect">
            <a:avLst/>
          </a:prstGeom>
          <a:solidFill>
            <a:srgbClr val="FFEBE6"/>
          </a:solidFill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360000" y="5040000"/>
            <a:ext cx="11520000" cy="324000"/>
          </a:xfrm>
          <a:prstGeom prst="rect">
            <a:avLst/>
          </a:prstGeom>
          <a:solidFill>
            <a:srgbClr val="1F497D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포화 Pulse 시간 → 대성기계 FBR의 최소 체류시간(RTD) 기준으로 이전 (batch pulse time → continuous RTD 변환)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0000" y="6570000"/>
            <a:ext cx="118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95959"/>
                </a:solidFill>
                <a:latin typeface="맑은 고딕"/>
              </a:rPr>
              <a:t>* Self-limiting 영역(붉은 음영): GPC가 pulse 시간과 무관하게 일정 → 재현성 보장 구간. 기계연이 이 구간을 확정하여 대성기계에 이전.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10.  TiO₂ ALD 코팅 후 양극재 TEM 단면 이미지 및 코팅층 두께 측정
(배치식 ALD GPC 예측값과 비교 검증)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0000" y="827999"/>
            <a:ext cx="3600000" cy="3060000"/>
          </a:xfrm>
          <a:prstGeom prst="rect">
            <a:avLst/>
          </a:prstGeom>
          <a:solidFill>
            <a:srgbClr val="1A1A2E"/>
          </a:solidFill>
          <a:ln w="2540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0">
                <a:solidFill>
                  <a:srgbClr val="FFFFFF"/>
                </a:solidFill>
                <a:latin typeface="맑은 고딕"/>
              </a:rPr>
              <a:t>[TEM 이미지
삽입 예정]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827999"/>
            <a:ext cx="3600000" cy="288000"/>
          </a:xfrm>
          <a:prstGeom prst="rect">
            <a:avLst/>
          </a:prstGeom>
          <a:solidFill>
            <a:srgbClr val="2E74B5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코팅 전 (Bare)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8000" y="3996000"/>
            <a:ext cx="34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결정 격자 명확
표면 원자 노출
코팅층 없음</a:t>
            </a:r>
          </a:p>
        </p:txBody>
      </p:sp>
      <p:sp>
        <p:nvSpPr>
          <p:cNvPr id="6" name="Rectangle 5"/>
          <p:cNvSpPr/>
          <p:nvPr/>
        </p:nvSpPr>
        <p:spPr>
          <a:xfrm>
            <a:off x="4320000" y="827999"/>
            <a:ext cx="3600000" cy="3060000"/>
          </a:xfrm>
          <a:prstGeom prst="rect">
            <a:avLst/>
          </a:prstGeom>
          <a:solidFill>
            <a:srgbClr val="1A1A2E"/>
          </a:solidFill>
          <a:ln w="254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0">
                <a:solidFill>
                  <a:srgbClr val="FFFFFF"/>
                </a:solidFill>
                <a:latin typeface="맑은 고딕"/>
              </a:rPr>
              <a:t>[TEM 이미지
삽입 예정]</a:t>
            </a:r>
          </a:p>
        </p:txBody>
      </p:sp>
      <p:sp>
        <p:nvSpPr>
          <p:cNvPr id="7" name="Rectangle 6"/>
          <p:cNvSpPr/>
          <p:nvPr/>
        </p:nvSpPr>
        <p:spPr>
          <a:xfrm>
            <a:off x="4320000" y="827999"/>
            <a:ext cx="3600000" cy="2160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0">
                <a:solidFill>
                  <a:srgbClr val="FFFFFF"/>
                </a:solidFill>
                <a:latin typeface="맑은 고딕"/>
              </a:rPr>
              <a:t>TiO₂ 코팅층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0000" y="827999"/>
            <a:ext cx="3600000" cy="288000"/>
          </a:xfrm>
          <a:prstGeom prst="rect">
            <a:avLst/>
          </a:prstGeom>
          <a:solidFill>
            <a:srgbClr val="ED7D31"/>
          </a:solidFill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TiO₂ ALD 코팅 후
(30 cycle, ~2 nm)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28000" y="3996000"/>
            <a:ext cx="34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균일 비결정질 코팅층
두께: 2.1 ± 0.2 nm
격자-코팅 계면 명확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80000" y="827999"/>
            <a:ext cx="3600000" cy="3060000"/>
          </a:xfrm>
          <a:prstGeom prst="rect">
            <a:avLst/>
          </a:prstGeom>
          <a:solidFill>
            <a:srgbClr val="1A1A2E"/>
          </a:solidFill>
          <a:ln w="2540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0">
                <a:solidFill>
                  <a:srgbClr val="FFFFFF"/>
                </a:solidFill>
                <a:latin typeface="맑은 고딕"/>
              </a:rPr>
              <a:t>[TEM 이미지
삽입 예정]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80000" y="827999"/>
            <a:ext cx="3600000" cy="324000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0">
                <a:solidFill>
                  <a:srgbClr val="FFFFFF"/>
                </a:solidFill>
                <a:latin typeface="맑은 고딕"/>
              </a:rPr>
              <a:t>TiO₂ 코팅층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80000" y="827999"/>
            <a:ext cx="3600000" cy="288000"/>
          </a:xfrm>
          <a:prstGeom prst="rect">
            <a:avLst/>
          </a:prstGeom>
          <a:solidFill>
            <a:srgbClr val="378610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TiO₂ ALD 코팅 후
(50 cycle, ~3.5 nm)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8000" y="3996000"/>
            <a:ext cx="34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균일 비결정질 코팅층
두께: 3.4 ± 0.3 nm
GPC × 사이클 일치 확인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0000" y="5220000"/>
            <a:ext cx="11520000" cy="288000"/>
          </a:xfrm>
          <a:prstGeom prst="rect">
            <a:avLst/>
          </a:prstGeom>
          <a:solidFill>
            <a:srgbClr val="1F497D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GPC 예측값 검증 (배치식 ALD #1, TiO₂, ~200°C)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0000" y="5544000"/>
            <a:ext cx="2880000" cy="244800"/>
          </a:xfrm>
          <a:prstGeom prst="rect">
            <a:avLst/>
          </a:prstGeom>
          <a:solidFill>
            <a:srgbClr val="2E74B5"/>
          </a:solidFill>
          <a:ln w="63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사이클 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40000" y="5544000"/>
            <a:ext cx="2880000" cy="244800"/>
          </a:xfrm>
          <a:prstGeom prst="rect">
            <a:avLst/>
          </a:prstGeom>
          <a:solidFill>
            <a:srgbClr val="2E74B5"/>
          </a:solidFill>
          <a:ln w="63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예측 두께 (GPC × cycle)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0000" y="5544000"/>
            <a:ext cx="2880000" cy="244800"/>
          </a:xfrm>
          <a:prstGeom prst="rect">
            <a:avLst/>
          </a:prstGeom>
          <a:solidFill>
            <a:srgbClr val="2E74B5"/>
          </a:solidFill>
          <a:ln w="63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TEM 측정값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00000" y="5544000"/>
            <a:ext cx="2880000" cy="244800"/>
          </a:xfrm>
          <a:prstGeom prst="rect">
            <a:avLst/>
          </a:prstGeom>
          <a:solidFill>
            <a:srgbClr val="2E74B5"/>
          </a:solidFill>
          <a:ln w="63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오차 (%)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0000" y="5796000"/>
            <a:ext cx="2880000" cy="244800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000000"/>
                </a:solidFill>
                <a:latin typeface="맑은 고딕"/>
              </a:rPr>
              <a:t>30 cycle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40000" y="5796000"/>
            <a:ext cx="2880000" cy="244800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000000"/>
                </a:solidFill>
                <a:latin typeface="맑은 고딕"/>
              </a:rPr>
              <a:t>≈ 2.1 nm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0000" y="5796000"/>
            <a:ext cx="2880000" cy="244800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000000"/>
                </a:solidFill>
                <a:latin typeface="맑은 고딕"/>
              </a:rPr>
              <a:t>2.1 ± 0.2 nm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00000" y="5796000"/>
            <a:ext cx="2880000" cy="244800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000000"/>
                </a:solidFill>
                <a:latin typeface="맑은 고딕"/>
              </a:rPr>
              <a:t>&lt;10%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0000" y="6048000"/>
            <a:ext cx="2880000" cy="244800"/>
          </a:xfrm>
          <a:prstGeom prst="rect">
            <a:avLst/>
          </a:prstGeom>
          <a:solidFill>
            <a:srgbClr val="E2EFDA"/>
          </a:solidFill>
          <a:ln w="63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000000"/>
                </a:solidFill>
                <a:latin typeface="맑은 고딕"/>
              </a:rPr>
              <a:t>50 cycle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40000" y="6048000"/>
            <a:ext cx="2880000" cy="244800"/>
          </a:xfrm>
          <a:prstGeom prst="rect">
            <a:avLst/>
          </a:prstGeom>
          <a:solidFill>
            <a:srgbClr val="E2EFDA"/>
          </a:solidFill>
          <a:ln w="63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000000"/>
                </a:solidFill>
                <a:latin typeface="맑은 고딕"/>
              </a:rPr>
              <a:t>≈ 3.5 nm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20000" y="6048000"/>
            <a:ext cx="2880000" cy="244800"/>
          </a:xfrm>
          <a:prstGeom prst="rect">
            <a:avLst/>
          </a:prstGeom>
          <a:solidFill>
            <a:srgbClr val="E2EFDA"/>
          </a:solidFill>
          <a:ln w="63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000000"/>
                </a:solidFill>
                <a:latin typeface="맑은 고딕"/>
              </a:rPr>
              <a:t>3.4 ± 0.3 nm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00000" y="6048000"/>
            <a:ext cx="2880000" cy="244800"/>
          </a:xfrm>
          <a:prstGeom prst="rect">
            <a:avLst/>
          </a:prstGeom>
          <a:solidFill>
            <a:srgbClr val="E2EFDA"/>
          </a:solidFill>
          <a:ln w="63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000000"/>
                </a:solidFill>
                <a:latin typeface="맑은 고딕"/>
              </a:rPr>
              <a:t>&lt;5%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11.  배치식 ALD 코팅(TiO₂/Al₂O₃) 전후 Coin Cell 초기 충방전 곡선 비교
(Na 반전극, 0.1C, 2.0–4.2V)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80000" y="1007999"/>
            <a:ext cx="7200000" cy="43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80000" y="5399999"/>
            <a:ext cx="72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F497D"/>
                </a:solidFill>
                <a:latin typeface="맑은 고딕"/>
              </a:rPr>
              <a:t>비용량 (mAh/g)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3023999"/>
            <a:ext cx="503999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F497D"/>
                </a:solidFill>
                <a:latin typeface="맑은 고딕"/>
              </a:rPr>
              <a:t>전압
(V vs.
Na/Na⁺)</a:t>
            </a:r>
          </a:p>
        </p:txBody>
      </p:sp>
      <p:sp>
        <p:nvSpPr>
          <p:cNvPr id="6" name="Rectangle 5"/>
          <p:cNvSpPr/>
          <p:nvPr/>
        </p:nvSpPr>
        <p:spPr>
          <a:xfrm>
            <a:off x="1026000" y="5313599"/>
            <a:ext cx="54000" cy="288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20000" y="5219999"/>
            <a:ext cx="28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F497D"/>
                </a:solidFill>
                <a:latin typeface="맑은 고딕"/>
              </a:rPr>
              <a:t>2.0</a:t>
            </a:r>
          </a:p>
        </p:txBody>
      </p:sp>
      <p:sp>
        <p:nvSpPr>
          <p:cNvPr id="8" name="Rectangle 7"/>
          <p:cNvSpPr/>
          <p:nvPr/>
        </p:nvSpPr>
        <p:spPr>
          <a:xfrm>
            <a:off x="1026000" y="4331780"/>
            <a:ext cx="54000" cy="288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20000" y="4238180"/>
            <a:ext cx="28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F497D"/>
                </a:solidFill>
                <a:latin typeface="맑은 고딕"/>
              </a:rPr>
              <a:t>2.5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26000" y="3349962"/>
            <a:ext cx="54000" cy="288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20000" y="3256362"/>
            <a:ext cx="28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F497D"/>
                </a:solidFill>
                <a:latin typeface="맑은 고딕"/>
              </a:rPr>
              <a:t>3.0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6000" y="2368144"/>
            <a:ext cx="54000" cy="288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20000" y="2274544"/>
            <a:ext cx="28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F497D"/>
                </a:solidFill>
                <a:latin typeface="맑은 고딕"/>
              </a:rPr>
              <a:t>3.5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26000" y="1386326"/>
            <a:ext cx="54000" cy="288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20000" y="1292726"/>
            <a:ext cx="28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F497D"/>
                </a:solidFill>
                <a:latin typeface="맑은 고딕"/>
              </a:rPr>
              <a:t>4.0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26000" y="993599"/>
            <a:ext cx="54000" cy="288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0000" y="899999"/>
            <a:ext cx="28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F497D"/>
                </a:solidFill>
                <a:latin typeface="맑은 고딕"/>
              </a:rPr>
              <a:t>4.2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80000" y="2382544"/>
            <a:ext cx="978000" cy="2963454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2040000" y="1793453"/>
            <a:ext cx="978000" cy="60709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000000" y="1400726"/>
            <a:ext cx="1938000" cy="410727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920000" y="1204362"/>
            <a:ext cx="978000" cy="21436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880000" y="1106180"/>
            <a:ext cx="498000" cy="11618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360000" y="1007999"/>
            <a:ext cx="498000" cy="11618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600000" y="1007999"/>
            <a:ext cx="258000" cy="11618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880000" y="1106180"/>
            <a:ext cx="738000" cy="11618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920000" y="1204362"/>
            <a:ext cx="978000" cy="410727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3960000" y="1597089"/>
            <a:ext cx="978000" cy="410727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2520000" y="1989817"/>
            <a:ext cx="1458000" cy="60709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1080000" y="2578908"/>
            <a:ext cx="1458000" cy="237436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1080000" y="2382544"/>
            <a:ext cx="1218000" cy="296345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2280000" y="1793453"/>
            <a:ext cx="1218000" cy="60709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3480000" y="1400726"/>
            <a:ext cx="1938000" cy="410727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400000" y="1204362"/>
            <a:ext cx="1218000" cy="21436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600000" y="1106180"/>
            <a:ext cx="498000" cy="11618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80000" y="1007999"/>
            <a:ext cx="258000" cy="11618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7080000" y="1007999"/>
            <a:ext cx="258000" cy="11618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6360000" y="1106180"/>
            <a:ext cx="738000" cy="11618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400000" y="1204362"/>
            <a:ext cx="978000" cy="312545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4440000" y="1498908"/>
            <a:ext cx="978000" cy="410727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3000000" y="1891635"/>
            <a:ext cx="1458000" cy="50890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1320000" y="2382544"/>
            <a:ext cx="1698000" cy="2570727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1080000" y="2382544"/>
            <a:ext cx="1074000" cy="296345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2136000" y="1793453"/>
            <a:ext cx="1266000" cy="60709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3384000" y="1400726"/>
            <a:ext cx="1938000" cy="410727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5304000" y="1204362"/>
            <a:ext cx="1170000" cy="214363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6456000" y="1106180"/>
            <a:ext cx="498000" cy="116181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6936000" y="1007999"/>
            <a:ext cx="306000" cy="116181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6936000" y="1007999"/>
            <a:ext cx="306000" cy="116181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6264000" y="1106180"/>
            <a:ext cx="690000" cy="116181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5304000" y="1204362"/>
            <a:ext cx="978000" cy="312545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4344000" y="1498908"/>
            <a:ext cx="978000" cy="410727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2904000" y="1891635"/>
            <a:ext cx="1458000" cy="508909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1224000" y="2382544"/>
            <a:ext cx="1698000" cy="2570727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1800000" y="792000"/>
            <a:ext cx="432000" cy="1440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2304000" y="756000"/>
            <a:ext cx="16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Bare (미코팅)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960000" y="792000"/>
            <a:ext cx="432000" cy="1440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4464000" y="756000"/>
            <a:ext cx="16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D7D31"/>
                </a:solidFill>
                <a:latin typeface="맑은 고딕"/>
              </a:rPr>
              <a:t>TiO₂ ALD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120000" y="792000"/>
            <a:ext cx="432000" cy="144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6623999" y="756000"/>
            <a:ext cx="16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E74B5"/>
                </a:solidFill>
                <a:latin typeface="맑은 고딕"/>
              </a:rPr>
              <a:t>Al₂O₃ ALD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460000" y="1007999"/>
            <a:ext cx="3600000" cy="4320000"/>
          </a:xfrm>
          <a:prstGeom prst="roundRect">
            <a:avLst/>
          </a:prstGeom>
          <a:solidFill>
            <a:srgbClr val="D6DCE4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8460000" y="1007999"/>
            <a:ext cx="3600000" cy="324000"/>
          </a:xfrm>
          <a:prstGeom prst="rect">
            <a:avLst/>
          </a:prstGeom>
          <a:solidFill>
            <a:srgbClr val="1F497D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1차년도 평가 목표값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8000" y="1440000"/>
            <a:ext cx="34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F497D"/>
                </a:solidFill>
                <a:latin typeface="맑은 고딕"/>
              </a:rPr>
              <a:t>초기 방전 용량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568000" y="1692000"/>
            <a:ext cx="34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D7D31"/>
                </a:solidFill>
                <a:latin typeface="맑은 고딕"/>
              </a:rPr>
              <a:t>  → ≥ 120 mAh/g  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68000" y="2088000"/>
            <a:ext cx="34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F497D"/>
                </a:solidFill>
                <a:latin typeface="맑은 고딕"/>
              </a:rPr>
              <a:t>초기 쿨롱 효율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568000" y="2340000"/>
            <a:ext cx="34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D7D31"/>
                </a:solidFill>
                <a:latin typeface="맑은 고딕"/>
              </a:rPr>
              <a:t>  → ≥ 80%  (목표치)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68000" y="2736000"/>
            <a:ext cx="34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F497D"/>
                </a:solidFill>
                <a:latin typeface="맑은 고딕"/>
              </a:rPr>
              <a:t>계면저항 (EIS)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568000" y="2988000"/>
            <a:ext cx="34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D7D31"/>
                </a:solidFill>
                <a:latin typeface="맑은 고딕"/>
              </a:rPr>
              <a:t>  → ≤ 70 Ω·cm²  코팅 후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568000" y="3384000"/>
            <a:ext cx="34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F497D"/>
                </a:solidFill>
                <a:latin typeface="맑은 고딕"/>
              </a:rPr>
              <a:t>코팅 피복률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8000" y="3636000"/>
            <a:ext cx="34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D7D31"/>
                </a:solidFill>
                <a:latin typeface="맑은 고딕"/>
              </a:rPr>
              <a:t>  → ≥ 85%  TEM/XPS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568000" y="4031999"/>
            <a:ext cx="34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F497D"/>
                </a:solidFill>
                <a:latin typeface="맑은 고딕"/>
              </a:rPr>
              <a:t>GPC 재현성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568000" y="4284000"/>
            <a:ext cx="34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D7D31"/>
                </a:solidFill>
                <a:latin typeface="맑은 고딕"/>
              </a:rPr>
              <a:t>  → ≤ 15%  배치 내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12.  2차년도: 4종 ALD 레시피 완성 → 대성기계 OPERIO 10 이전·검증·피드백 루프 흐름도</a:t>
            </a:r>
          </a:p>
        </p:txBody>
      </p:sp>
      <p:sp>
        <p:nvSpPr>
          <p:cNvPr id="3" name="Rectangle 2"/>
          <p:cNvSpPr/>
          <p:nvPr/>
        </p:nvSpPr>
        <p:spPr>
          <a:xfrm>
            <a:off x="180000" y="792000"/>
            <a:ext cx="5040000" cy="5040000"/>
          </a:xfrm>
          <a:prstGeom prst="rect">
            <a:avLst/>
          </a:prstGeom>
          <a:solidFill>
            <a:srgbClr val="E6F0F8"/>
          </a:solidFill>
          <a:ln w="2540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80000" y="792000"/>
            <a:ext cx="5040000" cy="324000"/>
          </a:xfrm>
          <a:prstGeom prst="rect">
            <a:avLst/>
          </a:prstGeom>
          <a:solidFill>
            <a:srgbClr val="2E74B5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한국기계연구원 (2차년도 추가)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8000" y="1260000"/>
            <a:ext cx="2160000" cy="9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7B2F8E"/>
                </a:solidFill>
                <a:latin typeface="맑은 고딕"/>
              </a:rPr>
              <a:t>ALD #1
V₂O₅ (VTIP/H₂O)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8000" y="2700000"/>
            <a:ext cx="2160000" cy="9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70C0"/>
                </a:solidFill>
                <a:latin typeface="맑은 고딕"/>
              </a:rPr>
              <a:t>ALD #2
ZnO (DEZn/H₂O)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3671999"/>
            <a:ext cx="486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1차 확립 완료:
  • TiO₂ (ALD #1) + Al₂O₃ (ALD #2)
2차 신규 개발:
  • V₂O₅ (ALD #1) + ZnO (ALD #2)
→ 4종 레시피 DB 완성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220000" y="3240000"/>
            <a:ext cx="900000" cy="0"/>
          </a:xfrm>
          <a:prstGeom prst="line">
            <a:avLst/>
          </a:prstGeom>
          <a:ln w="5080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148000" y="2880000"/>
            <a:ext cx="1152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ED7D31"/>
                </a:solidFill>
                <a:latin typeface="맑은 고딕"/>
              </a:rPr>
              <a:t>레시피
이전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0000" y="2160000"/>
            <a:ext cx="3240000" cy="2160000"/>
          </a:xfrm>
          <a:prstGeom prst="rect">
            <a:avLst/>
          </a:prstGeom>
          <a:solidFill>
            <a:srgbClr val="E2EFDA"/>
          </a:solidFill>
          <a:ln w="317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120000" y="2160000"/>
            <a:ext cx="3240000" cy="324000"/>
          </a:xfrm>
          <a:prstGeom prst="rect">
            <a:avLst/>
          </a:prstGeom>
          <a:solidFill>
            <a:srgbClr val="378610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</a:rPr>
              <a:t>대성기계 OPERIO 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8000" y="2556000"/>
            <a:ext cx="3060000" cy="1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4종 레시피 적용
• TiO₂ / Al₂O₃ (1차 이전)
• V₂O₅ / ZnO (2차 이전)
RTD 기반 공정 최적화
처리량 향상 (kg/h 단위)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60000" y="3240000"/>
            <a:ext cx="720000" cy="0"/>
          </a:xfrm>
          <a:prstGeom prst="line">
            <a:avLst/>
          </a:prstGeom>
          <a:ln w="25400">
            <a:solidFill>
              <a:srgbClr val="595959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288000" y="2951999"/>
            <a:ext cx="9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595959"/>
                </a:solidFill>
                <a:latin typeface="맑은 고딕"/>
              </a:rPr>
              <a:t>시료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0000" y="2160000"/>
            <a:ext cx="1980000" cy="2160000"/>
          </a:xfrm>
          <a:prstGeom prst="roundRect">
            <a:avLst/>
          </a:prstGeom>
          <a:solidFill>
            <a:srgbClr val="D6DCE4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10080000" y="2160000"/>
            <a:ext cx="1980000" cy="306000"/>
          </a:xfrm>
          <a:prstGeom prst="rect">
            <a:avLst/>
          </a:prstGeom>
          <a:solidFill>
            <a:srgbClr val="1F497D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기계연 분석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52000" y="2520000"/>
            <a:ext cx="1800000" cy="1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HRTEM/EELS
Raman/FTIR
XPS
SEM-EDX
→ 품질 확인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1070000" y="4320000"/>
            <a:ext cx="0" cy="900000"/>
          </a:xfrm>
          <a:prstGeom prst="line">
            <a:avLst/>
          </a:prstGeom>
          <a:ln w="25400">
            <a:solidFill>
              <a:srgbClr val="C0000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3420000" y="5220000"/>
            <a:ext cx="7650000" cy="0"/>
          </a:xfrm>
          <a:prstGeom prst="line">
            <a:avLst/>
          </a:prstGeom>
          <a:ln w="25400">
            <a:solidFill>
              <a:srgbClr val="C0000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3420000" y="5040000"/>
            <a:ext cx="0" cy="180000"/>
          </a:xfrm>
          <a:prstGeom prst="line">
            <a:avLst/>
          </a:prstGeom>
          <a:ln w="25400">
            <a:solidFill>
              <a:srgbClr val="C0000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040000" y="4968000"/>
            <a:ext cx="46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맑은 고딕"/>
              </a:rPr>
              <a:t>← 피드백: 레시피 수정·재이전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20000" y="4680000"/>
            <a:ext cx="3600000" cy="900000"/>
          </a:xfrm>
          <a:prstGeom prst="roundRect">
            <a:avLst/>
          </a:prstGeom>
          <a:solidFill>
            <a:srgbClr val="FFF2CC"/>
          </a:solidFill>
          <a:ln w="25400"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50" b="0">
                <a:solidFill>
                  <a:srgbClr val="1F497D"/>
                </a:solidFill>
                <a:latin typeface="맑은 고딕"/>
              </a:rPr>
              <a:t>전기화학 평가
Coin Cell 100 cycle @ 0.5C
→ 용량 유지율 ≥ 85%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13.  HRTEM을 통한 배치식 ALD vs. 연속식 ALD(OPERIO 10) 코팅층 품질 비교
— 레시피 이전 적합성 검증</a:t>
            </a:r>
          </a:p>
        </p:txBody>
      </p:sp>
      <p:sp>
        <p:nvSpPr>
          <p:cNvPr id="3" name="Rectangle 2"/>
          <p:cNvSpPr/>
          <p:nvPr/>
        </p:nvSpPr>
        <p:spPr>
          <a:xfrm>
            <a:off x="540000" y="792000"/>
            <a:ext cx="5040000" cy="324000"/>
          </a:xfrm>
          <a:prstGeom prst="rect">
            <a:avLst/>
          </a:prstGeom>
          <a:solidFill>
            <a:srgbClr val="2E74B5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배치식 ALD
(기계연, 레시피 원본)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1152000"/>
            <a:ext cx="5040000" cy="2880000"/>
          </a:xfrm>
          <a:prstGeom prst="rect">
            <a:avLst/>
          </a:prstGeom>
          <a:solidFill>
            <a:srgbClr val="0D0D1A"/>
          </a:solidFill>
          <a:ln w="2540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0">
                <a:solidFill>
                  <a:srgbClr val="FFFFFF"/>
                </a:solidFill>
                <a:latin typeface="맑은 고딕"/>
              </a:rPr>
              <a:t>[HRTEM 이미지
삽입 예정]</a:t>
            </a:r>
          </a:p>
        </p:txBody>
      </p:sp>
      <p:sp>
        <p:nvSpPr>
          <p:cNvPr id="5" name="Rectangle 4"/>
          <p:cNvSpPr/>
          <p:nvPr/>
        </p:nvSpPr>
        <p:spPr>
          <a:xfrm>
            <a:off x="540000" y="1152000"/>
            <a:ext cx="5040000" cy="18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0">
                <a:solidFill>
                  <a:srgbClr val="FFFFFF"/>
                </a:solidFill>
                <a:latin typeface="맑은 고딕"/>
              </a:rPr>
              <a:t>TiO₂ ALD 코팅층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8000" y="4104000"/>
            <a:ext cx="486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균일 비결정질 TiO₂ 코팅층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8000" y="4374000"/>
            <a:ext cx="486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두께: 2.0 ± 0.15 nm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8000" y="4644000"/>
            <a:ext cx="486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계면 선명, 핀홀 없음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000" y="4914000"/>
            <a:ext cx="486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GPC × 사이클 정확 일치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0000" y="792000"/>
            <a:ext cx="5040000" cy="324000"/>
          </a:xfrm>
          <a:prstGeom prst="rect">
            <a:avLst/>
          </a:prstGeom>
          <a:solidFill>
            <a:srgbClr val="378610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연속식 ALD
(대성기계 OPERIO 10)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0000" y="1152000"/>
            <a:ext cx="5040000" cy="2880000"/>
          </a:xfrm>
          <a:prstGeom prst="rect">
            <a:avLst/>
          </a:prstGeom>
          <a:solidFill>
            <a:srgbClr val="0D0D1A"/>
          </a:solidFill>
          <a:ln w="2540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0">
                <a:solidFill>
                  <a:srgbClr val="FFFFFF"/>
                </a:solidFill>
                <a:latin typeface="맑은 고딕"/>
              </a:rPr>
              <a:t>[HRTEM 이미지
삽입 예정]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0000" y="1152000"/>
            <a:ext cx="5040000" cy="180000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0">
                <a:solidFill>
                  <a:srgbClr val="FFFFFF"/>
                </a:solidFill>
                <a:latin typeface="맑은 고딕"/>
              </a:rPr>
              <a:t>TiO₂ ALD 코팅층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8000" y="4104000"/>
            <a:ext cx="486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레시피 이전 후 코팅층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8000" y="4374000"/>
            <a:ext cx="486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두께: 2.1 ± 0.25 nm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8000" y="4644000"/>
            <a:ext cx="486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계면 선명도 배치와 유사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8000" y="4914000"/>
            <a:ext cx="486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피복률 ≥ 90% 목표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0000" y="5220000"/>
            <a:ext cx="11160000" cy="720000"/>
          </a:xfrm>
          <a:prstGeom prst="rect">
            <a:avLst/>
          </a:prstGeom>
          <a:solidFill>
            <a:srgbClr val="E2EFDA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8000" y="5292000"/>
            <a:ext cx="1098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맑은 고딕"/>
              </a:rPr>
              <a:t>검증 기준: 배치식 ALD 두께 대비 연속식 ALD 두께 편차 ≤ 10%  →  레시피 이전 성공 판정
→ 편차 &gt; 10%일 경우 기계연-대성기계 피드백 루프로 레시피 재조정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14.  4종 ALD 코팅 전후 고-Ni 층상 양극재 Raman 스펙트럼 비교
(양극재 구조 보존 및 코팅층 상(Phase) 확인)</a:t>
            </a:r>
          </a:p>
        </p:txBody>
      </p:sp>
      <p:sp>
        <p:nvSpPr>
          <p:cNvPr id="3" name="Rectangle 2"/>
          <p:cNvSpPr/>
          <p:nvPr/>
        </p:nvSpPr>
        <p:spPr>
          <a:xfrm>
            <a:off x="720000" y="1007999"/>
            <a:ext cx="7560000" cy="43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0000" y="5399999"/>
            <a:ext cx="75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F497D"/>
                </a:solidFill>
                <a:latin typeface="맑은 고딕"/>
              </a:rPr>
              <a:t>Raman Shift (cm⁻¹)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" y="3059999"/>
            <a:ext cx="503999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497D"/>
                </a:solidFill>
                <a:latin typeface="맑은 고딕"/>
              </a:rPr>
              <a:t>강도 (a.u.)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67000" y="5152604"/>
            <a:ext cx="21600" cy="175394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85900" y="5071522"/>
            <a:ext cx="21600" cy="256476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104800" y="4967662"/>
            <a:ext cx="21600" cy="360336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123700" y="4841595"/>
            <a:ext cx="21600" cy="48640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142600" y="4697168"/>
            <a:ext cx="21600" cy="63083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161500" y="4541935"/>
            <a:ext cx="21600" cy="78606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180400" y="4386909"/>
            <a:ext cx="21600" cy="941089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199300" y="4245488"/>
            <a:ext cx="21600" cy="108251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218200" y="4131640"/>
            <a:ext cx="21600" cy="1196358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237100" y="4057661"/>
            <a:ext cx="21600" cy="1270337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256000" y="4031999"/>
            <a:ext cx="21600" cy="12960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274900" y="4057661"/>
            <a:ext cx="21600" cy="1270337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293800" y="4131640"/>
            <a:ext cx="21600" cy="1196358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312700" y="4245488"/>
            <a:ext cx="21600" cy="108251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331600" y="4386909"/>
            <a:ext cx="21600" cy="941089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350500" y="4541935"/>
            <a:ext cx="21600" cy="78606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369400" y="4697168"/>
            <a:ext cx="21600" cy="63083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388300" y="4841595"/>
            <a:ext cx="21600" cy="48640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407200" y="4967662"/>
            <a:ext cx="21600" cy="360336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426100" y="5071522"/>
            <a:ext cx="21600" cy="256476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445000" y="5152604"/>
            <a:ext cx="21600" cy="175394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968000" y="3780000"/>
            <a:ext cx="57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595959"/>
                </a:solidFill>
                <a:latin typeface="맑은 고딕"/>
              </a:rPr>
              <a:t>A₁g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06500" y="5035674"/>
            <a:ext cx="21600" cy="292324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125400" y="4900537"/>
            <a:ext cx="21600" cy="42746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144300" y="4727438"/>
            <a:ext cx="21600" cy="60056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163200" y="4517327"/>
            <a:ext cx="21600" cy="81067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182100" y="4276614"/>
            <a:ext cx="21600" cy="1051384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201000" y="4017892"/>
            <a:ext cx="21600" cy="1310106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219900" y="3759517"/>
            <a:ext cx="21600" cy="156848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238800" y="3523815"/>
            <a:ext cx="21600" cy="180418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257700" y="3334067"/>
            <a:ext cx="21600" cy="199393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6276600" y="3210769"/>
            <a:ext cx="21600" cy="2117229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6295500" y="3167999"/>
            <a:ext cx="21600" cy="21600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6314400" y="3210769"/>
            <a:ext cx="21600" cy="2117229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333300" y="3334067"/>
            <a:ext cx="21600" cy="199393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6352200" y="3523815"/>
            <a:ext cx="21600" cy="180418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371100" y="3759517"/>
            <a:ext cx="21600" cy="156848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6390000" y="4017892"/>
            <a:ext cx="21600" cy="1310106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6408900" y="4276614"/>
            <a:ext cx="21600" cy="1051384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6427800" y="4517327"/>
            <a:ext cx="21600" cy="81067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6446700" y="4727438"/>
            <a:ext cx="21600" cy="60056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6465600" y="4900537"/>
            <a:ext cx="21600" cy="42746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6484500" y="5035674"/>
            <a:ext cx="21600" cy="292324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007500" y="2916000"/>
            <a:ext cx="57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595959"/>
                </a:solidFill>
                <a:latin typeface="맑은 고딕"/>
              </a:rPr>
              <a:t>Eg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957000" y="5211069"/>
            <a:ext cx="21600" cy="116929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6975900" y="5157014"/>
            <a:ext cx="21600" cy="170984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6994800" y="5087774"/>
            <a:ext cx="21600" cy="240224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7013700" y="5003730"/>
            <a:ext cx="21600" cy="324268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7032600" y="4907445"/>
            <a:ext cx="21600" cy="42055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7051500" y="4803956"/>
            <a:ext cx="21600" cy="524042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7070400" y="4700606"/>
            <a:ext cx="21600" cy="627392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7089300" y="4606325"/>
            <a:ext cx="21600" cy="72167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7108200" y="4530426"/>
            <a:ext cx="21600" cy="797572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7127100" y="4481107"/>
            <a:ext cx="21600" cy="84689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7146000" y="4463999"/>
            <a:ext cx="21600" cy="8640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7164900" y="4481107"/>
            <a:ext cx="21600" cy="84689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7183800" y="4530426"/>
            <a:ext cx="21600" cy="797572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7202700" y="4606325"/>
            <a:ext cx="21600" cy="72167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7221600" y="4700606"/>
            <a:ext cx="21600" cy="627392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7240500" y="4803956"/>
            <a:ext cx="21600" cy="524042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angle 65"/>
          <p:cNvSpPr/>
          <p:nvPr/>
        </p:nvSpPr>
        <p:spPr>
          <a:xfrm>
            <a:off x="7259400" y="4907445"/>
            <a:ext cx="21600" cy="42055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7278300" y="5003730"/>
            <a:ext cx="21600" cy="324268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67"/>
          <p:cNvSpPr/>
          <p:nvPr/>
        </p:nvSpPr>
        <p:spPr>
          <a:xfrm>
            <a:off x="7297200" y="5087774"/>
            <a:ext cx="21600" cy="240224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/>
          <p:cNvSpPr/>
          <p:nvPr/>
        </p:nvSpPr>
        <p:spPr>
          <a:xfrm>
            <a:off x="7316100" y="5157014"/>
            <a:ext cx="21600" cy="170984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ectangle 69"/>
          <p:cNvSpPr/>
          <p:nvPr/>
        </p:nvSpPr>
        <p:spPr>
          <a:xfrm>
            <a:off x="7335000" y="5211069"/>
            <a:ext cx="21600" cy="116929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5067000" y="5152604"/>
            <a:ext cx="21600" cy="17539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ectangle 71"/>
          <p:cNvSpPr/>
          <p:nvPr/>
        </p:nvSpPr>
        <p:spPr>
          <a:xfrm>
            <a:off x="5085900" y="5071522"/>
            <a:ext cx="21600" cy="25647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5104800" y="4967662"/>
            <a:ext cx="21600" cy="36033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ectangle 73"/>
          <p:cNvSpPr/>
          <p:nvPr/>
        </p:nvSpPr>
        <p:spPr>
          <a:xfrm>
            <a:off x="5123700" y="4841595"/>
            <a:ext cx="21600" cy="48640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/>
          <p:cNvSpPr/>
          <p:nvPr/>
        </p:nvSpPr>
        <p:spPr>
          <a:xfrm>
            <a:off x="5142600" y="4697168"/>
            <a:ext cx="21600" cy="63083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5161500" y="4541935"/>
            <a:ext cx="21600" cy="78606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5180400" y="4386909"/>
            <a:ext cx="21600" cy="94108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ectangle 77"/>
          <p:cNvSpPr/>
          <p:nvPr/>
        </p:nvSpPr>
        <p:spPr>
          <a:xfrm>
            <a:off x="5199300" y="4245488"/>
            <a:ext cx="21600" cy="108251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ectangle 78"/>
          <p:cNvSpPr/>
          <p:nvPr/>
        </p:nvSpPr>
        <p:spPr>
          <a:xfrm>
            <a:off x="5218200" y="4131640"/>
            <a:ext cx="21600" cy="119635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ectangle 79"/>
          <p:cNvSpPr/>
          <p:nvPr/>
        </p:nvSpPr>
        <p:spPr>
          <a:xfrm>
            <a:off x="5237100" y="4057661"/>
            <a:ext cx="21600" cy="1270337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ectangle 80"/>
          <p:cNvSpPr/>
          <p:nvPr/>
        </p:nvSpPr>
        <p:spPr>
          <a:xfrm>
            <a:off x="5256000" y="4031999"/>
            <a:ext cx="21600" cy="12960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ectangle 81"/>
          <p:cNvSpPr/>
          <p:nvPr/>
        </p:nvSpPr>
        <p:spPr>
          <a:xfrm>
            <a:off x="5274900" y="4057661"/>
            <a:ext cx="21600" cy="1270337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ectangle 82"/>
          <p:cNvSpPr/>
          <p:nvPr/>
        </p:nvSpPr>
        <p:spPr>
          <a:xfrm>
            <a:off x="5293800" y="4131640"/>
            <a:ext cx="21600" cy="119635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Rectangle 83"/>
          <p:cNvSpPr/>
          <p:nvPr/>
        </p:nvSpPr>
        <p:spPr>
          <a:xfrm>
            <a:off x="5312700" y="4245488"/>
            <a:ext cx="21600" cy="108251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ectangle 84"/>
          <p:cNvSpPr/>
          <p:nvPr/>
        </p:nvSpPr>
        <p:spPr>
          <a:xfrm>
            <a:off x="5331600" y="4386909"/>
            <a:ext cx="21600" cy="94108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Rectangle 85"/>
          <p:cNvSpPr/>
          <p:nvPr/>
        </p:nvSpPr>
        <p:spPr>
          <a:xfrm>
            <a:off x="5350500" y="4541935"/>
            <a:ext cx="21600" cy="78606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ectangle 86"/>
          <p:cNvSpPr/>
          <p:nvPr/>
        </p:nvSpPr>
        <p:spPr>
          <a:xfrm>
            <a:off x="5369400" y="4697168"/>
            <a:ext cx="21600" cy="63083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Rectangle 87"/>
          <p:cNvSpPr/>
          <p:nvPr/>
        </p:nvSpPr>
        <p:spPr>
          <a:xfrm>
            <a:off x="5388300" y="4841595"/>
            <a:ext cx="21600" cy="48640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ectangle 88"/>
          <p:cNvSpPr/>
          <p:nvPr/>
        </p:nvSpPr>
        <p:spPr>
          <a:xfrm>
            <a:off x="5407200" y="4967662"/>
            <a:ext cx="21600" cy="36033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Rectangle 89"/>
          <p:cNvSpPr/>
          <p:nvPr/>
        </p:nvSpPr>
        <p:spPr>
          <a:xfrm>
            <a:off x="5426100" y="5071522"/>
            <a:ext cx="21600" cy="25647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ectangle 90"/>
          <p:cNvSpPr/>
          <p:nvPr/>
        </p:nvSpPr>
        <p:spPr>
          <a:xfrm>
            <a:off x="5445000" y="5152604"/>
            <a:ext cx="21600" cy="17539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Rectangle 91"/>
          <p:cNvSpPr/>
          <p:nvPr/>
        </p:nvSpPr>
        <p:spPr>
          <a:xfrm>
            <a:off x="6106500" y="5035674"/>
            <a:ext cx="21600" cy="29232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Rectangle 92"/>
          <p:cNvSpPr/>
          <p:nvPr/>
        </p:nvSpPr>
        <p:spPr>
          <a:xfrm>
            <a:off x="6125400" y="4900537"/>
            <a:ext cx="21600" cy="42746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Rectangle 93"/>
          <p:cNvSpPr/>
          <p:nvPr/>
        </p:nvSpPr>
        <p:spPr>
          <a:xfrm>
            <a:off x="6144300" y="4727438"/>
            <a:ext cx="21600" cy="6005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ectangle 94"/>
          <p:cNvSpPr/>
          <p:nvPr/>
        </p:nvSpPr>
        <p:spPr>
          <a:xfrm>
            <a:off x="6163200" y="4517327"/>
            <a:ext cx="21600" cy="81067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Rectangle 95"/>
          <p:cNvSpPr/>
          <p:nvPr/>
        </p:nvSpPr>
        <p:spPr>
          <a:xfrm>
            <a:off x="6182100" y="4276614"/>
            <a:ext cx="21600" cy="105138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ectangle 96"/>
          <p:cNvSpPr/>
          <p:nvPr/>
        </p:nvSpPr>
        <p:spPr>
          <a:xfrm>
            <a:off x="6201000" y="4017892"/>
            <a:ext cx="21600" cy="131010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Rectangle 97"/>
          <p:cNvSpPr/>
          <p:nvPr/>
        </p:nvSpPr>
        <p:spPr>
          <a:xfrm>
            <a:off x="6219900" y="3759517"/>
            <a:ext cx="21600" cy="156848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ectangle 98"/>
          <p:cNvSpPr/>
          <p:nvPr/>
        </p:nvSpPr>
        <p:spPr>
          <a:xfrm>
            <a:off x="6238800" y="3523815"/>
            <a:ext cx="21600" cy="180418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Rectangle 99"/>
          <p:cNvSpPr/>
          <p:nvPr/>
        </p:nvSpPr>
        <p:spPr>
          <a:xfrm>
            <a:off x="6257700" y="3334067"/>
            <a:ext cx="21600" cy="199393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Rectangle 100"/>
          <p:cNvSpPr/>
          <p:nvPr/>
        </p:nvSpPr>
        <p:spPr>
          <a:xfrm>
            <a:off x="6276600" y="3210769"/>
            <a:ext cx="21600" cy="211722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Rectangle 101"/>
          <p:cNvSpPr/>
          <p:nvPr/>
        </p:nvSpPr>
        <p:spPr>
          <a:xfrm>
            <a:off x="6295500" y="3167999"/>
            <a:ext cx="21600" cy="21600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Rectangle 102"/>
          <p:cNvSpPr/>
          <p:nvPr/>
        </p:nvSpPr>
        <p:spPr>
          <a:xfrm>
            <a:off x="6314400" y="3210769"/>
            <a:ext cx="21600" cy="211722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Rectangle 103"/>
          <p:cNvSpPr/>
          <p:nvPr/>
        </p:nvSpPr>
        <p:spPr>
          <a:xfrm>
            <a:off x="6333300" y="3334067"/>
            <a:ext cx="21600" cy="199393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Rectangle 104"/>
          <p:cNvSpPr/>
          <p:nvPr/>
        </p:nvSpPr>
        <p:spPr>
          <a:xfrm>
            <a:off x="6352200" y="3523815"/>
            <a:ext cx="21600" cy="180418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Rectangle 105"/>
          <p:cNvSpPr/>
          <p:nvPr/>
        </p:nvSpPr>
        <p:spPr>
          <a:xfrm>
            <a:off x="6371100" y="3759517"/>
            <a:ext cx="21600" cy="156848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Rectangle 106"/>
          <p:cNvSpPr/>
          <p:nvPr/>
        </p:nvSpPr>
        <p:spPr>
          <a:xfrm>
            <a:off x="6390000" y="4017892"/>
            <a:ext cx="21600" cy="131010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Rectangle 107"/>
          <p:cNvSpPr/>
          <p:nvPr/>
        </p:nvSpPr>
        <p:spPr>
          <a:xfrm>
            <a:off x="6408900" y="4276614"/>
            <a:ext cx="21600" cy="105138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Rectangle 108"/>
          <p:cNvSpPr/>
          <p:nvPr/>
        </p:nvSpPr>
        <p:spPr>
          <a:xfrm>
            <a:off x="6427800" y="4517327"/>
            <a:ext cx="21600" cy="81067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Rectangle 109"/>
          <p:cNvSpPr/>
          <p:nvPr/>
        </p:nvSpPr>
        <p:spPr>
          <a:xfrm>
            <a:off x="6446700" y="4727438"/>
            <a:ext cx="21600" cy="6005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Rectangle 110"/>
          <p:cNvSpPr/>
          <p:nvPr/>
        </p:nvSpPr>
        <p:spPr>
          <a:xfrm>
            <a:off x="6465600" y="4900537"/>
            <a:ext cx="21600" cy="42746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Rectangle 111"/>
          <p:cNvSpPr/>
          <p:nvPr/>
        </p:nvSpPr>
        <p:spPr>
          <a:xfrm>
            <a:off x="6484500" y="5035674"/>
            <a:ext cx="21600" cy="29232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Rectangle 112"/>
          <p:cNvSpPr/>
          <p:nvPr/>
        </p:nvSpPr>
        <p:spPr>
          <a:xfrm>
            <a:off x="6957000" y="5211069"/>
            <a:ext cx="21600" cy="11692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Rectangle 113"/>
          <p:cNvSpPr/>
          <p:nvPr/>
        </p:nvSpPr>
        <p:spPr>
          <a:xfrm>
            <a:off x="6975900" y="5157014"/>
            <a:ext cx="21600" cy="17098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Rectangle 114"/>
          <p:cNvSpPr/>
          <p:nvPr/>
        </p:nvSpPr>
        <p:spPr>
          <a:xfrm>
            <a:off x="6994800" y="5087774"/>
            <a:ext cx="21600" cy="24022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Rectangle 115"/>
          <p:cNvSpPr/>
          <p:nvPr/>
        </p:nvSpPr>
        <p:spPr>
          <a:xfrm>
            <a:off x="7013700" y="5003730"/>
            <a:ext cx="21600" cy="3242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Rectangle 116"/>
          <p:cNvSpPr/>
          <p:nvPr/>
        </p:nvSpPr>
        <p:spPr>
          <a:xfrm>
            <a:off x="7032600" y="4907445"/>
            <a:ext cx="21600" cy="42055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Rectangle 117"/>
          <p:cNvSpPr/>
          <p:nvPr/>
        </p:nvSpPr>
        <p:spPr>
          <a:xfrm>
            <a:off x="7051500" y="4803956"/>
            <a:ext cx="21600" cy="52404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Rectangle 118"/>
          <p:cNvSpPr/>
          <p:nvPr/>
        </p:nvSpPr>
        <p:spPr>
          <a:xfrm>
            <a:off x="7070400" y="4700606"/>
            <a:ext cx="21600" cy="62739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Rectangle 119"/>
          <p:cNvSpPr/>
          <p:nvPr/>
        </p:nvSpPr>
        <p:spPr>
          <a:xfrm>
            <a:off x="7089300" y="4606325"/>
            <a:ext cx="21600" cy="72167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Rectangle 120"/>
          <p:cNvSpPr/>
          <p:nvPr/>
        </p:nvSpPr>
        <p:spPr>
          <a:xfrm>
            <a:off x="7108200" y="4530426"/>
            <a:ext cx="21600" cy="79757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Rectangle 121"/>
          <p:cNvSpPr/>
          <p:nvPr/>
        </p:nvSpPr>
        <p:spPr>
          <a:xfrm>
            <a:off x="7127100" y="4481107"/>
            <a:ext cx="21600" cy="84689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Rectangle 122"/>
          <p:cNvSpPr/>
          <p:nvPr/>
        </p:nvSpPr>
        <p:spPr>
          <a:xfrm>
            <a:off x="7146000" y="4463999"/>
            <a:ext cx="21600" cy="8640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7164900" y="4481107"/>
            <a:ext cx="21600" cy="84689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Rectangle 124"/>
          <p:cNvSpPr/>
          <p:nvPr/>
        </p:nvSpPr>
        <p:spPr>
          <a:xfrm>
            <a:off x="7183800" y="4530426"/>
            <a:ext cx="21600" cy="79757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Rectangle 125"/>
          <p:cNvSpPr/>
          <p:nvPr/>
        </p:nvSpPr>
        <p:spPr>
          <a:xfrm>
            <a:off x="7202700" y="4606325"/>
            <a:ext cx="21600" cy="72167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Rectangle 126"/>
          <p:cNvSpPr/>
          <p:nvPr/>
        </p:nvSpPr>
        <p:spPr>
          <a:xfrm>
            <a:off x="7221600" y="4700606"/>
            <a:ext cx="21600" cy="62739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Rectangle 127"/>
          <p:cNvSpPr/>
          <p:nvPr/>
        </p:nvSpPr>
        <p:spPr>
          <a:xfrm>
            <a:off x="7240500" y="4803956"/>
            <a:ext cx="21600" cy="52404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Rectangle 128"/>
          <p:cNvSpPr/>
          <p:nvPr/>
        </p:nvSpPr>
        <p:spPr>
          <a:xfrm>
            <a:off x="7259400" y="4907445"/>
            <a:ext cx="21600" cy="42055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Rectangle 129"/>
          <p:cNvSpPr/>
          <p:nvPr/>
        </p:nvSpPr>
        <p:spPr>
          <a:xfrm>
            <a:off x="7278300" y="5003730"/>
            <a:ext cx="21600" cy="3242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Rectangle 130"/>
          <p:cNvSpPr/>
          <p:nvPr/>
        </p:nvSpPr>
        <p:spPr>
          <a:xfrm>
            <a:off x="7297200" y="5087774"/>
            <a:ext cx="21600" cy="24022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Rectangle 131"/>
          <p:cNvSpPr/>
          <p:nvPr/>
        </p:nvSpPr>
        <p:spPr>
          <a:xfrm>
            <a:off x="7316100" y="5157014"/>
            <a:ext cx="21600" cy="17098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ectangle 132"/>
          <p:cNvSpPr/>
          <p:nvPr/>
        </p:nvSpPr>
        <p:spPr>
          <a:xfrm>
            <a:off x="7335000" y="5211069"/>
            <a:ext cx="21600" cy="11692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Rectangle 133"/>
          <p:cNvSpPr/>
          <p:nvPr/>
        </p:nvSpPr>
        <p:spPr>
          <a:xfrm>
            <a:off x="1901250" y="5164297"/>
            <a:ext cx="21600" cy="16370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Rectangle 134"/>
          <p:cNvSpPr/>
          <p:nvPr/>
        </p:nvSpPr>
        <p:spPr>
          <a:xfrm>
            <a:off x="1920150" y="5088620"/>
            <a:ext cx="21600" cy="23937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Rectangle 135"/>
          <p:cNvSpPr/>
          <p:nvPr/>
        </p:nvSpPr>
        <p:spPr>
          <a:xfrm>
            <a:off x="1939050" y="4991685"/>
            <a:ext cx="21600" cy="33631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Rectangle 136"/>
          <p:cNvSpPr/>
          <p:nvPr/>
        </p:nvSpPr>
        <p:spPr>
          <a:xfrm>
            <a:off x="1957950" y="4874022"/>
            <a:ext cx="21600" cy="45397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Rectangle 137"/>
          <p:cNvSpPr/>
          <p:nvPr/>
        </p:nvSpPr>
        <p:spPr>
          <a:xfrm>
            <a:off x="1976850" y="4739223"/>
            <a:ext cx="21600" cy="588775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Rectangle 138"/>
          <p:cNvSpPr/>
          <p:nvPr/>
        </p:nvSpPr>
        <p:spPr>
          <a:xfrm>
            <a:off x="1995750" y="4594339"/>
            <a:ext cx="21600" cy="73365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Rectangle 139"/>
          <p:cNvSpPr/>
          <p:nvPr/>
        </p:nvSpPr>
        <p:spPr>
          <a:xfrm>
            <a:off x="2014650" y="4449649"/>
            <a:ext cx="21600" cy="87834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Rectangle 140"/>
          <p:cNvSpPr/>
          <p:nvPr/>
        </p:nvSpPr>
        <p:spPr>
          <a:xfrm>
            <a:off x="2033550" y="4317656"/>
            <a:ext cx="21600" cy="101034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Rectangle 141"/>
          <p:cNvSpPr/>
          <p:nvPr/>
        </p:nvSpPr>
        <p:spPr>
          <a:xfrm>
            <a:off x="2052450" y="4211397"/>
            <a:ext cx="21600" cy="111660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Rectangle 142"/>
          <p:cNvSpPr/>
          <p:nvPr/>
        </p:nvSpPr>
        <p:spPr>
          <a:xfrm>
            <a:off x="2071350" y="4142350"/>
            <a:ext cx="21600" cy="118564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Rectangle 143"/>
          <p:cNvSpPr/>
          <p:nvPr/>
        </p:nvSpPr>
        <p:spPr>
          <a:xfrm>
            <a:off x="2090250" y="4118399"/>
            <a:ext cx="21600" cy="12096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Rectangle 144"/>
          <p:cNvSpPr/>
          <p:nvPr/>
        </p:nvSpPr>
        <p:spPr>
          <a:xfrm>
            <a:off x="2109150" y="4142350"/>
            <a:ext cx="21600" cy="118564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Rectangle 145"/>
          <p:cNvSpPr/>
          <p:nvPr/>
        </p:nvSpPr>
        <p:spPr>
          <a:xfrm>
            <a:off x="2128050" y="4211397"/>
            <a:ext cx="21600" cy="111660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Rectangle 146"/>
          <p:cNvSpPr/>
          <p:nvPr/>
        </p:nvSpPr>
        <p:spPr>
          <a:xfrm>
            <a:off x="2146950" y="4317656"/>
            <a:ext cx="21600" cy="101034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8" name="Rectangle 147"/>
          <p:cNvSpPr/>
          <p:nvPr/>
        </p:nvSpPr>
        <p:spPr>
          <a:xfrm>
            <a:off x="2165850" y="4449649"/>
            <a:ext cx="21600" cy="87834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Rectangle 148"/>
          <p:cNvSpPr/>
          <p:nvPr/>
        </p:nvSpPr>
        <p:spPr>
          <a:xfrm>
            <a:off x="2184750" y="4594339"/>
            <a:ext cx="21600" cy="73365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Rectangle 149"/>
          <p:cNvSpPr/>
          <p:nvPr/>
        </p:nvSpPr>
        <p:spPr>
          <a:xfrm>
            <a:off x="2203650" y="4739223"/>
            <a:ext cx="21600" cy="588775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Rectangle 150"/>
          <p:cNvSpPr/>
          <p:nvPr/>
        </p:nvSpPr>
        <p:spPr>
          <a:xfrm>
            <a:off x="2222550" y="4874022"/>
            <a:ext cx="21600" cy="45397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Rectangle 151"/>
          <p:cNvSpPr/>
          <p:nvPr/>
        </p:nvSpPr>
        <p:spPr>
          <a:xfrm>
            <a:off x="2241450" y="4991685"/>
            <a:ext cx="21600" cy="33631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Rectangle 152"/>
          <p:cNvSpPr/>
          <p:nvPr/>
        </p:nvSpPr>
        <p:spPr>
          <a:xfrm>
            <a:off x="2260350" y="5088620"/>
            <a:ext cx="21600" cy="23937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Rectangle 153"/>
          <p:cNvSpPr/>
          <p:nvPr/>
        </p:nvSpPr>
        <p:spPr>
          <a:xfrm>
            <a:off x="2279250" y="5164297"/>
            <a:ext cx="21600" cy="16370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TextBox 154"/>
          <p:cNvSpPr txBox="1"/>
          <p:nvPr/>
        </p:nvSpPr>
        <p:spPr>
          <a:xfrm>
            <a:off x="1802250" y="3866400"/>
            <a:ext cx="57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ED7D31"/>
                </a:solidFill>
                <a:latin typeface="맑은 고딕"/>
              </a:rPr>
              <a:t>Eg(TiO₂)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4263750" y="5257841"/>
            <a:ext cx="21600" cy="70157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Rectangle 156"/>
          <p:cNvSpPr/>
          <p:nvPr/>
        </p:nvSpPr>
        <p:spPr>
          <a:xfrm>
            <a:off x="4282650" y="5225408"/>
            <a:ext cx="21600" cy="10259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Rectangle 157"/>
          <p:cNvSpPr/>
          <p:nvPr/>
        </p:nvSpPr>
        <p:spPr>
          <a:xfrm>
            <a:off x="4301550" y="5183864"/>
            <a:ext cx="21600" cy="14413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Rectangle 158"/>
          <p:cNvSpPr/>
          <p:nvPr/>
        </p:nvSpPr>
        <p:spPr>
          <a:xfrm>
            <a:off x="4320450" y="5133437"/>
            <a:ext cx="21600" cy="19456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0" name="Rectangle 159"/>
          <p:cNvSpPr/>
          <p:nvPr/>
        </p:nvSpPr>
        <p:spPr>
          <a:xfrm>
            <a:off x="4339350" y="5075666"/>
            <a:ext cx="21600" cy="25233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Rectangle 160"/>
          <p:cNvSpPr/>
          <p:nvPr/>
        </p:nvSpPr>
        <p:spPr>
          <a:xfrm>
            <a:off x="4358250" y="5013573"/>
            <a:ext cx="21600" cy="314425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Rectangle 161"/>
          <p:cNvSpPr/>
          <p:nvPr/>
        </p:nvSpPr>
        <p:spPr>
          <a:xfrm>
            <a:off x="4377150" y="4951563"/>
            <a:ext cx="21600" cy="376435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Rectangle 162"/>
          <p:cNvSpPr/>
          <p:nvPr/>
        </p:nvSpPr>
        <p:spPr>
          <a:xfrm>
            <a:off x="4396050" y="4894994"/>
            <a:ext cx="21600" cy="43300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Rectangle 163"/>
          <p:cNvSpPr/>
          <p:nvPr/>
        </p:nvSpPr>
        <p:spPr>
          <a:xfrm>
            <a:off x="4414950" y="4849455"/>
            <a:ext cx="21600" cy="47854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Rectangle 164"/>
          <p:cNvSpPr/>
          <p:nvPr/>
        </p:nvSpPr>
        <p:spPr>
          <a:xfrm>
            <a:off x="4433850" y="4819864"/>
            <a:ext cx="21600" cy="50813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Rectangle 165"/>
          <p:cNvSpPr/>
          <p:nvPr/>
        </p:nvSpPr>
        <p:spPr>
          <a:xfrm>
            <a:off x="4452750" y="4809599"/>
            <a:ext cx="21600" cy="5184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7" name="Rectangle 166"/>
          <p:cNvSpPr/>
          <p:nvPr/>
        </p:nvSpPr>
        <p:spPr>
          <a:xfrm>
            <a:off x="4471650" y="4819864"/>
            <a:ext cx="21600" cy="50813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8" name="Rectangle 167"/>
          <p:cNvSpPr/>
          <p:nvPr/>
        </p:nvSpPr>
        <p:spPr>
          <a:xfrm>
            <a:off x="4490550" y="4849455"/>
            <a:ext cx="21600" cy="47854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9" name="Rectangle 168"/>
          <p:cNvSpPr/>
          <p:nvPr/>
        </p:nvSpPr>
        <p:spPr>
          <a:xfrm>
            <a:off x="4509450" y="4894994"/>
            <a:ext cx="21600" cy="43300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0" name="Rectangle 169"/>
          <p:cNvSpPr/>
          <p:nvPr/>
        </p:nvSpPr>
        <p:spPr>
          <a:xfrm>
            <a:off x="4528350" y="4951563"/>
            <a:ext cx="21600" cy="376435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Rectangle 170"/>
          <p:cNvSpPr/>
          <p:nvPr/>
        </p:nvSpPr>
        <p:spPr>
          <a:xfrm>
            <a:off x="4547250" y="5013573"/>
            <a:ext cx="21600" cy="314425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2" name="Rectangle 171"/>
          <p:cNvSpPr/>
          <p:nvPr/>
        </p:nvSpPr>
        <p:spPr>
          <a:xfrm>
            <a:off x="4566150" y="5075666"/>
            <a:ext cx="21600" cy="25233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Rectangle 172"/>
          <p:cNvSpPr/>
          <p:nvPr/>
        </p:nvSpPr>
        <p:spPr>
          <a:xfrm>
            <a:off x="4585050" y="5133437"/>
            <a:ext cx="21600" cy="19456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Rectangle 173"/>
          <p:cNvSpPr/>
          <p:nvPr/>
        </p:nvSpPr>
        <p:spPr>
          <a:xfrm>
            <a:off x="4603950" y="5183864"/>
            <a:ext cx="21600" cy="14413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" name="Rectangle 174"/>
          <p:cNvSpPr/>
          <p:nvPr/>
        </p:nvSpPr>
        <p:spPr>
          <a:xfrm>
            <a:off x="4622850" y="5225408"/>
            <a:ext cx="21600" cy="10259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" name="Rectangle 175"/>
          <p:cNvSpPr/>
          <p:nvPr/>
        </p:nvSpPr>
        <p:spPr>
          <a:xfrm>
            <a:off x="4641750" y="5257841"/>
            <a:ext cx="21600" cy="70157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TextBox 176"/>
          <p:cNvSpPr txBox="1"/>
          <p:nvPr/>
        </p:nvSpPr>
        <p:spPr>
          <a:xfrm>
            <a:off x="4164750" y="4557600"/>
            <a:ext cx="57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ED7D31"/>
                </a:solidFill>
                <a:latin typeface="맑은 고딕"/>
              </a:rPr>
              <a:t>B1g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5397750" y="5281227"/>
            <a:ext cx="21600" cy="4677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9" name="Rectangle 178"/>
          <p:cNvSpPr/>
          <p:nvPr/>
        </p:nvSpPr>
        <p:spPr>
          <a:xfrm>
            <a:off x="5416650" y="5259605"/>
            <a:ext cx="21600" cy="6839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0" name="Rectangle 179"/>
          <p:cNvSpPr/>
          <p:nvPr/>
        </p:nvSpPr>
        <p:spPr>
          <a:xfrm>
            <a:off x="5435550" y="5231909"/>
            <a:ext cx="21600" cy="9608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Rectangle 180"/>
          <p:cNvSpPr/>
          <p:nvPr/>
        </p:nvSpPr>
        <p:spPr>
          <a:xfrm>
            <a:off x="5454450" y="5198291"/>
            <a:ext cx="21600" cy="129707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2" name="Rectangle 181"/>
          <p:cNvSpPr/>
          <p:nvPr/>
        </p:nvSpPr>
        <p:spPr>
          <a:xfrm>
            <a:off x="5473350" y="5159777"/>
            <a:ext cx="21600" cy="16822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3" name="Rectangle 182"/>
          <p:cNvSpPr/>
          <p:nvPr/>
        </p:nvSpPr>
        <p:spPr>
          <a:xfrm>
            <a:off x="5492250" y="5118382"/>
            <a:ext cx="21600" cy="20961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4" name="Rectangle 183"/>
          <p:cNvSpPr/>
          <p:nvPr/>
        </p:nvSpPr>
        <p:spPr>
          <a:xfrm>
            <a:off x="5511150" y="5077041"/>
            <a:ext cx="21600" cy="250957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5" name="Rectangle 184"/>
          <p:cNvSpPr/>
          <p:nvPr/>
        </p:nvSpPr>
        <p:spPr>
          <a:xfrm>
            <a:off x="5530050" y="5039329"/>
            <a:ext cx="21600" cy="28866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6" name="Rectangle 185"/>
          <p:cNvSpPr/>
          <p:nvPr/>
        </p:nvSpPr>
        <p:spPr>
          <a:xfrm>
            <a:off x="5548950" y="5008969"/>
            <a:ext cx="21600" cy="31902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7" name="Rectangle 186"/>
          <p:cNvSpPr/>
          <p:nvPr/>
        </p:nvSpPr>
        <p:spPr>
          <a:xfrm>
            <a:off x="5567850" y="4989242"/>
            <a:ext cx="21600" cy="33875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8" name="Rectangle 187"/>
          <p:cNvSpPr/>
          <p:nvPr/>
        </p:nvSpPr>
        <p:spPr>
          <a:xfrm>
            <a:off x="5586750" y="4982399"/>
            <a:ext cx="21600" cy="3456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9" name="Rectangle 188"/>
          <p:cNvSpPr/>
          <p:nvPr/>
        </p:nvSpPr>
        <p:spPr>
          <a:xfrm>
            <a:off x="5605650" y="4989242"/>
            <a:ext cx="21600" cy="33875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0" name="Rectangle 189"/>
          <p:cNvSpPr/>
          <p:nvPr/>
        </p:nvSpPr>
        <p:spPr>
          <a:xfrm>
            <a:off x="5624550" y="5008969"/>
            <a:ext cx="21600" cy="31902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1" name="Rectangle 190"/>
          <p:cNvSpPr/>
          <p:nvPr/>
        </p:nvSpPr>
        <p:spPr>
          <a:xfrm>
            <a:off x="5643450" y="5039329"/>
            <a:ext cx="21600" cy="28866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2" name="Rectangle 191"/>
          <p:cNvSpPr/>
          <p:nvPr/>
        </p:nvSpPr>
        <p:spPr>
          <a:xfrm>
            <a:off x="5662350" y="5077041"/>
            <a:ext cx="21600" cy="250957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3" name="Rectangle 192"/>
          <p:cNvSpPr/>
          <p:nvPr/>
        </p:nvSpPr>
        <p:spPr>
          <a:xfrm>
            <a:off x="5681250" y="5118382"/>
            <a:ext cx="21600" cy="20961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4" name="Rectangle 193"/>
          <p:cNvSpPr/>
          <p:nvPr/>
        </p:nvSpPr>
        <p:spPr>
          <a:xfrm>
            <a:off x="5700150" y="5159777"/>
            <a:ext cx="21600" cy="16822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5" name="Rectangle 194"/>
          <p:cNvSpPr/>
          <p:nvPr/>
        </p:nvSpPr>
        <p:spPr>
          <a:xfrm>
            <a:off x="5719050" y="5198291"/>
            <a:ext cx="21600" cy="129707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6" name="Rectangle 195"/>
          <p:cNvSpPr/>
          <p:nvPr/>
        </p:nvSpPr>
        <p:spPr>
          <a:xfrm>
            <a:off x="5737950" y="5231909"/>
            <a:ext cx="21600" cy="9608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7" name="Rectangle 196"/>
          <p:cNvSpPr/>
          <p:nvPr/>
        </p:nvSpPr>
        <p:spPr>
          <a:xfrm>
            <a:off x="5756850" y="5259605"/>
            <a:ext cx="21600" cy="6839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8" name="Rectangle 197"/>
          <p:cNvSpPr/>
          <p:nvPr/>
        </p:nvSpPr>
        <p:spPr>
          <a:xfrm>
            <a:off x="5775750" y="5281227"/>
            <a:ext cx="21600" cy="4677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9" name="TextBox 198"/>
          <p:cNvSpPr txBox="1"/>
          <p:nvPr/>
        </p:nvSpPr>
        <p:spPr>
          <a:xfrm>
            <a:off x="5298750" y="4730400"/>
            <a:ext cx="57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ED7D31"/>
                </a:solidFill>
                <a:latin typeface="맑은 고딕"/>
              </a:rPr>
              <a:t>A1g+B1g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067000" y="5152604"/>
            <a:ext cx="21600" cy="17539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1" name="Rectangle 200"/>
          <p:cNvSpPr/>
          <p:nvPr/>
        </p:nvSpPr>
        <p:spPr>
          <a:xfrm>
            <a:off x="5085900" y="5071522"/>
            <a:ext cx="21600" cy="25647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2" name="Rectangle 201"/>
          <p:cNvSpPr/>
          <p:nvPr/>
        </p:nvSpPr>
        <p:spPr>
          <a:xfrm>
            <a:off x="5104800" y="4967662"/>
            <a:ext cx="21600" cy="36033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3" name="Rectangle 202"/>
          <p:cNvSpPr/>
          <p:nvPr/>
        </p:nvSpPr>
        <p:spPr>
          <a:xfrm>
            <a:off x="5123700" y="4841595"/>
            <a:ext cx="21600" cy="486403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4" name="Rectangle 203"/>
          <p:cNvSpPr/>
          <p:nvPr/>
        </p:nvSpPr>
        <p:spPr>
          <a:xfrm>
            <a:off x="5142600" y="4697168"/>
            <a:ext cx="21600" cy="63083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5" name="Rectangle 204"/>
          <p:cNvSpPr/>
          <p:nvPr/>
        </p:nvSpPr>
        <p:spPr>
          <a:xfrm>
            <a:off x="5161500" y="4541935"/>
            <a:ext cx="21600" cy="786063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6" name="Rectangle 205"/>
          <p:cNvSpPr/>
          <p:nvPr/>
        </p:nvSpPr>
        <p:spPr>
          <a:xfrm>
            <a:off x="5180400" y="4386909"/>
            <a:ext cx="21600" cy="941089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7" name="Rectangle 206"/>
          <p:cNvSpPr/>
          <p:nvPr/>
        </p:nvSpPr>
        <p:spPr>
          <a:xfrm>
            <a:off x="5199300" y="4245488"/>
            <a:ext cx="21600" cy="108251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8" name="Rectangle 207"/>
          <p:cNvSpPr/>
          <p:nvPr/>
        </p:nvSpPr>
        <p:spPr>
          <a:xfrm>
            <a:off x="5218200" y="4131640"/>
            <a:ext cx="21600" cy="119635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9" name="Rectangle 208"/>
          <p:cNvSpPr/>
          <p:nvPr/>
        </p:nvSpPr>
        <p:spPr>
          <a:xfrm>
            <a:off x="5237100" y="4057661"/>
            <a:ext cx="21600" cy="1270337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0" name="Rectangle 209"/>
          <p:cNvSpPr/>
          <p:nvPr/>
        </p:nvSpPr>
        <p:spPr>
          <a:xfrm>
            <a:off x="5256000" y="4031999"/>
            <a:ext cx="21600" cy="1296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1" name="Rectangle 210"/>
          <p:cNvSpPr/>
          <p:nvPr/>
        </p:nvSpPr>
        <p:spPr>
          <a:xfrm>
            <a:off x="5274900" y="4057661"/>
            <a:ext cx="21600" cy="1270337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2" name="Rectangle 211"/>
          <p:cNvSpPr/>
          <p:nvPr/>
        </p:nvSpPr>
        <p:spPr>
          <a:xfrm>
            <a:off x="5293800" y="4131640"/>
            <a:ext cx="21600" cy="119635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3" name="Rectangle 212"/>
          <p:cNvSpPr/>
          <p:nvPr/>
        </p:nvSpPr>
        <p:spPr>
          <a:xfrm>
            <a:off x="5312700" y="4245488"/>
            <a:ext cx="21600" cy="108251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4" name="Rectangle 213"/>
          <p:cNvSpPr/>
          <p:nvPr/>
        </p:nvSpPr>
        <p:spPr>
          <a:xfrm>
            <a:off x="5331600" y="4386909"/>
            <a:ext cx="21600" cy="941089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5" name="Rectangle 214"/>
          <p:cNvSpPr/>
          <p:nvPr/>
        </p:nvSpPr>
        <p:spPr>
          <a:xfrm>
            <a:off x="5350500" y="4541935"/>
            <a:ext cx="21600" cy="786063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6" name="Rectangle 215"/>
          <p:cNvSpPr/>
          <p:nvPr/>
        </p:nvSpPr>
        <p:spPr>
          <a:xfrm>
            <a:off x="5369400" y="4697168"/>
            <a:ext cx="21600" cy="63083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7" name="Rectangle 216"/>
          <p:cNvSpPr/>
          <p:nvPr/>
        </p:nvSpPr>
        <p:spPr>
          <a:xfrm>
            <a:off x="5388300" y="4841595"/>
            <a:ext cx="21600" cy="486403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8" name="Rectangle 217"/>
          <p:cNvSpPr/>
          <p:nvPr/>
        </p:nvSpPr>
        <p:spPr>
          <a:xfrm>
            <a:off x="5407200" y="4967662"/>
            <a:ext cx="21600" cy="36033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9" name="Rectangle 218"/>
          <p:cNvSpPr/>
          <p:nvPr/>
        </p:nvSpPr>
        <p:spPr>
          <a:xfrm>
            <a:off x="5426100" y="5071522"/>
            <a:ext cx="21600" cy="25647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0" name="Rectangle 219"/>
          <p:cNvSpPr/>
          <p:nvPr/>
        </p:nvSpPr>
        <p:spPr>
          <a:xfrm>
            <a:off x="5445000" y="5152604"/>
            <a:ext cx="21600" cy="17539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1" name="Rectangle 220"/>
          <p:cNvSpPr/>
          <p:nvPr/>
        </p:nvSpPr>
        <p:spPr>
          <a:xfrm>
            <a:off x="6106500" y="5035674"/>
            <a:ext cx="21600" cy="29232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2" name="Rectangle 221"/>
          <p:cNvSpPr/>
          <p:nvPr/>
        </p:nvSpPr>
        <p:spPr>
          <a:xfrm>
            <a:off x="6125400" y="4900537"/>
            <a:ext cx="21600" cy="427461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3" name="Rectangle 222"/>
          <p:cNvSpPr/>
          <p:nvPr/>
        </p:nvSpPr>
        <p:spPr>
          <a:xfrm>
            <a:off x="6144300" y="4727438"/>
            <a:ext cx="21600" cy="60056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4" name="Rectangle 223"/>
          <p:cNvSpPr/>
          <p:nvPr/>
        </p:nvSpPr>
        <p:spPr>
          <a:xfrm>
            <a:off x="6163200" y="4517327"/>
            <a:ext cx="21600" cy="810671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5" name="Rectangle 224"/>
          <p:cNvSpPr/>
          <p:nvPr/>
        </p:nvSpPr>
        <p:spPr>
          <a:xfrm>
            <a:off x="6182100" y="4276614"/>
            <a:ext cx="21600" cy="105138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6" name="Rectangle 225"/>
          <p:cNvSpPr/>
          <p:nvPr/>
        </p:nvSpPr>
        <p:spPr>
          <a:xfrm>
            <a:off x="6201000" y="4017892"/>
            <a:ext cx="21600" cy="131010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7" name="Rectangle 226"/>
          <p:cNvSpPr/>
          <p:nvPr/>
        </p:nvSpPr>
        <p:spPr>
          <a:xfrm>
            <a:off x="6219900" y="3759517"/>
            <a:ext cx="21600" cy="1568481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8" name="Rectangle 227"/>
          <p:cNvSpPr/>
          <p:nvPr/>
        </p:nvSpPr>
        <p:spPr>
          <a:xfrm>
            <a:off x="6238800" y="3523815"/>
            <a:ext cx="21600" cy="1804183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9" name="Rectangle 228"/>
          <p:cNvSpPr/>
          <p:nvPr/>
        </p:nvSpPr>
        <p:spPr>
          <a:xfrm>
            <a:off x="6257700" y="3334067"/>
            <a:ext cx="21600" cy="1993931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0" name="Rectangle 229"/>
          <p:cNvSpPr/>
          <p:nvPr/>
        </p:nvSpPr>
        <p:spPr>
          <a:xfrm>
            <a:off x="6276600" y="3210769"/>
            <a:ext cx="21600" cy="2117229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1" name="Rectangle 230"/>
          <p:cNvSpPr/>
          <p:nvPr/>
        </p:nvSpPr>
        <p:spPr>
          <a:xfrm>
            <a:off x="6295500" y="3167999"/>
            <a:ext cx="21600" cy="216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2" name="Rectangle 231"/>
          <p:cNvSpPr/>
          <p:nvPr/>
        </p:nvSpPr>
        <p:spPr>
          <a:xfrm>
            <a:off x="6314400" y="3210769"/>
            <a:ext cx="21600" cy="2117229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3" name="Rectangle 232"/>
          <p:cNvSpPr/>
          <p:nvPr/>
        </p:nvSpPr>
        <p:spPr>
          <a:xfrm>
            <a:off x="6333300" y="3334067"/>
            <a:ext cx="21600" cy="1993931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4" name="Rectangle 233"/>
          <p:cNvSpPr/>
          <p:nvPr/>
        </p:nvSpPr>
        <p:spPr>
          <a:xfrm>
            <a:off x="6352200" y="3523815"/>
            <a:ext cx="21600" cy="1804183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5" name="Rectangle 234"/>
          <p:cNvSpPr/>
          <p:nvPr/>
        </p:nvSpPr>
        <p:spPr>
          <a:xfrm>
            <a:off x="6371100" y="3759517"/>
            <a:ext cx="21600" cy="1568481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6" name="Rectangle 235"/>
          <p:cNvSpPr/>
          <p:nvPr/>
        </p:nvSpPr>
        <p:spPr>
          <a:xfrm>
            <a:off x="6390000" y="4017892"/>
            <a:ext cx="21600" cy="131010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7" name="Rectangle 236"/>
          <p:cNvSpPr/>
          <p:nvPr/>
        </p:nvSpPr>
        <p:spPr>
          <a:xfrm>
            <a:off x="6408900" y="4276614"/>
            <a:ext cx="21600" cy="105138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8" name="Rectangle 237"/>
          <p:cNvSpPr/>
          <p:nvPr/>
        </p:nvSpPr>
        <p:spPr>
          <a:xfrm>
            <a:off x="6427800" y="4517327"/>
            <a:ext cx="21600" cy="810671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9" name="Rectangle 238"/>
          <p:cNvSpPr/>
          <p:nvPr/>
        </p:nvSpPr>
        <p:spPr>
          <a:xfrm>
            <a:off x="6446700" y="4727438"/>
            <a:ext cx="21600" cy="60056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0" name="Rectangle 239"/>
          <p:cNvSpPr/>
          <p:nvPr/>
        </p:nvSpPr>
        <p:spPr>
          <a:xfrm>
            <a:off x="6465600" y="4900537"/>
            <a:ext cx="21600" cy="427461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1" name="Rectangle 240"/>
          <p:cNvSpPr/>
          <p:nvPr/>
        </p:nvSpPr>
        <p:spPr>
          <a:xfrm>
            <a:off x="6484500" y="5035674"/>
            <a:ext cx="21600" cy="29232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2" name="Rectangle 241"/>
          <p:cNvSpPr/>
          <p:nvPr/>
        </p:nvSpPr>
        <p:spPr>
          <a:xfrm>
            <a:off x="6957000" y="5211069"/>
            <a:ext cx="21600" cy="116929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3" name="Rectangle 242"/>
          <p:cNvSpPr/>
          <p:nvPr/>
        </p:nvSpPr>
        <p:spPr>
          <a:xfrm>
            <a:off x="6975900" y="5157014"/>
            <a:ext cx="21600" cy="17098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4" name="Rectangle 243"/>
          <p:cNvSpPr/>
          <p:nvPr/>
        </p:nvSpPr>
        <p:spPr>
          <a:xfrm>
            <a:off x="6994800" y="5087774"/>
            <a:ext cx="21600" cy="24022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5" name="Rectangle 244"/>
          <p:cNvSpPr/>
          <p:nvPr/>
        </p:nvSpPr>
        <p:spPr>
          <a:xfrm>
            <a:off x="7013700" y="5003730"/>
            <a:ext cx="21600" cy="32426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6" name="Rectangle 245"/>
          <p:cNvSpPr/>
          <p:nvPr/>
        </p:nvSpPr>
        <p:spPr>
          <a:xfrm>
            <a:off x="7032600" y="4907445"/>
            <a:ext cx="21600" cy="420553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7" name="Rectangle 246"/>
          <p:cNvSpPr/>
          <p:nvPr/>
        </p:nvSpPr>
        <p:spPr>
          <a:xfrm>
            <a:off x="7051500" y="4803956"/>
            <a:ext cx="21600" cy="52404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8" name="Rectangle 247"/>
          <p:cNvSpPr/>
          <p:nvPr/>
        </p:nvSpPr>
        <p:spPr>
          <a:xfrm>
            <a:off x="7070400" y="4700606"/>
            <a:ext cx="21600" cy="62739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9" name="Rectangle 248"/>
          <p:cNvSpPr/>
          <p:nvPr/>
        </p:nvSpPr>
        <p:spPr>
          <a:xfrm>
            <a:off x="7089300" y="4606325"/>
            <a:ext cx="21600" cy="721673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0" name="Rectangle 249"/>
          <p:cNvSpPr/>
          <p:nvPr/>
        </p:nvSpPr>
        <p:spPr>
          <a:xfrm>
            <a:off x="7108200" y="4530426"/>
            <a:ext cx="21600" cy="7975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1" name="Rectangle 250"/>
          <p:cNvSpPr/>
          <p:nvPr/>
        </p:nvSpPr>
        <p:spPr>
          <a:xfrm>
            <a:off x="7127100" y="4481107"/>
            <a:ext cx="21600" cy="846891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2" name="Rectangle 251"/>
          <p:cNvSpPr/>
          <p:nvPr/>
        </p:nvSpPr>
        <p:spPr>
          <a:xfrm>
            <a:off x="7146000" y="4463999"/>
            <a:ext cx="21600" cy="864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3" name="Rectangle 252"/>
          <p:cNvSpPr/>
          <p:nvPr/>
        </p:nvSpPr>
        <p:spPr>
          <a:xfrm>
            <a:off x="7164900" y="4481107"/>
            <a:ext cx="21600" cy="846891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4" name="Rectangle 253"/>
          <p:cNvSpPr/>
          <p:nvPr/>
        </p:nvSpPr>
        <p:spPr>
          <a:xfrm>
            <a:off x="7183800" y="4530426"/>
            <a:ext cx="21600" cy="7975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5" name="Rectangle 254"/>
          <p:cNvSpPr/>
          <p:nvPr/>
        </p:nvSpPr>
        <p:spPr>
          <a:xfrm>
            <a:off x="7202700" y="4606325"/>
            <a:ext cx="21600" cy="721673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6" name="Rectangle 255"/>
          <p:cNvSpPr/>
          <p:nvPr/>
        </p:nvSpPr>
        <p:spPr>
          <a:xfrm>
            <a:off x="7221600" y="4700606"/>
            <a:ext cx="21600" cy="62739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7" name="Rectangle 256"/>
          <p:cNvSpPr/>
          <p:nvPr/>
        </p:nvSpPr>
        <p:spPr>
          <a:xfrm>
            <a:off x="7240500" y="4803956"/>
            <a:ext cx="21600" cy="52404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8" name="Rectangle 257"/>
          <p:cNvSpPr/>
          <p:nvPr/>
        </p:nvSpPr>
        <p:spPr>
          <a:xfrm>
            <a:off x="7259400" y="4907445"/>
            <a:ext cx="21600" cy="420553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9" name="Rectangle 258"/>
          <p:cNvSpPr/>
          <p:nvPr/>
        </p:nvSpPr>
        <p:spPr>
          <a:xfrm>
            <a:off x="7278300" y="5003730"/>
            <a:ext cx="21600" cy="32426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0" name="Rectangle 259"/>
          <p:cNvSpPr/>
          <p:nvPr/>
        </p:nvSpPr>
        <p:spPr>
          <a:xfrm>
            <a:off x="7297200" y="5087774"/>
            <a:ext cx="21600" cy="24022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1" name="Rectangle 260"/>
          <p:cNvSpPr/>
          <p:nvPr/>
        </p:nvSpPr>
        <p:spPr>
          <a:xfrm>
            <a:off x="7316100" y="5157014"/>
            <a:ext cx="21600" cy="17098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2" name="Rectangle 261"/>
          <p:cNvSpPr/>
          <p:nvPr/>
        </p:nvSpPr>
        <p:spPr>
          <a:xfrm>
            <a:off x="7335000" y="5211069"/>
            <a:ext cx="21600" cy="116929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3" name="Rectangle 262"/>
          <p:cNvSpPr/>
          <p:nvPr/>
        </p:nvSpPr>
        <p:spPr>
          <a:xfrm>
            <a:off x="1440000" y="1115999"/>
            <a:ext cx="360000" cy="125999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4" name="TextBox 263"/>
          <p:cNvSpPr txBox="1"/>
          <p:nvPr/>
        </p:nvSpPr>
        <p:spPr>
          <a:xfrm>
            <a:off x="1872000" y="1079999"/>
            <a:ext cx="18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Bare</a:t>
            </a:r>
          </a:p>
        </p:txBody>
      </p:sp>
      <p:sp>
        <p:nvSpPr>
          <p:cNvPr id="265" name="Rectangle 264"/>
          <p:cNvSpPr/>
          <p:nvPr/>
        </p:nvSpPr>
        <p:spPr>
          <a:xfrm>
            <a:off x="3780000" y="1115999"/>
            <a:ext cx="360000" cy="12599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6" name="TextBox 265"/>
          <p:cNvSpPr txBox="1"/>
          <p:nvPr/>
        </p:nvSpPr>
        <p:spPr>
          <a:xfrm>
            <a:off x="4212000" y="1079999"/>
            <a:ext cx="18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D7D31"/>
                </a:solidFill>
                <a:latin typeface="맑은 고딕"/>
              </a:rPr>
              <a:t>TiO₂ ALD</a:t>
            </a:r>
          </a:p>
        </p:txBody>
      </p:sp>
      <p:sp>
        <p:nvSpPr>
          <p:cNvPr id="267" name="Rectangle 266"/>
          <p:cNvSpPr/>
          <p:nvPr/>
        </p:nvSpPr>
        <p:spPr>
          <a:xfrm>
            <a:off x="6120000" y="1115999"/>
            <a:ext cx="360000" cy="125999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8" name="TextBox 267"/>
          <p:cNvSpPr txBox="1"/>
          <p:nvPr/>
        </p:nvSpPr>
        <p:spPr>
          <a:xfrm>
            <a:off x="6552000" y="1079999"/>
            <a:ext cx="18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E74B5"/>
                </a:solidFill>
                <a:latin typeface="맑은 고딕"/>
              </a:rPr>
              <a:t>Al₂O₃ ALD</a:t>
            </a:r>
          </a:p>
        </p:txBody>
      </p:sp>
      <p:sp>
        <p:nvSpPr>
          <p:cNvPr id="269" name="Rounded Rectangle 268"/>
          <p:cNvSpPr/>
          <p:nvPr/>
        </p:nvSpPr>
        <p:spPr>
          <a:xfrm>
            <a:off x="8460000" y="1007999"/>
            <a:ext cx="3600000" cy="4320000"/>
          </a:xfrm>
          <a:prstGeom prst="roundRect">
            <a:avLst/>
          </a:prstGeom>
          <a:solidFill>
            <a:srgbClr val="D6DCE4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0" name="Rectangle 269"/>
          <p:cNvSpPr/>
          <p:nvPr/>
        </p:nvSpPr>
        <p:spPr>
          <a:xfrm>
            <a:off x="8460000" y="1007999"/>
            <a:ext cx="3600000" cy="324000"/>
          </a:xfrm>
          <a:prstGeom prst="rect">
            <a:avLst/>
          </a:prstGeom>
          <a:solidFill>
            <a:srgbClr val="1F497D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Raman 분석 해석 포인트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8568000" y="1404000"/>
            <a:ext cx="34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맑은 고딕"/>
              </a:rPr>
              <a:t>◉ A₁g (~590 cm⁻¹):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8568000" y="1684800"/>
            <a:ext cx="34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맑은 고딕"/>
              </a:rPr>
              <a:t>  TM-O 스트레칭 모드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8568000" y="1965600"/>
            <a:ext cx="34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맑은 고딕"/>
              </a:rPr>
              <a:t>  → 코팅 후 이동/억압 없으면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8568000" y="2246400"/>
            <a:ext cx="34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맑은 고딕"/>
              </a:rPr>
              <a:t>    양극재 구조 보존 확인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8568000" y="2527200"/>
            <a:ext cx="34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276" name="TextBox 275"/>
          <p:cNvSpPr txBox="1"/>
          <p:nvPr/>
        </p:nvSpPr>
        <p:spPr>
          <a:xfrm>
            <a:off x="8568000" y="2808000"/>
            <a:ext cx="34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맑은 고딕"/>
              </a:rPr>
              <a:t>◉ Eg (~480 cm⁻¹):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8568000" y="3088800"/>
            <a:ext cx="34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맑은 고딕"/>
              </a:rPr>
              <a:t>  O-TM-O 굽힘 모드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8568000" y="3369600"/>
            <a:ext cx="34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279" name="TextBox 278"/>
          <p:cNvSpPr txBox="1"/>
          <p:nvPr/>
        </p:nvSpPr>
        <p:spPr>
          <a:xfrm>
            <a:off x="8568000" y="3650400"/>
            <a:ext cx="34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맑은 고딕"/>
              </a:rPr>
              <a:t>◉ TiO₂ 코팅층 확인:</a:t>
            </a:r>
          </a:p>
        </p:txBody>
      </p:sp>
      <p:sp>
        <p:nvSpPr>
          <p:cNvPr id="280" name="TextBox 279"/>
          <p:cNvSpPr txBox="1"/>
          <p:nvPr/>
        </p:nvSpPr>
        <p:spPr>
          <a:xfrm>
            <a:off x="8568000" y="3931200"/>
            <a:ext cx="34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맑은 고딕"/>
              </a:rPr>
              <a:t>  145 cm⁻¹ Eg 피크 출현</a:t>
            </a:r>
          </a:p>
        </p:txBody>
      </p:sp>
      <p:sp>
        <p:nvSpPr>
          <p:cNvPr id="281" name="TextBox 280"/>
          <p:cNvSpPr txBox="1"/>
          <p:nvPr/>
        </p:nvSpPr>
        <p:spPr>
          <a:xfrm>
            <a:off x="8568000" y="4212000"/>
            <a:ext cx="34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맑은 고딕"/>
              </a:rPr>
              <a:t>  → ALD TiO₂ 비결정질 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15.  4종 ALD 산화물 코팅 양극재 Coin Cell 100 사이클 용량 유지율 비교
(배치식 ALD, Na 반전극, 0.5C)</a:t>
            </a:r>
          </a:p>
        </p:txBody>
      </p:sp>
      <p:sp>
        <p:nvSpPr>
          <p:cNvPr id="3" name="Rectangle 2"/>
          <p:cNvSpPr/>
          <p:nvPr/>
        </p:nvSpPr>
        <p:spPr>
          <a:xfrm>
            <a:off x="720000" y="1007999"/>
            <a:ext cx="8640000" cy="43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0000" y="5399999"/>
            <a:ext cx="864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F497D"/>
                </a:solidFill>
                <a:latin typeface="맑은 고딕"/>
              </a:rPr>
              <a:t>사이클 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059999"/>
            <a:ext cx="64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497D"/>
                </a:solidFill>
                <a:latin typeface="맑은 고딕"/>
              </a:rPr>
              <a:t>용량 유지율 (%)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0" y="1014479"/>
            <a:ext cx="446400" cy="189295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52000" y="1189374"/>
            <a:ext cx="446400" cy="175908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584000" y="1350882"/>
            <a:ext cx="446400" cy="151776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016000" y="1488259"/>
            <a:ext cx="446400" cy="11623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448000" y="1590089"/>
            <a:ext cx="446400" cy="114059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880000" y="1689749"/>
            <a:ext cx="446400" cy="9942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312000" y="1774772"/>
            <a:ext cx="446400" cy="8703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744000" y="1847405"/>
            <a:ext cx="446400" cy="61426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176000" y="1894431"/>
            <a:ext cx="446400" cy="67668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608000" y="1947700"/>
            <a:ext cx="446400" cy="60154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040000" y="1993455"/>
            <a:ext cx="446400" cy="3867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72000" y="2017728"/>
            <a:ext cx="446400" cy="48408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904000" y="2051737"/>
            <a:ext cx="446400" cy="4385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336000" y="2081188"/>
            <a:ext cx="446400" cy="3999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768000" y="2106781"/>
            <a:ext cx="446400" cy="21607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200000" y="2113988"/>
            <a:ext cx="446400" cy="33962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632000" y="2133551"/>
            <a:ext cx="446400" cy="31622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064000" y="2150774"/>
            <a:ext cx="446400" cy="1452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496000" y="2150896"/>
            <a:ext cx="446400" cy="27965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928000" y="2164461"/>
            <a:ext cx="446400" cy="26545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396000" y="2068607"/>
            <a:ext cx="12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맑은 고딕"/>
              </a:rPr>
              <a:t>Bare (미코팅): 73%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0000" y="1014479"/>
            <a:ext cx="446400" cy="10307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1152000" y="1103158"/>
            <a:ext cx="446400" cy="102927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1584000" y="1191686"/>
            <a:ext cx="446400" cy="900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2016000" y="1267287"/>
            <a:ext cx="446400" cy="63937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2448000" y="1316824"/>
            <a:ext cx="446400" cy="6979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2880000" y="1372219"/>
            <a:ext cx="446400" cy="6195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3312000" y="1419773"/>
            <a:ext cx="446400" cy="5531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3744000" y="1460689"/>
            <a:ext cx="446400" cy="3457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176000" y="1480868"/>
            <a:ext cx="446400" cy="4494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608000" y="1511410"/>
            <a:ext cx="446400" cy="4091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5040000" y="1537927"/>
            <a:ext cx="446400" cy="2238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472000" y="1545916"/>
            <a:ext cx="446400" cy="3462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5904000" y="1566141"/>
            <a:ext cx="446400" cy="3218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336000" y="1583924"/>
            <a:ext cx="446400" cy="3011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6768000" y="1598487"/>
            <a:ext cx="446400" cy="1555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7200000" y="1598487"/>
            <a:ext cx="446400" cy="26885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632000" y="1610973"/>
            <a:ext cx="446400" cy="2563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8064000" y="1617256"/>
            <a:ext cx="446400" cy="1934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8496000" y="1617256"/>
            <a:ext cx="446400" cy="2367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8928000" y="1626529"/>
            <a:ext cx="446400" cy="2291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396000" y="1527042"/>
            <a:ext cx="12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ED7D31"/>
                </a:solidFill>
                <a:latin typeface="맑은 고딕"/>
              </a:rPr>
              <a:t>TiO₂ ALD: 85%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20000" y="1014479"/>
            <a:ext cx="446400" cy="89815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1152000" y="1089894"/>
            <a:ext cx="446400" cy="917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1584000" y="1167195"/>
            <a:ext cx="446400" cy="8049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2016000" y="1233291"/>
            <a:ext cx="446400" cy="5589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2448000" y="1274783"/>
            <a:ext cx="446400" cy="6298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2880000" y="1323368"/>
            <a:ext cx="446400" cy="56189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3312000" y="1365157"/>
            <a:ext cx="446400" cy="50437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3744000" y="1401194"/>
            <a:ext cx="446400" cy="30447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4176000" y="1417242"/>
            <a:ext cx="446400" cy="4144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4608000" y="1444289"/>
            <a:ext cx="446400" cy="37957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5040000" y="1467846"/>
            <a:ext cx="446400" cy="1988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5472000" y="1473330"/>
            <a:ext cx="446400" cy="3250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5904000" y="1491434"/>
            <a:ext cx="446400" cy="3038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6336000" y="1507422"/>
            <a:ext cx="446400" cy="2859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6768000" y="1519180"/>
            <a:ext cx="446400" cy="16839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7200000" y="1519180"/>
            <a:ext cx="446400" cy="25797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7632000" y="1530577"/>
            <a:ext cx="446400" cy="2471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8064000" y="1535158"/>
            <a:ext cx="446400" cy="20129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angle 65"/>
          <p:cNvSpPr/>
          <p:nvPr/>
        </p:nvSpPr>
        <p:spPr>
          <a:xfrm>
            <a:off x="8496000" y="1535158"/>
            <a:ext cx="446400" cy="2301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8928000" y="1543771"/>
            <a:ext cx="446400" cy="22353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9396000" y="1443724"/>
            <a:ext cx="12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E74B5"/>
                </a:solidFill>
                <a:latin typeface="맑은 고딕"/>
              </a:rPr>
              <a:t>Al₂O₃ ALD: 87%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20000" y="1014479"/>
            <a:ext cx="446400" cy="116343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ectangle 69"/>
          <p:cNvSpPr/>
          <p:nvPr/>
        </p:nvSpPr>
        <p:spPr>
          <a:xfrm>
            <a:off x="1152000" y="1116422"/>
            <a:ext cx="446400" cy="114155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1584000" y="1216178"/>
            <a:ext cx="446400" cy="99504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ectangle 71"/>
          <p:cNvSpPr/>
          <p:nvPr/>
        </p:nvSpPr>
        <p:spPr>
          <a:xfrm>
            <a:off x="2016000" y="1301282"/>
            <a:ext cx="446400" cy="71982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2448000" y="1358865"/>
            <a:ext cx="446400" cy="76604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ectangle 73"/>
          <p:cNvSpPr/>
          <p:nvPr/>
        </p:nvSpPr>
        <p:spPr>
          <a:xfrm>
            <a:off x="2880000" y="1421070"/>
            <a:ext cx="446400" cy="67718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/>
          <p:cNvSpPr/>
          <p:nvPr/>
        </p:nvSpPr>
        <p:spPr>
          <a:xfrm>
            <a:off x="3312000" y="1474388"/>
            <a:ext cx="446400" cy="60196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3744000" y="1520184"/>
            <a:ext cx="446400" cy="38708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4176000" y="1544493"/>
            <a:ext cx="446400" cy="48438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ectangle 77"/>
          <p:cNvSpPr/>
          <p:nvPr/>
        </p:nvSpPr>
        <p:spPr>
          <a:xfrm>
            <a:off x="4608000" y="1578532"/>
            <a:ext cx="446400" cy="43876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ectangle 78"/>
          <p:cNvSpPr/>
          <p:nvPr/>
        </p:nvSpPr>
        <p:spPr>
          <a:xfrm>
            <a:off x="5040000" y="1608008"/>
            <a:ext cx="446400" cy="24894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ectangle 79"/>
          <p:cNvSpPr/>
          <p:nvPr/>
        </p:nvSpPr>
        <p:spPr>
          <a:xfrm>
            <a:off x="5472000" y="1618503"/>
            <a:ext cx="446400" cy="36745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ectangle 80"/>
          <p:cNvSpPr/>
          <p:nvPr/>
        </p:nvSpPr>
        <p:spPr>
          <a:xfrm>
            <a:off x="5904000" y="1640848"/>
            <a:ext cx="446400" cy="33978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ectangle 81"/>
          <p:cNvSpPr/>
          <p:nvPr/>
        </p:nvSpPr>
        <p:spPr>
          <a:xfrm>
            <a:off x="6336000" y="1660426"/>
            <a:ext cx="446400" cy="31635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ectangle 82"/>
          <p:cNvSpPr/>
          <p:nvPr/>
        </p:nvSpPr>
        <p:spPr>
          <a:xfrm>
            <a:off x="6768000" y="1677662"/>
            <a:ext cx="446400" cy="14532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Rectangle 83"/>
          <p:cNvSpPr/>
          <p:nvPr/>
        </p:nvSpPr>
        <p:spPr>
          <a:xfrm>
            <a:off x="7200000" y="1677795"/>
            <a:ext cx="446400" cy="27974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ectangle 84"/>
          <p:cNvSpPr/>
          <p:nvPr/>
        </p:nvSpPr>
        <p:spPr>
          <a:xfrm>
            <a:off x="7632000" y="1691370"/>
            <a:ext cx="446400" cy="26553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Rectangle 85"/>
          <p:cNvSpPr/>
          <p:nvPr/>
        </p:nvSpPr>
        <p:spPr>
          <a:xfrm>
            <a:off x="8064000" y="1699355"/>
            <a:ext cx="446400" cy="18568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ectangle 86"/>
          <p:cNvSpPr/>
          <p:nvPr/>
        </p:nvSpPr>
        <p:spPr>
          <a:xfrm>
            <a:off x="8496000" y="1699355"/>
            <a:ext cx="446400" cy="24333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Rectangle 87"/>
          <p:cNvSpPr/>
          <p:nvPr/>
        </p:nvSpPr>
        <p:spPr>
          <a:xfrm>
            <a:off x="8928000" y="1709288"/>
            <a:ext cx="446400" cy="23471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9396000" y="1610360"/>
            <a:ext cx="12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B2F8E"/>
                </a:solidFill>
                <a:latin typeface="맑은 고딕"/>
              </a:rPr>
              <a:t>V₂O₅ ALD: 84%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20000" y="1014479"/>
            <a:ext cx="446400" cy="109711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ectangle 90"/>
          <p:cNvSpPr/>
          <p:nvPr/>
        </p:nvSpPr>
        <p:spPr>
          <a:xfrm>
            <a:off x="1152000" y="1109790"/>
            <a:ext cx="446400" cy="108541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Rectangle 91"/>
          <p:cNvSpPr/>
          <p:nvPr/>
        </p:nvSpPr>
        <p:spPr>
          <a:xfrm>
            <a:off x="1584000" y="1203932"/>
            <a:ext cx="446400" cy="94752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Rectangle 92"/>
          <p:cNvSpPr/>
          <p:nvPr/>
        </p:nvSpPr>
        <p:spPr>
          <a:xfrm>
            <a:off x="2016000" y="1284285"/>
            <a:ext cx="446400" cy="67960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Rectangle 93"/>
          <p:cNvSpPr/>
          <p:nvPr/>
        </p:nvSpPr>
        <p:spPr>
          <a:xfrm>
            <a:off x="2448000" y="1337845"/>
            <a:ext cx="446400" cy="73199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ectangle 94"/>
          <p:cNvSpPr/>
          <p:nvPr/>
        </p:nvSpPr>
        <p:spPr>
          <a:xfrm>
            <a:off x="2880000" y="1396644"/>
            <a:ext cx="446400" cy="64836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Rectangle 95"/>
          <p:cNvSpPr/>
          <p:nvPr/>
        </p:nvSpPr>
        <p:spPr>
          <a:xfrm>
            <a:off x="3312000" y="1447080"/>
            <a:ext cx="446400" cy="57756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ectangle 96"/>
          <p:cNvSpPr/>
          <p:nvPr/>
        </p:nvSpPr>
        <p:spPr>
          <a:xfrm>
            <a:off x="3744000" y="1490437"/>
            <a:ext cx="446400" cy="36643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Rectangle 97"/>
          <p:cNvSpPr/>
          <p:nvPr/>
        </p:nvSpPr>
        <p:spPr>
          <a:xfrm>
            <a:off x="4176000" y="1512680"/>
            <a:ext cx="446400" cy="46690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ectangle 98"/>
          <p:cNvSpPr/>
          <p:nvPr/>
        </p:nvSpPr>
        <p:spPr>
          <a:xfrm>
            <a:off x="4608000" y="1544971"/>
            <a:ext cx="446400" cy="42396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Rectangle 99"/>
          <p:cNvSpPr/>
          <p:nvPr/>
        </p:nvSpPr>
        <p:spPr>
          <a:xfrm>
            <a:off x="5040000" y="1572968"/>
            <a:ext cx="446400" cy="23641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Rectangle 100"/>
          <p:cNvSpPr/>
          <p:nvPr/>
        </p:nvSpPr>
        <p:spPr>
          <a:xfrm>
            <a:off x="5472000" y="1582210"/>
            <a:ext cx="446400" cy="35685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Rectangle 101"/>
          <p:cNvSpPr/>
          <p:nvPr/>
        </p:nvSpPr>
        <p:spPr>
          <a:xfrm>
            <a:off x="5904000" y="1603495"/>
            <a:ext cx="446400" cy="33080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Rectangle 102"/>
          <p:cNvSpPr/>
          <p:nvPr/>
        </p:nvSpPr>
        <p:spPr>
          <a:xfrm>
            <a:off x="6336000" y="1622175"/>
            <a:ext cx="446400" cy="30876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Rectangle 103"/>
          <p:cNvSpPr/>
          <p:nvPr/>
        </p:nvSpPr>
        <p:spPr>
          <a:xfrm>
            <a:off x="6768000" y="1638141"/>
            <a:ext cx="446400" cy="14910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Rectangle 104"/>
          <p:cNvSpPr/>
          <p:nvPr/>
        </p:nvSpPr>
        <p:spPr>
          <a:xfrm>
            <a:off x="7200000" y="1638141"/>
            <a:ext cx="446400" cy="27430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Rectangle 105"/>
          <p:cNvSpPr/>
          <p:nvPr/>
        </p:nvSpPr>
        <p:spPr>
          <a:xfrm>
            <a:off x="7632000" y="1651172"/>
            <a:ext cx="446400" cy="26093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Rectangle 106"/>
          <p:cNvSpPr/>
          <p:nvPr/>
        </p:nvSpPr>
        <p:spPr>
          <a:xfrm>
            <a:off x="8064000" y="1658306"/>
            <a:ext cx="446400" cy="18958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Rectangle 107"/>
          <p:cNvSpPr/>
          <p:nvPr/>
        </p:nvSpPr>
        <p:spPr>
          <a:xfrm>
            <a:off x="8496000" y="1658306"/>
            <a:ext cx="446400" cy="24002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Rectangle 108"/>
          <p:cNvSpPr/>
          <p:nvPr/>
        </p:nvSpPr>
        <p:spPr>
          <a:xfrm>
            <a:off x="8928000" y="1667909"/>
            <a:ext cx="446400" cy="23191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/>
          <p:cNvSpPr txBox="1"/>
          <p:nvPr/>
        </p:nvSpPr>
        <p:spPr>
          <a:xfrm>
            <a:off x="9396000" y="1568701"/>
            <a:ext cx="12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78610"/>
                </a:solidFill>
                <a:latin typeface="맑은 고딕"/>
              </a:rPr>
              <a:t>ZnO ALD: 85%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720000" y="1645199"/>
            <a:ext cx="8640000" cy="216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TextBox 111"/>
          <p:cNvSpPr txBox="1"/>
          <p:nvPr/>
        </p:nvSpPr>
        <p:spPr>
          <a:xfrm>
            <a:off x="828000" y="1404000"/>
            <a:ext cx="21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00000"/>
                </a:solidFill>
                <a:latin typeface="맑은 고딕"/>
              </a:rPr>
              <a:t>목표: 85% 이상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0000" y="2195999"/>
            <a:ext cx="324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F497D"/>
                </a:solidFill>
                <a:latin typeface="맑은 고딕"/>
              </a:rPr>
              <a:t>70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0000" y="1979999"/>
            <a:ext cx="324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F497D"/>
                </a:solidFill>
                <a:latin typeface="맑은 고딕"/>
              </a:rPr>
              <a:t>75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60000" y="1763998"/>
            <a:ext cx="324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F497D"/>
                </a:solidFill>
                <a:latin typeface="맑은 고딕"/>
              </a:rPr>
              <a:t>80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60000" y="1547999"/>
            <a:ext cx="324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F497D"/>
                </a:solidFill>
                <a:latin typeface="맑은 고딕"/>
              </a:rPr>
              <a:t>85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60000" y="1331999"/>
            <a:ext cx="324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F497D"/>
                </a:solidFill>
                <a:latin typeface="맑은 고딕"/>
              </a:rPr>
              <a:t>90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60000" y="1115999"/>
            <a:ext cx="324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F497D"/>
                </a:solidFill>
                <a:latin typeface="맑은 고딕"/>
              </a:rPr>
              <a:t>95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0000" y="899999"/>
            <a:ext cx="324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F497D"/>
                </a:solidFill>
                <a:latin typeface="맑은 고딕"/>
              </a:rPr>
              <a:t>100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360000" y="5868000"/>
            <a:ext cx="11520000" cy="306000"/>
          </a:xfrm>
          <a:prstGeom prst="rect">
            <a:avLst/>
          </a:prstGeom>
          <a:solidFill>
            <a:srgbClr val="1F497D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2차년도 목표: 배치식 ALD 코팅 시료 100 cycle 용량 유지율 ≥ 85%  (Na 반전극, 0.5C, 2.0–4.2V)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16.  3차년도: 최종 레시피 양산(10 kg/h) 이전·검증 체계 및 1Ah 파우치셀 연계 흐름도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0000" y="900000"/>
            <a:ext cx="3240000" cy="1980000"/>
          </a:xfrm>
          <a:prstGeom prst="roundRect">
            <a:avLst/>
          </a:prstGeom>
          <a:solidFill>
            <a:srgbClr val="E6F0F8"/>
          </a:solidFill>
          <a:ln w="317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80000" y="900000"/>
            <a:ext cx="3240000" cy="324000"/>
          </a:xfrm>
          <a:prstGeom prst="rect">
            <a:avLst/>
          </a:prstGeom>
          <a:solidFill>
            <a:srgbClr val="2E74B5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기계연 최종 레시피 DB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1999" y="1260000"/>
            <a:ext cx="306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4종 ALD 레시피 DB 완성
• TiO₂  • Al₂O₃  • V₂O₅  • ZnO
GPC × 사이클 → 두께 예측 공식
공정 윈도우 데이터베이스
레시피 패키지 최종본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420000" y="1890000"/>
            <a:ext cx="720000" cy="0"/>
          </a:xfrm>
          <a:prstGeom prst="line">
            <a:avLst/>
          </a:prstGeom>
          <a:ln w="4445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348000" y="1620000"/>
            <a:ext cx="9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ED7D31"/>
                </a:solidFill>
                <a:latin typeface="맑은 고딕"/>
              </a:rPr>
              <a:t>최종 이전
(10 kg/h)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40000" y="900000"/>
            <a:ext cx="3600000" cy="1980000"/>
          </a:xfrm>
          <a:prstGeom prst="roundRect">
            <a:avLst/>
          </a:prstGeom>
          <a:solidFill>
            <a:srgbClr val="E2EFDA"/>
          </a:solidFill>
          <a:ln w="317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140000" y="900000"/>
            <a:ext cx="3600000" cy="324000"/>
          </a:xfrm>
          <a:prstGeom prst="rect">
            <a:avLst/>
          </a:prstGeom>
          <a:solidFill>
            <a:srgbClr val="378610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대성기계 10 kg/h 연속 운전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12000" y="1260000"/>
            <a:ext cx="342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24시간 연속 운전 안정화
두께 편차 ≤ 5% 달성
GPC 재현성 ≤ 5%
SOP (표준 운전 절차) 완성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40000" y="1890000"/>
            <a:ext cx="540000" cy="0"/>
          </a:xfrm>
          <a:prstGeom prst="line">
            <a:avLst/>
          </a:prstGeom>
          <a:ln w="25400">
            <a:solidFill>
              <a:srgbClr val="595959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280000" y="900000"/>
            <a:ext cx="3780000" cy="1980000"/>
          </a:xfrm>
          <a:prstGeom prst="roundRect">
            <a:avLst/>
          </a:prstGeom>
          <a:solidFill>
            <a:srgbClr val="D6DCE4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280000" y="900000"/>
            <a:ext cx="3780000" cy="324000"/>
          </a:xfrm>
          <a:prstGeom prst="rect">
            <a:avLst/>
          </a:prstGeom>
          <a:solidFill>
            <a:srgbClr val="1F497D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기계연 최종 분석·검증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2000" y="1260000"/>
            <a:ext cx="360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HRTEM·EELS (원자 계면)
XPS·Raman·FTIR
Post-mortem 분석 (200 cycle)
코팅 피복률 ≥ 95% 달성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20000" y="2880000"/>
            <a:ext cx="0" cy="540000"/>
          </a:xfrm>
          <a:prstGeom prst="line">
            <a:avLst/>
          </a:prstGeom>
          <a:ln w="38100">
            <a:solidFill>
              <a:srgbClr val="7B2F8E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060000" y="3420000"/>
            <a:ext cx="6120000" cy="1980000"/>
          </a:xfrm>
          <a:prstGeom prst="roundRect">
            <a:avLst/>
          </a:prstGeom>
          <a:solidFill>
            <a:srgbClr val="F2E6F8"/>
          </a:solidFill>
          <a:ln w="2540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060000" y="3420000"/>
            <a:ext cx="6120000" cy="324000"/>
          </a:xfrm>
          <a:prstGeom prst="rect">
            <a:avLst/>
          </a:prstGeom>
          <a:solidFill>
            <a:srgbClr val="7B2F8E"/>
          </a:solidFill>
          <a:ln w="1905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씨오알엔 (CORN) — 1Ah 파우치셀 제작·평가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31999" y="3780000"/>
            <a:ext cx="594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맑은 고딕"/>
              </a:rPr>
              <a:t>1Ah 파우치셀 제작 → 충방전 평가 (0.1C, 0.5C, 1C)
계면저항 ≤ 50 Ω·cm²  |  쿨롱 효율 ≥ 85%
전극 제조 조건 최적화  |  셀 레벨 특성 확인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0000" y="6570000"/>
            <a:ext cx="118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95959"/>
                </a:solidFill>
                <a:latin typeface="맑은 고딕"/>
              </a:rPr>
              <a:t>* 기계연 최종 레시피 DB가 대성기계 10 kg/h 연속 운전으로 이전되고, 씨오알엔의 1Ah 파우치셀 평가로 기술 완성도를 검증하는 3차년도 최종 체계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17.  Post-mortem TEM 분석: 200 cycle 충방전 후 ALD TiO₂ 코팅층 구조 안정성 확인</a:t>
            </a:r>
          </a:p>
        </p:txBody>
      </p:sp>
      <p:sp>
        <p:nvSpPr>
          <p:cNvPr id="3" name="Rectangle 2"/>
          <p:cNvSpPr/>
          <p:nvPr/>
        </p:nvSpPr>
        <p:spPr>
          <a:xfrm>
            <a:off x="360000" y="827999"/>
            <a:ext cx="3780000" cy="2880000"/>
          </a:xfrm>
          <a:prstGeom prst="rect">
            <a:avLst/>
          </a:prstGeom>
          <a:solidFill>
            <a:srgbClr val="0D0D1A"/>
          </a:solidFill>
          <a:ln w="2540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0">
                <a:solidFill>
                  <a:srgbClr val="FFFFFF"/>
                </a:solidFill>
                <a:latin typeface="맑은 고딕"/>
              </a:rPr>
              <a:t>[TEM 이미지]
초기 상태
(코팅 직후)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827999"/>
            <a:ext cx="3780000" cy="144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60000" y="3744000"/>
            <a:ext cx="3780000" cy="306000"/>
          </a:xfrm>
          <a:prstGeom prst="rect">
            <a:avLst/>
          </a:prstGeom>
          <a:solidFill>
            <a:srgbClr val="2E74B5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초기 상태
(코팅 직후)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8000" y="4104000"/>
            <a:ext cx="3528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균일 2 nm TiO₂ 코팅
계면 명확
Ni 표면 산화 없음</a:t>
            </a:r>
          </a:p>
        </p:txBody>
      </p:sp>
      <p:sp>
        <p:nvSpPr>
          <p:cNvPr id="7" name="Rectangle 6"/>
          <p:cNvSpPr/>
          <p:nvPr/>
        </p:nvSpPr>
        <p:spPr>
          <a:xfrm>
            <a:off x="4320000" y="827999"/>
            <a:ext cx="3780000" cy="2880000"/>
          </a:xfrm>
          <a:prstGeom prst="rect">
            <a:avLst/>
          </a:prstGeom>
          <a:solidFill>
            <a:srgbClr val="0D0D1A"/>
          </a:solidFill>
          <a:ln w="254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0">
                <a:solidFill>
                  <a:srgbClr val="FFFFFF"/>
                </a:solidFill>
                <a:latin typeface="맑은 고딕"/>
              </a:rPr>
              <a:t>[TEM 이미지]
100 cycle 후
(Post-mortem)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0000" y="827999"/>
            <a:ext cx="3780000" cy="1440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320000" y="3744000"/>
            <a:ext cx="3780000" cy="306000"/>
          </a:xfrm>
          <a:prstGeom prst="rect">
            <a:avLst/>
          </a:prstGeom>
          <a:solidFill>
            <a:srgbClr val="ED7D31"/>
          </a:solidFill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100 cycle 후
(Post-mortem)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28000" y="4104000"/>
            <a:ext cx="3528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코팅층 두께 유지
계면 미세 변화 모니터링
SEI 층 형성 최소화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80000" y="827999"/>
            <a:ext cx="3780000" cy="2880000"/>
          </a:xfrm>
          <a:prstGeom prst="rect">
            <a:avLst/>
          </a:prstGeom>
          <a:solidFill>
            <a:srgbClr val="0D0D1A"/>
          </a:solidFill>
          <a:ln w="2540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0">
                <a:solidFill>
                  <a:srgbClr val="FFFFFF"/>
                </a:solidFill>
                <a:latin typeface="맑은 고딕"/>
              </a:rPr>
              <a:t>[TEM 이미지]
200 cycle 후
(Post-mortem)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80000" y="827999"/>
            <a:ext cx="3780000" cy="144000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280000" y="3744000"/>
            <a:ext cx="3780000" cy="306000"/>
          </a:xfrm>
          <a:prstGeom prst="rect">
            <a:avLst/>
          </a:prstGeom>
          <a:solidFill>
            <a:srgbClr val="378610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200 cycle 후
(Post-mortem)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8000" y="4104000"/>
            <a:ext cx="3528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코팅층 구조 안정성
최종 확인
두께 편차 ≤ 10%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140000" y="2340000"/>
            <a:ext cx="180000" cy="0"/>
          </a:xfrm>
          <a:prstGeom prst="line">
            <a:avLst/>
          </a:prstGeom>
          <a:ln w="3810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100000" y="2340000"/>
            <a:ext cx="180000" cy="0"/>
          </a:xfrm>
          <a:prstGeom prst="line">
            <a:avLst/>
          </a:prstGeom>
          <a:ln w="3810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360000" y="5040000"/>
            <a:ext cx="11520000" cy="324000"/>
          </a:xfrm>
          <a:prstGeom prst="rect">
            <a:avLst/>
          </a:prstGeom>
          <a:solidFill>
            <a:srgbClr val="1F497D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Post-mortem 분석 항목:  HRTEM (코팅층 두께)  |  EELS (TM 원자가 변화)  |  XPS (표면 산화)  |  SEM-EDX (원소 분포)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0000" y="5436000"/>
            <a:ext cx="11520000" cy="684000"/>
          </a:xfrm>
          <a:prstGeom prst="rect">
            <a:avLst/>
          </a:prstGeom>
          <a:solidFill>
            <a:srgbClr val="E2EFDA"/>
          </a:solidFill>
          <a:ln w="1270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68000" y="5508000"/>
            <a:ext cx="113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맑은 고딕"/>
              </a:rPr>
              <a:t>3차년도 목표: 200 cycle 후 코팅층 두께 유지율 ≥ 90%,  Ni²⁺→Ni⁴⁺ 산화 억제 효과 EELS 정량 확인
→ ALD 계면 보호층의 장기 안정성 규명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18.  한국기계연구원 ↔ 대성기계공업 ALD 레시피 이전 및 품질 검증 피드백 순환 체계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0000" y="1440000"/>
            <a:ext cx="4320000" cy="3240000"/>
          </a:xfrm>
          <a:prstGeom prst="roundRect">
            <a:avLst/>
          </a:prstGeom>
          <a:solidFill>
            <a:srgbClr val="E6F0F8"/>
          </a:solidFill>
          <a:ln w="317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60000" y="1440000"/>
            <a:ext cx="4320000" cy="360000"/>
          </a:xfrm>
          <a:prstGeom prst="rect">
            <a:avLst/>
          </a:prstGeom>
          <a:solidFill>
            <a:srgbClr val="2E74B5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한국기계연구원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8000" y="1872000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배치식 ALD 장비 2대 운용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8000" y="2160000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공정 레시피 개발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2448000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공정 윈도우 확정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8000" y="2736000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Self-limiting 조건 측정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8000" y="3024000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GPC 측정·검증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000" y="3311999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HRTEM·XPS·Raman 분석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000" y="3600000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코팅 품질 판정 (OK/NG)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000" y="3888000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레시피 수정 (피드백 시)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80000" y="1440000"/>
            <a:ext cx="4320000" cy="3240000"/>
          </a:xfrm>
          <a:prstGeom prst="roundRect">
            <a:avLst/>
          </a:prstGeom>
          <a:solidFill>
            <a:srgbClr val="E2EFDA"/>
          </a:solidFill>
          <a:ln w="317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380000" y="1440000"/>
            <a:ext cx="4320000" cy="360000"/>
          </a:xfrm>
          <a:prstGeom prst="rect">
            <a:avLst/>
          </a:prstGeom>
          <a:solidFill>
            <a:srgbClr val="378610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대성기계공업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88000" y="1872000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연속식 분말 ALD 장비 운용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88000" y="2160000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레시피 수령 및 FBR 적용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88000" y="2448000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OPERIO 10 이전·적용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88000" y="2736000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RTD 기반 공정 최적화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88000" y="3024000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10 kg/h 양산 운전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88000" y="3311999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코팅 시료 기계연 제공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88000" y="3600000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공정 파라미터 데이터 공유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88000" y="3888000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SOP 작성·유지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680000" y="2520000"/>
            <a:ext cx="2700000" cy="0"/>
          </a:xfrm>
          <a:prstGeom prst="line">
            <a:avLst/>
          </a:prstGeom>
          <a:ln w="4445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788000" y="2196000"/>
            <a:ext cx="252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ED7D31"/>
                </a:solidFill>
                <a:latin typeface="맑은 고딕"/>
              </a:rPr>
              <a:t>레시피 패키지 이전
(온도·GPC·pulse 시간·NDA)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4680000" y="3600000"/>
            <a:ext cx="2700000" cy="0"/>
          </a:xfrm>
          <a:prstGeom prst="line">
            <a:avLst/>
          </a:prstGeom>
          <a:ln w="44450">
            <a:solidFill>
              <a:srgbClr val="C0000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788000" y="3636000"/>
            <a:ext cx="252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C00000"/>
                </a:solidFill>
                <a:latin typeface="맑은 고딕"/>
              </a:rPr>
              <a:t>코팅 시료 제공 / 공정 데이터
→ 기계연 분석 결과 피드백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0000" y="1620000"/>
            <a:ext cx="2340000" cy="360000"/>
          </a:xfrm>
          <a:prstGeom prst="rect">
            <a:avLst/>
          </a:prstGeom>
          <a:solidFill>
            <a:srgbClr val="C00000"/>
          </a:solidFill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NDA (비밀유지협약) 체결 기반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860000" y="4968000"/>
            <a:ext cx="2340000" cy="1007999"/>
          </a:xfrm>
          <a:prstGeom prst="roundRect">
            <a:avLst/>
          </a:prstGeom>
          <a:solidFill>
            <a:srgbClr val="F2E6F8"/>
          </a:solidFill>
          <a:ln w="2540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1F497D"/>
                </a:solidFill>
                <a:latin typeface="맑은 고딕"/>
              </a:rPr>
              <a:t>씨오알엔
1Ah 파우치셀
제작·평가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030000" y="4680000"/>
            <a:ext cx="0" cy="288000"/>
          </a:xfrm>
          <a:prstGeom prst="line">
            <a:avLst/>
          </a:prstGeom>
          <a:ln w="25400">
            <a:solidFill>
              <a:srgbClr val="7B2F8E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80000" y="6570000"/>
            <a:ext cx="118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95959"/>
                </a:solidFill>
                <a:latin typeface="맑은 고딕"/>
              </a:rPr>
              <a:t>* 기계연(레시피 개발·검증) ↔ 대성기계(적용·스케일업)의 순환 피드백이 3개년에 걸쳐 반복되며, 씨오알엔 파우치셀 평가가 최종 검증 단계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19.  한국기계연구원 3개년 연구 추진 로드맵
배치식 ALD 레시피 개발 → 연속식 이전·검증 → 양산 실증의 단계적 기술 확보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0" y="792000"/>
            <a:ext cx="3420000" cy="324000"/>
          </a:xfrm>
          <a:prstGeom prst="rect">
            <a:avLst/>
          </a:prstGeom>
          <a:solidFill>
            <a:srgbClr val="ED7D31"/>
          </a:solidFill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1차년도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92000"/>
            <a:ext cx="3420000" cy="324000"/>
          </a:xfrm>
          <a:prstGeom prst="rect">
            <a:avLst/>
          </a:prstGeom>
          <a:solidFill>
            <a:srgbClr val="2E74B5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2차년도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92000"/>
            <a:ext cx="3420000" cy="324000"/>
          </a:xfrm>
          <a:prstGeom prst="rect">
            <a:avLst/>
          </a:prstGeom>
          <a:solidFill>
            <a:srgbClr val="378610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3차년도</a:t>
            </a:r>
          </a:p>
        </p:txBody>
      </p:sp>
      <p:sp>
        <p:nvSpPr>
          <p:cNvPr id="6" name="Rectangle 5"/>
          <p:cNvSpPr/>
          <p:nvPr/>
        </p:nvSpPr>
        <p:spPr>
          <a:xfrm>
            <a:off x="108000" y="1152000"/>
            <a:ext cx="2340000" cy="1152000"/>
          </a:xfrm>
          <a:prstGeom prst="rect">
            <a:avLst/>
          </a:prstGeom>
          <a:solidFill>
            <a:srgbClr val="2E74B5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ALD 레시피
개발</a:t>
            </a:r>
          </a:p>
        </p:txBody>
      </p:sp>
      <p:sp>
        <p:nvSpPr>
          <p:cNvPr id="7" name="Rectangle 6"/>
          <p:cNvSpPr/>
          <p:nvPr/>
        </p:nvSpPr>
        <p:spPr>
          <a:xfrm>
            <a:off x="2556000" y="1188000"/>
            <a:ext cx="3348000" cy="1080000"/>
          </a:xfrm>
          <a:prstGeom prst="rect">
            <a:avLst/>
          </a:prstGeom>
          <a:solidFill>
            <a:srgbClr val="F2F8FF"/>
          </a:solidFill>
          <a:ln w="1270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628000" y="1260000"/>
            <a:ext cx="3240000" cy="9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맑은 고딕"/>
              </a:rPr>
              <a:t>TiO₂ (TTIP/H₂O)
ALD #1
Al₂O₃ (TMA/H₂O)
ALD #2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1188000"/>
            <a:ext cx="3348000" cy="1080000"/>
          </a:xfrm>
          <a:prstGeom prst="rect">
            <a:avLst/>
          </a:prstGeom>
          <a:solidFill>
            <a:srgbClr val="F2F8FF"/>
          </a:solidFill>
          <a:ln w="1270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0" y="1260000"/>
            <a:ext cx="3240000" cy="9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맑은 고딕"/>
              </a:rPr>
              <a:t>V₂O₅ (VTIP/H₂O)
ALD #1
ZnO (DEZn/H₂O)
ALD #2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1188000"/>
            <a:ext cx="3348000" cy="1080000"/>
          </a:xfrm>
          <a:prstGeom prst="rect">
            <a:avLst/>
          </a:prstGeom>
          <a:solidFill>
            <a:srgbClr val="F2F8FF"/>
          </a:solidFill>
          <a:ln w="1270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0" y="1260000"/>
            <a:ext cx="3240000" cy="9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맑은 고딕"/>
              </a:rPr>
              <a:t>4종 DB 완성
최적 조건 최종 확정
공정 윈도우 데이터베이스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8000" y="0"/>
            <a:ext cx="2340000" cy="1152000"/>
          </a:xfrm>
          <a:prstGeom prst="rect">
            <a:avLst/>
          </a:prstGeom>
          <a:solidFill>
            <a:srgbClr val="378610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대성기계
이전·적용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56000" y="0"/>
            <a:ext cx="3348000" cy="1080000"/>
          </a:xfrm>
          <a:prstGeom prst="rect">
            <a:avLst/>
          </a:prstGeom>
          <a:solidFill>
            <a:srgbClr val="F8FFF2"/>
          </a:solidFill>
          <a:ln w="1270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628000" y="0"/>
            <a:ext cx="3240000" cy="9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맑은 고딕"/>
              </a:rPr>
              <a:t>FBR 이전·검증
RTD 매핑
TiO₂/Al₂O₃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3348000" cy="1080000"/>
          </a:xfrm>
          <a:prstGeom prst="rect">
            <a:avLst/>
          </a:prstGeom>
          <a:solidFill>
            <a:srgbClr val="F8FFF2"/>
          </a:solidFill>
          <a:ln w="1270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0" y="0"/>
            <a:ext cx="3240000" cy="9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맑은 고딕"/>
              </a:rPr>
              <a:t>OPERIO 10 이전
4종 레시피 적용
kg/h 단위 스케일업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3348000" cy="1080000"/>
          </a:xfrm>
          <a:prstGeom prst="rect">
            <a:avLst/>
          </a:prstGeom>
          <a:solidFill>
            <a:srgbClr val="F8FFF2"/>
          </a:solidFill>
          <a:ln w="1270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0" y="0"/>
            <a:ext cx="3240000" cy="9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맑은 고딕"/>
              </a:rPr>
              <a:t>10 kg/h 양산
24시간 연속 운전
SOP 완성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8000" y="0"/>
            <a:ext cx="2340000" cy="1152000"/>
          </a:xfrm>
          <a:prstGeom prst="rect">
            <a:avLst/>
          </a:prstGeom>
          <a:solidFill>
            <a:srgbClr val="ED7D31"/>
          </a:solidFill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코팅층
분석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56000" y="0"/>
            <a:ext cx="3348000" cy="1080000"/>
          </a:xfrm>
          <a:prstGeom prst="rect">
            <a:avLst/>
          </a:prstGeom>
          <a:solidFill>
            <a:srgbClr val="F2F8FF"/>
          </a:solidFill>
          <a:ln w="127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628000" y="0"/>
            <a:ext cx="3240000" cy="9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맑은 고딕"/>
              </a:rPr>
              <a:t>SEM·XRD·XPS·BET
기초 분석
coin cell (0.1C)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0"/>
            <a:ext cx="3348000" cy="1080000"/>
          </a:xfrm>
          <a:prstGeom prst="rect">
            <a:avLst/>
          </a:prstGeom>
          <a:solidFill>
            <a:srgbClr val="F2F8FF"/>
          </a:solidFill>
          <a:ln w="127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0" y="0"/>
            <a:ext cx="3240000" cy="9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맑은 고딕"/>
              </a:rPr>
              <a:t>HRTEM·EELS
Raman·FTIR
100 cycle 평가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0"/>
            <a:ext cx="3348000" cy="1080000"/>
          </a:xfrm>
          <a:prstGeom prst="rect">
            <a:avLst/>
          </a:prstGeom>
          <a:solidFill>
            <a:srgbClr val="F2F8FF"/>
          </a:solidFill>
          <a:ln w="127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0" y="0"/>
            <a:ext cx="3240000" cy="9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맑은 고딕"/>
              </a:rPr>
              <a:t>Post-mortem
200 cycle 분석
최종 품질 검증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8000" y="0"/>
            <a:ext cx="2340000" cy="1152000"/>
          </a:xfrm>
          <a:prstGeom prst="rect">
            <a:avLst/>
          </a:prstGeom>
          <a:solidFill>
            <a:srgbClr val="7B2F8E"/>
          </a:solidFill>
          <a:ln w="1905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전기화학
평가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56000" y="0"/>
            <a:ext cx="3348000" cy="1080000"/>
          </a:xfrm>
          <a:prstGeom prst="rect">
            <a:avLst/>
          </a:prstGeom>
          <a:solidFill>
            <a:srgbClr val="F8FFF2"/>
          </a:solidFill>
          <a:ln w="1270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628000" y="0"/>
            <a:ext cx="3240000" cy="9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맑은 고딕"/>
              </a:rPr>
              <a:t>Half-cell
초기 ICE ≥ 80%
계면저항 ≤ 70 Ω·cm²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0"/>
            <a:ext cx="3348000" cy="1080000"/>
          </a:xfrm>
          <a:prstGeom prst="rect">
            <a:avLst/>
          </a:prstGeom>
          <a:solidFill>
            <a:srgbClr val="F8FFF2"/>
          </a:solidFill>
          <a:ln w="1270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0" y="0"/>
            <a:ext cx="3240000" cy="9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맑은 고딕"/>
              </a:rPr>
              <a:t>Half-cell
100 cycle ≥ 85%
4종 비교 평가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0"/>
            <a:ext cx="3348000" cy="1080000"/>
          </a:xfrm>
          <a:prstGeom prst="rect">
            <a:avLst/>
          </a:prstGeom>
          <a:solidFill>
            <a:srgbClr val="F8FFF2"/>
          </a:solidFill>
          <a:ln w="1270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0" y="0"/>
            <a:ext cx="3240000" cy="9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맑은 고딕"/>
              </a:rPr>
              <a:t>1Ah 파우치셀
ICE ≥ 85%
계면저항 ≤ 50 Ω·cm²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0" y="6282000"/>
            <a:ext cx="144000" cy="0"/>
          </a:xfrm>
          <a:prstGeom prst="line">
            <a:avLst/>
          </a:prstGeom>
          <a:ln w="25400">
            <a:solidFill>
              <a:srgbClr val="1F497D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0" y="6282000"/>
            <a:ext cx="144000" cy="0"/>
          </a:xfrm>
          <a:prstGeom prst="line">
            <a:avLst/>
          </a:prstGeom>
          <a:ln w="25400">
            <a:solidFill>
              <a:srgbClr val="1F497D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180000" y="6552000"/>
            <a:ext cx="118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1F497D"/>
                </a:solidFill>
                <a:latin typeface="맑은 고딕"/>
              </a:rPr>
              <a:t>최종 목표: 3차년도 완료 시 → ALD 레시피 DB 4종 완성 + 대성기계 10 kg/h 양산 이전 + 1Ah 파우치셀 실증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3195</Words>
  <Application>Microsoft Office PowerPoint</Application>
  <PresentationFormat>Custom</PresentationFormat>
  <Paragraphs>352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9" baseType="lpstr">
      <vt:lpstr>맑은 고딕</vt:lpstr>
      <vt:lpstr>에스코어 드림 9 Black</vt:lpstr>
      <vt:lpstr>프리젠테이션 7 Bold</vt:lpstr>
      <vt:lpstr>프리젠테이션 9 Black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SMLEE</dc:creator>
  <cp:keywords/>
  <dc:description>generated using python-pptx</dc:description>
  <cp:lastModifiedBy>Seung-Mo Lee</cp:lastModifiedBy>
  <cp:revision>4</cp:revision>
  <dcterms:created xsi:type="dcterms:W3CDTF">2013-01-27T09:14:16Z</dcterms:created>
  <dcterms:modified xsi:type="dcterms:W3CDTF">2026-05-09T04:15:50Z</dcterms:modified>
  <cp:category/>
</cp:coreProperties>
</file>