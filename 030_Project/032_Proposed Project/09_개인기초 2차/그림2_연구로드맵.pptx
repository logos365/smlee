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2" r:id="rId2"/>
    <p:sldId id="261" r:id="rId3"/>
    <p:sldId id="265" r:id="rId4"/>
    <p:sldId id="263" r:id="rId5"/>
    <p:sldId id="264" r:id="rId6"/>
    <p:sldId id="256" r:id="rId7"/>
    <p:sldId id="259" r:id="rId8"/>
    <p:sldId id="258" r:id="rId9"/>
    <p:sldId id="257" r:id="rId10"/>
    <p:sldId id="260" r:id="rId11"/>
  </p:sldIdLst>
  <p:sldSz cx="9144000" cy="64008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2" userDrawn="1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FF"/>
    <a:srgbClr val="CDD3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50" d="100"/>
          <a:sy n="150" d="100"/>
        </p:scale>
        <p:origin x="1308" y="180"/>
      </p:cViewPr>
      <p:guideLst>
        <p:guide orient="horz" pos="2152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0734268-319E-FD40-E428-9F8AEB81061A}"/>
              </a:ext>
            </a:extLst>
          </p:cNvPr>
          <p:cNvSpPr/>
          <p:nvPr/>
        </p:nvSpPr>
        <p:spPr>
          <a:xfrm>
            <a:off x="0" y="0"/>
            <a:ext cx="9144000" cy="3600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9B3F93-F434-F31E-E02E-6670D19388B5}"/>
              </a:ext>
            </a:extLst>
          </p:cNvPr>
          <p:cNvSpPr txBox="1"/>
          <p:nvPr/>
        </p:nvSpPr>
        <p:spPr>
          <a:xfrm>
            <a:off x="0" y="21600"/>
            <a:ext cx="9144000" cy="31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[그림 1]  연구 개념도 — ALD 불화물 인공 SEI 전략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B14EA5-28C2-F64B-8D3E-7E2663FFF920}"/>
              </a:ext>
            </a:extLst>
          </p:cNvPr>
          <p:cNvSpPr/>
          <p:nvPr/>
        </p:nvSpPr>
        <p:spPr>
          <a:xfrm>
            <a:off x="90000" y="378000"/>
            <a:ext cx="2772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9D27A8A-C48F-0092-EF30-76E45D1C433D}"/>
              </a:ext>
            </a:extLst>
          </p:cNvPr>
          <p:cNvSpPr/>
          <p:nvPr/>
        </p:nvSpPr>
        <p:spPr>
          <a:xfrm>
            <a:off x="3114000" y="378000"/>
            <a:ext cx="2772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303F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672A46-346F-168E-2859-8D80D6FCB866}"/>
              </a:ext>
            </a:extLst>
          </p:cNvPr>
          <p:cNvSpPr/>
          <p:nvPr/>
        </p:nvSpPr>
        <p:spPr>
          <a:xfrm>
            <a:off x="6138000" y="378000"/>
            <a:ext cx="2916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3DD875-7527-0306-D9BC-90C9C2547F89}"/>
              </a:ext>
            </a:extLst>
          </p:cNvPr>
          <p:cNvSpPr/>
          <p:nvPr/>
        </p:nvSpPr>
        <p:spPr>
          <a:xfrm>
            <a:off x="90000" y="378000"/>
            <a:ext cx="2772000" cy="27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A6B53DF-7116-53F0-0D7E-BF565EABCF9F}"/>
              </a:ext>
            </a:extLst>
          </p:cNvPr>
          <p:cNvSpPr/>
          <p:nvPr/>
        </p:nvSpPr>
        <p:spPr>
          <a:xfrm>
            <a:off x="3114000" y="378000"/>
            <a:ext cx="2772000" cy="270000"/>
          </a:xfrm>
          <a:prstGeom prst="rect">
            <a:avLst/>
          </a:prstGeom>
          <a:solidFill>
            <a:srgbClr val="303F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C723DE-8D7D-B300-D923-EA26785D3F14}"/>
              </a:ext>
            </a:extLst>
          </p:cNvPr>
          <p:cNvSpPr/>
          <p:nvPr/>
        </p:nvSpPr>
        <p:spPr>
          <a:xfrm>
            <a:off x="6138000" y="378000"/>
            <a:ext cx="2916000" cy="27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2EE22C-E811-A7B6-B2CD-7B538F078AF3}"/>
              </a:ext>
            </a:extLst>
          </p:cNvPr>
          <p:cNvSpPr txBox="1"/>
          <p:nvPr/>
        </p:nvSpPr>
        <p:spPr>
          <a:xfrm>
            <a:off x="90000" y="399600"/>
            <a:ext cx="2772000" cy="22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(좌)  문제 : 불균일 Li 핵생성 및 덴드라이트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1F7481-032E-24FE-1807-ECEE0C5FE9AE}"/>
              </a:ext>
            </a:extLst>
          </p:cNvPr>
          <p:cNvSpPr txBox="1"/>
          <p:nvPr/>
        </p:nvSpPr>
        <p:spPr>
          <a:xfrm>
            <a:off x="3114000" y="399600"/>
            <a:ext cx="2772000" cy="22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(중)  ALD ZnF₂ 증착 공정 사이클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B36F57-4621-74E5-4334-B56B02B05473}"/>
              </a:ext>
            </a:extLst>
          </p:cNvPr>
          <p:cNvSpPr txBox="1"/>
          <p:nvPr/>
        </p:nvSpPr>
        <p:spPr>
          <a:xfrm>
            <a:off x="6138000" y="399600"/>
            <a:ext cx="2916000" cy="22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(우)  해결 : 균일 Li 핵생성 및 평탄한 증착</a:t>
            </a:r>
          </a:p>
        </p:txBody>
      </p: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219BAFAF-5925-4B15-F597-157D591132AF}"/>
              </a:ext>
            </a:extLst>
          </p:cNvPr>
          <p:cNvCxnSpPr/>
          <p:nvPr/>
        </p:nvCxnSpPr>
        <p:spPr>
          <a:xfrm>
            <a:off x="2880000" y="2334240"/>
            <a:ext cx="216000" cy="0"/>
          </a:xfrm>
          <a:prstGeom prst="line">
            <a:avLst/>
          </a:prstGeom>
          <a:ln w="38100">
            <a:solidFill>
              <a:srgbClr val="303F9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98199B8-2261-A814-AD96-5251B1874552}"/>
              </a:ext>
            </a:extLst>
          </p:cNvPr>
          <p:cNvSpPr txBox="1"/>
          <p:nvPr/>
        </p:nvSpPr>
        <p:spPr>
          <a:xfrm>
            <a:off x="2862000" y="2118240"/>
            <a:ext cx="251999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303F9F"/>
                </a:solidFill>
                <a:latin typeface="맑은 고딕"/>
              </a:rPr>
              <a:t>ALD
코팅</a:t>
            </a:r>
          </a:p>
        </p:txBody>
      </p:sp>
      <p:cxnSp>
        <p:nvCxnSpPr>
          <p:cNvPr id="15" name="Connector 14">
            <a:extLst>
              <a:ext uri="{FF2B5EF4-FFF2-40B4-BE49-F238E27FC236}">
                <a16:creationId xmlns:a16="http://schemas.microsoft.com/office/drawing/2014/main" id="{1865C4F8-4460-DB3E-3449-A080C4A71AEA}"/>
              </a:ext>
            </a:extLst>
          </p:cNvPr>
          <p:cNvCxnSpPr/>
          <p:nvPr/>
        </p:nvCxnSpPr>
        <p:spPr>
          <a:xfrm>
            <a:off x="5904000" y="2334240"/>
            <a:ext cx="216000" cy="0"/>
          </a:xfrm>
          <a:prstGeom prst="line">
            <a:avLst/>
          </a:prstGeom>
          <a:ln w="38100">
            <a:solidFill>
              <a:srgbClr val="2E7D32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9D5BFE1-2427-AA15-8EA2-5914EACD4F03}"/>
              </a:ext>
            </a:extLst>
          </p:cNvPr>
          <p:cNvSpPr txBox="1"/>
          <p:nvPr/>
        </p:nvSpPr>
        <p:spPr>
          <a:xfrm>
            <a:off x="5886000" y="2118240"/>
            <a:ext cx="251999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맑은 고딕"/>
              </a:rPr>
              <a:t>→ 해결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C44DEFC-D4DB-2724-75A9-E029086B102E}"/>
              </a:ext>
            </a:extLst>
          </p:cNvPr>
          <p:cNvSpPr/>
          <p:nvPr/>
        </p:nvSpPr>
        <p:spPr>
          <a:xfrm>
            <a:off x="108000" y="666000"/>
            <a:ext cx="2736000" cy="2142000"/>
          </a:xfrm>
          <a:prstGeom prst="rect">
            <a:avLst/>
          </a:prstGeom>
          <a:solidFill>
            <a:srgbClr val="E1F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81A922A-30E3-7358-6208-1D06B2D7B7D0}"/>
              </a:ext>
            </a:extLst>
          </p:cNvPr>
          <p:cNvSpPr txBox="1"/>
          <p:nvPr/>
        </p:nvSpPr>
        <p:spPr>
          <a:xfrm>
            <a:off x="144000" y="694800"/>
            <a:ext cx="273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1579B"/>
                </a:solidFill>
                <a:latin typeface="맑은 고딕"/>
              </a:rPr>
              <a:t>전해질 (Electrolyte)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71FE22C-E4C6-3FA4-D16F-426F283C936B}"/>
              </a:ext>
            </a:extLst>
          </p:cNvPr>
          <p:cNvSpPr/>
          <p:nvPr/>
        </p:nvSpPr>
        <p:spPr>
          <a:xfrm>
            <a:off x="108000" y="2790000"/>
            <a:ext cx="2736000" cy="306000"/>
          </a:xfrm>
          <a:prstGeom prst="rect">
            <a:avLst/>
          </a:prstGeom>
          <a:solidFill>
            <a:srgbClr val="B87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A63EF58-93F3-048D-FD7E-24C9FD0C0A32}"/>
              </a:ext>
            </a:extLst>
          </p:cNvPr>
          <p:cNvSpPr txBox="1"/>
          <p:nvPr/>
        </p:nvSpPr>
        <p:spPr>
          <a:xfrm>
            <a:off x="108000" y="2861999"/>
            <a:ext cx="273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Cu 집전체</a:t>
            </a:r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EB6660D6-104F-107D-5AAB-6A2385AB4375}"/>
              </a:ext>
            </a:extLst>
          </p:cNvPr>
          <p:cNvSpPr/>
          <p:nvPr/>
        </p:nvSpPr>
        <p:spPr>
          <a:xfrm>
            <a:off x="156599" y="1494000"/>
            <a:ext cx="118800" cy="1296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946A4645-FF47-F1C8-39AD-9AA93D0C7976}"/>
              </a:ext>
            </a:extLst>
          </p:cNvPr>
          <p:cNvSpPr/>
          <p:nvPr/>
        </p:nvSpPr>
        <p:spPr>
          <a:xfrm>
            <a:off x="324000" y="1962000"/>
            <a:ext cx="108000" cy="827999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BCAE2BFC-1EEA-8DAF-13C0-C106DE2B4AA9}"/>
              </a:ext>
            </a:extLst>
          </p:cNvPr>
          <p:cNvSpPr/>
          <p:nvPr/>
        </p:nvSpPr>
        <p:spPr>
          <a:xfrm>
            <a:off x="464400" y="1205999"/>
            <a:ext cx="151200" cy="1584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D23B0636-35C2-F36B-BA27-FF07B9F8D51D}"/>
              </a:ext>
            </a:extLst>
          </p:cNvPr>
          <p:cNvSpPr/>
          <p:nvPr/>
        </p:nvSpPr>
        <p:spPr>
          <a:xfrm>
            <a:off x="673200" y="2142000"/>
            <a:ext cx="93600" cy="648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E089FE07-438B-597E-EFE5-CA682A82822D}"/>
              </a:ext>
            </a:extLst>
          </p:cNvPr>
          <p:cNvSpPr/>
          <p:nvPr/>
        </p:nvSpPr>
        <p:spPr>
          <a:xfrm>
            <a:off x="826200" y="1710000"/>
            <a:ext cx="111600" cy="1080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FEF5A2FB-6174-1A71-4921-AFC559F3777E}"/>
              </a:ext>
            </a:extLst>
          </p:cNvPr>
          <p:cNvSpPr/>
          <p:nvPr/>
        </p:nvSpPr>
        <p:spPr>
          <a:xfrm>
            <a:off x="981000" y="1062000"/>
            <a:ext cx="162000" cy="1728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8801C842-1193-DBD8-DB88-E3AB8170C168}"/>
              </a:ext>
            </a:extLst>
          </p:cNvPr>
          <p:cNvSpPr/>
          <p:nvPr/>
        </p:nvSpPr>
        <p:spPr>
          <a:xfrm>
            <a:off x="1191600" y="2034000"/>
            <a:ext cx="100800" cy="756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56A45589-A32E-778A-E4D8-3560D30FBB55}"/>
              </a:ext>
            </a:extLst>
          </p:cNvPr>
          <p:cNvSpPr/>
          <p:nvPr/>
        </p:nvSpPr>
        <p:spPr>
          <a:xfrm>
            <a:off x="1357200" y="1458000"/>
            <a:ext cx="129600" cy="1332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Isosceles Triangle 28">
            <a:extLst>
              <a:ext uri="{FF2B5EF4-FFF2-40B4-BE49-F238E27FC236}">
                <a16:creationId xmlns:a16="http://schemas.microsoft.com/office/drawing/2014/main" id="{E9DCE7F0-852C-15CC-9AAD-6E84CD93FA31}"/>
              </a:ext>
            </a:extLst>
          </p:cNvPr>
          <p:cNvSpPr/>
          <p:nvPr/>
        </p:nvSpPr>
        <p:spPr>
          <a:xfrm>
            <a:off x="1558800" y="2214000"/>
            <a:ext cx="86400" cy="576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B9373819-23C4-BC33-8F5E-B0EFC11855DD}"/>
              </a:ext>
            </a:extLst>
          </p:cNvPr>
          <p:cNvSpPr/>
          <p:nvPr/>
        </p:nvSpPr>
        <p:spPr>
          <a:xfrm>
            <a:off x="1710000" y="1314000"/>
            <a:ext cx="144000" cy="1475999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8A24B95A-357E-4CD0-43CC-F23DBB65D2F7}"/>
              </a:ext>
            </a:extLst>
          </p:cNvPr>
          <p:cNvSpPr/>
          <p:nvPr/>
        </p:nvSpPr>
        <p:spPr>
          <a:xfrm>
            <a:off x="1904400" y="1818000"/>
            <a:ext cx="115200" cy="972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6D8BF9D4-3913-F431-8FE2-419A16B476D8}"/>
              </a:ext>
            </a:extLst>
          </p:cNvPr>
          <p:cNvSpPr/>
          <p:nvPr/>
        </p:nvSpPr>
        <p:spPr>
          <a:xfrm>
            <a:off x="2080800" y="1602000"/>
            <a:ext cx="122400" cy="1188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C3C0A71F-0844-5397-BC1E-6BDA0158D5E0}"/>
              </a:ext>
            </a:extLst>
          </p:cNvPr>
          <p:cNvSpPr/>
          <p:nvPr/>
        </p:nvSpPr>
        <p:spPr>
          <a:xfrm>
            <a:off x="2244600" y="1170000"/>
            <a:ext cx="154800" cy="1620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Isosceles Triangle 33">
            <a:extLst>
              <a:ext uri="{FF2B5EF4-FFF2-40B4-BE49-F238E27FC236}">
                <a16:creationId xmlns:a16="http://schemas.microsoft.com/office/drawing/2014/main" id="{327E8A58-BFEB-91F7-511B-401E73295877}"/>
              </a:ext>
            </a:extLst>
          </p:cNvPr>
          <p:cNvSpPr/>
          <p:nvPr/>
        </p:nvSpPr>
        <p:spPr>
          <a:xfrm>
            <a:off x="2453400" y="2070000"/>
            <a:ext cx="97200" cy="720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9CEF2B33-D11F-0907-D6A7-DEB138AA584F}"/>
              </a:ext>
            </a:extLst>
          </p:cNvPr>
          <p:cNvSpPr/>
          <p:nvPr/>
        </p:nvSpPr>
        <p:spPr>
          <a:xfrm>
            <a:off x="125999" y="2725200"/>
            <a:ext cx="180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C4D67C63-B97B-E702-F68C-AD2E6CFC0728}"/>
              </a:ext>
            </a:extLst>
          </p:cNvPr>
          <p:cNvSpPr/>
          <p:nvPr/>
        </p:nvSpPr>
        <p:spPr>
          <a:xfrm>
            <a:off x="360000" y="2725200"/>
            <a:ext cx="198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A2FFF64F-80DA-2CCF-7A08-13F202A1E9A3}"/>
              </a:ext>
            </a:extLst>
          </p:cNvPr>
          <p:cNvSpPr/>
          <p:nvPr/>
        </p:nvSpPr>
        <p:spPr>
          <a:xfrm>
            <a:off x="630000" y="2725200"/>
            <a:ext cx="1728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DD547AE8-7D55-69A5-B748-97824FC45425}"/>
              </a:ext>
            </a:extLst>
          </p:cNvPr>
          <p:cNvSpPr/>
          <p:nvPr/>
        </p:nvSpPr>
        <p:spPr>
          <a:xfrm>
            <a:off x="900000" y="2725200"/>
            <a:ext cx="1872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64FD16A6-2070-9C0A-FE0D-180A3057D4B0}"/>
              </a:ext>
            </a:extLst>
          </p:cNvPr>
          <p:cNvSpPr/>
          <p:nvPr/>
        </p:nvSpPr>
        <p:spPr>
          <a:xfrm>
            <a:off x="1188000" y="2725200"/>
            <a:ext cx="180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6D8CED9B-4AC0-8B1F-ABEF-D6B6EAAE972A}"/>
              </a:ext>
            </a:extLst>
          </p:cNvPr>
          <p:cNvSpPr/>
          <p:nvPr/>
        </p:nvSpPr>
        <p:spPr>
          <a:xfrm>
            <a:off x="1458000" y="2725200"/>
            <a:ext cx="198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C58D6C84-1F27-8D31-1BA4-207F8379A902}"/>
              </a:ext>
            </a:extLst>
          </p:cNvPr>
          <p:cNvSpPr/>
          <p:nvPr/>
        </p:nvSpPr>
        <p:spPr>
          <a:xfrm>
            <a:off x="1728000" y="2725200"/>
            <a:ext cx="1728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43A383B8-5BAE-7D6B-B719-90206D706020}"/>
              </a:ext>
            </a:extLst>
          </p:cNvPr>
          <p:cNvSpPr/>
          <p:nvPr/>
        </p:nvSpPr>
        <p:spPr>
          <a:xfrm>
            <a:off x="1998000" y="2725200"/>
            <a:ext cx="1872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E81AD1E4-2090-1ACA-5CA7-01BF643FC215}"/>
              </a:ext>
            </a:extLst>
          </p:cNvPr>
          <p:cNvSpPr/>
          <p:nvPr/>
        </p:nvSpPr>
        <p:spPr>
          <a:xfrm>
            <a:off x="2268000" y="2725200"/>
            <a:ext cx="180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C5EE0959-0070-31EA-FB9F-2B134DEB5C76}"/>
              </a:ext>
            </a:extLst>
          </p:cNvPr>
          <p:cNvSpPr/>
          <p:nvPr/>
        </p:nvSpPr>
        <p:spPr>
          <a:xfrm>
            <a:off x="2520000" y="2725200"/>
            <a:ext cx="1512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3C61EC7-99FA-C1F9-DAE2-3ADD96D17E83}"/>
              </a:ext>
            </a:extLst>
          </p:cNvPr>
          <p:cNvSpPr txBox="1"/>
          <p:nvPr/>
        </p:nvSpPr>
        <p:spPr>
          <a:xfrm>
            <a:off x="1278000" y="864000"/>
            <a:ext cx="1368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62828"/>
                </a:solidFill>
                <a:latin typeface="맑은 고딕"/>
              </a:rPr>
              <a:t>Li 덴드라이트 ⚠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2FC5712-BA6E-37BF-1C95-BE930A79A43D}"/>
              </a:ext>
            </a:extLst>
          </p:cNvPr>
          <p:cNvSpPr txBox="1"/>
          <p:nvPr/>
        </p:nvSpPr>
        <p:spPr>
          <a:xfrm>
            <a:off x="1458000" y="2527200"/>
            <a:ext cx="1152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dirty="0" err="1">
                <a:solidFill>
                  <a:srgbClr val="BF360C"/>
                </a:solidFill>
                <a:latin typeface="맑은 고딕"/>
              </a:rPr>
              <a:t>불균일·파단</a:t>
            </a:r>
            <a:r>
              <a:rPr sz="850" b="0" dirty="0">
                <a:solidFill>
                  <a:srgbClr val="BF360C"/>
                </a:solidFill>
                <a:latin typeface="맑은 고딕"/>
              </a:rPr>
              <a:t> SEI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E511E51-0A78-581F-14E8-51629645CC74}"/>
              </a:ext>
            </a:extLst>
          </p:cNvPr>
          <p:cNvSpPr/>
          <p:nvPr/>
        </p:nvSpPr>
        <p:spPr>
          <a:xfrm>
            <a:off x="108000" y="3150000"/>
            <a:ext cx="2736000" cy="846000"/>
          </a:xfrm>
          <a:prstGeom prst="rect">
            <a:avLst/>
          </a:prstGeom>
          <a:solidFill>
            <a:srgbClr val="FFEBEE"/>
          </a:solidFill>
          <a:ln w="63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90345C3-E927-C39B-3188-0419CB80C8AA}"/>
              </a:ext>
            </a:extLst>
          </p:cNvPr>
          <p:cNvSpPr txBox="1"/>
          <p:nvPr/>
        </p:nvSpPr>
        <p:spPr>
          <a:xfrm>
            <a:off x="144000" y="3186000"/>
            <a:ext cx="2646000" cy="804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</a:pPr>
            <a:r>
              <a:rPr sz="850">
                <a:solidFill>
                  <a:srgbClr val="B71C1C"/>
                </a:solidFill>
                <a:latin typeface="맑은 고딕"/>
              </a:rPr>
              <a:t>• Cu 집전체 위 ALD 코팅 없이 Li 전착 시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B71C1C"/>
                </a:solidFill>
                <a:latin typeface="맑은 고딕"/>
              </a:rPr>
              <a:t>• 핵생성 과전압 불균일 → 덴드라이트 성장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B71C1C"/>
                </a:solidFill>
                <a:latin typeface="맑은 고딕"/>
              </a:rPr>
              <a:t>• 두껍고 불균일한 SEI 형성 반복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B71C1C"/>
                </a:solidFill>
                <a:latin typeface="맑은 고딕"/>
              </a:rPr>
              <a:t>• 쿨롱 효율 저하 및 내부 단락(short) 위험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FD433BC-6841-385B-1C1A-45F93112FA20}"/>
              </a:ext>
            </a:extLst>
          </p:cNvPr>
          <p:cNvSpPr/>
          <p:nvPr/>
        </p:nvSpPr>
        <p:spPr>
          <a:xfrm>
            <a:off x="108000" y="4050000"/>
            <a:ext cx="2736000" cy="14328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>
            <a:extLst>
              <a:ext uri="{FF2B5EF4-FFF2-40B4-BE49-F238E27FC236}">
                <a16:creationId xmlns:a16="http://schemas.microsoft.com/office/drawing/2014/main" id="{E4FC6E31-2EED-BBE3-B1C8-1BFA11FD547C}"/>
              </a:ext>
            </a:extLst>
          </p:cNvPr>
          <p:cNvCxnSpPr/>
          <p:nvPr/>
        </p:nvCxnSpPr>
        <p:spPr>
          <a:xfrm>
            <a:off x="108000" y="4050000"/>
            <a:ext cx="2736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>
            <a:extLst>
              <a:ext uri="{FF2B5EF4-FFF2-40B4-BE49-F238E27FC236}">
                <a16:creationId xmlns:a16="http://schemas.microsoft.com/office/drawing/2014/main" id="{9BE420B1-96FC-F17C-61E0-9FAD71A59CCE}"/>
              </a:ext>
            </a:extLst>
          </p:cNvPr>
          <p:cNvCxnSpPr/>
          <p:nvPr/>
        </p:nvCxnSpPr>
        <p:spPr>
          <a:xfrm flipH="1">
            <a:off x="108000" y="4050000"/>
            <a:ext cx="2736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155B35AE-7356-393E-DF5B-538C84B001A3}"/>
              </a:ext>
            </a:extLst>
          </p:cNvPr>
          <p:cNvSpPr txBox="1"/>
          <p:nvPr/>
        </p:nvSpPr>
        <p:spPr>
          <a:xfrm>
            <a:off x="108000" y="4640400"/>
            <a:ext cx="27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SEM 이미지 공간
(Li 덴드라이트 / 불균일 증착)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A539994-4041-C7BD-9BA5-DE71D09C5F80}"/>
              </a:ext>
            </a:extLst>
          </p:cNvPr>
          <p:cNvSpPr/>
          <p:nvPr/>
        </p:nvSpPr>
        <p:spPr>
          <a:xfrm>
            <a:off x="3132000" y="691200"/>
            <a:ext cx="2736000" cy="2015999"/>
          </a:xfrm>
          <a:prstGeom prst="rect">
            <a:avLst/>
          </a:prstGeom>
          <a:solidFill>
            <a:srgbClr val="F3E5F5"/>
          </a:solidFill>
          <a:ln w="635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28F65ED-27B0-7769-A0B0-AF12AEA33551}"/>
              </a:ext>
            </a:extLst>
          </p:cNvPr>
          <p:cNvSpPr txBox="1"/>
          <p:nvPr/>
        </p:nvSpPr>
        <p:spPr>
          <a:xfrm>
            <a:off x="3132000" y="716400"/>
            <a:ext cx="273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6A1B9A"/>
                </a:solidFill>
                <a:latin typeface="맑은 고딕"/>
              </a:rPr>
              <a:t>ALD 증착 사이클 (1 cycle)</a:t>
            </a:r>
          </a:p>
        </p:txBody>
      </p:sp>
      <p:sp>
        <p:nvSpPr>
          <p:cNvPr id="55" name="Rounded Rectangle 54">
            <a:extLst>
              <a:ext uri="{FF2B5EF4-FFF2-40B4-BE49-F238E27FC236}">
                <a16:creationId xmlns:a16="http://schemas.microsoft.com/office/drawing/2014/main" id="{DA4C2CE4-EB15-139C-C3E3-F3EF19466A00}"/>
              </a:ext>
            </a:extLst>
          </p:cNvPr>
          <p:cNvSpPr/>
          <p:nvPr/>
        </p:nvSpPr>
        <p:spPr>
          <a:xfrm>
            <a:off x="3360000" y="1243200"/>
            <a:ext cx="1026000" cy="378000"/>
          </a:xfrm>
          <a:prstGeom prst="roundRect">
            <a:avLst/>
          </a:prstGeom>
          <a:solidFill>
            <a:srgbClr val="1976D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1461E34-7402-FD05-717B-D7279ABBD6A7}"/>
              </a:ext>
            </a:extLst>
          </p:cNvPr>
          <p:cNvSpPr txBox="1"/>
          <p:nvPr/>
        </p:nvSpPr>
        <p:spPr>
          <a:xfrm>
            <a:off x="3360000" y="1279200"/>
            <a:ext cx="102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① 전구체 노출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A3C6D23-C272-6C2C-5C99-781D0ADCF2A2}"/>
              </a:ext>
            </a:extLst>
          </p:cNvPr>
          <p:cNvSpPr txBox="1"/>
          <p:nvPr/>
        </p:nvSpPr>
        <p:spPr>
          <a:xfrm>
            <a:off x="3360000" y="1452000"/>
            <a:ext cx="102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맑은 고딕"/>
              </a:rPr>
              <a:t>(DEZ 펄스)</a:t>
            </a:r>
          </a:p>
        </p:txBody>
      </p:sp>
      <p:sp>
        <p:nvSpPr>
          <p:cNvPr id="58" name="Rounded Rectangle 57">
            <a:extLst>
              <a:ext uri="{FF2B5EF4-FFF2-40B4-BE49-F238E27FC236}">
                <a16:creationId xmlns:a16="http://schemas.microsoft.com/office/drawing/2014/main" id="{90F34F89-8969-B1E7-4ADC-D5AD3203AAEB}"/>
              </a:ext>
            </a:extLst>
          </p:cNvPr>
          <p:cNvSpPr/>
          <p:nvPr/>
        </p:nvSpPr>
        <p:spPr>
          <a:xfrm>
            <a:off x="4614000" y="1243200"/>
            <a:ext cx="1026000" cy="378000"/>
          </a:xfrm>
          <a:prstGeom prst="roundRect">
            <a:avLst/>
          </a:prstGeom>
          <a:solidFill>
            <a:srgbClr val="F9A825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852036B-0E30-D269-AB50-F65F9A0EA69F}"/>
              </a:ext>
            </a:extLst>
          </p:cNvPr>
          <p:cNvSpPr txBox="1"/>
          <p:nvPr/>
        </p:nvSpPr>
        <p:spPr>
          <a:xfrm>
            <a:off x="4614000" y="1279200"/>
            <a:ext cx="102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② 퍼지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90FA1D1-BB9A-A888-5399-C344B97BF8BA}"/>
              </a:ext>
            </a:extLst>
          </p:cNvPr>
          <p:cNvSpPr txBox="1"/>
          <p:nvPr/>
        </p:nvSpPr>
        <p:spPr>
          <a:xfrm>
            <a:off x="4614000" y="1452000"/>
            <a:ext cx="102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맑은 고딕"/>
              </a:rPr>
              <a:t>(N₂ 가스)</a:t>
            </a:r>
          </a:p>
        </p:txBody>
      </p: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E5367DCC-C256-CDB9-0B27-46BF68D731F0}"/>
              </a:ext>
            </a:extLst>
          </p:cNvPr>
          <p:cNvSpPr/>
          <p:nvPr/>
        </p:nvSpPr>
        <p:spPr>
          <a:xfrm>
            <a:off x="4614000" y="1975200"/>
            <a:ext cx="1026000" cy="378000"/>
          </a:xfrm>
          <a:prstGeom prst="roundRect">
            <a:avLst/>
          </a:prstGeom>
          <a:solidFill>
            <a:srgbClr val="43A047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7DFB140-6A09-9F49-6AA6-3A34FD7E5644}"/>
              </a:ext>
            </a:extLst>
          </p:cNvPr>
          <p:cNvSpPr txBox="1"/>
          <p:nvPr/>
        </p:nvSpPr>
        <p:spPr>
          <a:xfrm>
            <a:off x="4614000" y="2011199"/>
            <a:ext cx="102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③ 반응물 노출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3E323C0-EAFE-9DC6-60EE-A10104204389}"/>
              </a:ext>
            </a:extLst>
          </p:cNvPr>
          <p:cNvSpPr txBox="1"/>
          <p:nvPr/>
        </p:nvSpPr>
        <p:spPr>
          <a:xfrm>
            <a:off x="4614000" y="2184000"/>
            <a:ext cx="102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맑은 고딕"/>
              </a:rPr>
              <a:t>(HF·py 펄스)</a:t>
            </a:r>
          </a:p>
        </p:txBody>
      </p:sp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0F9D90CC-F4BB-A0E3-E6DF-563D2AE24495}"/>
              </a:ext>
            </a:extLst>
          </p:cNvPr>
          <p:cNvSpPr/>
          <p:nvPr/>
        </p:nvSpPr>
        <p:spPr>
          <a:xfrm>
            <a:off x="3360000" y="1975200"/>
            <a:ext cx="1026000" cy="378000"/>
          </a:xfrm>
          <a:prstGeom prst="roundRect">
            <a:avLst/>
          </a:prstGeom>
          <a:solidFill>
            <a:srgbClr val="EF535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DC5F0B1-17A6-6647-D8D7-9974FAC2DF14}"/>
              </a:ext>
            </a:extLst>
          </p:cNvPr>
          <p:cNvSpPr txBox="1"/>
          <p:nvPr/>
        </p:nvSpPr>
        <p:spPr>
          <a:xfrm>
            <a:off x="3360000" y="2011199"/>
            <a:ext cx="102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④ 퍼지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3A13F4E-4F32-CA4A-7BEC-A57FF4119AE7}"/>
              </a:ext>
            </a:extLst>
          </p:cNvPr>
          <p:cNvSpPr txBox="1"/>
          <p:nvPr/>
        </p:nvSpPr>
        <p:spPr>
          <a:xfrm>
            <a:off x="3360000" y="2184000"/>
            <a:ext cx="102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맑은 고딕"/>
              </a:rPr>
              <a:t>(N₂ 가스)</a:t>
            </a:r>
          </a:p>
        </p:txBody>
      </p:sp>
      <p:cxnSp>
        <p:nvCxnSpPr>
          <p:cNvPr id="67" name="Connector 66">
            <a:extLst>
              <a:ext uri="{FF2B5EF4-FFF2-40B4-BE49-F238E27FC236}">
                <a16:creationId xmlns:a16="http://schemas.microsoft.com/office/drawing/2014/main" id="{F404C6FD-14DD-AEF4-AFD6-38CDC55D476D}"/>
              </a:ext>
            </a:extLst>
          </p:cNvPr>
          <p:cNvCxnSpPr/>
          <p:nvPr/>
        </p:nvCxnSpPr>
        <p:spPr>
          <a:xfrm>
            <a:off x="4386000" y="1432200"/>
            <a:ext cx="228000" cy="0"/>
          </a:xfrm>
          <a:prstGeom prst="line">
            <a:avLst/>
          </a:prstGeom>
          <a:ln w="25400">
            <a:solidFill>
              <a:srgbClr val="37474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>
            <a:extLst>
              <a:ext uri="{FF2B5EF4-FFF2-40B4-BE49-F238E27FC236}">
                <a16:creationId xmlns:a16="http://schemas.microsoft.com/office/drawing/2014/main" id="{52174CCA-50A1-4E92-E550-8C009B555ED0}"/>
              </a:ext>
            </a:extLst>
          </p:cNvPr>
          <p:cNvCxnSpPr/>
          <p:nvPr/>
        </p:nvCxnSpPr>
        <p:spPr>
          <a:xfrm>
            <a:off x="5127000" y="1621199"/>
            <a:ext cx="0" cy="354001"/>
          </a:xfrm>
          <a:prstGeom prst="line">
            <a:avLst/>
          </a:prstGeom>
          <a:ln w="25400">
            <a:solidFill>
              <a:srgbClr val="37474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>
            <a:extLst>
              <a:ext uri="{FF2B5EF4-FFF2-40B4-BE49-F238E27FC236}">
                <a16:creationId xmlns:a16="http://schemas.microsoft.com/office/drawing/2014/main" id="{6992CAF6-C985-CD2B-A91E-9E8F876F0D99}"/>
              </a:ext>
            </a:extLst>
          </p:cNvPr>
          <p:cNvCxnSpPr/>
          <p:nvPr/>
        </p:nvCxnSpPr>
        <p:spPr>
          <a:xfrm flipH="1">
            <a:off x="4386000" y="2164200"/>
            <a:ext cx="228000" cy="0"/>
          </a:xfrm>
          <a:prstGeom prst="line">
            <a:avLst/>
          </a:prstGeom>
          <a:ln w="25400">
            <a:solidFill>
              <a:srgbClr val="37474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>
            <a:extLst>
              <a:ext uri="{FF2B5EF4-FFF2-40B4-BE49-F238E27FC236}">
                <a16:creationId xmlns:a16="http://schemas.microsoft.com/office/drawing/2014/main" id="{913E3119-EA82-0B36-09AA-9C588C5AB5CE}"/>
              </a:ext>
            </a:extLst>
          </p:cNvPr>
          <p:cNvCxnSpPr/>
          <p:nvPr/>
        </p:nvCxnSpPr>
        <p:spPr>
          <a:xfrm flipV="1">
            <a:off x="3873000" y="1621199"/>
            <a:ext cx="0" cy="354001"/>
          </a:xfrm>
          <a:prstGeom prst="line">
            <a:avLst/>
          </a:prstGeom>
          <a:ln w="25400">
            <a:solidFill>
              <a:srgbClr val="37474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>
            <a:extLst>
              <a:ext uri="{FF2B5EF4-FFF2-40B4-BE49-F238E27FC236}">
                <a16:creationId xmlns:a16="http://schemas.microsoft.com/office/drawing/2014/main" id="{5EF9F0A9-FD51-55CB-8C2B-6DA42C4ECC90}"/>
              </a:ext>
            </a:extLst>
          </p:cNvPr>
          <p:cNvSpPr/>
          <p:nvPr/>
        </p:nvSpPr>
        <p:spPr>
          <a:xfrm>
            <a:off x="4104000" y="1690199"/>
            <a:ext cx="792000" cy="21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7C24B4B-B683-58CC-1CF0-B75B416CF61F}"/>
              </a:ext>
            </a:extLst>
          </p:cNvPr>
          <p:cNvSpPr txBox="1"/>
          <p:nvPr/>
        </p:nvSpPr>
        <p:spPr>
          <a:xfrm>
            <a:off x="4104000" y="1690199"/>
            <a:ext cx="79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6A1B9A"/>
                </a:solidFill>
                <a:latin typeface="맑은 고딕"/>
              </a:rPr>
              <a:t>ALD 1 사이클 반복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FAF671E7-6E43-24F5-83CF-2E18848A9E58}"/>
              </a:ext>
            </a:extLst>
          </p:cNvPr>
          <p:cNvSpPr/>
          <p:nvPr/>
        </p:nvSpPr>
        <p:spPr>
          <a:xfrm>
            <a:off x="3132000" y="2761200"/>
            <a:ext cx="2736000" cy="666000"/>
          </a:xfrm>
          <a:prstGeom prst="rect">
            <a:avLst/>
          </a:prstGeom>
          <a:solidFill>
            <a:srgbClr val="E8EAF6"/>
          </a:solidFill>
          <a:ln w="6350">
            <a:solidFill>
              <a:srgbClr val="7B86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F20A20D-8275-A761-B2D5-488E58D0BDEE}"/>
              </a:ext>
            </a:extLst>
          </p:cNvPr>
          <p:cNvSpPr txBox="1"/>
          <p:nvPr/>
        </p:nvSpPr>
        <p:spPr>
          <a:xfrm>
            <a:off x="3132000" y="2782800"/>
            <a:ext cx="273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303F9F"/>
                </a:solidFill>
                <a:latin typeface="맑은 고딕"/>
              </a:rPr>
              <a:t>박막 형성 단면 모식도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445DB71E-1A27-A97B-18A1-A4EE458BEB79}"/>
              </a:ext>
            </a:extLst>
          </p:cNvPr>
          <p:cNvSpPr/>
          <p:nvPr/>
        </p:nvSpPr>
        <p:spPr>
          <a:xfrm>
            <a:off x="3222000" y="3211200"/>
            <a:ext cx="2556000" cy="151200"/>
          </a:xfrm>
          <a:prstGeom prst="rect">
            <a:avLst/>
          </a:prstGeom>
          <a:solidFill>
            <a:srgbClr val="B87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0F27563-DA0D-8F98-663B-018525DD1555}"/>
              </a:ext>
            </a:extLst>
          </p:cNvPr>
          <p:cNvSpPr txBox="1"/>
          <p:nvPr/>
        </p:nvSpPr>
        <p:spPr>
          <a:xfrm>
            <a:off x="3222000" y="3232800"/>
            <a:ext cx="2556000" cy="11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</a:rPr>
              <a:t>Cu 기판 / Li 금속 음극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5C650431-EF44-39D3-148A-0F00FF3CBB61}"/>
              </a:ext>
            </a:extLst>
          </p:cNvPr>
          <p:cNvSpPr/>
          <p:nvPr/>
        </p:nvSpPr>
        <p:spPr>
          <a:xfrm>
            <a:off x="3222000" y="3110400"/>
            <a:ext cx="2556000" cy="1008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0130373-D6DE-F8F3-4D36-340429B04C99}"/>
              </a:ext>
            </a:extLst>
          </p:cNvPr>
          <p:cNvSpPr txBox="1"/>
          <p:nvPr/>
        </p:nvSpPr>
        <p:spPr>
          <a:xfrm>
            <a:off x="3222000" y="3117600"/>
            <a:ext cx="2556000" cy="1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맑은 고딕"/>
              </a:rPr>
              <a:t>ZnF₂ ALD 박막  (두께: 5~100 nm)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37903B0-9F4E-E54E-6E84-7302A483A2BD}"/>
              </a:ext>
            </a:extLst>
          </p:cNvPr>
          <p:cNvSpPr txBox="1"/>
          <p:nvPr/>
        </p:nvSpPr>
        <p:spPr>
          <a:xfrm>
            <a:off x="3222000" y="2973600"/>
            <a:ext cx="2556000" cy="11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3949AB"/>
                </a:solidFill>
                <a:latin typeface="맑은 고딕"/>
              </a:rPr>
              <a:t>← n 사이클 반복으로 두께 제어 →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6830DA35-E0D4-99E0-5C1E-82D8D4CEB4EF}"/>
              </a:ext>
            </a:extLst>
          </p:cNvPr>
          <p:cNvSpPr/>
          <p:nvPr/>
        </p:nvSpPr>
        <p:spPr>
          <a:xfrm>
            <a:off x="3132000" y="3463199"/>
            <a:ext cx="2736000" cy="846000"/>
          </a:xfrm>
          <a:prstGeom prst="rect">
            <a:avLst/>
          </a:prstGeom>
          <a:solidFill>
            <a:srgbClr val="EEEEFF"/>
          </a:solidFill>
          <a:ln w="6350">
            <a:solidFill>
              <a:srgbClr val="303F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AB5E873-A5F3-4C0E-57F9-B8EDC27E7376}"/>
              </a:ext>
            </a:extLst>
          </p:cNvPr>
          <p:cNvSpPr txBox="1"/>
          <p:nvPr/>
        </p:nvSpPr>
        <p:spPr>
          <a:xfrm>
            <a:off x="3175200" y="3499199"/>
            <a:ext cx="2664000" cy="804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ZnF₂ ALD: DEZ + HF·py 전구체 조합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자기제한적(self-limiting) 표면 반응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기판 온도 50~200°C, Å 수준 두께 제어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결과: 균일·공형(conformal) 불화물 박막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C4EB99DF-B154-DBC1-CB99-6CB136632C74}"/>
              </a:ext>
            </a:extLst>
          </p:cNvPr>
          <p:cNvSpPr/>
          <p:nvPr/>
        </p:nvSpPr>
        <p:spPr>
          <a:xfrm>
            <a:off x="3132000" y="4363200"/>
            <a:ext cx="2736000" cy="11196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3" name="Connector 82">
            <a:extLst>
              <a:ext uri="{FF2B5EF4-FFF2-40B4-BE49-F238E27FC236}">
                <a16:creationId xmlns:a16="http://schemas.microsoft.com/office/drawing/2014/main" id="{7CCBC7A6-C370-5D84-F9EC-315094668F62}"/>
              </a:ext>
            </a:extLst>
          </p:cNvPr>
          <p:cNvCxnSpPr/>
          <p:nvPr/>
        </p:nvCxnSpPr>
        <p:spPr>
          <a:xfrm>
            <a:off x="3132000" y="4363200"/>
            <a:ext cx="2736000" cy="11196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>
            <a:extLst>
              <a:ext uri="{FF2B5EF4-FFF2-40B4-BE49-F238E27FC236}">
                <a16:creationId xmlns:a16="http://schemas.microsoft.com/office/drawing/2014/main" id="{E570F419-0BC7-7CA8-FF19-8DB90A48008E}"/>
              </a:ext>
            </a:extLst>
          </p:cNvPr>
          <p:cNvCxnSpPr/>
          <p:nvPr/>
        </p:nvCxnSpPr>
        <p:spPr>
          <a:xfrm flipH="1">
            <a:off x="3132000" y="4363200"/>
            <a:ext cx="2736000" cy="11196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A87A00FE-AA7D-BAC7-1359-7C39F750E686}"/>
              </a:ext>
            </a:extLst>
          </p:cNvPr>
          <p:cNvSpPr txBox="1"/>
          <p:nvPr/>
        </p:nvSpPr>
        <p:spPr>
          <a:xfrm>
            <a:off x="3132000" y="4797000"/>
            <a:ext cx="27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TEM / SAED 이미지 공간
(ALD ZnF₂ 박막 단면)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460524A8-4CBE-E564-1F99-79902CA714DF}"/>
              </a:ext>
            </a:extLst>
          </p:cNvPr>
          <p:cNvSpPr/>
          <p:nvPr/>
        </p:nvSpPr>
        <p:spPr>
          <a:xfrm>
            <a:off x="6156000" y="666000"/>
            <a:ext cx="2880000" cy="2142000"/>
          </a:xfrm>
          <a:prstGeom prst="rect">
            <a:avLst/>
          </a:prstGeom>
          <a:solidFill>
            <a:srgbClr val="E1F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3BF4023-3D9A-7154-E04D-7C53436C780B}"/>
              </a:ext>
            </a:extLst>
          </p:cNvPr>
          <p:cNvSpPr txBox="1"/>
          <p:nvPr/>
        </p:nvSpPr>
        <p:spPr>
          <a:xfrm>
            <a:off x="6192000" y="694800"/>
            <a:ext cx="2808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1579B"/>
                </a:solidFill>
                <a:latin typeface="맑은 고딕"/>
              </a:rPr>
              <a:t>전해질 (Electrolyte)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F3FC66C0-7D5B-E0CA-CBE2-C83B3EB5A4F2}"/>
              </a:ext>
            </a:extLst>
          </p:cNvPr>
          <p:cNvSpPr/>
          <p:nvPr/>
        </p:nvSpPr>
        <p:spPr>
          <a:xfrm>
            <a:off x="6156000" y="2790000"/>
            <a:ext cx="2880000" cy="306000"/>
          </a:xfrm>
          <a:prstGeom prst="rect">
            <a:avLst/>
          </a:prstGeom>
          <a:solidFill>
            <a:srgbClr val="B87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AC1984C-2275-D906-DF68-7391EC429280}"/>
              </a:ext>
            </a:extLst>
          </p:cNvPr>
          <p:cNvSpPr txBox="1"/>
          <p:nvPr/>
        </p:nvSpPr>
        <p:spPr>
          <a:xfrm>
            <a:off x="6156000" y="2861999"/>
            <a:ext cx="288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Cu 집전체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5A2E2B6E-2AE8-5AF9-F13E-E0128C377566}"/>
              </a:ext>
            </a:extLst>
          </p:cNvPr>
          <p:cNvSpPr/>
          <p:nvPr/>
        </p:nvSpPr>
        <p:spPr>
          <a:xfrm>
            <a:off x="6156000" y="2689200"/>
            <a:ext cx="2880000" cy="1008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6BE8DDA-E680-32C3-E6F3-D5FBABB6DE7B}"/>
              </a:ext>
            </a:extLst>
          </p:cNvPr>
          <p:cNvSpPr txBox="1"/>
          <p:nvPr/>
        </p:nvSpPr>
        <p:spPr>
          <a:xfrm>
            <a:off x="6156000" y="2696399"/>
            <a:ext cx="2880000" cy="1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맑은 고딕"/>
              </a:rPr>
              <a:t>ALD 불화물 인공 SEI  (ZnF₂ / AlF₃ / LiF)</a:t>
            </a: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7C4D1A2E-C5C0-355B-D35A-8C2AD33B4B99}"/>
              </a:ext>
            </a:extLst>
          </p:cNvPr>
          <p:cNvSpPr/>
          <p:nvPr/>
        </p:nvSpPr>
        <p:spPr>
          <a:xfrm>
            <a:off x="62460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E0AA6CDA-F56B-0A5E-EC34-5E2BEB1C114C}"/>
              </a:ext>
            </a:extLst>
          </p:cNvPr>
          <p:cNvSpPr/>
          <p:nvPr/>
        </p:nvSpPr>
        <p:spPr>
          <a:xfrm>
            <a:off x="64476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896D908B-1A1B-A5B0-3906-1D92CD47D34C}"/>
              </a:ext>
            </a:extLst>
          </p:cNvPr>
          <p:cNvSpPr/>
          <p:nvPr/>
        </p:nvSpPr>
        <p:spPr>
          <a:xfrm>
            <a:off x="66492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4FFE5D1A-D7DA-1A83-EA4F-E71D18419F71}"/>
              </a:ext>
            </a:extLst>
          </p:cNvPr>
          <p:cNvSpPr/>
          <p:nvPr/>
        </p:nvSpPr>
        <p:spPr>
          <a:xfrm>
            <a:off x="68508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9E15D5A0-2BAC-3CE9-23C1-0CCDB33E77BE}"/>
              </a:ext>
            </a:extLst>
          </p:cNvPr>
          <p:cNvSpPr/>
          <p:nvPr/>
        </p:nvSpPr>
        <p:spPr>
          <a:xfrm>
            <a:off x="70524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C664A03E-6A31-5EA8-3812-BFE9AFFA4E1D}"/>
              </a:ext>
            </a:extLst>
          </p:cNvPr>
          <p:cNvSpPr/>
          <p:nvPr/>
        </p:nvSpPr>
        <p:spPr>
          <a:xfrm>
            <a:off x="72540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ABE004F1-7B48-FFC8-454A-908957FE07FF}"/>
              </a:ext>
            </a:extLst>
          </p:cNvPr>
          <p:cNvSpPr/>
          <p:nvPr/>
        </p:nvSpPr>
        <p:spPr>
          <a:xfrm>
            <a:off x="74556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614407BC-C817-0AEC-5640-050D3072F4CE}"/>
              </a:ext>
            </a:extLst>
          </p:cNvPr>
          <p:cNvSpPr/>
          <p:nvPr/>
        </p:nvSpPr>
        <p:spPr>
          <a:xfrm>
            <a:off x="76572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40B031C6-1AC3-2EE8-1CC2-7F91E95F92FA}"/>
              </a:ext>
            </a:extLst>
          </p:cNvPr>
          <p:cNvSpPr/>
          <p:nvPr/>
        </p:nvSpPr>
        <p:spPr>
          <a:xfrm>
            <a:off x="78588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EC92C075-B937-102E-D32C-C64C08394246}"/>
              </a:ext>
            </a:extLst>
          </p:cNvPr>
          <p:cNvSpPr/>
          <p:nvPr/>
        </p:nvSpPr>
        <p:spPr>
          <a:xfrm>
            <a:off x="80604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973BBBDF-E3E7-964C-0226-DCE5C4BED94B}"/>
              </a:ext>
            </a:extLst>
          </p:cNvPr>
          <p:cNvSpPr/>
          <p:nvPr/>
        </p:nvSpPr>
        <p:spPr>
          <a:xfrm>
            <a:off x="82620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75CEC7BD-F844-6F02-A504-2E0C975DCD97}"/>
              </a:ext>
            </a:extLst>
          </p:cNvPr>
          <p:cNvSpPr/>
          <p:nvPr/>
        </p:nvSpPr>
        <p:spPr>
          <a:xfrm>
            <a:off x="84636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5F3116AB-46D3-ADB0-14DB-43F660F8FEBA}"/>
              </a:ext>
            </a:extLst>
          </p:cNvPr>
          <p:cNvSpPr/>
          <p:nvPr/>
        </p:nvSpPr>
        <p:spPr>
          <a:xfrm>
            <a:off x="86652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6B7ADF24-B496-A6CB-8203-6A43636E29E9}"/>
              </a:ext>
            </a:extLst>
          </p:cNvPr>
          <p:cNvSpPr/>
          <p:nvPr/>
        </p:nvSpPr>
        <p:spPr>
          <a:xfrm>
            <a:off x="88668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42600A87-AD9D-7D2B-3CAF-618A1D04D3A3}"/>
              </a:ext>
            </a:extLst>
          </p:cNvPr>
          <p:cNvSpPr/>
          <p:nvPr/>
        </p:nvSpPr>
        <p:spPr>
          <a:xfrm>
            <a:off x="6156000" y="2106000"/>
            <a:ext cx="2880000" cy="468000"/>
          </a:xfrm>
          <a:prstGeom prst="rect">
            <a:avLst/>
          </a:prstGeom>
          <a:solidFill>
            <a:srgbClr val="909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152D741B-0C91-77F8-6596-29B4E3279236}"/>
              </a:ext>
            </a:extLst>
          </p:cNvPr>
          <p:cNvSpPr txBox="1"/>
          <p:nvPr/>
        </p:nvSpPr>
        <p:spPr>
          <a:xfrm>
            <a:off x="6156000" y="2257200"/>
            <a:ext cx="288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dirty="0" err="1">
                <a:solidFill>
                  <a:srgbClr val="FFFFFF"/>
                </a:solidFill>
                <a:latin typeface="맑은 고딕"/>
              </a:rPr>
              <a:t>균일하고</a:t>
            </a:r>
            <a:r>
              <a:rPr sz="9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900" b="1" dirty="0" err="1">
                <a:solidFill>
                  <a:srgbClr val="FFFFFF"/>
                </a:solidFill>
                <a:latin typeface="맑은 고딕"/>
              </a:rPr>
              <a:t>평탄한</a:t>
            </a:r>
            <a:r>
              <a:rPr sz="900" b="1" dirty="0">
                <a:solidFill>
                  <a:srgbClr val="FFFFFF"/>
                </a:solidFill>
                <a:latin typeface="맑은 고딕"/>
              </a:rPr>
              <a:t> Li </a:t>
            </a:r>
            <a:r>
              <a:rPr sz="900" b="1" dirty="0" err="1">
                <a:solidFill>
                  <a:srgbClr val="FFFFFF"/>
                </a:solidFill>
                <a:latin typeface="맑은 고딕"/>
              </a:rPr>
              <a:t>증착층</a:t>
            </a:r>
            <a:endParaRPr sz="900" b="1" dirty="0">
              <a:solidFill>
                <a:srgbClr val="FFFFFF"/>
              </a:solidFill>
              <a:latin typeface="맑은 고딕"/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5BBBF47A-7163-7AC7-BBC1-F4A0CB3418D4}"/>
              </a:ext>
            </a:extLst>
          </p:cNvPr>
          <p:cNvSpPr txBox="1"/>
          <p:nvPr/>
        </p:nvSpPr>
        <p:spPr>
          <a:xfrm>
            <a:off x="7578000" y="2429999"/>
            <a:ext cx="1368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E7D32"/>
                </a:solidFill>
                <a:latin typeface="맑은 고딕"/>
              </a:rPr>
              <a:t>✓ 균일 Li 핵생성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249F7D2-C92D-90F4-007A-A929C295296F}"/>
              </a:ext>
            </a:extLst>
          </p:cNvPr>
          <p:cNvSpPr txBox="1"/>
          <p:nvPr/>
        </p:nvSpPr>
        <p:spPr>
          <a:xfrm>
            <a:off x="7578000" y="2538000"/>
            <a:ext cx="1368000" cy="13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0695C"/>
                </a:solidFill>
                <a:latin typeface="맑은 고딕"/>
              </a:rPr>
              <a:t>인공 SEI (ALD 불화물)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5A68D4A1-ADE2-D870-4F01-76499FD370E8}"/>
              </a:ext>
            </a:extLst>
          </p:cNvPr>
          <p:cNvSpPr/>
          <p:nvPr/>
        </p:nvSpPr>
        <p:spPr>
          <a:xfrm>
            <a:off x="6156000" y="3150000"/>
            <a:ext cx="2880000" cy="846000"/>
          </a:xfrm>
          <a:prstGeom prst="rect">
            <a:avLst/>
          </a:prstGeom>
          <a:solidFill>
            <a:srgbClr val="E8F5E9"/>
          </a:solidFill>
          <a:ln w="63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88514410-D0B3-9CEB-7B93-2ADBE61E4A03}"/>
              </a:ext>
            </a:extLst>
          </p:cNvPr>
          <p:cNvSpPr txBox="1"/>
          <p:nvPr/>
        </p:nvSpPr>
        <p:spPr>
          <a:xfrm>
            <a:off x="6192000" y="3186000"/>
            <a:ext cx="2790000" cy="804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ALD 불화물 인공 SEI 형성 후 Li 전착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균일 핵생성 → 조밀·평탄한 Li 증착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덴드라이트 억제, SEI 두께·조성 정밀 제어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목표: CE &gt;99.5%, 용량유지율 &gt;80% (300 cy.)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EE40053D-A911-CB8F-7F9A-453CF49CB1CB}"/>
              </a:ext>
            </a:extLst>
          </p:cNvPr>
          <p:cNvSpPr/>
          <p:nvPr/>
        </p:nvSpPr>
        <p:spPr>
          <a:xfrm>
            <a:off x="6156000" y="4050000"/>
            <a:ext cx="2880000" cy="14328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3" name="Connector 112">
            <a:extLst>
              <a:ext uri="{FF2B5EF4-FFF2-40B4-BE49-F238E27FC236}">
                <a16:creationId xmlns:a16="http://schemas.microsoft.com/office/drawing/2014/main" id="{6DDF4DE0-DC89-B62C-0865-637FD87FA946}"/>
              </a:ext>
            </a:extLst>
          </p:cNvPr>
          <p:cNvCxnSpPr/>
          <p:nvPr/>
        </p:nvCxnSpPr>
        <p:spPr>
          <a:xfrm>
            <a:off x="6156000" y="4050000"/>
            <a:ext cx="2880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>
            <a:extLst>
              <a:ext uri="{FF2B5EF4-FFF2-40B4-BE49-F238E27FC236}">
                <a16:creationId xmlns:a16="http://schemas.microsoft.com/office/drawing/2014/main" id="{7BB94D60-70A0-CA26-83CE-263EF6F568CF}"/>
              </a:ext>
            </a:extLst>
          </p:cNvPr>
          <p:cNvCxnSpPr/>
          <p:nvPr/>
        </p:nvCxnSpPr>
        <p:spPr>
          <a:xfrm flipH="1">
            <a:off x="6156000" y="4050000"/>
            <a:ext cx="2880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B8899F7-2107-C609-92E9-B60E5A37653D}"/>
              </a:ext>
            </a:extLst>
          </p:cNvPr>
          <p:cNvSpPr txBox="1"/>
          <p:nvPr/>
        </p:nvSpPr>
        <p:spPr>
          <a:xfrm>
            <a:off x="6156000" y="4640400"/>
            <a:ext cx="28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SEM 이미지 공간
(균일 Li 증착 / 평탄 표면)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62DCFC4A-9AB1-1D14-1F30-60FD633E21A9}"/>
              </a:ext>
            </a:extLst>
          </p:cNvPr>
          <p:cNvSpPr/>
          <p:nvPr/>
        </p:nvSpPr>
        <p:spPr>
          <a:xfrm>
            <a:off x="0" y="5551200"/>
            <a:ext cx="9144000" cy="288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129740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BD4D39E-E3D6-2AE0-2D2C-ED41279674B7}"/>
              </a:ext>
            </a:extLst>
          </p:cNvPr>
          <p:cNvSpPr/>
          <p:nvPr/>
        </p:nvSpPr>
        <p:spPr>
          <a:xfrm>
            <a:off x="90000" y="378000"/>
            <a:ext cx="2772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4CA2E6E-4107-F9CD-9C9B-42EE6CF15797}"/>
              </a:ext>
            </a:extLst>
          </p:cNvPr>
          <p:cNvSpPr/>
          <p:nvPr/>
        </p:nvSpPr>
        <p:spPr>
          <a:xfrm>
            <a:off x="3114000" y="378000"/>
            <a:ext cx="2772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303F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A6B895-D012-03EB-FAF5-F42C238DC9BD}"/>
              </a:ext>
            </a:extLst>
          </p:cNvPr>
          <p:cNvSpPr/>
          <p:nvPr/>
        </p:nvSpPr>
        <p:spPr>
          <a:xfrm>
            <a:off x="6138000" y="378000"/>
            <a:ext cx="2916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7A115C1-A606-6EA3-FD70-50C1F72D075B}"/>
              </a:ext>
            </a:extLst>
          </p:cNvPr>
          <p:cNvSpPr/>
          <p:nvPr/>
        </p:nvSpPr>
        <p:spPr>
          <a:xfrm>
            <a:off x="90000" y="378000"/>
            <a:ext cx="2772000" cy="27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BE7876D-BD67-166A-5125-E873885E8450}"/>
              </a:ext>
            </a:extLst>
          </p:cNvPr>
          <p:cNvSpPr/>
          <p:nvPr/>
        </p:nvSpPr>
        <p:spPr>
          <a:xfrm>
            <a:off x="3114000" y="378000"/>
            <a:ext cx="2772000" cy="270000"/>
          </a:xfrm>
          <a:prstGeom prst="rect">
            <a:avLst/>
          </a:prstGeom>
          <a:solidFill>
            <a:srgbClr val="303F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2A5D2B-A5CC-8941-B848-DAFC25E05D9A}"/>
              </a:ext>
            </a:extLst>
          </p:cNvPr>
          <p:cNvSpPr/>
          <p:nvPr/>
        </p:nvSpPr>
        <p:spPr>
          <a:xfrm>
            <a:off x="6138000" y="378000"/>
            <a:ext cx="2916000" cy="27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0D814B-86E1-244C-AB3B-B9993C05AEEC}"/>
              </a:ext>
            </a:extLst>
          </p:cNvPr>
          <p:cNvSpPr txBox="1"/>
          <p:nvPr/>
        </p:nvSpPr>
        <p:spPr>
          <a:xfrm>
            <a:off x="90000" y="399600"/>
            <a:ext cx="2772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문제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: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불균일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Li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핵생성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및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덴드라이트</a:t>
            </a:r>
            <a:endParaRPr sz="900" b="1" dirty="0">
              <a:solidFill>
                <a:srgbClr val="FFFFFF"/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51C129-3F40-68D2-2965-2D7666001C74}"/>
              </a:ext>
            </a:extLst>
          </p:cNvPr>
          <p:cNvSpPr txBox="1"/>
          <p:nvPr/>
        </p:nvSpPr>
        <p:spPr>
          <a:xfrm>
            <a:off x="3114000" y="399600"/>
            <a:ext cx="2772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Metal</a:t>
            </a:r>
            <a:r>
              <a:rPr lang="ko-KR" altLang="en-US"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</a:t>
            </a:r>
            <a:r>
              <a:rPr lang="en-US" altLang="ko-KR"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Fluoride</a:t>
            </a:r>
            <a:r>
              <a:rPr lang="ko-KR" altLang="en-US"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ALD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증착</a:t>
            </a:r>
            <a:endParaRPr sz="900" b="1" dirty="0">
              <a:solidFill>
                <a:srgbClr val="FFFFFF"/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9B2EA1-B191-F604-30D2-2EB2C601EF06}"/>
              </a:ext>
            </a:extLst>
          </p:cNvPr>
          <p:cNvSpPr txBox="1"/>
          <p:nvPr/>
        </p:nvSpPr>
        <p:spPr>
          <a:xfrm>
            <a:off x="6138000" y="399600"/>
            <a:ext cx="291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해결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: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균일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Li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핵생성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및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평탄한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증착</a:t>
            </a:r>
            <a:endParaRPr sz="900" b="1" dirty="0">
              <a:solidFill>
                <a:srgbClr val="FFFFFF"/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1F4C3C94-B6F8-075A-D3DC-BB516D32B6F0}"/>
              </a:ext>
            </a:extLst>
          </p:cNvPr>
          <p:cNvCxnSpPr/>
          <p:nvPr/>
        </p:nvCxnSpPr>
        <p:spPr>
          <a:xfrm>
            <a:off x="2880000" y="2334240"/>
            <a:ext cx="216000" cy="0"/>
          </a:xfrm>
          <a:prstGeom prst="line">
            <a:avLst/>
          </a:prstGeom>
          <a:ln w="38100">
            <a:solidFill>
              <a:srgbClr val="303F9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>
            <a:extLst>
              <a:ext uri="{FF2B5EF4-FFF2-40B4-BE49-F238E27FC236}">
                <a16:creationId xmlns:a16="http://schemas.microsoft.com/office/drawing/2014/main" id="{3BB49A8A-FB05-214E-2B16-FB1C30F5A7D0}"/>
              </a:ext>
            </a:extLst>
          </p:cNvPr>
          <p:cNvCxnSpPr/>
          <p:nvPr/>
        </p:nvCxnSpPr>
        <p:spPr>
          <a:xfrm>
            <a:off x="5904000" y="2334240"/>
            <a:ext cx="216000" cy="0"/>
          </a:xfrm>
          <a:prstGeom prst="line">
            <a:avLst/>
          </a:prstGeom>
          <a:ln w="38100">
            <a:solidFill>
              <a:srgbClr val="2E7D32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891AD70F-72EE-3768-AED7-69FA9CF0AD04}"/>
              </a:ext>
            </a:extLst>
          </p:cNvPr>
          <p:cNvSpPr/>
          <p:nvPr/>
        </p:nvSpPr>
        <p:spPr>
          <a:xfrm>
            <a:off x="108000" y="666000"/>
            <a:ext cx="2736000" cy="2142000"/>
          </a:xfrm>
          <a:prstGeom prst="rect">
            <a:avLst/>
          </a:prstGeom>
          <a:solidFill>
            <a:srgbClr val="E1F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F463CB-6DB7-FF81-CBAD-D3CB6AE37E8D}"/>
              </a:ext>
            </a:extLst>
          </p:cNvPr>
          <p:cNvSpPr txBox="1"/>
          <p:nvPr/>
        </p:nvSpPr>
        <p:spPr>
          <a:xfrm>
            <a:off x="144000" y="694800"/>
            <a:ext cx="2736000" cy="230832"/>
          </a:xfrm>
          <a:prstGeom prst="rect">
            <a:avLst/>
          </a:prstGeom>
          <a:noFill/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r>
              <a:rPr sz="900" b="1" dirty="0" err="1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전해질</a:t>
            </a:r>
            <a:r>
              <a:rPr sz="900" b="1" dirty="0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(Electrolyte)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1EE2FC0-B1FF-A68A-6FD6-F4E69EB45D1C}"/>
              </a:ext>
            </a:extLst>
          </p:cNvPr>
          <p:cNvSpPr/>
          <p:nvPr/>
        </p:nvSpPr>
        <p:spPr>
          <a:xfrm>
            <a:off x="108000" y="2790000"/>
            <a:ext cx="2736000" cy="306000"/>
          </a:xfrm>
          <a:prstGeom prst="rect">
            <a:avLst/>
          </a:prstGeom>
          <a:solidFill>
            <a:srgbClr val="B87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ED42603-E3F2-2E7C-78AA-DF2A51B84BD6}"/>
              </a:ext>
            </a:extLst>
          </p:cNvPr>
          <p:cNvSpPr txBox="1"/>
          <p:nvPr/>
        </p:nvSpPr>
        <p:spPr>
          <a:xfrm>
            <a:off x="108000" y="2861999"/>
            <a:ext cx="273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Cu </a:t>
            </a:r>
            <a:r>
              <a:rPr sz="900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집전체</a:t>
            </a:r>
            <a:endParaRPr sz="900" dirty="0">
              <a:solidFill>
                <a:srgbClr val="FFFFFF"/>
              </a:solidFill>
              <a:effectLst>
                <a:glow rad="139700">
                  <a:schemeClr val="accent2">
                    <a:satMod val="175000"/>
                    <a:alpha val="40000"/>
                  </a:schemeClr>
                </a:glow>
              </a:effectLst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D4723233-A871-0B85-BB39-D40CF2CDCDBF}"/>
              </a:ext>
            </a:extLst>
          </p:cNvPr>
          <p:cNvSpPr/>
          <p:nvPr/>
        </p:nvSpPr>
        <p:spPr>
          <a:xfrm>
            <a:off x="156599" y="1494000"/>
            <a:ext cx="118800" cy="1296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FC68EDF7-0170-3C03-9285-9812986A68F6}"/>
              </a:ext>
            </a:extLst>
          </p:cNvPr>
          <p:cNvSpPr/>
          <p:nvPr/>
        </p:nvSpPr>
        <p:spPr>
          <a:xfrm>
            <a:off x="324000" y="1962000"/>
            <a:ext cx="108000" cy="827999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45967E81-6DF6-7BED-89B9-AD3D30E5F8AC}"/>
              </a:ext>
            </a:extLst>
          </p:cNvPr>
          <p:cNvSpPr/>
          <p:nvPr/>
        </p:nvSpPr>
        <p:spPr>
          <a:xfrm>
            <a:off x="464400" y="1205999"/>
            <a:ext cx="151200" cy="1584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756EB8D1-3D17-F267-CFEF-3AD9865B410B}"/>
              </a:ext>
            </a:extLst>
          </p:cNvPr>
          <p:cNvSpPr/>
          <p:nvPr/>
        </p:nvSpPr>
        <p:spPr>
          <a:xfrm>
            <a:off x="673200" y="2142000"/>
            <a:ext cx="93600" cy="648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BB270242-86B5-378A-F1A2-0FB64DBCCAE2}"/>
              </a:ext>
            </a:extLst>
          </p:cNvPr>
          <p:cNvSpPr/>
          <p:nvPr/>
        </p:nvSpPr>
        <p:spPr>
          <a:xfrm>
            <a:off x="826200" y="1710000"/>
            <a:ext cx="111600" cy="1080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37971D90-AFC1-4F6D-1F85-D127CC971B07}"/>
              </a:ext>
            </a:extLst>
          </p:cNvPr>
          <p:cNvSpPr/>
          <p:nvPr/>
        </p:nvSpPr>
        <p:spPr>
          <a:xfrm>
            <a:off x="981000" y="1062000"/>
            <a:ext cx="162000" cy="1728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41E40534-4DEE-790C-5908-8803248E726C}"/>
              </a:ext>
            </a:extLst>
          </p:cNvPr>
          <p:cNvSpPr/>
          <p:nvPr/>
        </p:nvSpPr>
        <p:spPr>
          <a:xfrm>
            <a:off x="1191600" y="2034000"/>
            <a:ext cx="100800" cy="756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4F82690C-5996-4DFA-DD3C-850ACFCFA77E}"/>
              </a:ext>
            </a:extLst>
          </p:cNvPr>
          <p:cNvSpPr/>
          <p:nvPr/>
        </p:nvSpPr>
        <p:spPr>
          <a:xfrm>
            <a:off x="1357200" y="1458000"/>
            <a:ext cx="129600" cy="1332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Isosceles Triangle 28">
            <a:extLst>
              <a:ext uri="{FF2B5EF4-FFF2-40B4-BE49-F238E27FC236}">
                <a16:creationId xmlns:a16="http://schemas.microsoft.com/office/drawing/2014/main" id="{615B1765-9EE7-86AB-042E-50F66989A38A}"/>
              </a:ext>
            </a:extLst>
          </p:cNvPr>
          <p:cNvSpPr/>
          <p:nvPr/>
        </p:nvSpPr>
        <p:spPr>
          <a:xfrm>
            <a:off x="1558800" y="2214000"/>
            <a:ext cx="86400" cy="576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4FB67E1E-1914-EE35-3406-21DB6E8C2C1B}"/>
              </a:ext>
            </a:extLst>
          </p:cNvPr>
          <p:cNvSpPr/>
          <p:nvPr/>
        </p:nvSpPr>
        <p:spPr>
          <a:xfrm>
            <a:off x="1710000" y="1314000"/>
            <a:ext cx="144000" cy="1475999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62169E8C-E710-B7F8-A88C-A4A64307DB7B}"/>
              </a:ext>
            </a:extLst>
          </p:cNvPr>
          <p:cNvSpPr/>
          <p:nvPr/>
        </p:nvSpPr>
        <p:spPr>
          <a:xfrm>
            <a:off x="1904400" y="1818000"/>
            <a:ext cx="115200" cy="972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29173F2E-DF7A-9286-7197-A27784536915}"/>
              </a:ext>
            </a:extLst>
          </p:cNvPr>
          <p:cNvSpPr/>
          <p:nvPr/>
        </p:nvSpPr>
        <p:spPr>
          <a:xfrm>
            <a:off x="2080800" y="1602000"/>
            <a:ext cx="122400" cy="1188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3BEB2C92-6DAC-DC8E-26FE-AAD87E6A8FBF}"/>
              </a:ext>
            </a:extLst>
          </p:cNvPr>
          <p:cNvSpPr/>
          <p:nvPr/>
        </p:nvSpPr>
        <p:spPr>
          <a:xfrm>
            <a:off x="2244600" y="1170000"/>
            <a:ext cx="154800" cy="1620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Isosceles Triangle 33">
            <a:extLst>
              <a:ext uri="{FF2B5EF4-FFF2-40B4-BE49-F238E27FC236}">
                <a16:creationId xmlns:a16="http://schemas.microsoft.com/office/drawing/2014/main" id="{F71ACD68-EC5E-E87E-34B3-47C020B39A1F}"/>
              </a:ext>
            </a:extLst>
          </p:cNvPr>
          <p:cNvSpPr/>
          <p:nvPr/>
        </p:nvSpPr>
        <p:spPr>
          <a:xfrm>
            <a:off x="2453400" y="2070000"/>
            <a:ext cx="97200" cy="720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F73DFF1C-F436-7AA4-F9FF-9E1FFFF00FA1}"/>
              </a:ext>
            </a:extLst>
          </p:cNvPr>
          <p:cNvSpPr/>
          <p:nvPr/>
        </p:nvSpPr>
        <p:spPr>
          <a:xfrm>
            <a:off x="125999" y="2725200"/>
            <a:ext cx="180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9AF9FCE2-B982-E7CC-DCB7-193824E428FB}"/>
              </a:ext>
            </a:extLst>
          </p:cNvPr>
          <p:cNvSpPr/>
          <p:nvPr/>
        </p:nvSpPr>
        <p:spPr>
          <a:xfrm>
            <a:off x="360000" y="2725200"/>
            <a:ext cx="198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D518CF28-B18A-AE31-5F81-5A60B3EA4E9F}"/>
              </a:ext>
            </a:extLst>
          </p:cNvPr>
          <p:cNvSpPr/>
          <p:nvPr/>
        </p:nvSpPr>
        <p:spPr>
          <a:xfrm>
            <a:off x="630000" y="2725200"/>
            <a:ext cx="1728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D3C05F61-969B-88AC-F853-316DDC1D8535}"/>
              </a:ext>
            </a:extLst>
          </p:cNvPr>
          <p:cNvSpPr/>
          <p:nvPr/>
        </p:nvSpPr>
        <p:spPr>
          <a:xfrm>
            <a:off x="900000" y="2725200"/>
            <a:ext cx="1872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81193E39-0C19-A1E3-6EFE-9198B414D47B}"/>
              </a:ext>
            </a:extLst>
          </p:cNvPr>
          <p:cNvSpPr/>
          <p:nvPr/>
        </p:nvSpPr>
        <p:spPr>
          <a:xfrm>
            <a:off x="1188000" y="2725200"/>
            <a:ext cx="180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3EC5D294-7C89-B7DE-EF0A-ACFAAF4DCCFD}"/>
              </a:ext>
            </a:extLst>
          </p:cNvPr>
          <p:cNvSpPr/>
          <p:nvPr/>
        </p:nvSpPr>
        <p:spPr>
          <a:xfrm>
            <a:off x="1458000" y="2725200"/>
            <a:ext cx="198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F1044AD7-958A-16C7-DA7F-031A3415FF29}"/>
              </a:ext>
            </a:extLst>
          </p:cNvPr>
          <p:cNvSpPr/>
          <p:nvPr/>
        </p:nvSpPr>
        <p:spPr>
          <a:xfrm>
            <a:off x="1728000" y="2725200"/>
            <a:ext cx="1728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6D0E595D-6D53-117E-D7B5-8C8B14BB736D}"/>
              </a:ext>
            </a:extLst>
          </p:cNvPr>
          <p:cNvSpPr/>
          <p:nvPr/>
        </p:nvSpPr>
        <p:spPr>
          <a:xfrm>
            <a:off x="1998000" y="2725200"/>
            <a:ext cx="1872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8181B867-7EFE-47E5-86E9-EFAB769B5AEE}"/>
              </a:ext>
            </a:extLst>
          </p:cNvPr>
          <p:cNvSpPr/>
          <p:nvPr/>
        </p:nvSpPr>
        <p:spPr>
          <a:xfrm>
            <a:off x="2268000" y="2725200"/>
            <a:ext cx="180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9B6D30E6-689D-DDBF-0770-CFB034703232}"/>
              </a:ext>
            </a:extLst>
          </p:cNvPr>
          <p:cNvSpPr/>
          <p:nvPr/>
        </p:nvSpPr>
        <p:spPr>
          <a:xfrm>
            <a:off x="2520000" y="2725200"/>
            <a:ext cx="1512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2995953-E10A-DAF2-4A10-B48E7FA01B76}"/>
              </a:ext>
            </a:extLst>
          </p:cNvPr>
          <p:cNvSpPr txBox="1"/>
          <p:nvPr/>
        </p:nvSpPr>
        <p:spPr>
          <a:xfrm>
            <a:off x="1130400" y="1132516"/>
            <a:ext cx="1368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dirty="0"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Li </a:t>
            </a:r>
            <a:r>
              <a:rPr sz="1050" dirty="0" err="1"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덴드라이트</a:t>
            </a:r>
            <a:endParaRPr sz="1050" dirty="0">
              <a:effectLst>
                <a:glow rad="139700">
                  <a:schemeClr val="accent2">
                    <a:satMod val="175000"/>
                    <a:alpha val="40000"/>
                  </a:schemeClr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A92C0EF-D293-8EDB-F554-0E34298F5FB4}"/>
              </a:ext>
            </a:extLst>
          </p:cNvPr>
          <p:cNvSpPr txBox="1"/>
          <p:nvPr/>
        </p:nvSpPr>
        <p:spPr>
          <a:xfrm>
            <a:off x="849600" y="2371114"/>
            <a:ext cx="115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dirty="0" err="1">
                <a:solidFill>
                  <a:srgbClr val="FFFF00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불균일·파단</a:t>
            </a:r>
            <a:r>
              <a:rPr sz="1000" b="1" dirty="0">
                <a:solidFill>
                  <a:srgbClr val="FFFF00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 SEI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EBE649B-3C80-CC33-3C4B-7927AA938B60}"/>
              </a:ext>
            </a:extLst>
          </p:cNvPr>
          <p:cNvSpPr/>
          <p:nvPr/>
        </p:nvSpPr>
        <p:spPr>
          <a:xfrm>
            <a:off x="108000" y="3150000"/>
            <a:ext cx="2736000" cy="846000"/>
          </a:xfrm>
          <a:prstGeom prst="rect">
            <a:avLst/>
          </a:prstGeom>
          <a:solidFill>
            <a:srgbClr val="FFEBEE"/>
          </a:solidFill>
          <a:ln w="63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C4F054E-90A8-1D5B-83BF-07EE9ABE1F67}"/>
              </a:ext>
            </a:extLst>
          </p:cNvPr>
          <p:cNvSpPr txBox="1"/>
          <p:nvPr/>
        </p:nvSpPr>
        <p:spPr>
          <a:xfrm>
            <a:off x="144000" y="3186000"/>
            <a:ext cx="2646000" cy="747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Cu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집전체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위 ALD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코팅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없이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Li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전착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시</a:t>
            </a: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핵생성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과전압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불균일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→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덴드라이트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성장</a:t>
            </a:r>
            <a:endParaRPr sz="850" dirty="0">
              <a:solidFill>
                <a:srgbClr val="B71C1C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두껍고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불균일한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SEI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형성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반복</a:t>
            </a:r>
            <a:endParaRPr sz="850" dirty="0">
              <a:solidFill>
                <a:srgbClr val="B71C1C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쿨롱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효율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저하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및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내부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단락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(short)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위험</a:t>
            </a:r>
            <a:endParaRPr sz="850" dirty="0">
              <a:solidFill>
                <a:srgbClr val="B71C1C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D37AC400-CA50-B284-39FD-0B062B01F2F1}"/>
              </a:ext>
            </a:extLst>
          </p:cNvPr>
          <p:cNvSpPr/>
          <p:nvPr/>
        </p:nvSpPr>
        <p:spPr>
          <a:xfrm>
            <a:off x="108000" y="4050000"/>
            <a:ext cx="2736000" cy="14328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>
            <a:extLst>
              <a:ext uri="{FF2B5EF4-FFF2-40B4-BE49-F238E27FC236}">
                <a16:creationId xmlns:a16="http://schemas.microsoft.com/office/drawing/2014/main" id="{59386DC7-FC81-C20A-F9D7-F243CFAADC5B}"/>
              </a:ext>
            </a:extLst>
          </p:cNvPr>
          <p:cNvCxnSpPr/>
          <p:nvPr/>
        </p:nvCxnSpPr>
        <p:spPr>
          <a:xfrm>
            <a:off x="108000" y="4050000"/>
            <a:ext cx="2736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>
            <a:extLst>
              <a:ext uri="{FF2B5EF4-FFF2-40B4-BE49-F238E27FC236}">
                <a16:creationId xmlns:a16="http://schemas.microsoft.com/office/drawing/2014/main" id="{6D721C8F-638C-2489-1B8F-003140565875}"/>
              </a:ext>
            </a:extLst>
          </p:cNvPr>
          <p:cNvCxnSpPr/>
          <p:nvPr/>
        </p:nvCxnSpPr>
        <p:spPr>
          <a:xfrm flipH="1">
            <a:off x="108000" y="4050000"/>
            <a:ext cx="2736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365727DB-1531-F114-292A-C7533271C857}"/>
              </a:ext>
            </a:extLst>
          </p:cNvPr>
          <p:cNvSpPr txBox="1"/>
          <p:nvPr/>
        </p:nvSpPr>
        <p:spPr>
          <a:xfrm>
            <a:off x="108000" y="4640400"/>
            <a:ext cx="27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SEM 이미지 공간
(Li 덴드라이트 / 불균일 증착)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EAB40EF-34C4-97B2-3792-E80E76E4BFF3}"/>
              </a:ext>
            </a:extLst>
          </p:cNvPr>
          <p:cNvSpPr/>
          <p:nvPr/>
        </p:nvSpPr>
        <p:spPr>
          <a:xfrm>
            <a:off x="3132000" y="691200"/>
            <a:ext cx="2736000" cy="1907397"/>
          </a:xfrm>
          <a:prstGeom prst="rect">
            <a:avLst/>
          </a:prstGeom>
          <a:solidFill>
            <a:srgbClr val="F3E5F5"/>
          </a:solidFill>
          <a:ln w="635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0EACF5B-787D-78F0-B52E-956C62B39C2B}"/>
              </a:ext>
            </a:extLst>
          </p:cNvPr>
          <p:cNvSpPr txBox="1"/>
          <p:nvPr/>
        </p:nvSpPr>
        <p:spPr>
          <a:xfrm>
            <a:off x="3132000" y="716400"/>
            <a:ext cx="273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ALD </a:t>
            </a:r>
            <a:r>
              <a:rPr lang="ko-KR" altLang="en-US"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증착 사이클</a:t>
            </a:r>
            <a:endParaRPr sz="900" dirty="0">
              <a:solidFill>
                <a:srgbClr val="6A1B9A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D0A4BF24-C596-12F2-14DE-4B04F77DB1D6}"/>
              </a:ext>
            </a:extLst>
          </p:cNvPr>
          <p:cNvSpPr/>
          <p:nvPr/>
        </p:nvSpPr>
        <p:spPr>
          <a:xfrm>
            <a:off x="3132000" y="2617335"/>
            <a:ext cx="2736000" cy="809865"/>
          </a:xfrm>
          <a:prstGeom prst="rect">
            <a:avLst/>
          </a:prstGeom>
          <a:solidFill>
            <a:srgbClr val="E8EAF6"/>
          </a:solidFill>
          <a:ln w="6350">
            <a:solidFill>
              <a:srgbClr val="7B86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9E20D1C-BB22-70AB-8AAB-084F79965890}"/>
              </a:ext>
            </a:extLst>
          </p:cNvPr>
          <p:cNvSpPr txBox="1"/>
          <p:nvPr/>
        </p:nvSpPr>
        <p:spPr>
          <a:xfrm>
            <a:off x="3442845" y="2706669"/>
            <a:ext cx="20927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박막</a:t>
            </a:r>
            <a:r>
              <a:rPr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</a:t>
            </a:r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형성</a:t>
            </a:r>
            <a:r>
              <a:rPr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</a:t>
            </a:r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단면</a:t>
            </a:r>
            <a:r>
              <a:rPr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</a:t>
            </a:r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모식도</a:t>
            </a:r>
            <a:endParaRPr sz="900" dirty="0">
              <a:solidFill>
                <a:srgbClr val="6A1B9A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CB46B0CE-6F6D-FE00-29C2-313B19DA46BD}"/>
              </a:ext>
            </a:extLst>
          </p:cNvPr>
          <p:cNvSpPr/>
          <p:nvPr/>
        </p:nvSpPr>
        <p:spPr>
          <a:xfrm>
            <a:off x="3222000" y="3211200"/>
            <a:ext cx="2556000" cy="197998"/>
          </a:xfrm>
          <a:prstGeom prst="rect">
            <a:avLst/>
          </a:prstGeom>
          <a:solidFill>
            <a:srgbClr val="B87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2A6F839-79EB-4D21-1967-0595C7BABDFE}"/>
              </a:ext>
            </a:extLst>
          </p:cNvPr>
          <p:cNvSpPr/>
          <p:nvPr/>
        </p:nvSpPr>
        <p:spPr>
          <a:xfrm>
            <a:off x="3222000" y="3010245"/>
            <a:ext cx="2556000" cy="200955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4149C84-1118-CFC7-FE0D-483F5547B2C2}"/>
              </a:ext>
            </a:extLst>
          </p:cNvPr>
          <p:cNvSpPr txBox="1"/>
          <p:nvPr/>
        </p:nvSpPr>
        <p:spPr>
          <a:xfrm>
            <a:off x="3251860" y="3014494"/>
            <a:ext cx="25861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Metal Fluoride 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 ALD </a:t>
            </a:r>
            <a:r>
              <a:rPr sz="800" b="1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박막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  (</a:t>
            </a:r>
            <a:r>
              <a:rPr sz="800" b="1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두께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: 5~100 nm)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5E3A4FD-5917-75BE-1D17-03FE4CFCE13E}"/>
              </a:ext>
            </a:extLst>
          </p:cNvPr>
          <p:cNvSpPr txBox="1"/>
          <p:nvPr/>
        </p:nvSpPr>
        <p:spPr>
          <a:xfrm>
            <a:off x="3206992" y="2827318"/>
            <a:ext cx="2556000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← n </a:t>
            </a:r>
            <a:r>
              <a:rPr sz="80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사이클</a:t>
            </a:r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0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반복으로</a:t>
            </a:r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0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두께</a:t>
            </a:r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0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제어</a:t>
            </a:r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→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FD677B1E-D63C-968B-33F8-6CFC52281619}"/>
              </a:ext>
            </a:extLst>
          </p:cNvPr>
          <p:cNvSpPr/>
          <p:nvPr/>
        </p:nvSpPr>
        <p:spPr>
          <a:xfrm>
            <a:off x="3132000" y="3463199"/>
            <a:ext cx="2736000" cy="846000"/>
          </a:xfrm>
          <a:prstGeom prst="rect">
            <a:avLst/>
          </a:prstGeom>
          <a:solidFill>
            <a:srgbClr val="EEEEFF"/>
          </a:solidFill>
          <a:ln w="6350">
            <a:solidFill>
              <a:srgbClr val="303F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1791737-B16C-0B42-F941-0C58A9CEADEB}"/>
              </a:ext>
            </a:extLst>
          </p:cNvPr>
          <p:cNvSpPr txBox="1"/>
          <p:nvPr/>
        </p:nvSpPr>
        <p:spPr>
          <a:xfrm>
            <a:off x="3175200" y="3499199"/>
            <a:ext cx="2664000" cy="747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ZnF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₂ ALD: DEZ +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HF·py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전구체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조합</a:t>
            </a:r>
            <a:endParaRPr sz="850" dirty="0">
              <a:solidFill>
                <a:srgbClr val="1A237E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자기제한적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(self-limiting)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표면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반응</a:t>
            </a:r>
            <a:endParaRPr sz="850" dirty="0">
              <a:solidFill>
                <a:srgbClr val="1A237E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기판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온도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50~200°C, Å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수준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두께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제어</a:t>
            </a:r>
            <a:endParaRPr sz="850" dirty="0">
              <a:solidFill>
                <a:srgbClr val="1A237E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결과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: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균일·공형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(conformal)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불화물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박막</a:t>
            </a:r>
            <a:endParaRPr sz="850" dirty="0">
              <a:solidFill>
                <a:srgbClr val="1A237E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D0BF1A3C-8DF3-EA38-185A-60DFD4D7EDD7}"/>
              </a:ext>
            </a:extLst>
          </p:cNvPr>
          <p:cNvSpPr/>
          <p:nvPr/>
        </p:nvSpPr>
        <p:spPr>
          <a:xfrm>
            <a:off x="3132000" y="4363200"/>
            <a:ext cx="2736000" cy="11196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3" name="Connector 82">
            <a:extLst>
              <a:ext uri="{FF2B5EF4-FFF2-40B4-BE49-F238E27FC236}">
                <a16:creationId xmlns:a16="http://schemas.microsoft.com/office/drawing/2014/main" id="{C0C9CC02-9B8A-C658-3BD2-0CDCF09BD8AB}"/>
              </a:ext>
            </a:extLst>
          </p:cNvPr>
          <p:cNvCxnSpPr/>
          <p:nvPr/>
        </p:nvCxnSpPr>
        <p:spPr>
          <a:xfrm>
            <a:off x="3132000" y="4363200"/>
            <a:ext cx="2736000" cy="11196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>
            <a:extLst>
              <a:ext uri="{FF2B5EF4-FFF2-40B4-BE49-F238E27FC236}">
                <a16:creationId xmlns:a16="http://schemas.microsoft.com/office/drawing/2014/main" id="{E85D54A5-7C11-2C10-DD9E-7C3670FB1A43}"/>
              </a:ext>
            </a:extLst>
          </p:cNvPr>
          <p:cNvCxnSpPr/>
          <p:nvPr/>
        </p:nvCxnSpPr>
        <p:spPr>
          <a:xfrm flipH="1">
            <a:off x="3132000" y="4363200"/>
            <a:ext cx="2736000" cy="11196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024A175-BAF9-D4E4-2BBA-608AF867AF1C}"/>
              </a:ext>
            </a:extLst>
          </p:cNvPr>
          <p:cNvSpPr txBox="1"/>
          <p:nvPr/>
        </p:nvSpPr>
        <p:spPr>
          <a:xfrm>
            <a:off x="3132000" y="4797000"/>
            <a:ext cx="27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TEM / SAED 이미지 공간
(ALD ZnF₂ 박막 단면)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BDCE7FD5-69A3-BDE1-68A6-0C8B7C82BB60}"/>
              </a:ext>
            </a:extLst>
          </p:cNvPr>
          <p:cNvSpPr/>
          <p:nvPr/>
        </p:nvSpPr>
        <p:spPr>
          <a:xfrm>
            <a:off x="6156000" y="666000"/>
            <a:ext cx="2880000" cy="2142000"/>
          </a:xfrm>
          <a:prstGeom prst="rect">
            <a:avLst/>
          </a:prstGeom>
          <a:solidFill>
            <a:srgbClr val="E1F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78457BA-53E8-1664-7B79-16574FDE1EE6}"/>
              </a:ext>
            </a:extLst>
          </p:cNvPr>
          <p:cNvSpPr txBox="1"/>
          <p:nvPr/>
        </p:nvSpPr>
        <p:spPr>
          <a:xfrm>
            <a:off x="6192000" y="694800"/>
            <a:ext cx="2808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 err="1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전해질</a:t>
            </a:r>
            <a:r>
              <a:rPr sz="900" b="1" dirty="0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(Electrolyte)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1FF09695-F45F-2734-C155-AE08AB58B8FC}"/>
              </a:ext>
            </a:extLst>
          </p:cNvPr>
          <p:cNvSpPr/>
          <p:nvPr/>
        </p:nvSpPr>
        <p:spPr>
          <a:xfrm>
            <a:off x="6156000" y="2790000"/>
            <a:ext cx="2880000" cy="306000"/>
          </a:xfrm>
          <a:prstGeom prst="rect">
            <a:avLst/>
          </a:prstGeom>
          <a:solidFill>
            <a:srgbClr val="B87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56CD0C7-B78A-E3D5-E3DA-610AAF1CF38E}"/>
              </a:ext>
            </a:extLst>
          </p:cNvPr>
          <p:cNvSpPr txBox="1"/>
          <p:nvPr/>
        </p:nvSpPr>
        <p:spPr>
          <a:xfrm>
            <a:off x="6156000" y="2861999"/>
            <a:ext cx="2880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Cu </a:t>
            </a:r>
            <a:r>
              <a:rPr sz="900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집전체</a:t>
            </a:r>
            <a:endParaRPr sz="900" dirty="0">
              <a:solidFill>
                <a:srgbClr val="FFFFFF"/>
              </a:solidFill>
              <a:effectLst>
                <a:glow rad="139700">
                  <a:schemeClr val="accent2">
                    <a:satMod val="175000"/>
                    <a:alpha val="40000"/>
                  </a:schemeClr>
                </a:glow>
              </a:effectLst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3F0B13A9-ECAC-3398-5D5C-332E7460E160}"/>
              </a:ext>
            </a:extLst>
          </p:cNvPr>
          <p:cNvSpPr/>
          <p:nvPr/>
        </p:nvSpPr>
        <p:spPr>
          <a:xfrm>
            <a:off x="6156000" y="2573798"/>
            <a:ext cx="2880000" cy="216202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18A8747-8CCF-FEF5-8A8A-398A4C578D75}"/>
              </a:ext>
            </a:extLst>
          </p:cNvPr>
          <p:cNvSpPr txBox="1"/>
          <p:nvPr/>
        </p:nvSpPr>
        <p:spPr>
          <a:xfrm>
            <a:off x="6584545" y="2585195"/>
            <a:ext cx="214531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ALD </a:t>
            </a:r>
            <a:r>
              <a:rPr sz="800" b="1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불화물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 </a:t>
            </a:r>
            <a:r>
              <a:rPr sz="800" b="1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인공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 SEI  (</a:t>
            </a:r>
            <a:r>
              <a:rPr sz="800" b="1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ZnF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₂ / </a:t>
            </a:r>
            <a:r>
              <a:rPr lang="en-US"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Mg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F</a:t>
            </a:r>
            <a:r>
              <a:rPr lang="en-US" sz="800" b="1" baseline="-25000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2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 / </a:t>
            </a:r>
            <a:r>
              <a:rPr sz="800" b="1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LiF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)</a:t>
            </a: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14667851-1986-41BE-10B1-9A5F66CF935D}"/>
              </a:ext>
            </a:extLst>
          </p:cNvPr>
          <p:cNvSpPr/>
          <p:nvPr/>
        </p:nvSpPr>
        <p:spPr>
          <a:xfrm>
            <a:off x="62460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1819F860-DB50-1538-37FC-8C51A93CE0C5}"/>
              </a:ext>
            </a:extLst>
          </p:cNvPr>
          <p:cNvSpPr/>
          <p:nvPr/>
        </p:nvSpPr>
        <p:spPr>
          <a:xfrm>
            <a:off x="64476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D5C174A8-B3F7-3F63-7090-D82DD07CB1A9}"/>
              </a:ext>
            </a:extLst>
          </p:cNvPr>
          <p:cNvSpPr/>
          <p:nvPr/>
        </p:nvSpPr>
        <p:spPr>
          <a:xfrm>
            <a:off x="66492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4FC55B3A-C58F-7F71-576B-564080263A8D}"/>
              </a:ext>
            </a:extLst>
          </p:cNvPr>
          <p:cNvSpPr/>
          <p:nvPr/>
        </p:nvSpPr>
        <p:spPr>
          <a:xfrm>
            <a:off x="68508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409A8438-C17C-1C5C-2F21-0A2A1CF6EFB8}"/>
              </a:ext>
            </a:extLst>
          </p:cNvPr>
          <p:cNvSpPr/>
          <p:nvPr/>
        </p:nvSpPr>
        <p:spPr>
          <a:xfrm>
            <a:off x="70524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ED408D4B-DA19-1301-A68C-B124C44B61B1}"/>
              </a:ext>
            </a:extLst>
          </p:cNvPr>
          <p:cNvSpPr/>
          <p:nvPr/>
        </p:nvSpPr>
        <p:spPr>
          <a:xfrm>
            <a:off x="72540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BA434644-E808-1D27-4953-7813A31A3ACE}"/>
              </a:ext>
            </a:extLst>
          </p:cNvPr>
          <p:cNvSpPr/>
          <p:nvPr/>
        </p:nvSpPr>
        <p:spPr>
          <a:xfrm>
            <a:off x="74556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3A318770-E906-6A95-7C2B-D8D4C21FC320}"/>
              </a:ext>
            </a:extLst>
          </p:cNvPr>
          <p:cNvSpPr/>
          <p:nvPr/>
        </p:nvSpPr>
        <p:spPr>
          <a:xfrm>
            <a:off x="76572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3B604FA2-0D3D-ABB3-43EF-7E871C98A338}"/>
              </a:ext>
            </a:extLst>
          </p:cNvPr>
          <p:cNvSpPr/>
          <p:nvPr/>
        </p:nvSpPr>
        <p:spPr>
          <a:xfrm>
            <a:off x="78588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479FDA57-3B4F-FE14-6B13-8C3F9BDAF50F}"/>
              </a:ext>
            </a:extLst>
          </p:cNvPr>
          <p:cNvSpPr/>
          <p:nvPr/>
        </p:nvSpPr>
        <p:spPr>
          <a:xfrm>
            <a:off x="80604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A853A93D-2E5F-C550-69F0-3E91331FA72E}"/>
              </a:ext>
            </a:extLst>
          </p:cNvPr>
          <p:cNvSpPr/>
          <p:nvPr/>
        </p:nvSpPr>
        <p:spPr>
          <a:xfrm>
            <a:off x="82620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5366423F-8E08-4709-5D25-0D2405765E32}"/>
              </a:ext>
            </a:extLst>
          </p:cNvPr>
          <p:cNvSpPr/>
          <p:nvPr/>
        </p:nvSpPr>
        <p:spPr>
          <a:xfrm>
            <a:off x="84636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169BD0AB-1D0E-2EC5-BDCF-0A41EAAB10D2}"/>
              </a:ext>
            </a:extLst>
          </p:cNvPr>
          <p:cNvSpPr/>
          <p:nvPr/>
        </p:nvSpPr>
        <p:spPr>
          <a:xfrm>
            <a:off x="86652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AEF79026-8359-48AE-07F1-4BE7ACA2DF15}"/>
              </a:ext>
            </a:extLst>
          </p:cNvPr>
          <p:cNvSpPr/>
          <p:nvPr/>
        </p:nvSpPr>
        <p:spPr>
          <a:xfrm>
            <a:off x="88668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7840E267-C444-85C8-6309-B86381BF4E44}"/>
              </a:ext>
            </a:extLst>
          </p:cNvPr>
          <p:cNvSpPr/>
          <p:nvPr/>
        </p:nvSpPr>
        <p:spPr>
          <a:xfrm>
            <a:off x="6156000" y="1991195"/>
            <a:ext cx="2880000" cy="468000"/>
          </a:xfrm>
          <a:prstGeom prst="rect">
            <a:avLst/>
          </a:prstGeom>
          <a:solidFill>
            <a:srgbClr val="909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ADF00C40-0058-9326-C506-2007B510DF49}"/>
              </a:ext>
            </a:extLst>
          </p:cNvPr>
          <p:cNvSpPr txBox="1"/>
          <p:nvPr/>
        </p:nvSpPr>
        <p:spPr>
          <a:xfrm>
            <a:off x="7038000" y="1479168"/>
            <a:ext cx="1641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dirty="0" err="1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균일하고</a:t>
            </a:r>
            <a:r>
              <a:rPr sz="900" dirty="0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900" dirty="0" err="1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평탄한</a:t>
            </a:r>
            <a:r>
              <a:rPr sz="900" dirty="0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Li </a:t>
            </a:r>
            <a:r>
              <a:rPr sz="900" dirty="0" err="1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증착층</a:t>
            </a:r>
            <a:endParaRPr sz="900" dirty="0">
              <a:effectLst>
                <a:glow rad="63500">
                  <a:schemeClr val="accent4">
                    <a:satMod val="175000"/>
                    <a:alpha val="40000"/>
                  </a:schemeClr>
                </a:glow>
              </a:effectLst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52D4C433-4F87-F356-BDA2-B96DBE402D59}"/>
              </a:ext>
            </a:extLst>
          </p:cNvPr>
          <p:cNvSpPr txBox="1"/>
          <p:nvPr/>
        </p:nvSpPr>
        <p:spPr>
          <a:xfrm>
            <a:off x="7596000" y="2231553"/>
            <a:ext cx="13680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✓ </a:t>
            </a:r>
            <a:r>
              <a:rPr sz="800" dirty="0" err="1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균일</a:t>
            </a:r>
            <a:r>
              <a:rPr sz="8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Li </a:t>
            </a:r>
            <a:r>
              <a:rPr sz="800" dirty="0" err="1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핵생성</a:t>
            </a:r>
            <a:endParaRPr sz="800" dirty="0">
              <a:solidFill>
                <a:schemeClr val="bg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44EFA07A-78E2-FD77-CF53-24BBC0FE8BCE}"/>
              </a:ext>
            </a:extLst>
          </p:cNvPr>
          <p:cNvSpPr txBox="1"/>
          <p:nvPr/>
        </p:nvSpPr>
        <p:spPr>
          <a:xfrm>
            <a:off x="6194276" y="2088278"/>
            <a:ext cx="119791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dirty="0" err="1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인공</a:t>
            </a:r>
            <a:r>
              <a:rPr sz="8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SEI (ALD </a:t>
            </a:r>
            <a:r>
              <a:rPr sz="800" dirty="0" err="1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불화물</a:t>
            </a:r>
            <a:r>
              <a:rPr sz="8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)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D47A79E7-46EB-6A61-276E-83053BE1E607}"/>
              </a:ext>
            </a:extLst>
          </p:cNvPr>
          <p:cNvSpPr/>
          <p:nvPr/>
        </p:nvSpPr>
        <p:spPr>
          <a:xfrm>
            <a:off x="6156000" y="3150000"/>
            <a:ext cx="2880000" cy="846000"/>
          </a:xfrm>
          <a:prstGeom prst="rect">
            <a:avLst/>
          </a:prstGeom>
          <a:solidFill>
            <a:srgbClr val="E8F5E9"/>
          </a:solidFill>
          <a:ln w="63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64A66C92-8138-30E4-AB7F-FD073B86A6AA}"/>
              </a:ext>
            </a:extLst>
          </p:cNvPr>
          <p:cNvSpPr txBox="1"/>
          <p:nvPr/>
        </p:nvSpPr>
        <p:spPr>
          <a:xfrm>
            <a:off x="6192000" y="3186000"/>
            <a:ext cx="2790000" cy="747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ALD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불화물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인공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SEI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형성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후 Li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전착</a:t>
            </a:r>
            <a:endParaRPr sz="850" dirty="0">
              <a:solidFill>
                <a:srgbClr val="1B5E20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균일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핵생성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→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조밀·평탄한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Li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증착</a:t>
            </a:r>
            <a:endParaRPr sz="850" dirty="0">
              <a:solidFill>
                <a:srgbClr val="1B5E20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덴드라이트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억제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SEI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두께·조성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정밀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제어</a:t>
            </a:r>
            <a:endParaRPr sz="850" dirty="0">
              <a:solidFill>
                <a:srgbClr val="1B5E20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목표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: CE &gt;99.5%,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용량유지율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&gt;80% (300 cy.)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1265055F-AD2E-CF39-BA29-FD5DFD63BE4C}"/>
              </a:ext>
            </a:extLst>
          </p:cNvPr>
          <p:cNvSpPr/>
          <p:nvPr/>
        </p:nvSpPr>
        <p:spPr>
          <a:xfrm>
            <a:off x="6156000" y="4050000"/>
            <a:ext cx="2880000" cy="14328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3" name="Connector 112">
            <a:extLst>
              <a:ext uri="{FF2B5EF4-FFF2-40B4-BE49-F238E27FC236}">
                <a16:creationId xmlns:a16="http://schemas.microsoft.com/office/drawing/2014/main" id="{42AD35D5-0DE9-C82E-5386-3C8303303B48}"/>
              </a:ext>
            </a:extLst>
          </p:cNvPr>
          <p:cNvCxnSpPr/>
          <p:nvPr/>
        </p:nvCxnSpPr>
        <p:spPr>
          <a:xfrm>
            <a:off x="6156000" y="4050000"/>
            <a:ext cx="2880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>
            <a:extLst>
              <a:ext uri="{FF2B5EF4-FFF2-40B4-BE49-F238E27FC236}">
                <a16:creationId xmlns:a16="http://schemas.microsoft.com/office/drawing/2014/main" id="{017FB558-D481-9DF7-50C5-1CE25CD53AC2}"/>
              </a:ext>
            </a:extLst>
          </p:cNvPr>
          <p:cNvCxnSpPr/>
          <p:nvPr/>
        </p:nvCxnSpPr>
        <p:spPr>
          <a:xfrm flipH="1">
            <a:off x="6156000" y="4050000"/>
            <a:ext cx="2880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15F12439-BA16-08C6-AA28-F0C9879131D7}"/>
              </a:ext>
            </a:extLst>
          </p:cNvPr>
          <p:cNvSpPr txBox="1"/>
          <p:nvPr/>
        </p:nvSpPr>
        <p:spPr>
          <a:xfrm>
            <a:off x="6156000" y="4640400"/>
            <a:ext cx="28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SEM 이미지 공간
(균일 Li 증착 / 평탄 표면)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CC06427F-FC70-0E32-4DBC-BDF94F90528E}"/>
              </a:ext>
            </a:extLst>
          </p:cNvPr>
          <p:cNvSpPr/>
          <p:nvPr/>
        </p:nvSpPr>
        <p:spPr>
          <a:xfrm>
            <a:off x="0" y="5551200"/>
            <a:ext cx="9144000" cy="288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607E2B4C-EA3D-5B34-AC13-5B85F0581380}"/>
              </a:ext>
            </a:extLst>
          </p:cNvPr>
          <p:cNvSpPr txBox="1"/>
          <p:nvPr/>
        </p:nvSpPr>
        <p:spPr>
          <a:xfrm>
            <a:off x="3540417" y="3216457"/>
            <a:ext cx="187930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900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Cu </a:t>
            </a:r>
            <a:r>
              <a:rPr lang="ko-KR" altLang="en-US" sz="900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집전체</a:t>
            </a:r>
          </a:p>
        </p:txBody>
      </p:sp>
    </p:spTree>
    <p:extLst>
      <p:ext uri="{BB962C8B-B14F-4D97-AF65-F5344CB8AC3E}">
        <p14:creationId xmlns:p14="http://schemas.microsoft.com/office/powerpoint/2010/main" val="695017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BD4D39E-E3D6-2AE0-2D2C-ED41279674B7}"/>
              </a:ext>
            </a:extLst>
          </p:cNvPr>
          <p:cNvSpPr/>
          <p:nvPr/>
        </p:nvSpPr>
        <p:spPr>
          <a:xfrm>
            <a:off x="90000" y="378000"/>
            <a:ext cx="2772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D4B490A6-7650-5FAA-5D2A-DE450D536BC6}"/>
              </a:ext>
            </a:extLst>
          </p:cNvPr>
          <p:cNvSpPr/>
          <p:nvPr/>
        </p:nvSpPr>
        <p:spPr>
          <a:xfrm>
            <a:off x="108000" y="666001"/>
            <a:ext cx="2736000" cy="1929600"/>
          </a:xfrm>
          <a:prstGeom prst="rect">
            <a:avLst/>
          </a:prstGeom>
          <a:solidFill>
            <a:srgbClr val="E1F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4CA2E6E-4107-F9CD-9C9B-42EE6CF15797}"/>
              </a:ext>
            </a:extLst>
          </p:cNvPr>
          <p:cNvSpPr/>
          <p:nvPr/>
        </p:nvSpPr>
        <p:spPr>
          <a:xfrm>
            <a:off x="3114000" y="378000"/>
            <a:ext cx="2772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303F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A6B895-D012-03EB-FAF5-F42C238DC9BD}"/>
              </a:ext>
            </a:extLst>
          </p:cNvPr>
          <p:cNvSpPr/>
          <p:nvPr/>
        </p:nvSpPr>
        <p:spPr>
          <a:xfrm>
            <a:off x="6138000" y="378000"/>
            <a:ext cx="2916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7A115C1-A606-6EA3-FD70-50C1F72D075B}"/>
              </a:ext>
            </a:extLst>
          </p:cNvPr>
          <p:cNvSpPr/>
          <p:nvPr/>
        </p:nvSpPr>
        <p:spPr>
          <a:xfrm>
            <a:off x="90000" y="378000"/>
            <a:ext cx="2772000" cy="27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BE7876D-BD67-166A-5125-E873885E8450}"/>
              </a:ext>
            </a:extLst>
          </p:cNvPr>
          <p:cNvSpPr/>
          <p:nvPr/>
        </p:nvSpPr>
        <p:spPr>
          <a:xfrm>
            <a:off x="3114000" y="378000"/>
            <a:ext cx="2772000" cy="270000"/>
          </a:xfrm>
          <a:prstGeom prst="rect">
            <a:avLst/>
          </a:prstGeom>
          <a:solidFill>
            <a:srgbClr val="303F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2A5D2B-A5CC-8941-B848-DAFC25E05D9A}"/>
              </a:ext>
            </a:extLst>
          </p:cNvPr>
          <p:cNvSpPr/>
          <p:nvPr/>
        </p:nvSpPr>
        <p:spPr>
          <a:xfrm>
            <a:off x="6138000" y="378000"/>
            <a:ext cx="2916000" cy="27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0D814B-86E1-244C-AB3B-B9993C05AEEC}"/>
              </a:ext>
            </a:extLst>
          </p:cNvPr>
          <p:cNvSpPr txBox="1"/>
          <p:nvPr/>
        </p:nvSpPr>
        <p:spPr>
          <a:xfrm>
            <a:off x="90000" y="399600"/>
            <a:ext cx="2772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문제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: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불균일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Li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핵생성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및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덴드라이트</a:t>
            </a:r>
            <a:endParaRPr sz="900" b="1" dirty="0">
              <a:solidFill>
                <a:srgbClr val="FFFFFF"/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51C129-3F40-68D2-2965-2D7666001C74}"/>
              </a:ext>
            </a:extLst>
          </p:cNvPr>
          <p:cNvSpPr txBox="1"/>
          <p:nvPr/>
        </p:nvSpPr>
        <p:spPr>
          <a:xfrm>
            <a:off x="3114000" y="399600"/>
            <a:ext cx="2772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Metal</a:t>
            </a:r>
            <a:r>
              <a:rPr lang="ko-KR" altLang="en-US"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</a:t>
            </a:r>
            <a:r>
              <a:rPr lang="en-US" altLang="ko-KR"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Fluoride</a:t>
            </a:r>
            <a:r>
              <a:rPr lang="ko-KR" altLang="en-US"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ALD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증착</a:t>
            </a:r>
            <a:endParaRPr sz="900" b="1" dirty="0">
              <a:solidFill>
                <a:srgbClr val="FFFFFF"/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9B2EA1-B191-F604-30D2-2EB2C601EF06}"/>
              </a:ext>
            </a:extLst>
          </p:cNvPr>
          <p:cNvSpPr txBox="1"/>
          <p:nvPr/>
        </p:nvSpPr>
        <p:spPr>
          <a:xfrm>
            <a:off x="6138000" y="399600"/>
            <a:ext cx="291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해결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: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균일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Li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핵생성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및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평탄한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증착</a:t>
            </a:r>
            <a:endParaRPr sz="900" b="1" dirty="0">
              <a:solidFill>
                <a:srgbClr val="FFFFFF"/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1F4C3C94-B6F8-075A-D3DC-BB516D32B6F0}"/>
              </a:ext>
            </a:extLst>
          </p:cNvPr>
          <p:cNvCxnSpPr/>
          <p:nvPr/>
        </p:nvCxnSpPr>
        <p:spPr>
          <a:xfrm>
            <a:off x="2880000" y="2334240"/>
            <a:ext cx="216000" cy="0"/>
          </a:xfrm>
          <a:prstGeom prst="line">
            <a:avLst/>
          </a:prstGeom>
          <a:ln w="38100">
            <a:solidFill>
              <a:srgbClr val="303F9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>
            <a:extLst>
              <a:ext uri="{FF2B5EF4-FFF2-40B4-BE49-F238E27FC236}">
                <a16:creationId xmlns:a16="http://schemas.microsoft.com/office/drawing/2014/main" id="{3BB49A8A-FB05-214E-2B16-FB1C30F5A7D0}"/>
              </a:ext>
            </a:extLst>
          </p:cNvPr>
          <p:cNvCxnSpPr/>
          <p:nvPr/>
        </p:nvCxnSpPr>
        <p:spPr>
          <a:xfrm>
            <a:off x="5904000" y="2334240"/>
            <a:ext cx="216000" cy="0"/>
          </a:xfrm>
          <a:prstGeom prst="line">
            <a:avLst/>
          </a:prstGeom>
          <a:ln w="38100">
            <a:solidFill>
              <a:srgbClr val="2E7D32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DEBE649B-3C80-CC33-3C4B-7927AA938B60}"/>
              </a:ext>
            </a:extLst>
          </p:cNvPr>
          <p:cNvSpPr/>
          <p:nvPr/>
        </p:nvSpPr>
        <p:spPr>
          <a:xfrm>
            <a:off x="108000" y="3150000"/>
            <a:ext cx="2736000" cy="846000"/>
          </a:xfrm>
          <a:prstGeom prst="rect">
            <a:avLst/>
          </a:prstGeom>
          <a:solidFill>
            <a:srgbClr val="FFEBEE"/>
          </a:solidFill>
          <a:ln w="63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C4F054E-90A8-1D5B-83BF-07EE9ABE1F67}"/>
              </a:ext>
            </a:extLst>
          </p:cNvPr>
          <p:cNvSpPr txBox="1"/>
          <p:nvPr/>
        </p:nvSpPr>
        <p:spPr>
          <a:xfrm>
            <a:off x="144000" y="3186000"/>
            <a:ext cx="2646000" cy="747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Cu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집전체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위 ALD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코팅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없이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Li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전착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시</a:t>
            </a: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핵생성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과전압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불균일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→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덴드라이트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성장</a:t>
            </a:r>
            <a:endParaRPr sz="850" dirty="0">
              <a:solidFill>
                <a:srgbClr val="B71C1C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두껍고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불균일한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SEI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형성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반복</a:t>
            </a:r>
            <a:endParaRPr sz="850" dirty="0">
              <a:solidFill>
                <a:srgbClr val="B71C1C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쿨롱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효율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저하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및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내부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단락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(short)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위험</a:t>
            </a:r>
            <a:endParaRPr sz="850" dirty="0">
              <a:solidFill>
                <a:srgbClr val="B71C1C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D37AC400-CA50-B284-39FD-0B062B01F2F1}"/>
              </a:ext>
            </a:extLst>
          </p:cNvPr>
          <p:cNvSpPr/>
          <p:nvPr/>
        </p:nvSpPr>
        <p:spPr>
          <a:xfrm>
            <a:off x="108000" y="4050000"/>
            <a:ext cx="2736000" cy="14328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>
            <a:extLst>
              <a:ext uri="{FF2B5EF4-FFF2-40B4-BE49-F238E27FC236}">
                <a16:creationId xmlns:a16="http://schemas.microsoft.com/office/drawing/2014/main" id="{59386DC7-FC81-C20A-F9D7-F243CFAADC5B}"/>
              </a:ext>
            </a:extLst>
          </p:cNvPr>
          <p:cNvCxnSpPr/>
          <p:nvPr/>
        </p:nvCxnSpPr>
        <p:spPr>
          <a:xfrm>
            <a:off x="108000" y="4050000"/>
            <a:ext cx="2736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>
            <a:extLst>
              <a:ext uri="{FF2B5EF4-FFF2-40B4-BE49-F238E27FC236}">
                <a16:creationId xmlns:a16="http://schemas.microsoft.com/office/drawing/2014/main" id="{6D721C8F-638C-2489-1B8F-003140565875}"/>
              </a:ext>
            </a:extLst>
          </p:cNvPr>
          <p:cNvCxnSpPr/>
          <p:nvPr/>
        </p:nvCxnSpPr>
        <p:spPr>
          <a:xfrm flipH="1">
            <a:off x="108000" y="4050000"/>
            <a:ext cx="2736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365727DB-1531-F114-292A-C7533271C857}"/>
              </a:ext>
            </a:extLst>
          </p:cNvPr>
          <p:cNvSpPr txBox="1"/>
          <p:nvPr/>
        </p:nvSpPr>
        <p:spPr>
          <a:xfrm>
            <a:off x="108000" y="4640400"/>
            <a:ext cx="27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SEM 이미지 공간
(Li 덴드라이트 / 불균일 증착)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EAB40EF-34C4-97B2-3792-E80E76E4BFF3}"/>
              </a:ext>
            </a:extLst>
          </p:cNvPr>
          <p:cNvSpPr/>
          <p:nvPr/>
        </p:nvSpPr>
        <p:spPr>
          <a:xfrm>
            <a:off x="3132000" y="691200"/>
            <a:ext cx="2736000" cy="1907397"/>
          </a:xfrm>
          <a:prstGeom prst="rect">
            <a:avLst/>
          </a:prstGeom>
          <a:solidFill>
            <a:srgbClr val="F3E5F5"/>
          </a:solidFill>
          <a:ln w="635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0EACF5B-787D-78F0-B52E-956C62B39C2B}"/>
              </a:ext>
            </a:extLst>
          </p:cNvPr>
          <p:cNvSpPr txBox="1"/>
          <p:nvPr/>
        </p:nvSpPr>
        <p:spPr>
          <a:xfrm>
            <a:off x="3133067" y="704155"/>
            <a:ext cx="273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ALD </a:t>
            </a:r>
            <a:r>
              <a:rPr lang="ko-KR" altLang="en-US"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증착 사이클</a:t>
            </a:r>
            <a:endParaRPr sz="900" dirty="0">
              <a:solidFill>
                <a:srgbClr val="6A1B9A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D0A4BF24-C596-12F2-14DE-4B04F77DB1D6}"/>
              </a:ext>
            </a:extLst>
          </p:cNvPr>
          <p:cNvSpPr/>
          <p:nvPr/>
        </p:nvSpPr>
        <p:spPr>
          <a:xfrm>
            <a:off x="3132000" y="2617335"/>
            <a:ext cx="2736000" cy="809865"/>
          </a:xfrm>
          <a:prstGeom prst="rect">
            <a:avLst/>
          </a:prstGeom>
          <a:solidFill>
            <a:srgbClr val="E8EAF6"/>
          </a:solidFill>
          <a:ln w="6350">
            <a:solidFill>
              <a:srgbClr val="7B86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9E20D1C-BB22-70AB-8AAB-084F79965890}"/>
              </a:ext>
            </a:extLst>
          </p:cNvPr>
          <p:cNvSpPr txBox="1"/>
          <p:nvPr/>
        </p:nvSpPr>
        <p:spPr>
          <a:xfrm>
            <a:off x="3442845" y="2706669"/>
            <a:ext cx="20927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박막</a:t>
            </a:r>
            <a:r>
              <a:rPr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</a:t>
            </a:r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형성</a:t>
            </a:r>
            <a:r>
              <a:rPr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</a:t>
            </a:r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단면</a:t>
            </a:r>
            <a:r>
              <a:rPr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</a:t>
            </a:r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모식도</a:t>
            </a:r>
            <a:endParaRPr sz="900" dirty="0">
              <a:solidFill>
                <a:srgbClr val="6A1B9A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CB46B0CE-6F6D-FE00-29C2-313B19DA46BD}"/>
              </a:ext>
            </a:extLst>
          </p:cNvPr>
          <p:cNvSpPr/>
          <p:nvPr/>
        </p:nvSpPr>
        <p:spPr>
          <a:xfrm>
            <a:off x="3222000" y="3211200"/>
            <a:ext cx="2556000" cy="197998"/>
          </a:xfrm>
          <a:prstGeom prst="rect">
            <a:avLst/>
          </a:prstGeom>
          <a:solidFill>
            <a:srgbClr val="B87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2A6F839-79EB-4D21-1967-0595C7BABDFE}"/>
              </a:ext>
            </a:extLst>
          </p:cNvPr>
          <p:cNvSpPr/>
          <p:nvPr/>
        </p:nvSpPr>
        <p:spPr>
          <a:xfrm>
            <a:off x="3222000" y="3010245"/>
            <a:ext cx="2556000" cy="200955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4149C84-1118-CFC7-FE0D-483F5547B2C2}"/>
              </a:ext>
            </a:extLst>
          </p:cNvPr>
          <p:cNvSpPr txBox="1"/>
          <p:nvPr/>
        </p:nvSpPr>
        <p:spPr>
          <a:xfrm>
            <a:off x="3251860" y="3014494"/>
            <a:ext cx="25861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Metal Fluoride 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 ALD </a:t>
            </a:r>
            <a:r>
              <a:rPr sz="800" b="1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박막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  (</a:t>
            </a:r>
            <a:r>
              <a:rPr sz="800" b="1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두께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: 5~100 nm)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5E3A4FD-5917-75BE-1D17-03FE4CFCE13E}"/>
              </a:ext>
            </a:extLst>
          </p:cNvPr>
          <p:cNvSpPr txBox="1"/>
          <p:nvPr/>
        </p:nvSpPr>
        <p:spPr>
          <a:xfrm>
            <a:off x="3206992" y="2827318"/>
            <a:ext cx="2556000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← n </a:t>
            </a:r>
            <a:r>
              <a:rPr sz="80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사이클</a:t>
            </a:r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0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반복으로</a:t>
            </a:r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0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두께</a:t>
            </a:r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0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제어</a:t>
            </a:r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→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FD677B1E-D63C-968B-33F8-6CFC52281619}"/>
              </a:ext>
            </a:extLst>
          </p:cNvPr>
          <p:cNvSpPr/>
          <p:nvPr/>
        </p:nvSpPr>
        <p:spPr>
          <a:xfrm>
            <a:off x="3132000" y="3463199"/>
            <a:ext cx="2736000" cy="846000"/>
          </a:xfrm>
          <a:prstGeom prst="rect">
            <a:avLst/>
          </a:prstGeom>
          <a:solidFill>
            <a:srgbClr val="EEEEFF"/>
          </a:solidFill>
          <a:ln w="6350">
            <a:solidFill>
              <a:srgbClr val="303F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1791737-B16C-0B42-F941-0C58A9CEADEB}"/>
              </a:ext>
            </a:extLst>
          </p:cNvPr>
          <p:cNvSpPr txBox="1"/>
          <p:nvPr/>
        </p:nvSpPr>
        <p:spPr>
          <a:xfrm>
            <a:off x="3175200" y="3499199"/>
            <a:ext cx="2664000" cy="747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ZnF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₂ ALD: DEZ +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HF·py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전구체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조합</a:t>
            </a:r>
            <a:endParaRPr sz="850" dirty="0">
              <a:solidFill>
                <a:srgbClr val="1A237E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자기제한적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(self-limiting)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표면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반응</a:t>
            </a:r>
            <a:endParaRPr sz="850" dirty="0">
              <a:solidFill>
                <a:srgbClr val="1A237E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기판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온도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50~200°C, Å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수준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두께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제어</a:t>
            </a:r>
            <a:endParaRPr sz="850" dirty="0">
              <a:solidFill>
                <a:srgbClr val="1A237E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결과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: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균일·공형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(conformal)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불화물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박막</a:t>
            </a:r>
            <a:endParaRPr sz="850" dirty="0">
              <a:solidFill>
                <a:srgbClr val="1A237E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D0BF1A3C-8DF3-EA38-185A-60DFD4D7EDD7}"/>
              </a:ext>
            </a:extLst>
          </p:cNvPr>
          <p:cNvSpPr/>
          <p:nvPr/>
        </p:nvSpPr>
        <p:spPr>
          <a:xfrm>
            <a:off x="3132000" y="4363200"/>
            <a:ext cx="2736000" cy="11196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3" name="Connector 82">
            <a:extLst>
              <a:ext uri="{FF2B5EF4-FFF2-40B4-BE49-F238E27FC236}">
                <a16:creationId xmlns:a16="http://schemas.microsoft.com/office/drawing/2014/main" id="{C0C9CC02-9B8A-C658-3BD2-0CDCF09BD8AB}"/>
              </a:ext>
            </a:extLst>
          </p:cNvPr>
          <p:cNvCxnSpPr/>
          <p:nvPr/>
        </p:nvCxnSpPr>
        <p:spPr>
          <a:xfrm>
            <a:off x="3132000" y="4363200"/>
            <a:ext cx="2736000" cy="11196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>
            <a:extLst>
              <a:ext uri="{FF2B5EF4-FFF2-40B4-BE49-F238E27FC236}">
                <a16:creationId xmlns:a16="http://schemas.microsoft.com/office/drawing/2014/main" id="{E85D54A5-7C11-2C10-DD9E-7C3670FB1A43}"/>
              </a:ext>
            </a:extLst>
          </p:cNvPr>
          <p:cNvCxnSpPr/>
          <p:nvPr/>
        </p:nvCxnSpPr>
        <p:spPr>
          <a:xfrm flipH="1">
            <a:off x="3132000" y="4363200"/>
            <a:ext cx="2736000" cy="11196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024A175-BAF9-D4E4-2BBA-608AF867AF1C}"/>
              </a:ext>
            </a:extLst>
          </p:cNvPr>
          <p:cNvSpPr txBox="1"/>
          <p:nvPr/>
        </p:nvSpPr>
        <p:spPr>
          <a:xfrm>
            <a:off x="3132000" y="4797000"/>
            <a:ext cx="27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TEM / SAED 이미지 공간
(ALD ZnF₂ 박막 단면)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BDCE7FD5-69A3-BDE1-68A6-0C8B7C82BB60}"/>
              </a:ext>
            </a:extLst>
          </p:cNvPr>
          <p:cNvSpPr/>
          <p:nvPr/>
        </p:nvSpPr>
        <p:spPr>
          <a:xfrm>
            <a:off x="6156000" y="666000"/>
            <a:ext cx="2880000" cy="1951335"/>
          </a:xfrm>
          <a:prstGeom prst="rect">
            <a:avLst/>
          </a:prstGeom>
          <a:solidFill>
            <a:srgbClr val="E1F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D47A79E7-46EB-6A61-276E-83053BE1E607}"/>
              </a:ext>
            </a:extLst>
          </p:cNvPr>
          <p:cNvSpPr/>
          <p:nvPr/>
        </p:nvSpPr>
        <p:spPr>
          <a:xfrm>
            <a:off x="6156000" y="3150000"/>
            <a:ext cx="2880000" cy="846000"/>
          </a:xfrm>
          <a:prstGeom prst="rect">
            <a:avLst/>
          </a:prstGeom>
          <a:solidFill>
            <a:srgbClr val="E8F5E9"/>
          </a:solidFill>
          <a:ln w="63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64A66C92-8138-30E4-AB7F-FD073B86A6AA}"/>
              </a:ext>
            </a:extLst>
          </p:cNvPr>
          <p:cNvSpPr txBox="1"/>
          <p:nvPr/>
        </p:nvSpPr>
        <p:spPr>
          <a:xfrm>
            <a:off x="6192000" y="3186000"/>
            <a:ext cx="2790000" cy="747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ALD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불화물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인공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SEI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형성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후 Li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전착</a:t>
            </a:r>
            <a:endParaRPr sz="850" dirty="0">
              <a:solidFill>
                <a:srgbClr val="1B5E20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균일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핵생성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→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조밀·평탄한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Li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증착</a:t>
            </a:r>
            <a:endParaRPr sz="850" dirty="0">
              <a:solidFill>
                <a:srgbClr val="1B5E20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덴드라이트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억제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SEI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두께·조성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정밀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제어</a:t>
            </a:r>
            <a:endParaRPr sz="850" dirty="0">
              <a:solidFill>
                <a:srgbClr val="1B5E20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목표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: CE &gt;99.5%,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용량유지율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&gt;80% (300 cy.)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1265055F-AD2E-CF39-BA29-FD5DFD63BE4C}"/>
              </a:ext>
            </a:extLst>
          </p:cNvPr>
          <p:cNvSpPr/>
          <p:nvPr/>
        </p:nvSpPr>
        <p:spPr>
          <a:xfrm>
            <a:off x="6156000" y="4050000"/>
            <a:ext cx="2880000" cy="14328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3" name="Connector 112">
            <a:extLst>
              <a:ext uri="{FF2B5EF4-FFF2-40B4-BE49-F238E27FC236}">
                <a16:creationId xmlns:a16="http://schemas.microsoft.com/office/drawing/2014/main" id="{42AD35D5-0DE9-C82E-5386-3C8303303B48}"/>
              </a:ext>
            </a:extLst>
          </p:cNvPr>
          <p:cNvCxnSpPr/>
          <p:nvPr/>
        </p:nvCxnSpPr>
        <p:spPr>
          <a:xfrm>
            <a:off x="6156000" y="4050000"/>
            <a:ext cx="2880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>
            <a:extLst>
              <a:ext uri="{FF2B5EF4-FFF2-40B4-BE49-F238E27FC236}">
                <a16:creationId xmlns:a16="http://schemas.microsoft.com/office/drawing/2014/main" id="{017FB558-D481-9DF7-50C5-1CE25CD53AC2}"/>
              </a:ext>
            </a:extLst>
          </p:cNvPr>
          <p:cNvCxnSpPr/>
          <p:nvPr/>
        </p:nvCxnSpPr>
        <p:spPr>
          <a:xfrm flipH="1">
            <a:off x="6156000" y="4050000"/>
            <a:ext cx="2880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15F12439-BA16-08C6-AA28-F0C9879131D7}"/>
              </a:ext>
            </a:extLst>
          </p:cNvPr>
          <p:cNvSpPr txBox="1"/>
          <p:nvPr/>
        </p:nvSpPr>
        <p:spPr>
          <a:xfrm>
            <a:off x="6156000" y="4640400"/>
            <a:ext cx="28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SEM 이미지 공간
(균일 Li 증착 / 평탄 표면)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CC06427F-FC70-0E32-4DBC-BDF94F90528E}"/>
              </a:ext>
            </a:extLst>
          </p:cNvPr>
          <p:cNvSpPr/>
          <p:nvPr/>
        </p:nvSpPr>
        <p:spPr>
          <a:xfrm>
            <a:off x="0" y="5551200"/>
            <a:ext cx="9144000" cy="288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607E2B4C-EA3D-5B34-AC13-5B85F0581380}"/>
              </a:ext>
            </a:extLst>
          </p:cNvPr>
          <p:cNvSpPr txBox="1"/>
          <p:nvPr/>
        </p:nvSpPr>
        <p:spPr>
          <a:xfrm>
            <a:off x="3540417" y="3216457"/>
            <a:ext cx="187930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900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Cu </a:t>
            </a:r>
            <a:r>
              <a:rPr lang="ko-KR" altLang="en-US" sz="900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집전체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3BC33A1-639E-B645-8A9B-324BF7079ACB}"/>
              </a:ext>
            </a:extLst>
          </p:cNvPr>
          <p:cNvGrpSpPr/>
          <p:nvPr/>
        </p:nvGrpSpPr>
        <p:grpSpPr>
          <a:xfrm>
            <a:off x="124659" y="945294"/>
            <a:ext cx="2785529" cy="1444438"/>
            <a:chOff x="1932819" y="987409"/>
            <a:chExt cx="3728282" cy="1933303"/>
          </a:xfrm>
        </p:grpSpPr>
        <p:pic>
          <p:nvPicPr>
            <p:cNvPr id="62" name="Picture 7" descr="Icon&#10;&#10;Description automatically generated with medium confidence">
              <a:extLst>
                <a:ext uri="{FF2B5EF4-FFF2-40B4-BE49-F238E27FC236}">
                  <a16:creationId xmlns:a16="http://schemas.microsoft.com/office/drawing/2014/main" id="{BB89BB7E-8636-6588-9284-52FB8F16A36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33" t="37899" r="16806" b="12022"/>
            <a:stretch/>
          </p:blipFill>
          <p:spPr>
            <a:xfrm rot="5520000">
              <a:off x="1433172" y="1571518"/>
              <a:ext cx="1548270" cy="548976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39B42A4-4B11-4BBB-B878-1210364EBEF1}"/>
                </a:ext>
              </a:extLst>
            </p:cNvPr>
            <p:cNvSpPr txBox="1"/>
            <p:nvPr/>
          </p:nvSpPr>
          <p:spPr>
            <a:xfrm>
              <a:off x="2003738" y="2570561"/>
              <a:ext cx="476739" cy="35015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50" dirty="0">
                  <a:solidFill>
                    <a:schemeClr val="accent2">
                      <a:lumMod val="7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Cu</a:t>
              </a:r>
            </a:p>
          </p:txBody>
        </p:sp>
        <p:pic>
          <p:nvPicPr>
            <p:cNvPr id="64" name="Picture 56" descr="A picture containing tool, brush&#10;&#10;Description automatically generated">
              <a:extLst>
                <a:ext uri="{FF2B5EF4-FFF2-40B4-BE49-F238E27FC236}">
                  <a16:creationId xmlns:a16="http://schemas.microsoft.com/office/drawing/2014/main" id="{318E64E8-CF5D-4BE3-9D2E-E62A3FB0973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520000">
              <a:off x="4185099" y="1520224"/>
              <a:ext cx="1839765" cy="774135"/>
            </a:xfrm>
            <a:prstGeom prst="rect">
              <a:avLst/>
            </a:prstGeom>
          </p:spPr>
        </p:pic>
        <p:pic>
          <p:nvPicPr>
            <p:cNvPr id="65" name="Picture 1077" descr="A round orange object with white specks on it&#10;&#10;Description automatically generated">
              <a:extLst>
                <a:ext uri="{FF2B5EF4-FFF2-40B4-BE49-F238E27FC236}">
                  <a16:creationId xmlns:a16="http://schemas.microsoft.com/office/drawing/2014/main" id="{010D41E6-B66F-14CC-CE4B-0EF2555904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0566" t="53983" r="27720" b="14461"/>
            <a:stretch/>
          </p:blipFill>
          <p:spPr>
            <a:xfrm rot="5520000">
              <a:off x="2733709" y="1519658"/>
              <a:ext cx="1755308" cy="746947"/>
            </a:xfrm>
            <a:prstGeom prst="rect">
              <a:avLst/>
            </a:prstGeom>
          </p:spPr>
        </p:pic>
        <p:pic>
          <p:nvPicPr>
            <p:cNvPr id="66" name="Picture 1078" descr="E:\PNG\화살표\1304 - 복사본.png">
              <a:extLst>
                <a:ext uri="{FF2B5EF4-FFF2-40B4-BE49-F238E27FC236}">
                  <a16:creationId xmlns:a16="http://schemas.microsoft.com/office/drawing/2014/main" id="{BB1E9E80-1042-4CEB-5FB9-D2BA00B68A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64624" y="1313064"/>
              <a:ext cx="1039596" cy="11149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049C51C4-4332-AF1F-4437-EFC60CA7CBA7}"/>
                </a:ext>
              </a:extLst>
            </p:cNvPr>
            <p:cNvSpPr txBox="1"/>
            <p:nvPr/>
          </p:nvSpPr>
          <p:spPr>
            <a:xfrm>
              <a:off x="2353099" y="1629719"/>
              <a:ext cx="953045" cy="494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Li</a:t>
              </a:r>
            </a:p>
            <a:p>
              <a:pPr algn="ctr"/>
              <a:r>
                <a:rPr lang="en-US" sz="9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nucleation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168FCD10-E2A6-8974-65FE-45F7705B39C0}"/>
                </a:ext>
              </a:extLst>
            </p:cNvPr>
            <p:cNvSpPr txBox="1"/>
            <p:nvPr/>
          </p:nvSpPr>
          <p:spPr>
            <a:xfrm>
              <a:off x="2641245" y="2574230"/>
              <a:ext cx="1916391" cy="3398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50" dirty="0">
                  <a:solidFill>
                    <a:srgbClr val="C0000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Uneven</a:t>
              </a:r>
              <a:r>
                <a:rPr lang="en-US" sz="1050" dirty="0"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 Li nucleation</a:t>
              </a:r>
            </a:p>
          </p:txBody>
        </p:sp>
        <p:pic>
          <p:nvPicPr>
            <p:cNvPr id="69" name="Picture 24" descr="E:\PNG\화살표\1304 - 복사본.png">
              <a:extLst>
                <a:ext uri="{FF2B5EF4-FFF2-40B4-BE49-F238E27FC236}">
                  <a16:creationId xmlns:a16="http://schemas.microsoft.com/office/drawing/2014/main" id="{5D76C693-8F1A-7CF2-181C-94120FB2A9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12575" y="1349793"/>
              <a:ext cx="1039596" cy="11149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CE7B78F-AF5E-D5A5-D96F-87D37F2316EA}"/>
                </a:ext>
              </a:extLst>
            </p:cNvPr>
            <p:cNvSpPr txBox="1"/>
            <p:nvPr/>
          </p:nvSpPr>
          <p:spPr>
            <a:xfrm>
              <a:off x="3703125" y="1655118"/>
              <a:ext cx="959483" cy="494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Li</a:t>
              </a:r>
            </a:p>
            <a:p>
              <a:pPr algn="ctr"/>
              <a:r>
                <a:rPr lang="en-US" sz="9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deposition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AAD011E4-BEE8-9CF0-305E-DD0EF612B686}"/>
                </a:ext>
              </a:extLst>
            </p:cNvPr>
            <p:cNvSpPr txBox="1"/>
            <p:nvPr/>
          </p:nvSpPr>
          <p:spPr>
            <a:xfrm>
              <a:off x="4426990" y="2570561"/>
              <a:ext cx="1234111" cy="35015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50" dirty="0"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Li dendrites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D1C58559-B50C-0E53-4B7B-A8795A83FBFF}"/>
                </a:ext>
              </a:extLst>
            </p:cNvPr>
            <p:cNvSpPr txBox="1"/>
            <p:nvPr/>
          </p:nvSpPr>
          <p:spPr>
            <a:xfrm>
              <a:off x="3775008" y="1108571"/>
              <a:ext cx="1152000" cy="288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1" dirty="0" err="1">
                  <a:effectLst/>
                  <a:latin typeface="프리젠테이션 7 Bold" pitchFamily="2" charset="-127"/>
                  <a:ea typeface="프리젠테이션 7 Bold" pitchFamily="2" charset="-127"/>
                </a:rPr>
                <a:t>불균일·파단</a:t>
              </a:r>
              <a:r>
                <a:rPr sz="8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 SEI</a:t>
              </a:r>
            </a:p>
          </p:txBody>
        </p: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E3AA3116-80CE-5B63-F7D3-64BC011D8B2D}"/>
                </a:ext>
              </a:extLst>
            </p:cNvPr>
            <p:cNvCxnSpPr/>
            <p:nvPr/>
          </p:nvCxnSpPr>
          <p:spPr>
            <a:xfrm>
              <a:off x="4578412" y="1321313"/>
              <a:ext cx="280413" cy="220134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673FAF3A-C3AB-509C-FF1F-214B445CCFAF}"/>
                </a:ext>
              </a:extLst>
            </p:cNvPr>
            <p:cNvCxnSpPr>
              <a:cxnSpLocks/>
            </p:cNvCxnSpPr>
            <p:nvPr/>
          </p:nvCxnSpPr>
          <p:spPr>
            <a:xfrm>
              <a:off x="3328698" y="1349793"/>
              <a:ext cx="260113" cy="139135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C38D97EB-7EE6-BF56-9D82-D7865FF157F0}"/>
                </a:ext>
              </a:extLst>
            </p:cNvPr>
            <p:cNvSpPr txBox="1"/>
            <p:nvPr/>
          </p:nvSpPr>
          <p:spPr>
            <a:xfrm>
              <a:off x="2418180" y="1129573"/>
              <a:ext cx="1152000" cy="288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1" dirty="0" err="1">
                  <a:effectLst/>
                  <a:latin typeface="프리젠테이션 7 Bold" pitchFamily="2" charset="-127"/>
                  <a:ea typeface="프리젠테이션 7 Bold" pitchFamily="2" charset="-127"/>
                </a:rPr>
                <a:t>불균일</a:t>
              </a:r>
              <a:r>
                <a:rPr lang="en-US" sz="8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 Li </a:t>
              </a:r>
              <a:r>
                <a:rPr lang="ko-KR" altLang="en-US" sz="8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핵생성</a:t>
              </a:r>
              <a:endParaRPr sz="800" b="1" dirty="0">
                <a:effectLst/>
                <a:latin typeface="프리젠테이션 7 Bold" pitchFamily="2" charset="-127"/>
                <a:ea typeface="프리젠테이션 7 Bold" pitchFamily="2" charset="-127"/>
              </a:endParaRPr>
            </a:p>
          </p:txBody>
        </p: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5B953CE4-52F9-8C8B-4B4C-F407ED289D76}"/>
              </a:ext>
            </a:extLst>
          </p:cNvPr>
          <p:cNvGrpSpPr/>
          <p:nvPr/>
        </p:nvGrpSpPr>
        <p:grpSpPr>
          <a:xfrm>
            <a:off x="6165229" y="947233"/>
            <a:ext cx="2888771" cy="1609862"/>
            <a:chOff x="1822446" y="4037861"/>
            <a:chExt cx="3946675" cy="2199413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85FC6287-8A72-73C4-530D-128AEDAADD30}"/>
                </a:ext>
              </a:extLst>
            </p:cNvPr>
            <p:cNvSpPr txBox="1"/>
            <p:nvPr/>
          </p:nvSpPr>
          <p:spPr>
            <a:xfrm>
              <a:off x="1822446" y="5651763"/>
              <a:ext cx="969688" cy="3480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 err="1">
                  <a:solidFill>
                    <a:srgbClr val="0070C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MF</a:t>
              </a:r>
              <a:r>
                <a:rPr lang="en-US" sz="900" baseline="-25000" dirty="0" err="1">
                  <a:solidFill>
                    <a:srgbClr val="0070C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x</a:t>
              </a:r>
              <a:r>
                <a:rPr lang="en-US" sz="900" dirty="0" err="1">
                  <a:solidFill>
                    <a:schemeClr val="accent2">
                      <a:lumMod val="7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@Cu</a:t>
              </a:r>
              <a:endParaRPr lang="en-US" sz="900" dirty="0">
                <a:solidFill>
                  <a:schemeClr val="accent2">
                    <a:lumMod val="75000"/>
                  </a:schemeClr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endParaRP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BFD19287-55CD-CDD1-503A-088A459D606F}"/>
                </a:ext>
              </a:extLst>
            </p:cNvPr>
            <p:cNvSpPr txBox="1"/>
            <p:nvPr/>
          </p:nvSpPr>
          <p:spPr>
            <a:xfrm>
              <a:off x="2532677" y="5365160"/>
              <a:ext cx="876455" cy="2733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dirty="0" err="1">
                  <a:solidFill>
                    <a:srgbClr val="FF00FF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LiF</a:t>
              </a:r>
              <a:r>
                <a:rPr lang="en-US" sz="700" dirty="0">
                  <a:solidFill>
                    <a:srgbClr val="FF00FF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-rich SEI</a:t>
              </a:r>
            </a:p>
          </p:txBody>
        </p:sp>
        <p:pic>
          <p:nvPicPr>
            <p:cNvPr id="124" name="Picture 26" descr="E:\PNG\화살표\1304 - 복사본.png">
              <a:extLst>
                <a:ext uri="{FF2B5EF4-FFF2-40B4-BE49-F238E27FC236}">
                  <a16:creationId xmlns:a16="http://schemas.microsoft.com/office/drawing/2014/main" id="{EC5FC447-C1EE-30FC-A79D-F2A9D19B4AA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70751" y="4274806"/>
              <a:ext cx="1099140" cy="11823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5730AE50-3781-6218-DB73-5B5285A9DBDE}"/>
                </a:ext>
              </a:extLst>
            </p:cNvPr>
            <p:cNvSpPr txBox="1"/>
            <p:nvPr/>
          </p:nvSpPr>
          <p:spPr>
            <a:xfrm>
              <a:off x="2419425" y="4744765"/>
              <a:ext cx="880258" cy="3016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Activation</a:t>
              </a:r>
            </a:p>
          </p:txBody>
        </p:sp>
        <p:pic>
          <p:nvPicPr>
            <p:cNvPr id="126" name="Picture 34" descr="E:\PNG\화살표\1304 - 복사본.png">
              <a:extLst>
                <a:ext uri="{FF2B5EF4-FFF2-40B4-BE49-F238E27FC236}">
                  <a16:creationId xmlns:a16="http://schemas.microsoft.com/office/drawing/2014/main" id="{5E263F17-85E7-4F4D-8F21-BF4BEC37B50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22773" y="4342114"/>
              <a:ext cx="1039596" cy="11149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ABD66E55-323B-6928-0E13-F4C581E5F248}"/>
                </a:ext>
              </a:extLst>
            </p:cNvPr>
            <p:cNvSpPr txBox="1"/>
            <p:nvPr/>
          </p:nvSpPr>
          <p:spPr>
            <a:xfrm>
              <a:off x="3740534" y="4653561"/>
              <a:ext cx="904428" cy="46405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Li</a:t>
              </a:r>
            </a:p>
            <a:p>
              <a:pPr algn="ctr"/>
              <a:r>
                <a:rPr lang="en-US" sz="7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deposition</a:t>
              </a:r>
            </a:p>
          </p:txBody>
        </p:sp>
        <p:pic>
          <p:nvPicPr>
            <p:cNvPr id="128" name="그림 48">
              <a:extLst>
                <a:ext uri="{FF2B5EF4-FFF2-40B4-BE49-F238E27FC236}">
                  <a16:creationId xmlns:a16="http://schemas.microsoft.com/office/drawing/2014/main" id="{5BB7E39B-D6C7-12BC-83AA-B39D6C718E6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696" t="55369" r="32060" b="18589"/>
            <a:stretch/>
          </p:blipFill>
          <p:spPr>
            <a:xfrm rot="5520000">
              <a:off x="4245635" y="4522666"/>
              <a:ext cx="1627317" cy="657707"/>
            </a:xfrm>
            <a:prstGeom prst="rect">
              <a:avLst/>
            </a:prstGeom>
          </p:spPr>
        </p:pic>
        <p:pic>
          <p:nvPicPr>
            <p:cNvPr id="129" name="그림 49">
              <a:extLst>
                <a:ext uri="{FF2B5EF4-FFF2-40B4-BE49-F238E27FC236}">
                  <a16:creationId xmlns:a16="http://schemas.microsoft.com/office/drawing/2014/main" id="{08BFF6B1-24D3-D14F-CA74-193D530FC53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662" t="60262" r="32160" b="19073"/>
            <a:stretch/>
          </p:blipFill>
          <p:spPr>
            <a:xfrm rot="5520000">
              <a:off x="2791381" y="4620012"/>
              <a:ext cx="1619532" cy="520380"/>
            </a:xfrm>
            <a:prstGeom prst="rect">
              <a:avLst/>
            </a:prstGeom>
          </p:spPr>
        </p:pic>
        <p:pic>
          <p:nvPicPr>
            <p:cNvPr id="130" name="그림 50">
              <a:extLst>
                <a:ext uri="{FF2B5EF4-FFF2-40B4-BE49-F238E27FC236}">
                  <a16:creationId xmlns:a16="http://schemas.microsoft.com/office/drawing/2014/main" id="{928989F1-04B5-AF86-9DAC-611C002C30F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476" t="59391" r="32375" b="18926"/>
            <a:stretch/>
          </p:blipFill>
          <p:spPr>
            <a:xfrm rot="5520000">
              <a:off x="1480934" y="4584474"/>
              <a:ext cx="1581371" cy="533552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2C43297D-88BE-A845-423C-E3CFCBBD500F}"/>
                </a:ext>
              </a:extLst>
            </p:cNvPr>
            <p:cNvSpPr txBox="1"/>
            <p:nvPr/>
          </p:nvSpPr>
          <p:spPr>
            <a:xfrm>
              <a:off x="4229831" y="5615716"/>
              <a:ext cx="1539290" cy="3153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>
                  <a:solidFill>
                    <a:srgbClr val="C0000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Uniform</a:t>
              </a:r>
              <a:r>
                <a:rPr lang="en-US" sz="900" dirty="0"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 Li platting</a:t>
              </a:r>
            </a:p>
          </p:txBody>
        </p: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3AFFD2DC-247D-DFF0-2BBD-1466F5066779}"/>
                </a:ext>
              </a:extLst>
            </p:cNvPr>
            <p:cNvCxnSpPr/>
            <p:nvPr/>
          </p:nvCxnSpPr>
          <p:spPr>
            <a:xfrm>
              <a:off x="3182561" y="4353707"/>
              <a:ext cx="280413" cy="220134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1E00BB48-C304-DA23-CFED-4C0F59EE6D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52097" y="5296946"/>
              <a:ext cx="259266" cy="209526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981BB7EF-D6EA-0314-9432-3451EF1C63EF}"/>
                </a:ext>
              </a:extLst>
            </p:cNvPr>
            <p:cNvSpPr txBox="1"/>
            <p:nvPr/>
          </p:nvSpPr>
          <p:spPr>
            <a:xfrm>
              <a:off x="2793258" y="5651763"/>
              <a:ext cx="1675442" cy="3480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>
                  <a:solidFill>
                    <a:srgbClr val="C0000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Even</a:t>
              </a:r>
              <a:r>
                <a:rPr lang="en-US" sz="900" dirty="0"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 Li nucleation</a:t>
              </a:r>
            </a:p>
          </p:txBody>
        </p: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6FAFFB8F-C13A-EEEB-0756-86B39A3CDCC9}"/>
                </a:ext>
              </a:extLst>
            </p:cNvPr>
            <p:cNvCxnSpPr>
              <a:cxnSpLocks/>
            </p:cNvCxnSpPr>
            <p:nvPr/>
          </p:nvCxnSpPr>
          <p:spPr>
            <a:xfrm>
              <a:off x="4726132" y="4314477"/>
              <a:ext cx="228028" cy="179010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C3FDC3EB-68BC-8E76-BB3D-D344FD60EAA2}"/>
                </a:ext>
              </a:extLst>
            </p:cNvPr>
            <p:cNvSpPr txBox="1"/>
            <p:nvPr/>
          </p:nvSpPr>
          <p:spPr>
            <a:xfrm>
              <a:off x="2390367" y="4066214"/>
              <a:ext cx="1088889" cy="2733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dirty="0" err="1">
                  <a:solidFill>
                    <a:srgbClr val="00B05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Lithiophilic</a:t>
              </a:r>
              <a:r>
                <a:rPr lang="en-US" sz="700" dirty="0">
                  <a:solidFill>
                    <a:srgbClr val="00B05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 </a:t>
              </a:r>
              <a:r>
                <a:rPr lang="en-US" sz="700" dirty="0" err="1">
                  <a:solidFill>
                    <a:srgbClr val="00B05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LiM</a:t>
              </a:r>
              <a:endParaRPr lang="en-US" sz="700" dirty="0">
                <a:solidFill>
                  <a:srgbClr val="00B050"/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endParaRPr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D239EEB5-7373-AA0F-DF9A-7A98D691F33C}"/>
                </a:ext>
              </a:extLst>
            </p:cNvPr>
            <p:cNvSpPr txBox="1"/>
            <p:nvPr/>
          </p:nvSpPr>
          <p:spPr>
            <a:xfrm>
              <a:off x="3597361" y="4068987"/>
              <a:ext cx="1325363" cy="42048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7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균일하고 평탄한 </a:t>
              </a:r>
              <a:r>
                <a:rPr lang="en-US" altLang="ko-KR" sz="7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Li </a:t>
              </a:r>
              <a:r>
                <a:rPr lang="ko-KR" altLang="en-US" sz="7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증착층</a:t>
              </a:r>
            </a:p>
          </p:txBody>
        </p: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91C8ED89-732B-3167-9EE6-6E91CE574BD6}"/>
                </a:ext>
              </a:extLst>
            </p:cNvPr>
            <p:cNvSpPr txBox="1"/>
            <p:nvPr/>
          </p:nvSpPr>
          <p:spPr>
            <a:xfrm>
              <a:off x="1963484" y="5942932"/>
              <a:ext cx="2939923" cy="29434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8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MF</a:t>
              </a:r>
              <a:r>
                <a:rPr lang="en-US" sz="800" baseline="-250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x</a:t>
              </a:r>
              <a:r>
                <a:rPr 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: Metal Fluoride, </a:t>
              </a:r>
              <a:r>
                <a:rPr lang="en-US" sz="8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eg.</a:t>
              </a:r>
              <a:r>
                <a:rPr 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 ZnF</a:t>
              </a:r>
              <a:r>
                <a:rPr lang="en-US" sz="800" baseline="-250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2</a:t>
              </a:r>
              <a:r>
                <a:rPr 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, MgF</a:t>
              </a:r>
              <a:r>
                <a:rPr lang="en-US" sz="800" baseline="-250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2</a:t>
              </a:r>
              <a:r>
                <a:rPr 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 </a:t>
              </a:r>
              <a:r>
                <a:rPr lang="en-US" sz="8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etc</a:t>
              </a:r>
              <a:endPara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07604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tomic Layer Deposition (ALD) and Atomic Layer Etching (ALE) - AIP  Publishing LLC">
            <a:extLst>
              <a:ext uri="{FF2B5EF4-FFF2-40B4-BE49-F238E27FC236}">
                <a16:creationId xmlns:a16="http://schemas.microsoft.com/office/drawing/2014/main" id="{044CFB18-57D2-B0AB-E4F7-B04E308CC1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0693" y="1210734"/>
            <a:ext cx="2793087" cy="27474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670958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0" descr="E:\PNG\화살표\1304 - 복사본.png">
            <a:extLst>
              <a:ext uri="{FF2B5EF4-FFF2-40B4-BE49-F238E27FC236}">
                <a16:creationId xmlns:a16="http://schemas.microsoft.com/office/drawing/2014/main" id="{D3974CB5-A3AF-4E87-2AD6-AFD4AFE5B1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531774" y="2512179"/>
            <a:ext cx="555412" cy="1376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35E459-6A23-9C1E-CFA9-D2F7550D91DE}"/>
              </a:ext>
            </a:extLst>
          </p:cNvPr>
          <p:cNvSpPr txBox="1"/>
          <p:nvPr/>
        </p:nvSpPr>
        <p:spPr>
          <a:xfrm>
            <a:off x="535320" y="2933881"/>
            <a:ext cx="554960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300" b="1" dirty="0">
                <a:solidFill>
                  <a:srgbClr val="FF0000"/>
                </a:solidFill>
                <a:effectLst>
                  <a:glow rad="101600">
                    <a:schemeClr val="accent1">
                      <a:satMod val="175000"/>
                      <a:alpha val="40000"/>
                    </a:schemeClr>
                  </a:glow>
                </a:effectLst>
                <a:latin typeface="Arial" panose="020B0604020202020204" pitchFamily="34" charset="0"/>
                <a:cs typeface="Arial" panose="020B0604020202020204" pitchFamily="34" charset="0"/>
              </a:rPr>
              <a:t>Zn</a:t>
            </a:r>
            <a:r>
              <a:rPr lang="en-US" sz="1300" b="1" dirty="0">
                <a:solidFill>
                  <a:srgbClr val="FF0000"/>
                </a:solidFill>
                <a:effectLst>
                  <a:glow rad="101600">
                    <a:schemeClr val="accent1">
                      <a:satMod val="175000"/>
                      <a:alpha val="40000"/>
                    </a:schemeClr>
                  </a:glow>
                </a:effectLst>
                <a:latin typeface="Arial" panose="020B0604020202020204" pitchFamily="34" charset="0"/>
                <a:ea typeface="Malgun Gothic" panose="020B0503020000020004" pitchFamily="34" charset="-127"/>
              </a:rPr>
              <a:t>F</a:t>
            </a:r>
            <a:r>
              <a:rPr lang="en-US" sz="1300" b="1" baseline="-25000" dirty="0">
                <a:solidFill>
                  <a:srgbClr val="FF0000"/>
                </a:solidFill>
                <a:effectLst>
                  <a:glow rad="101600">
                    <a:schemeClr val="accent1">
                      <a:satMod val="175000"/>
                      <a:alpha val="40000"/>
                    </a:schemeClr>
                  </a:glow>
                </a:effectLst>
                <a:latin typeface="Arial" panose="020B0604020202020204" pitchFamily="34" charset="0"/>
                <a:ea typeface="Malgun Gothic" panose="020B0503020000020004" pitchFamily="34" charset="-127"/>
              </a:rPr>
              <a:t>2</a:t>
            </a:r>
            <a:endParaRPr lang="en-US" sz="1300" b="1" baseline="-25000" dirty="0">
              <a:solidFill>
                <a:srgbClr val="FF0000"/>
              </a:solidFill>
              <a:effectLst>
                <a:glow rad="101600">
                  <a:schemeClr val="accent1">
                    <a:satMod val="175000"/>
                    <a:alpha val="40000"/>
                  </a:schemeClr>
                </a:glow>
              </a:effectLst>
              <a:latin typeface="Arial" panose="020B0604020202020204" pitchFamily="34" charset="0"/>
              <a:ea typeface="Malgun Gothic" panose="020B0503020000020004" pitchFamily="34" charset="-127"/>
              <a:cs typeface="Arial" panose="020B0604020202020204" pitchFamily="34" charset="0"/>
            </a:endParaRPr>
          </a:p>
          <a:p>
            <a:pPr algn="ctr"/>
            <a:r>
              <a:rPr lang="en-US" sz="1300" b="1" dirty="0">
                <a:solidFill>
                  <a:srgbClr val="FF0000"/>
                </a:solidFill>
                <a:effectLst>
                  <a:glow rad="101600">
                    <a:schemeClr val="accent1">
                      <a:satMod val="175000"/>
                      <a:alpha val="40000"/>
                    </a:schemeClr>
                  </a:glow>
                </a:effectLst>
                <a:latin typeface="Arial" panose="020B0604020202020204" pitchFamily="34" charset="0"/>
                <a:cs typeface="Arial" panose="020B0604020202020204" pitchFamily="34" charset="0"/>
              </a:rPr>
              <a:t>ALD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08B353F7-2E44-628B-7A15-9C7A4D676039}"/>
              </a:ext>
            </a:extLst>
          </p:cNvPr>
          <p:cNvGrpSpPr/>
          <p:nvPr/>
        </p:nvGrpSpPr>
        <p:grpSpPr>
          <a:xfrm>
            <a:off x="1932819" y="987409"/>
            <a:ext cx="3617394" cy="1881194"/>
            <a:chOff x="1932819" y="987409"/>
            <a:chExt cx="3617394" cy="1881194"/>
          </a:xfrm>
        </p:grpSpPr>
        <p:pic>
          <p:nvPicPr>
            <p:cNvPr id="3" name="Picture 7" descr="Icon&#10;&#10;Description automatically generated with medium confidence">
              <a:extLst>
                <a:ext uri="{FF2B5EF4-FFF2-40B4-BE49-F238E27FC236}">
                  <a16:creationId xmlns:a16="http://schemas.microsoft.com/office/drawing/2014/main" id="{19EBFD7E-D425-BD30-D8AD-C9B1D6D4B27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33" t="37899" r="16806" b="12022"/>
            <a:stretch/>
          </p:blipFill>
          <p:spPr>
            <a:xfrm rot="5520000">
              <a:off x="1433172" y="1571518"/>
              <a:ext cx="1548270" cy="548976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62EEB72-BFF1-182D-05E3-11053082709E}"/>
                </a:ext>
              </a:extLst>
            </p:cNvPr>
            <p:cNvSpPr txBox="1"/>
            <p:nvPr/>
          </p:nvSpPr>
          <p:spPr>
            <a:xfrm>
              <a:off x="2003738" y="2570560"/>
              <a:ext cx="386644" cy="292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00" dirty="0">
                  <a:solidFill>
                    <a:schemeClr val="accent2">
                      <a:lumMod val="7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Cu</a:t>
              </a:r>
            </a:p>
          </p:txBody>
        </p:sp>
        <p:pic>
          <p:nvPicPr>
            <p:cNvPr id="9" name="Picture 56" descr="A picture containing tool, brush&#10;&#10;Description automatically generated">
              <a:extLst>
                <a:ext uri="{FF2B5EF4-FFF2-40B4-BE49-F238E27FC236}">
                  <a16:creationId xmlns:a16="http://schemas.microsoft.com/office/drawing/2014/main" id="{54204652-094E-21F0-2005-4D04AE3607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520000">
              <a:off x="4185099" y="1520224"/>
              <a:ext cx="1839765" cy="774135"/>
            </a:xfrm>
            <a:prstGeom prst="rect">
              <a:avLst/>
            </a:prstGeom>
          </p:spPr>
        </p:pic>
        <p:pic>
          <p:nvPicPr>
            <p:cNvPr id="10" name="Picture 1077" descr="A round orange object with white specks on it&#10;&#10;Description automatically generated">
              <a:extLst>
                <a:ext uri="{FF2B5EF4-FFF2-40B4-BE49-F238E27FC236}">
                  <a16:creationId xmlns:a16="http://schemas.microsoft.com/office/drawing/2014/main" id="{2B2709A1-43A1-1A49-102E-62D4218347C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0566" t="53983" r="27720" b="14461"/>
            <a:stretch/>
          </p:blipFill>
          <p:spPr>
            <a:xfrm rot="5520000">
              <a:off x="2733709" y="1519658"/>
              <a:ext cx="1755308" cy="746947"/>
            </a:xfrm>
            <a:prstGeom prst="rect">
              <a:avLst/>
            </a:prstGeom>
          </p:spPr>
        </p:pic>
        <p:pic>
          <p:nvPicPr>
            <p:cNvPr id="11" name="Picture 1078" descr="E:\PNG\화살표\1304 - 복사본.png">
              <a:extLst>
                <a:ext uri="{FF2B5EF4-FFF2-40B4-BE49-F238E27FC236}">
                  <a16:creationId xmlns:a16="http://schemas.microsoft.com/office/drawing/2014/main" id="{1ED72ACA-A894-3C49-5B81-119BD473890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64624" y="1313064"/>
              <a:ext cx="1039596" cy="11149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35EA719-E913-F246-870A-3B5E9D584B1F}"/>
                </a:ext>
              </a:extLst>
            </p:cNvPr>
            <p:cNvSpPr txBox="1"/>
            <p:nvPr/>
          </p:nvSpPr>
          <p:spPr>
            <a:xfrm>
              <a:off x="2415085" y="1629718"/>
              <a:ext cx="829073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Li</a:t>
              </a:r>
            </a:p>
            <a:p>
              <a:pPr algn="ctr"/>
              <a:r>
                <a:rPr lang="en-US" sz="11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nucleation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8FFAC72-32A2-BAA4-E347-26C82A1BE1EC}"/>
                </a:ext>
              </a:extLst>
            </p:cNvPr>
            <p:cNvSpPr txBox="1"/>
            <p:nvPr/>
          </p:nvSpPr>
          <p:spPr>
            <a:xfrm>
              <a:off x="2732675" y="2568896"/>
              <a:ext cx="1725280" cy="292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00" dirty="0">
                  <a:solidFill>
                    <a:srgbClr val="C0000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Uneven</a:t>
              </a:r>
              <a:r>
                <a:rPr lang="en-US" sz="1300" dirty="0"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 Li nucleation</a:t>
              </a:r>
            </a:p>
          </p:txBody>
        </p:sp>
        <p:pic>
          <p:nvPicPr>
            <p:cNvPr id="14" name="Picture 24" descr="E:\PNG\화살표\1304 - 복사본.png">
              <a:extLst>
                <a:ext uri="{FF2B5EF4-FFF2-40B4-BE49-F238E27FC236}">
                  <a16:creationId xmlns:a16="http://schemas.microsoft.com/office/drawing/2014/main" id="{AF52B302-EF39-0CC9-4CEC-9A5EE57CBA2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12575" y="1349793"/>
              <a:ext cx="1039596" cy="11149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8EC1F3F-B5D1-D040-6446-CFE5A9079CDE}"/>
                </a:ext>
              </a:extLst>
            </p:cNvPr>
            <p:cNvSpPr txBox="1"/>
            <p:nvPr/>
          </p:nvSpPr>
          <p:spPr>
            <a:xfrm>
              <a:off x="3768330" y="1655118"/>
              <a:ext cx="829073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Li</a:t>
              </a:r>
            </a:p>
            <a:p>
              <a:pPr algn="ctr"/>
              <a:r>
                <a:rPr lang="en-US" sz="11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deposition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12DB5D5-C3F4-15B3-FD32-FCEA9C8CEA4D}"/>
                </a:ext>
              </a:extLst>
            </p:cNvPr>
            <p:cNvSpPr txBox="1"/>
            <p:nvPr/>
          </p:nvSpPr>
          <p:spPr>
            <a:xfrm>
              <a:off x="4490051" y="2576215"/>
              <a:ext cx="1060162" cy="292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00" dirty="0"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Li dendrites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8EBDB4B-21FC-33FD-0DDA-1E24B8F0579C}"/>
                </a:ext>
              </a:extLst>
            </p:cNvPr>
            <p:cNvSpPr txBox="1"/>
            <p:nvPr/>
          </p:nvSpPr>
          <p:spPr>
            <a:xfrm>
              <a:off x="3775007" y="1108571"/>
              <a:ext cx="1152000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900" b="1" dirty="0" err="1">
                  <a:effectLst/>
                  <a:latin typeface="프리젠테이션 7 Bold" pitchFamily="2" charset="-127"/>
                  <a:ea typeface="프리젠테이션 7 Bold" pitchFamily="2" charset="-127"/>
                </a:rPr>
                <a:t>불균일·파단</a:t>
              </a:r>
              <a:r>
                <a:rPr sz="9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 SEI</a:t>
              </a: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930FF60-25C1-C541-0A77-5AD6232DB69B}"/>
                </a:ext>
              </a:extLst>
            </p:cNvPr>
            <p:cNvCxnSpPr/>
            <p:nvPr/>
          </p:nvCxnSpPr>
          <p:spPr>
            <a:xfrm>
              <a:off x="4578412" y="1321313"/>
              <a:ext cx="280413" cy="220134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5B286F80-D682-E30C-241C-D993C1B9945B}"/>
                </a:ext>
              </a:extLst>
            </p:cNvPr>
            <p:cNvCxnSpPr>
              <a:cxnSpLocks/>
            </p:cNvCxnSpPr>
            <p:nvPr/>
          </p:nvCxnSpPr>
          <p:spPr>
            <a:xfrm>
              <a:off x="3328698" y="1349793"/>
              <a:ext cx="260113" cy="139135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2C7F586-E2F0-6A75-4B76-092777A122AD}"/>
                </a:ext>
              </a:extLst>
            </p:cNvPr>
            <p:cNvSpPr txBox="1"/>
            <p:nvPr/>
          </p:nvSpPr>
          <p:spPr>
            <a:xfrm>
              <a:off x="2418180" y="1129574"/>
              <a:ext cx="1152000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900" b="1" dirty="0" err="1">
                  <a:effectLst/>
                  <a:latin typeface="프리젠테이션 7 Bold" pitchFamily="2" charset="-127"/>
                  <a:ea typeface="프리젠테이션 7 Bold" pitchFamily="2" charset="-127"/>
                </a:rPr>
                <a:t>불균일</a:t>
              </a:r>
              <a:r>
                <a:rPr lang="en-US" sz="9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 Li </a:t>
              </a:r>
              <a:r>
                <a:rPr lang="ko-KR" altLang="en-US" sz="9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핵생성</a:t>
              </a:r>
              <a:endParaRPr sz="900" b="1" dirty="0">
                <a:effectLst/>
                <a:latin typeface="프리젠테이션 7 Bold" pitchFamily="2" charset="-127"/>
                <a:ea typeface="프리젠테이션 7 Bold" pitchFamily="2" charset="-127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A0FEBAB7-C7BF-9F33-7730-E4FB61362781}"/>
              </a:ext>
            </a:extLst>
          </p:cNvPr>
          <p:cNvGrpSpPr/>
          <p:nvPr/>
        </p:nvGrpSpPr>
        <p:grpSpPr>
          <a:xfrm>
            <a:off x="1822446" y="4037861"/>
            <a:ext cx="4069353" cy="2200096"/>
            <a:chOff x="1822446" y="4037861"/>
            <a:chExt cx="4069353" cy="2200096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0B10D8A-976F-29E5-13C2-E02DDBC9A55A}"/>
                </a:ext>
              </a:extLst>
            </p:cNvPr>
            <p:cNvSpPr txBox="1"/>
            <p:nvPr/>
          </p:nvSpPr>
          <p:spPr>
            <a:xfrm>
              <a:off x="1822446" y="5651763"/>
              <a:ext cx="868892" cy="292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00" dirty="0" err="1">
                  <a:solidFill>
                    <a:srgbClr val="0070C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MF</a:t>
              </a:r>
              <a:r>
                <a:rPr lang="en-US" sz="1300" baseline="-25000" dirty="0" err="1">
                  <a:solidFill>
                    <a:srgbClr val="0070C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x</a:t>
              </a:r>
              <a:r>
                <a:rPr lang="en-US" sz="1300" dirty="0" err="1">
                  <a:solidFill>
                    <a:schemeClr val="accent2">
                      <a:lumMod val="7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@Cu</a:t>
              </a:r>
              <a:endParaRPr lang="en-US" sz="1300" dirty="0">
                <a:solidFill>
                  <a:schemeClr val="accent2">
                    <a:lumMod val="75000"/>
                  </a:schemeClr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6A1ECC0-59BB-C2D7-1AD8-AEFA70414D36}"/>
                </a:ext>
              </a:extLst>
            </p:cNvPr>
            <p:cNvSpPr txBox="1"/>
            <p:nvPr/>
          </p:nvSpPr>
          <p:spPr>
            <a:xfrm>
              <a:off x="2515460" y="5354465"/>
              <a:ext cx="83708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 err="1">
                  <a:solidFill>
                    <a:srgbClr val="FF00FF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LiF</a:t>
              </a:r>
              <a:r>
                <a:rPr lang="en-US" sz="1000" dirty="0">
                  <a:solidFill>
                    <a:srgbClr val="FF00FF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-rich SEI</a:t>
              </a:r>
            </a:p>
          </p:txBody>
        </p:sp>
        <p:pic>
          <p:nvPicPr>
            <p:cNvPr id="16" name="Picture 26" descr="E:\PNG\화살표\1304 - 복사본.png">
              <a:extLst>
                <a:ext uri="{FF2B5EF4-FFF2-40B4-BE49-F238E27FC236}">
                  <a16:creationId xmlns:a16="http://schemas.microsoft.com/office/drawing/2014/main" id="{0A655A29-1775-0532-2D90-C199F8CF08B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70751" y="4274806"/>
              <a:ext cx="1099140" cy="11823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CBD0D84-20BB-7928-E0BA-21B88E7E2A3C}"/>
                </a:ext>
              </a:extLst>
            </p:cNvPr>
            <p:cNvSpPr txBox="1"/>
            <p:nvPr/>
          </p:nvSpPr>
          <p:spPr>
            <a:xfrm>
              <a:off x="2454637" y="4744764"/>
              <a:ext cx="80983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Activation</a:t>
              </a:r>
            </a:p>
          </p:txBody>
        </p:sp>
        <p:pic>
          <p:nvPicPr>
            <p:cNvPr id="18" name="Picture 34" descr="E:\PNG\화살표\1304 - 복사본.png">
              <a:extLst>
                <a:ext uri="{FF2B5EF4-FFF2-40B4-BE49-F238E27FC236}">
                  <a16:creationId xmlns:a16="http://schemas.microsoft.com/office/drawing/2014/main" id="{2F60D7D7-34D1-EDD4-1310-4F7A044561F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22773" y="4342114"/>
              <a:ext cx="1039596" cy="11149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E206620-0036-9E31-EA93-04B144DFC933}"/>
                </a:ext>
              </a:extLst>
            </p:cNvPr>
            <p:cNvSpPr txBox="1"/>
            <p:nvPr/>
          </p:nvSpPr>
          <p:spPr>
            <a:xfrm>
              <a:off x="3775007" y="4653560"/>
              <a:ext cx="835485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Li</a:t>
              </a:r>
            </a:p>
            <a:p>
              <a:pPr algn="ctr"/>
              <a:r>
                <a:rPr lang="en-US" sz="11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deposition</a:t>
              </a:r>
            </a:p>
          </p:txBody>
        </p:sp>
        <p:pic>
          <p:nvPicPr>
            <p:cNvPr id="20" name="그림 48">
              <a:extLst>
                <a:ext uri="{FF2B5EF4-FFF2-40B4-BE49-F238E27FC236}">
                  <a16:creationId xmlns:a16="http://schemas.microsoft.com/office/drawing/2014/main" id="{D4785107-4B5D-C455-84E2-AADD9E71C64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696" t="55369" r="32060" b="18589"/>
            <a:stretch/>
          </p:blipFill>
          <p:spPr>
            <a:xfrm rot="5520000">
              <a:off x="4245635" y="4522666"/>
              <a:ext cx="1627317" cy="657707"/>
            </a:xfrm>
            <a:prstGeom prst="rect">
              <a:avLst/>
            </a:prstGeom>
          </p:spPr>
        </p:pic>
        <p:pic>
          <p:nvPicPr>
            <p:cNvPr id="21" name="그림 49">
              <a:extLst>
                <a:ext uri="{FF2B5EF4-FFF2-40B4-BE49-F238E27FC236}">
                  <a16:creationId xmlns:a16="http://schemas.microsoft.com/office/drawing/2014/main" id="{96030CAA-22DF-22C7-2B6C-9FD60CBC389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662" t="60262" r="32160" b="19073"/>
            <a:stretch/>
          </p:blipFill>
          <p:spPr>
            <a:xfrm rot="5520000">
              <a:off x="2791381" y="4620012"/>
              <a:ext cx="1619532" cy="520380"/>
            </a:xfrm>
            <a:prstGeom prst="rect">
              <a:avLst/>
            </a:prstGeom>
          </p:spPr>
        </p:pic>
        <p:pic>
          <p:nvPicPr>
            <p:cNvPr id="22" name="그림 50">
              <a:extLst>
                <a:ext uri="{FF2B5EF4-FFF2-40B4-BE49-F238E27FC236}">
                  <a16:creationId xmlns:a16="http://schemas.microsoft.com/office/drawing/2014/main" id="{C598EF39-389B-91F2-13DF-992ABDDC26C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476" t="59391" r="32375" b="18926"/>
            <a:stretch/>
          </p:blipFill>
          <p:spPr>
            <a:xfrm rot="5520000">
              <a:off x="1480934" y="4584474"/>
              <a:ext cx="1581371" cy="533552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69B98B7-55FA-035A-9405-CB6593C63737}"/>
                </a:ext>
              </a:extLst>
            </p:cNvPr>
            <p:cNvSpPr txBox="1"/>
            <p:nvPr/>
          </p:nvSpPr>
          <p:spPr>
            <a:xfrm>
              <a:off x="4318163" y="5651763"/>
              <a:ext cx="1573636" cy="292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00" dirty="0">
                  <a:solidFill>
                    <a:srgbClr val="C0000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Uniform</a:t>
              </a:r>
              <a:r>
                <a:rPr lang="en-US" sz="1300" dirty="0"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 Li platting</a:t>
              </a:r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E5309FC9-ECA4-1078-EB97-6BB7BD10FDB8}"/>
                </a:ext>
              </a:extLst>
            </p:cNvPr>
            <p:cNvCxnSpPr/>
            <p:nvPr/>
          </p:nvCxnSpPr>
          <p:spPr>
            <a:xfrm>
              <a:off x="3182561" y="4353707"/>
              <a:ext cx="280413" cy="220134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CE7F096-C4A3-94A6-78DB-49998918D1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52097" y="5296946"/>
              <a:ext cx="259266" cy="209526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DEB460F-5502-CC4F-C3FD-B133C142FDED}"/>
                </a:ext>
              </a:extLst>
            </p:cNvPr>
            <p:cNvSpPr txBox="1"/>
            <p:nvPr/>
          </p:nvSpPr>
          <p:spPr>
            <a:xfrm>
              <a:off x="2793258" y="5651763"/>
              <a:ext cx="1524905" cy="292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00" dirty="0">
                  <a:solidFill>
                    <a:srgbClr val="C0000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Even</a:t>
              </a:r>
              <a:r>
                <a:rPr lang="en-US" sz="1300" dirty="0"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 Li nucleation</a:t>
              </a:r>
            </a:p>
          </p:txBody>
        </p: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BE685A04-BAD1-9C23-1CAE-34D50A1E8596}"/>
                </a:ext>
              </a:extLst>
            </p:cNvPr>
            <p:cNvCxnSpPr>
              <a:cxnSpLocks/>
            </p:cNvCxnSpPr>
            <p:nvPr/>
          </p:nvCxnSpPr>
          <p:spPr>
            <a:xfrm>
              <a:off x="4726132" y="4314477"/>
              <a:ext cx="228028" cy="179010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ACFECB5-BED5-F76B-3ED9-950C6AB02DA9}"/>
                </a:ext>
              </a:extLst>
            </p:cNvPr>
            <p:cNvSpPr txBox="1"/>
            <p:nvPr/>
          </p:nvSpPr>
          <p:spPr>
            <a:xfrm>
              <a:off x="2464038" y="4095324"/>
              <a:ext cx="97174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 err="1">
                  <a:solidFill>
                    <a:srgbClr val="00B05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Lithiophilic</a:t>
              </a:r>
              <a:r>
                <a:rPr lang="en-US" sz="900" dirty="0">
                  <a:solidFill>
                    <a:srgbClr val="00B05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 </a:t>
              </a:r>
              <a:r>
                <a:rPr lang="en-US" sz="900" dirty="0" err="1">
                  <a:solidFill>
                    <a:srgbClr val="00B05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LiM</a:t>
              </a:r>
              <a:endParaRPr lang="en-US" sz="900" dirty="0">
                <a:solidFill>
                  <a:srgbClr val="00B050"/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5C5B792-2BCC-5307-6BEB-3BE36E0A3ADB}"/>
                </a:ext>
              </a:extLst>
            </p:cNvPr>
            <p:cNvSpPr txBox="1"/>
            <p:nvPr/>
          </p:nvSpPr>
          <p:spPr>
            <a:xfrm>
              <a:off x="3671031" y="4098096"/>
              <a:ext cx="1325363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9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균일하고 평탄한 </a:t>
              </a:r>
              <a:r>
                <a:rPr lang="en-US" altLang="ko-KR" sz="9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Li </a:t>
              </a:r>
              <a:r>
                <a:rPr lang="ko-KR" altLang="en-US" sz="9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증착층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7AB11A4C-483A-3160-AE40-ED3F06E3A61D}"/>
                </a:ext>
              </a:extLst>
            </p:cNvPr>
            <p:cNvSpPr txBox="1"/>
            <p:nvPr/>
          </p:nvSpPr>
          <p:spPr>
            <a:xfrm>
              <a:off x="1822446" y="5976347"/>
              <a:ext cx="2698913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MF</a:t>
              </a:r>
              <a:r>
                <a:rPr lang="en-US" sz="1100" baseline="-250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x</a:t>
              </a:r>
              <a:r>
                <a:rPr lang="en-US" sz="11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: Metal Fluoride, </a:t>
              </a:r>
              <a:r>
                <a:rPr lang="en-US" sz="11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eg.</a:t>
              </a:r>
              <a:r>
                <a:rPr lang="en-US" sz="11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 ZnF</a:t>
              </a:r>
              <a:r>
                <a:rPr lang="en-US" sz="1100" baseline="-250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2</a:t>
              </a:r>
              <a:r>
                <a:rPr lang="en-US" sz="11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, MgF</a:t>
              </a:r>
              <a:r>
                <a:rPr lang="en-US" sz="1100" baseline="-250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2</a:t>
              </a:r>
              <a:r>
                <a:rPr lang="en-US" sz="11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 </a:t>
              </a:r>
              <a:r>
                <a:rPr lang="en-US" sz="11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etc</a:t>
              </a:r>
              <a:endParaRPr 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80314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13999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18000"/>
            <a:ext cx="9144000" cy="37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[그림 2]  연구 로드맵 및 Task 구성도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13999"/>
            <a:ext cx="9144000" cy="2466000"/>
          </a:xfrm>
          <a:prstGeom prst="rect">
            <a:avLst/>
          </a:prstGeom>
          <a:solidFill>
            <a:srgbClr val="F1F3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000" y="432000"/>
            <a:ext cx="18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3F51B5"/>
                </a:solidFill>
                <a:latin typeface="맑은 고딕"/>
              </a:rPr>
              <a:t>▶ 연구 단계별 흐름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999" y="576000"/>
            <a:ext cx="2700000" cy="2250000"/>
          </a:xfrm>
          <a:prstGeom prst="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60999" y="576000"/>
            <a:ext cx="2700000" cy="396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0999" y="5940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dirty="0">
                <a:solidFill>
                  <a:srgbClr val="FFFFFF"/>
                </a:solidFill>
                <a:latin typeface="맑은 고딕"/>
              </a:rPr>
              <a:t>Task 1.  ALD </a:t>
            </a:r>
            <a:r>
              <a:rPr sz="1000" b="1" dirty="0" err="1">
                <a:solidFill>
                  <a:srgbClr val="FFFFFF"/>
                </a:solidFill>
                <a:latin typeface="맑은 고딕"/>
              </a:rPr>
              <a:t>불화물</a:t>
            </a:r>
            <a:r>
              <a:rPr sz="10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1000" b="1" dirty="0" err="1">
                <a:solidFill>
                  <a:srgbClr val="FFFFFF"/>
                </a:solidFill>
                <a:latin typeface="맑은 고딕"/>
              </a:rPr>
              <a:t>박막</a:t>
            </a:r>
            <a:r>
              <a:rPr sz="10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1000" b="1" dirty="0" err="1">
                <a:solidFill>
                  <a:srgbClr val="FFFFFF"/>
                </a:solidFill>
                <a:latin typeface="맑은 고딕"/>
              </a:rPr>
              <a:t>합성</a:t>
            </a:r>
            <a:endParaRPr sz="1000" b="1" dirty="0">
              <a:solidFill>
                <a:srgbClr val="FFFFFF"/>
              </a:solidFill>
              <a:latin typeface="맑은 고딕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60999" y="7632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및 계면 특성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70999" y="1008000"/>
            <a:ext cx="1080000" cy="1512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0999" y="1008000"/>
            <a:ext cx="10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</a:rPr>
              <a:t>■  1년차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99" y="1224000"/>
            <a:ext cx="2541600" cy="1136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전구체·반응물 최적화 (ZnF₂, AlF₃, LiF)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증착 조건 탐색 (두께 5~100 nm)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XRD·XPS·TEM/EDS 결정구조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ToF-SIMS 계면 결합 상태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EIS · Li⁺ 이온전도도 평가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Pinhole-free 합성 조건 확립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4999" y="2638799"/>
            <a:ext cx="306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4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XRD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6999" y="2638799"/>
            <a:ext cx="306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6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XPS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98999" y="2638799"/>
            <a:ext cx="306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98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0999" y="2638799"/>
            <a:ext cx="270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340999" y="2638799"/>
            <a:ext cx="27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EIS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46999" y="2638799"/>
            <a:ext cx="503999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646999" y="2638799"/>
            <a:ext cx="503999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ToF-SIMS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21999" y="576000"/>
            <a:ext cx="2700000" cy="2250000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221999" y="576000"/>
            <a:ext cx="2700000" cy="396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221999" y="5940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Task 2.  In-situ/Operando 분석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21999" y="7632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Li 핵생성 메커니즘 규명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31999" y="1008000"/>
            <a:ext cx="1080000" cy="1512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031999" y="1008000"/>
            <a:ext cx="10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</a:rPr>
              <a:t>■  1~2년차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01200" y="1224000"/>
            <a:ext cx="2541600" cy="9651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Cryo-TEM·AFM  Li 핵생성 실시간 관찰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Operando XRD  충·방전 중 Li 거동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in-situ SEM  SEI 진화 모니터링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DFT: 불화물/Li 계면 확산 배리어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과전압·증착 균일도 데이터베이스 구축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76000" y="2638799"/>
            <a:ext cx="558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76000" y="2638799"/>
            <a:ext cx="55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Cryo-TEM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70000" y="2638799"/>
            <a:ext cx="306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870000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AFM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12000" y="2638799"/>
            <a:ext cx="450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212000" y="2638799"/>
            <a:ext cx="45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Op.XRD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98000" y="2638799"/>
            <a:ext cx="306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698000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DFT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39999" y="2638799"/>
            <a:ext cx="612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039999" y="2638799"/>
            <a:ext cx="612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in-situ SEM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2999" y="576000"/>
            <a:ext cx="2700000" cy="2250000"/>
          </a:xfrm>
          <a:prstGeom prst="rect">
            <a:avLst/>
          </a:prstGeom>
          <a:solidFill>
            <a:srgbClr val="FFF3E0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182999" y="576000"/>
            <a:ext cx="2700000" cy="396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182999" y="5940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Task 3.  Full Cell 평가 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82999" y="7632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인공 SEI 설계 원칙 도출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92999" y="1008000"/>
            <a:ext cx="1080000" cy="15120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992999" y="1008000"/>
            <a:ext cx="10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</a:rPr>
              <a:t>■  2~3년차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62199" y="1224000"/>
            <a:ext cx="2541600" cy="1136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Li||NCM 풀 셀 제작 및 장기 사이클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  (&gt;300 사이클,  CE &gt;99.5%)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Post-mortem XPS/TEM SEI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ZnF₂ vs AlF₃ vs LiF 비교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ALD 기반 인공 SEI 설계 원칙 제안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  목표: 용량유지율 &gt;80% (300 사이클)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36999" y="2638799"/>
            <a:ext cx="306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36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XPS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78999" y="2638799"/>
            <a:ext cx="306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578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920999" y="2638799"/>
            <a:ext cx="558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920999" y="2638799"/>
            <a:ext cx="55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Full-Cell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514999" y="2638799"/>
            <a:ext cx="720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514999" y="2638799"/>
            <a:ext cx="72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Post-mortem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961000" y="1700999"/>
            <a:ext cx="260999" cy="0"/>
          </a:xfrm>
          <a:prstGeom prst="line">
            <a:avLst/>
          </a:prstGeom>
          <a:ln w="31750">
            <a:solidFill>
              <a:srgbClr val="455A64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2875499" y="1503000"/>
            <a:ext cx="43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46E7A"/>
                </a:solidFill>
                <a:latin typeface="맑은 고딕"/>
              </a:rPr>
              <a:t>계면
정보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922000" y="1700999"/>
            <a:ext cx="260999" cy="0"/>
          </a:xfrm>
          <a:prstGeom prst="line">
            <a:avLst/>
          </a:prstGeom>
          <a:ln w="31750">
            <a:solidFill>
              <a:srgbClr val="455A64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5818500" y="1503000"/>
            <a:ext cx="46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46E7A"/>
                </a:solidFill>
                <a:latin typeface="맑은 고딕"/>
              </a:rPr>
              <a:t>메커니즘
규명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2880000"/>
            <a:ext cx="9144000" cy="36000"/>
          </a:xfrm>
          <a:prstGeom prst="rect">
            <a:avLst/>
          </a:prstGeom>
          <a:solidFill>
            <a:srgbClr val="394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108000" y="2934000"/>
            <a:ext cx="28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3F51B5"/>
                </a:solidFill>
                <a:latin typeface="맑은 고딕"/>
              </a:rPr>
              <a:t>▶ 연차별 연구 추진 일정 (간트 차트)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854000" y="3103199"/>
            <a:ext cx="2417999" cy="237600"/>
          </a:xfrm>
          <a:prstGeom prst="rect">
            <a:avLst/>
          </a:prstGeom>
          <a:solidFill>
            <a:srgbClr val="C5CA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1854000" y="3103199"/>
            <a:ext cx="2417999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A237E"/>
                </a:solidFill>
                <a:latin typeface="맑은 고딕"/>
              </a:rPr>
              <a:t>1년차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72000" y="3103199"/>
            <a:ext cx="2417999" cy="2376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272000" y="3103199"/>
            <a:ext cx="2417999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47A1"/>
                </a:solidFill>
                <a:latin typeface="맑은 고딕"/>
              </a:rPr>
              <a:t>2년차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690000" y="3103199"/>
            <a:ext cx="2417999" cy="237600"/>
          </a:xfrm>
          <a:prstGeom prst="rect">
            <a:avLst/>
          </a:prstGeom>
          <a:solidFill>
            <a:srgbClr val="B3E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690000" y="3103199"/>
            <a:ext cx="2417999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1579B"/>
                </a:solidFill>
                <a:latin typeface="맑은 고딕"/>
              </a:rPr>
              <a:t>3년차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854000" y="3340800"/>
            <a:ext cx="7253999" cy="162000"/>
          </a:xfrm>
          <a:prstGeom prst="rect">
            <a:avLst/>
          </a:prstGeom>
          <a:solidFill>
            <a:srgbClr val="EDE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1854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458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63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67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272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76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81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85499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690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94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98999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503499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1854000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458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0630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667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272000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876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54810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6085499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6690000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7294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7898999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8503499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9107999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0" y="3315599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Rectangle 93"/>
          <p:cNvSpPr/>
          <p:nvPr/>
        </p:nvSpPr>
        <p:spPr>
          <a:xfrm>
            <a:off x="0" y="3315599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90000" y="33299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맑은 고딕"/>
              </a:rPr>
              <a:t>① ALD 증착 조건 최적화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0000" y="34812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맑은 고딕"/>
              </a:rPr>
              <a:t>(ZnF₂, AlF₃, LiF)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854000" y="3315599"/>
            <a:ext cx="72539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/>
          <p:cNvSpPr/>
          <p:nvPr/>
        </p:nvSpPr>
        <p:spPr>
          <a:xfrm>
            <a:off x="1868400" y="3394800"/>
            <a:ext cx="2389199" cy="187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1868400" y="3394800"/>
            <a:ext cx="2389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전구체 최적화 및 ALD 파라미터 탐색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0" y="3661199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/>
          <p:cNvSpPr/>
          <p:nvPr/>
        </p:nvSpPr>
        <p:spPr>
          <a:xfrm>
            <a:off x="0" y="3661199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/>
          <p:cNvSpPr/>
          <p:nvPr/>
        </p:nvSpPr>
        <p:spPr>
          <a:xfrm>
            <a:off x="0" y="3661199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90000" y="36755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맑은 고딕"/>
              </a:rPr>
              <a:t>② 박막 구조·화학 조성 분석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0000" y="3826799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맑은 고딕"/>
              </a:rPr>
              <a:t>(XRD / XPS / TEM / ToF-SIMS)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854000" y="3661199"/>
            <a:ext cx="72539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2472900" y="3740399"/>
            <a:ext cx="2993699" cy="1872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2472900" y="3740399"/>
            <a:ext cx="2993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XRD / XPS / TEM-EDS / ToF-SIMS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0" y="4006799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ectangle 108"/>
          <p:cNvSpPr/>
          <p:nvPr/>
        </p:nvSpPr>
        <p:spPr>
          <a:xfrm>
            <a:off x="0" y="4006799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/>
          <p:cNvSpPr/>
          <p:nvPr/>
        </p:nvSpPr>
        <p:spPr>
          <a:xfrm>
            <a:off x="0" y="4006799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90000" y="40211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맑은 고딕"/>
              </a:rPr>
              <a:t>③ EIS · Li⁺ 이온전도도 평가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0000" y="41724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맑은 고딕"/>
              </a:rPr>
              <a:t>(pinhole-free 조건 확립)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854000" y="4006799"/>
            <a:ext cx="72539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ectangle 113"/>
          <p:cNvSpPr/>
          <p:nvPr/>
        </p:nvSpPr>
        <p:spPr>
          <a:xfrm>
            <a:off x="3077399" y="4086000"/>
            <a:ext cx="1180199" cy="1872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3077399" y="4086000"/>
            <a:ext cx="1180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EIS · Li⁺ 이온전도도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0" y="4352400"/>
            <a:ext cx="9144000" cy="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ectangle 116"/>
          <p:cNvSpPr/>
          <p:nvPr/>
        </p:nvSpPr>
        <p:spPr>
          <a:xfrm>
            <a:off x="0" y="4352400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Rectangle 117"/>
          <p:cNvSpPr/>
          <p:nvPr/>
        </p:nvSpPr>
        <p:spPr>
          <a:xfrm>
            <a:off x="0" y="4352400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90000" y="4366800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맑은 고딕"/>
              </a:rPr>
              <a:t>④ Cryo-TEM / AFM 핵생성 관찰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0000" y="45180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맑은 고딕"/>
              </a:rPr>
              <a:t>Li 핵생성 나노구조 실시간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854000" y="4352400"/>
            <a:ext cx="72539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121"/>
          <p:cNvSpPr/>
          <p:nvPr/>
        </p:nvSpPr>
        <p:spPr>
          <a:xfrm>
            <a:off x="3077399" y="4431600"/>
            <a:ext cx="3598199" cy="18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3077399" y="4431600"/>
            <a:ext cx="3598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Cryo-TEM / AFM — Li 핵생성 나노구조 관찰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0" y="46980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Rectangle 124"/>
          <p:cNvSpPr/>
          <p:nvPr/>
        </p:nvSpPr>
        <p:spPr>
          <a:xfrm>
            <a:off x="0" y="4698000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0" y="4698000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90000" y="47123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맑은 고딕"/>
              </a:rPr>
              <a:t>⑤ Operando XRD / in-situ SEM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0000" y="48636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맑은 고딕"/>
              </a:rPr>
              <a:t>Li 증착·용해 거동 모니터링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854000" y="4698000"/>
            <a:ext cx="72539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3681899" y="4777200"/>
            <a:ext cx="2993699" cy="187200"/>
          </a:xfrm>
          <a:prstGeom prst="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3681899" y="4777200"/>
            <a:ext cx="2993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Operando XRD / in-situ SEM 모니터링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0" y="5043599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ctangle 132"/>
          <p:cNvSpPr/>
          <p:nvPr/>
        </p:nvSpPr>
        <p:spPr>
          <a:xfrm>
            <a:off x="0" y="5043599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ectangle 133"/>
          <p:cNvSpPr/>
          <p:nvPr/>
        </p:nvSpPr>
        <p:spPr>
          <a:xfrm>
            <a:off x="0" y="5043599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90000" y="50579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맑은 고딕"/>
              </a:rPr>
              <a:t>⑥ DFT 이론 계산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0000" y="52092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맑은 고딕"/>
              </a:rPr>
              <a:t>계면 Li⁺ 확산 에너지 배리어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854000" y="5043599"/>
            <a:ext cx="72539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Rectangle 137"/>
          <p:cNvSpPr/>
          <p:nvPr/>
        </p:nvSpPr>
        <p:spPr>
          <a:xfrm>
            <a:off x="3681899" y="5122799"/>
            <a:ext cx="2993699" cy="1872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3681899" y="5122799"/>
            <a:ext cx="2993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DFT: 불화물/Li 계면 Li⁺ 확산 에너지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0" y="5389200"/>
            <a:ext cx="9144000" cy="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Rectangle 140"/>
          <p:cNvSpPr/>
          <p:nvPr/>
        </p:nvSpPr>
        <p:spPr>
          <a:xfrm>
            <a:off x="0" y="5389200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Rectangle 141"/>
          <p:cNvSpPr/>
          <p:nvPr/>
        </p:nvSpPr>
        <p:spPr>
          <a:xfrm>
            <a:off x="0" y="5389200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90000" y="54035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맑은 고딕"/>
              </a:rPr>
              <a:t>⑦ Li||NCM 풀 셀 장기 사이클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0000" y="55548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맑은 고딕"/>
              </a:rPr>
              <a:t>&gt;300 사이클, CE &gt;99.5%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854000" y="5389200"/>
            <a:ext cx="72539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Rectangle 145"/>
          <p:cNvSpPr/>
          <p:nvPr/>
        </p:nvSpPr>
        <p:spPr>
          <a:xfrm>
            <a:off x="5495400" y="5468400"/>
            <a:ext cx="3598199" cy="1872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5495400" y="5468400"/>
            <a:ext cx="3598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Li||NCM Full Cell 장기 사이클링 (&gt;300 cycles)</a:t>
            </a:r>
          </a:p>
        </p:txBody>
      </p:sp>
      <p:cxnSp>
        <p:nvCxnSpPr>
          <p:cNvPr id="148" name="Connector 147"/>
          <p:cNvCxnSpPr/>
          <p:nvPr/>
        </p:nvCxnSpPr>
        <p:spPr>
          <a:xfrm>
            <a:off x="0" y="57348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Rectangle 148"/>
          <p:cNvSpPr/>
          <p:nvPr/>
        </p:nvSpPr>
        <p:spPr>
          <a:xfrm>
            <a:off x="0" y="5734800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Rectangle 149"/>
          <p:cNvSpPr/>
          <p:nvPr/>
        </p:nvSpPr>
        <p:spPr>
          <a:xfrm>
            <a:off x="0" y="5734800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90000" y="5749200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맑은 고딕"/>
              </a:rPr>
              <a:t>⑧ Post-mortem XPS/TEM 분석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0000" y="59004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맑은 고딕"/>
              </a:rPr>
              <a:t>SEI 조성 변화·열화 메커니즘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1854000" y="5734800"/>
            <a:ext cx="72539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ectangle 153"/>
          <p:cNvSpPr/>
          <p:nvPr/>
        </p:nvSpPr>
        <p:spPr>
          <a:xfrm>
            <a:off x="6704399" y="5813999"/>
            <a:ext cx="2389199" cy="1872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6704399" y="5813999"/>
            <a:ext cx="2389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Post-mortem XPS / TEM 분석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0" y="60804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ectangle 156"/>
          <p:cNvSpPr/>
          <p:nvPr/>
        </p:nvSpPr>
        <p:spPr>
          <a:xfrm>
            <a:off x="0" y="6080400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Rectangle 157"/>
          <p:cNvSpPr/>
          <p:nvPr/>
        </p:nvSpPr>
        <p:spPr>
          <a:xfrm>
            <a:off x="0" y="6080400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90000" y="6094800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맑은 고딕"/>
              </a:rPr>
              <a:t>⑨ ALD 인공 SEI 설계 원칙 도출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90000" y="62460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맑은 고딕"/>
              </a:rPr>
              <a:t>ZnF₂/AlF₃/LiF 비교 정립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854000" y="6080400"/>
            <a:ext cx="72539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Rectangle 161"/>
          <p:cNvSpPr/>
          <p:nvPr/>
        </p:nvSpPr>
        <p:spPr>
          <a:xfrm>
            <a:off x="7308899" y="6159600"/>
            <a:ext cx="1784699" cy="18720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7308899" y="6159600"/>
            <a:ext cx="1784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범용 ALD-SEI 설계 원칙 정립</a:t>
            </a:r>
          </a:p>
        </p:txBody>
      </p:sp>
      <p:cxnSp>
        <p:nvCxnSpPr>
          <p:cNvPr id="164" name="Connector 163"/>
          <p:cNvCxnSpPr/>
          <p:nvPr/>
        </p:nvCxnSpPr>
        <p:spPr>
          <a:xfrm>
            <a:off x="0" y="64260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1854000" y="3315599"/>
            <a:ext cx="0" cy="3110401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ctangle 165"/>
          <p:cNvSpPr/>
          <p:nvPr/>
        </p:nvSpPr>
        <p:spPr>
          <a:xfrm>
            <a:off x="0" y="6372000"/>
            <a:ext cx="9144000" cy="288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13999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18000"/>
            <a:ext cx="9144000" cy="37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[그림 2]  연구 로드맵 및 Task 구성도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13999"/>
            <a:ext cx="9144000" cy="2466000"/>
          </a:xfrm>
          <a:prstGeom prst="rect">
            <a:avLst/>
          </a:prstGeom>
          <a:solidFill>
            <a:srgbClr val="F1F3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000" y="432000"/>
            <a:ext cx="18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3F51B5"/>
                </a:solidFill>
                <a:latin typeface="맑은 고딕"/>
              </a:rPr>
              <a:t>▶ 연구 단계별 흐름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999" y="576000"/>
            <a:ext cx="2700000" cy="2250000"/>
          </a:xfrm>
          <a:prstGeom prst="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60999" y="576000"/>
            <a:ext cx="2700000" cy="396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0999" y="5940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Task 1.  ALD 불화물 박막 합성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999" y="7632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및 계면 특성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70999" y="1008000"/>
            <a:ext cx="1080000" cy="1512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0999" y="1008000"/>
            <a:ext cx="10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</a:rPr>
              <a:t>■  1년차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99" y="1224000"/>
            <a:ext cx="2541600" cy="1136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전구체·반응물 최적화 (ZnF₂, AlF₃, LiF)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증착 조건 탐색 (두께 5~100 nm)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XRD·XPS·TEM/EDS 결정구조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ToF-SIMS 계면 결합 상태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EIS · Li⁺ 이온전도도 평가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Pinhole-free 합성 조건 확립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4999" y="2638799"/>
            <a:ext cx="306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4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XRD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6999" y="2638799"/>
            <a:ext cx="306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6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XPS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98999" y="2638799"/>
            <a:ext cx="306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98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0999" y="2638799"/>
            <a:ext cx="270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340999" y="2638799"/>
            <a:ext cx="27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EIS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46999" y="2638799"/>
            <a:ext cx="503999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646999" y="2638799"/>
            <a:ext cx="503999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ToF-SIMS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21999" y="576000"/>
            <a:ext cx="2700000" cy="2250000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221999" y="576000"/>
            <a:ext cx="2700000" cy="396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221999" y="5940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Task 2.  In-situ/Operando 분석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21999" y="7632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Li 핵생성 메커니즘 규명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31999" y="1008000"/>
            <a:ext cx="1080000" cy="1512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031999" y="1008000"/>
            <a:ext cx="10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</a:rPr>
              <a:t>■  1~2년차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01200" y="1224000"/>
            <a:ext cx="2541600" cy="9651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Cryo-TEM·AFM  Li 핵생성 실시간 관찰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Operando XRD  충·방전 중 Li 거동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in-situ SEM  SEI 진화 모니터링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DFT: 불화물/Li 계면 확산 배리어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과전압·증착 균일도 데이터베이스 구축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76000" y="2638799"/>
            <a:ext cx="558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76000" y="2638799"/>
            <a:ext cx="55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Cryo-TEM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70000" y="2638799"/>
            <a:ext cx="306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870000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AFM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12000" y="2638799"/>
            <a:ext cx="450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212000" y="2638799"/>
            <a:ext cx="45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Op.XRD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98000" y="2638799"/>
            <a:ext cx="306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698000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DFT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39999" y="2638799"/>
            <a:ext cx="612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039999" y="2638799"/>
            <a:ext cx="612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in-situ SEM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2999" y="576000"/>
            <a:ext cx="2700000" cy="2250000"/>
          </a:xfrm>
          <a:prstGeom prst="rect">
            <a:avLst/>
          </a:prstGeom>
          <a:solidFill>
            <a:srgbClr val="FFF3E0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182999" y="576000"/>
            <a:ext cx="2700000" cy="396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182999" y="5940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Task 3.  Full Cell 평가 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82999" y="7632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인공 SEI 설계 원칙 도출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92999" y="1008000"/>
            <a:ext cx="1080000" cy="15120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992999" y="1008000"/>
            <a:ext cx="10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</a:rPr>
              <a:t>■  2~3년차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62199" y="1224000"/>
            <a:ext cx="2541600" cy="1136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Li||NCM 풀 셀 제작 및 장기 사이클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  (&gt;300 사이클,  CE &gt;99.5%)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Post-mortem XPS/TEM SEI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ZnF₂ vs AlF₃ vs LiF 비교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ALD 기반 인공 SEI 설계 원칙 제안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  목표: 용량유지율 &gt;80% (300 사이클)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36999" y="2638799"/>
            <a:ext cx="306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36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XPS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78999" y="2638799"/>
            <a:ext cx="306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578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920999" y="2638799"/>
            <a:ext cx="558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920999" y="2638799"/>
            <a:ext cx="55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Full-Cell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514999" y="2638799"/>
            <a:ext cx="720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514999" y="2638799"/>
            <a:ext cx="72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Post-mortem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961000" y="1700999"/>
            <a:ext cx="260999" cy="0"/>
          </a:xfrm>
          <a:prstGeom prst="line">
            <a:avLst/>
          </a:prstGeom>
          <a:ln w="31750">
            <a:solidFill>
              <a:srgbClr val="455A64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2875499" y="1503000"/>
            <a:ext cx="43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46E7A"/>
                </a:solidFill>
                <a:latin typeface="맑은 고딕"/>
              </a:rPr>
              <a:t>계면
정보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922000" y="1700999"/>
            <a:ext cx="260999" cy="0"/>
          </a:xfrm>
          <a:prstGeom prst="line">
            <a:avLst/>
          </a:prstGeom>
          <a:ln w="31750">
            <a:solidFill>
              <a:srgbClr val="455A64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5818500" y="1503000"/>
            <a:ext cx="46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46E7A"/>
                </a:solidFill>
                <a:latin typeface="맑은 고딕"/>
              </a:rPr>
              <a:t>메커니즘
규명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2880000"/>
            <a:ext cx="9144000" cy="36000"/>
          </a:xfrm>
          <a:prstGeom prst="rect">
            <a:avLst/>
          </a:prstGeom>
          <a:solidFill>
            <a:srgbClr val="394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108000" y="2934000"/>
            <a:ext cx="28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dirty="0">
                <a:solidFill>
                  <a:srgbClr val="3F51B5"/>
                </a:solidFill>
                <a:latin typeface="맑은 고딕"/>
              </a:rPr>
              <a:t>▶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연차별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연구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추진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일정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(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간트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차트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854000" y="3103199"/>
            <a:ext cx="2417999" cy="237600"/>
          </a:xfrm>
          <a:prstGeom prst="rect">
            <a:avLst/>
          </a:prstGeom>
          <a:solidFill>
            <a:srgbClr val="C5CA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1854000" y="3103199"/>
            <a:ext cx="2417999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A237E"/>
                </a:solidFill>
                <a:latin typeface="맑은 고딕"/>
              </a:rPr>
              <a:t>1년차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72000" y="3103199"/>
            <a:ext cx="2417999" cy="2376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272000" y="3103199"/>
            <a:ext cx="2417999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47A1"/>
                </a:solidFill>
                <a:latin typeface="맑은 고딕"/>
              </a:rPr>
              <a:t>2년차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690000" y="3103199"/>
            <a:ext cx="2417999" cy="237600"/>
          </a:xfrm>
          <a:prstGeom prst="rect">
            <a:avLst/>
          </a:prstGeom>
          <a:solidFill>
            <a:srgbClr val="B3E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690000" y="3103199"/>
            <a:ext cx="2417999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1579B"/>
                </a:solidFill>
                <a:latin typeface="맑은 고딕"/>
              </a:rPr>
              <a:t>3년차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854000" y="3340800"/>
            <a:ext cx="7253999" cy="162000"/>
          </a:xfrm>
          <a:prstGeom prst="rect">
            <a:avLst/>
          </a:prstGeom>
          <a:solidFill>
            <a:srgbClr val="EDE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1854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458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63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67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272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76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81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85499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690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94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98999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503499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1854000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458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0630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667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272000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876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54810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6085499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6690000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7294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7898999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8503499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9107999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0" y="3315599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Rectangle 93"/>
          <p:cNvSpPr/>
          <p:nvPr/>
        </p:nvSpPr>
        <p:spPr>
          <a:xfrm>
            <a:off x="0" y="3315599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90000" y="33299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맑은 고딕"/>
              </a:rPr>
              <a:t>① ALD 증착 조건 최적화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0000" y="34812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맑은 고딕"/>
              </a:rPr>
              <a:t>(ZnF₂, AlF₃, LiF)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854000" y="3315599"/>
            <a:ext cx="72539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/>
          <p:cNvSpPr/>
          <p:nvPr/>
        </p:nvSpPr>
        <p:spPr>
          <a:xfrm>
            <a:off x="1868400" y="3394800"/>
            <a:ext cx="2389199" cy="187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1868400" y="3394800"/>
            <a:ext cx="2389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 dirty="0" err="1">
                <a:solidFill>
                  <a:srgbClr val="FFFFFF"/>
                </a:solidFill>
                <a:latin typeface="맑은 고딕"/>
              </a:rPr>
              <a:t>전구체</a:t>
            </a:r>
            <a:r>
              <a:rPr sz="720" b="0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720" b="0" dirty="0" err="1">
                <a:solidFill>
                  <a:srgbClr val="FFFFFF"/>
                </a:solidFill>
                <a:latin typeface="맑은 고딕"/>
              </a:rPr>
              <a:t>최적화</a:t>
            </a:r>
            <a:r>
              <a:rPr sz="720" b="0" dirty="0">
                <a:solidFill>
                  <a:srgbClr val="FFFFFF"/>
                </a:solidFill>
                <a:latin typeface="맑은 고딕"/>
              </a:rPr>
              <a:t> 및 ALD </a:t>
            </a:r>
            <a:r>
              <a:rPr sz="720" b="0" dirty="0" err="1">
                <a:solidFill>
                  <a:srgbClr val="FFFFFF"/>
                </a:solidFill>
                <a:latin typeface="맑은 고딕"/>
              </a:rPr>
              <a:t>파라미터</a:t>
            </a:r>
            <a:r>
              <a:rPr sz="720" b="0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720" b="0" dirty="0" err="1">
                <a:solidFill>
                  <a:srgbClr val="FFFFFF"/>
                </a:solidFill>
                <a:latin typeface="맑은 고딕"/>
              </a:rPr>
              <a:t>탐색</a:t>
            </a:r>
            <a:endParaRPr sz="720" b="0" dirty="0">
              <a:solidFill>
                <a:srgbClr val="FFFFFF"/>
              </a:solidFill>
              <a:latin typeface="맑은 고딕"/>
            </a:endParaRPr>
          </a:p>
        </p:txBody>
      </p:sp>
      <p:cxnSp>
        <p:nvCxnSpPr>
          <p:cNvPr id="100" name="Connector 99"/>
          <p:cNvCxnSpPr/>
          <p:nvPr/>
        </p:nvCxnSpPr>
        <p:spPr>
          <a:xfrm>
            <a:off x="0" y="3661199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/>
          <p:cNvSpPr/>
          <p:nvPr/>
        </p:nvSpPr>
        <p:spPr>
          <a:xfrm>
            <a:off x="0" y="3661199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/>
          <p:cNvSpPr/>
          <p:nvPr/>
        </p:nvSpPr>
        <p:spPr>
          <a:xfrm>
            <a:off x="0" y="3661199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90000" y="36755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맑은 고딕"/>
              </a:rPr>
              <a:t>② 박막 구조·화학 조성 분석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0000" y="3826799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맑은 고딕"/>
              </a:rPr>
              <a:t>(XRD / XPS / TEM / ToF-SIMS)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854000" y="3661199"/>
            <a:ext cx="72539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2472900" y="3740399"/>
            <a:ext cx="2993699" cy="1872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2472900" y="3740399"/>
            <a:ext cx="2993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XRD / XPS / TEM-EDS / ToF-SIMS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0" y="4006799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ectangle 108"/>
          <p:cNvSpPr/>
          <p:nvPr/>
        </p:nvSpPr>
        <p:spPr>
          <a:xfrm>
            <a:off x="0" y="4006799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/>
          <p:cNvSpPr/>
          <p:nvPr/>
        </p:nvSpPr>
        <p:spPr>
          <a:xfrm>
            <a:off x="0" y="4006799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90000" y="40211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맑은 고딕"/>
              </a:rPr>
              <a:t>③ EIS · Li⁺ 이온전도도 평가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0000" y="41724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맑은 고딕"/>
              </a:rPr>
              <a:t>(pinhole-free 조건 확립)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854000" y="4006799"/>
            <a:ext cx="72539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ectangle 113"/>
          <p:cNvSpPr/>
          <p:nvPr/>
        </p:nvSpPr>
        <p:spPr>
          <a:xfrm>
            <a:off x="3077399" y="4086000"/>
            <a:ext cx="1180199" cy="1872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3077399" y="4086000"/>
            <a:ext cx="1180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EIS · Li⁺ 이온전도도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0" y="4352400"/>
            <a:ext cx="9144000" cy="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ectangle 116"/>
          <p:cNvSpPr/>
          <p:nvPr/>
        </p:nvSpPr>
        <p:spPr>
          <a:xfrm>
            <a:off x="0" y="4352400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Rectangle 117"/>
          <p:cNvSpPr/>
          <p:nvPr/>
        </p:nvSpPr>
        <p:spPr>
          <a:xfrm>
            <a:off x="0" y="4352400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90000" y="4366800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맑은 고딕"/>
              </a:rPr>
              <a:t>④ Cryo-TEM / AFM 핵생성 관찰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0000" y="45180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맑은 고딕"/>
              </a:rPr>
              <a:t>Li 핵생성 나노구조 실시간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854000" y="4352400"/>
            <a:ext cx="72539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121"/>
          <p:cNvSpPr/>
          <p:nvPr/>
        </p:nvSpPr>
        <p:spPr>
          <a:xfrm>
            <a:off x="3077399" y="4431600"/>
            <a:ext cx="3598199" cy="18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3077399" y="4431600"/>
            <a:ext cx="3598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Cryo-TEM / AFM — Li 핵생성 나노구조 관찰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0" y="46980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Rectangle 124"/>
          <p:cNvSpPr/>
          <p:nvPr/>
        </p:nvSpPr>
        <p:spPr>
          <a:xfrm>
            <a:off x="0" y="4698000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0" y="4698000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90000" y="47123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맑은 고딕"/>
              </a:rPr>
              <a:t>⑤ Operando XRD / in-situ SEM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0000" y="48636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맑은 고딕"/>
              </a:rPr>
              <a:t>Li 증착·용해 거동 모니터링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854000" y="4698000"/>
            <a:ext cx="72539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3681899" y="4777200"/>
            <a:ext cx="2993699" cy="187200"/>
          </a:xfrm>
          <a:prstGeom prst="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3681899" y="4777200"/>
            <a:ext cx="2993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Operando XRD / in-situ SEM 모니터링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0" y="5043599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ctangle 132"/>
          <p:cNvSpPr/>
          <p:nvPr/>
        </p:nvSpPr>
        <p:spPr>
          <a:xfrm>
            <a:off x="0" y="5043599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ectangle 133"/>
          <p:cNvSpPr/>
          <p:nvPr/>
        </p:nvSpPr>
        <p:spPr>
          <a:xfrm>
            <a:off x="0" y="5043599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90000" y="50579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맑은 고딕"/>
              </a:rPr>
              <a:t>⑥ DFT 이론 계산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0000" y="52092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맑은 고딕"/>
              </a:rPr>
              <a:t>계면 Li⁺ 확산 에너지 배리어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854000" y="5043599"/>
            <a:ext cx="72539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Rectangle 137"/>
          <p:cNvSpPr/>
          <p:nvPr/>
        </p:nvSpPr>
        <p:spPr>
          <a:xfrm>
            <a:off x="3681899" y="5122799"/>
            <a:ext cx="2993699" cy="1872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3681899" y="5122799"/>
            <a:ext cx="2993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DFT: 불화물/Li 계면 Li⁺ 확산 에너지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0" y="5389200"/>
            <a:ext cx="9144000" cy="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Rectangle 140"/>
          <p:cNvSpPr/>
          <p:nvPr/>
        </p:nvSpPr>
        <p:spPr>
          <a:xfrm>
            <a:off x="0" y="5389200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Rectangle 141"/>
          <p:cNvSpPr/>
          <p:nvPr/>
        </p:nvSpPr>
        <p:spPr>
          <a:xfrm>
            <a:off x="0" y="5389200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90000" y="54035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맑은 고딕"/>
              </a:rPr>
              <a:t>⑦ Li||NCM 풀 셀 장기 사이클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0000" y="55548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맑은 고딕"/>
              </a:rPr>
              <a:t>&gt;300 사이클, CE &gt;99.5%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854000" y="5389200"/>
            <a:ext cx="72539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Rectangle 145"/>
          <p:cNvSpPr/>
          <p:nvPr/>
        </p:nvSpPr>
        <p:spPr>
          <a:xfrm>
            <a:off x="5495400" y="5468400"/>
            <a:ext cx="3598199" cy="1872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5495400" y="5468400"/>
            <a:ext cx="3598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Li||NCM Full Cell 장기 사이클링 (&gt;300 cycles)</a:t>
            </a:r>
          </a:p>
        </p:txBody>
      </p:sp>
      <p:cxnSp>
        <p:nvCxnSpPr>
          <p:cNvPr id="148" name="Connector 147"/>
          <p:cNvCxnSpPr/>
          <p:nvPr/>
        </p:nvCxnSpPr>
        <p:spPr>
          <a:xfrm>
            <a:off x="0" y="57348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Rectangle 148"/>
          <p:cNvSpPr/>
          <p:nvPr/>
        </p:nvSpPr>
        <p:spPr>
          <a:xfrm>
            <a:off x="0" y="5734800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Rectangle 149"/>
          <p:cNvSpPr/>
          <p:nvPr/>
        </p:nvSpPr>
        <p:spPr>
          <a:xfrm>
            <a:off x="0" y="5734800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90000" y="5749200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맑은 고딕"/>
              </a:rPr>
              <a:t>⑧ Post-mortem XPS/TEM 분석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0000" y="59004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맑은 고딕"/>
              </a:rPr>
              <a:t>SEI 조성 변화·열화 메커니즘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1854000" y="5734800"/>
            <a:ext cx="72539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ectangle 153"/>
          <p:cNvSpPr/>
          <p:nvPr/>
        </p:nvSpPr>
        <p:spPr>
          <a:xfrm>
            <a:off x="6704399" y="5813999"/>
            <a:ext cx="2389199" cy="1872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6704399" y="5813999"/>
            <a:ext cx="2389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Post-mortem XPS / TEM 분석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0" y="60804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ectangle 156"/>
          <p:cNvSpPr/>
          <p:nvPr/>
        </p:nvSpPr>
        <p:spPr>
          <a:xfrm>
            <a:off x="0" y="6080400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Rectangle 157"/>
          <p:cNvSpPr/>
          <p:nvPr/>
        </p:nvSpPr>
        <p:spPr>
          <a:xfrm>
            <a:off x="0" y="6080400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90000" y="6094800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맑은 고딕"/>
              </a:rPr>
              <a:t>⑨ ALD 인공 SEI 설계 원칙 도출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90000" y="62460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맑은 고딕"/>
              </a:rPr>
              <a:t>ZnF₂/AlF₃/LiF 비교 정립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854000" y="6080400"/>
            <a:ext cx="72539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Rectangle 161"/>
          <p:cNvSpPr/>
          <p:nvPr/>
        </p:nvSpPr>
        <p:spPr>
          <a:xfrm>
            <a:off x="7308899" y="6159600"/>
            <a:ext cx="1784699" cy="18720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7308899" y="6159600"/>
            <a:ext cx="1784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범용 ALD-SEI 설계 원칙 정립</a:t>
            </a:r>
          </a:p>
        </p:txBody>
      </p:sp>
      <p:cxnSp>
        <p:nvCxnSpPr>
          <p:cNvPr id="164" name="Connector 163"/>
          <p:cNvCxnSpPr/>
          <p:nvPr/>
        </p:nvCxnSpPr>
        <p:spPr>
          <a:xfrm>
            <a:off x="0" y="64260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1854000" y="3315599"/>
            <a:ext cx="0" cy="3110401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ctangle 165"/>
          <p:cNvSpPr/>
          <p:nvPr/>
        </p:nvSpPr>
        <p:spPr>
          <a:xfrm>
            <a:off x="0" y="6372000"/>
            <a:ext cx="9144000" cy="288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8995194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 109">
            <a:extLst>
              <a:ext uri="{FF2B5EF4-FFF2-40B4-BE49-F238E27FC236}">
                <a16:creationId xmlns:a16="http://schemas.microsoft.com/office/drawing/2014/main" id="{DC18ED00-46B3-76E6-EB8B-FA73BF8060D7}"/>
              </a:ext>
            </a:extLst>
          </p:cNvPr>
          <p:cNvSpPr/>
          <p:nvPr/>
        </p:nvSpPr>
        <p:spPr>
          <a:xfrm>
            <a:off x="-158768" y="473900"/>
            <a:ext cx="9144000" cy="36000"/>
          </a:xfrm>
          <a:prstGeom prst="rect">
            <a:avLst/>
          </a:prstGeom>
          <a:solidFill>
            <a:srgbClr val="394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6D4885DE-EE80-DFCB-2E3A-468ED1C8513A}"/>
              </a:ext>
            </a:extLst>
          </p:cNvPr>
          <p:cNvSpPr txBox="1"/>
          <p:nvPr/>
        </p:nvSpPr>
        <p:spPr>
          <a:xfrm>
            <a:off x="-122766" y="550031"/>
            <a:ext cx="28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dirty="0">
                <a:solidFill>
                  <a:srgbClr val="3F51B5"/>
                </a:solidFill>
                <a:latin typeface="맑은 고딕"/>
              </a:rPr>
              <a:t>▶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연차별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연구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추진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일정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(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간트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차트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)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503881FD-E899-0FE3-7A97-6AD16115C2C0}"/>
              </a:ext>
            </a:extLst>
          </p:cNvPr>
          <p:cNvSpPr/>
          <p:nvPr/>
        </p:nvSpPr>
        <p:spPr>
          <a:xfrm>
            <a:off x="1100668" y="2224032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D869DAAF-2B9A-6103-C452-C6C1EF27FEEF}"/>
              </a:ext>
            </a:extLst>
          </p:cNvPr>
          <p:cNvSpPr/>
          <p:nvPr/>
        </p:nvSpPr>
        <p:spPr>
          <a:xfrm>
            <a:off x="1100668" y="2224032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47212D52-F7FF-D74B-8BD7-9260C5BEB11A}"/>
              </a:ext>
            </a:extLst>
          </p:cNvPr>
          <p:cNvSpPr txBox="1"/>
          <p:nvPr/>
        </p:nvSpPr>
        <p:spPr>
          <a:xfrm>
            <a:off x="1190668" y="2238432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 dirty="0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① ALD </a:t>
            </a:r>
            <a:r>
              <a:rPr sz="780" b="1" dirty="0" err="1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증착</a:t>
            </a:r>
            <a:r>
              <a:rPr sz="780" b="1" dirty="0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 </a:t>
            </a:r>
            <a:r>
              <a:rPr sz="780" b="1" dirty="0" err="1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조건</a:t>
            </a:r>
            <a:r>
              <a:rPr sz="780" b="1" dirty="0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 </a:t>
            </a:r>
            <a:r>
              <a:rPr sz="780" b="1" dirty="0" err="1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최적화</a:t>
            </a:r>
            <a:endParaRPr sz="780" b="1" dirty="0">
              <a:solidFill>
                <a:srgbClr val="1565C0"/>
              </a:solidFill>
              <a:latin typeface="에스코어 드림 6 Bold" panose="020B0703030302020204" pitchFamily="34" charset="-127"/>
              <a:ea typeface="에스코어 드림 6 Bold" panose="020B0703030302020204" pitchFamily="34" charset="-127"/>
            </a:endParaRP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0F92BC18-E963-B9B7-0676-B9B844D69AD8}"/>
              </a:ext>
            </a:extLst>
          </p:cNvPr>
          <p:cNvSpPr txBox="1"/>
          <p:nvPr/>
        </p:nvSpPr>
        <p:spPr>
          <a:xfrm>
            <a:off x="1190668" y="23896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(ZnF₂, AlF₃, LiF)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7436005D-A88D-BABF-8B59-64F9D41028B1}"/>
              </a:ext>
            </a:extLst>
          </p:cNvPr>
          <p:cNvSpPr/>
          <p:nvPr/>
        </p:nvSpPr>
        <p:spPr>
          <a:xfrm>
            <a:off x="1100668" y="2569632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EC0893CC-1AAA-15DC-79C5-DF8E1D6B8BBA}"/>
              </a:ext>
            </a:extLst>
          </p:cNvPr>
          <p:cNvSpPr/>
          <p:nvPr/>
        </p:nvSpPr>
        <p:spPr>
          <a:xfrm>
            <a:off x="1100668" y="2569632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0528BA99-B718-87A9-C3B3-412A533A1C8B}"/>
              </a:ext>
            </a:extLst>
          </p:cNvPr>
          <p:cNvSpPr txBox="1"/>
          <p:nvPr/>
        </p:nvSpPr>
        <p:spPr>
          <a:xfrm>
            <a:off x="1190668" y="2584032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② 박막 구조·화학 조성 분석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8BAE8CE8-FE70-6CC9-99CD-34272DF216A1}"/>
              </a:ext>
            </a:extLst>
          </p:cNvPr>
          <p:cNvSpPr txBox="1"/>
          <p:nvPr/>
        </p:nvSpPr>
        <p:spPr>
          <a:xfrm>
            <a:off x="1190668" y="2735232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(XRD / XPS / TEM / ToF-SIMS)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D5892ACD-1478-6E73-BDCE-EBD1B57943ED}"/>
              </a:ext>
            </a:extLst>
          </p:cNvPr>
          <p:cNvSpPr/>
          <p:nvPr/>
        </p:nvSpPr>
        <p:spPr>
          <a:xfrm>
            <a:off x="1100668" y="2915232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C2497B53-7DAE-0B5D-494E-F17694FFDBB2}"/>
              </a:ext>
            </a:extLst>
          </p:cNvPr>
          <p:cNvSpPr/>
          <p:nvPr/>
        </p:nvSpPr>
        <p:spPr>
          <a:xfrm>
            <a:off x="1100668" y="2915232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8782AC62-D03A-3A0C-5B56-64CAAC58611E}"/>
              </a:ext>
            </a:extLst>
          </p:cNvPr>
          <p:cNvSpPr txBox="1"/>
          <p:nvPr/>
        </p:nvSpPr>
        <p:spPr>
          <a:xfrm>
            <a:off x="1190668" y="2929632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③ EIS · Li⁺ 이온전도도 평가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742294A1-B8C3-04FD-EE81-68618603F38F}"/>
              </a:ext>
            </a:extLst>
          </p:cNvPr>
          <p:cNvSpPr txBox="1"/>
          <p:nvPr/>
        </p:nvSpPr>
        <p:spPr>
          <a:xfrm>
            <a:off x="1190668" y="30808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(pinhole-free 조건 확립)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6FF4C663-746F-C66E-F9BE-8005E1B5B7F5}"/>
              </a:ext>
            </a:extLst>
          </p:cNvPr>
          <p:cNvSpPr/>
          <p:nvPr/>
        </p:nvSpPr>
        <p:spPr>
          <a:xfrm>
            <a:off x="1100668" y="3260833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5AC6882D-67FB-97CD-935A-A36F889C150F}"/>
              </a:ext>
            </a:extLst>
          </p:cNvPr>
          <p:cNvSpPr/>
          <p:nvPr/>
        </p:nvSpPr>
        <p:spPr>
          <a:xfrm>
            <a:off x="1100668" y="3260833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1DBE1854-04A5-A75E-9743-589ACED2CE48}"/>
              </a:ext>
            </a:extLst>
          </p:cNvPr>
          <p:cNvSpPr txBox="1"/>
          <p:nvPr/>
        </p:nvSpPr>
        <p:spPr>
          <a:xfrm>
            <a:off x="1190668" y="3275233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 dirty="0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④ Cryo-TEM </a:t>
            </a:r>
            <a:r>
              <a:rPr sz="780" b="1" dirty="0" err="1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핵생성</a:t>
            </a:r>
            <a:r>
              <a:rPr sz="780" b="1" dirty="0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 </a:t>
            </a:r>
            <a:r>
              <a:rPr sz="780" b="1" dirty="0" err="1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관찰</a:t>
            </a:r>
            <a:endParaRPr sz="780" b="1" dirty="0">
              <a:solidFill>
                <a:srgbClr val="2E7D32"/>
              </a:solidFill>
              <a:latin typeface="에스코어 드림 6 Bold" panose="020B0703030302020204" pitchFamily="34" charset="-127"/>
              <a:ea typeface="에스코어 드림 6 Bold" panose="020B0703030302020204" pitchFamily="34" charset="-127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7392CA3-F382-65EA-41D4-2C2E8D88BFF2}"/>
              </a:ext>
            </a:extLst>
          </p:cNvPr>
          <p:cNvSpPr txBox="1"/>
          <p:nvPr/>
        </p:nvSpPr>
        <p:spPr>
          <a:xfrm>
            <a:off x="1190668" y="34264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Li 핵생성 나노구조 실시간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2AB0769-20C6-7CC6-6946-70F1070B3047}"/>
              </a:ext>
            </a:extLst>
          </p:cNvPr>
          <p:cNvSpPr/>
          <p:nvPr/>
        </p:nvSpPr>
        <p:spPr>
          <a:xfrm>
            <a:off x="1100668" y="3606433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5F858564-7A9A-9669-F637-FA7D34BEE146}"/>
              </a:ext>
            </a:extLst>
          </p:cNvPr>
          <p:cNvSpPr/>
          <p:nvPr/>
        </p:nvSpPr>
        <p:spPr>
          <a:xfrm>
            <a:off x="1100668" y="3606433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551E4A4E-3893-D7BB-3582-B617501D11AF}"/>
              </a:ext>
            </a:extLst>
          </p:cNvPr>
          <p:cNvSpPr txBox="1"/>
          <p:nvPr/>
        </p:nvSpPr>
        <p:spPr>
          <a:xfrm>
            <a:off x="1190668" y="3620832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⑤ Operando XRD / in-situ SEM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3349C5C8-1C53-5C4F-AF52-94D473787FDC}"/>
              </a:ext>
            </a:extLst>
          </p:cNvPr>
          <p:cNvSpPr txBox="1"/>
          <p:nvPr/>
        </p:nvSpPr>
        <p:spPr>
          <a:xfrm>
            <a:off x="1190668" y="37720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Li 증착·용해 거동 모니터링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BC4F2B4D-7E91-E183-7CDC-BD9CF16F5631}"/>
              </a:ext>
            </a:extLst>
          </p:cNvPr>
          <p:cNvSpPr/>
          <p:nvPr/>
        </p:nvSpPr>
        <p:spPr>
          <a:xfrm>
            <a:off x="1100668" y="3952032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0E07732D-345D-6499-2561-BB41E0C4AC8B}"/>
              </a:ext>
            </a:extLst>
          </p:cNvPr>
          <p:cNvSpPr/>
          <p:nvPr/>
        </p:nvSpPr>
        <p:spPr>
          <a:xfrm>
            <a:off x="1100668" y="3952032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0BDB0FA3-EB15-523D-53E5-4AE02898D23A}"/>
              </a:ext>
            </a:extLst>
          </p:cNvPr>
          <p:cNvSpPr txBox="1"/>
          <p:nvPr/>
        </p:nvSpPr>
        <p:spPr>
          <a:xfrm>
            <a:off x="1190668" y="3966432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⑥ DFT 이론 계산</a:t>
            </a: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D83242C7-0D63-6125-F10D-A718AE211FD2}"/>
              </a:ext>
            </a:extLst>
          </p:cNvPr>
          <p:cNvSpPr txBox="1"/>
          <p:nvPr/>
        </p:nvSpPr>
        <p:spPr>
          <a:xfrm>
            <a:off x="1190668" y="41176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계면 Li⁺ 확산 에너지 배리어</a:t>
            </a:r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407B01C5-CB85-94B5-1017-B5352C640543}"/>
              </a:ext>
            </a:extLst>
          </p:cNvPr>
          <p:cNvSpPr/>
          <p:nvPr/>
        </p:nvSpPr>
        <p:spPr>
          <a:xfrm>
            <a:off x="1100668" y="4297633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1AB50607-CD6B-A897-5E89-079FD3910EAF}"/>
              </a:ext>
            </a:extLst>
          </p:cNvPr>
          <p:cNvSpPr/>
          <p:nvPr/>
        </p:nvSpPr>
        <p:spPr>
          <a:xfrm>
            <a:off x="1100668" y="4297633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ADE98098-44C3-7ED6-670B-E3A9ED9E53EF}"/>
              </a:ext>
            </a:extLst>
          </p:cNvPr>
          <p:cNvSpPr txBox="1"/>
          <p:nvPr/>
        </p:nvSpPr>
        <p:spPr>
          <a:xfrm>
            <a:off x="1190668" y="4312032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⑦ Li||NCM 풀 셀 장기 사이클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9E044C84-5BDF-396B-D8D3-C79510912556}"/>
              </a:ext>
            </a:extLst>
          </p:cNvPr>
          <p:cNvSpPr txBox="1"/>
          <p:nvPr/>
        </p:nvSpPr>
        <p:spPr>
          <a:xfrm>
            <a:off x="1190668" y="44632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&gt;300 사이클, CE &gt;99.5%</a:t>
            </a:r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48A970D1-E9C7-9A8A-60C9-B9BA449B2719}"/>
              </a:ext>
            </a:extLst>
          </p:cNvPr>
          <p:cNvSpPr/>
          <p:nvPr/>
        </p:nvSpPr>
        <p:spPr>
          <a:xfrm>
            <a:off x="1100668" y="4643233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47073B1A-7FB7-0FE1-C51B-0D4072830E3A}"/>
              </a:ext>
            </a:extLst>
          </p:cNvPr>
          <p:cNvSpPr/>
          <p:nvPr/>
        </p:nvSpPr>
        <p:spPr>
          <a:xfrm>
            <a:off x="1100668" y="4643233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D9130242-FEEC-B5D1-51C9-ED7D9CE0C08E}"/>
              </a:ext>
            </a:extLst>
          </p:cNvPr>
          <p:cNvSpPr txBox="1"/>
          <p:nvPr/>
        </p:nvSpPr>
        <p:spPr>
          <a:xfrm>
            <a:off x="1190668" y="4657633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⑧ Post-mortem XPS/TEM 분석</a:t>
            </a: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4EFA48A3-8BC7-95C7-0AA6-8734285B4EBD}"/>
              </a:ext>
            </a:extLst>
          </p:cNvPr>
          <p:cNvSpPr txBox="1"/>
          <p:nvPr/>
        </p:nvSpPr>
        <p:spPr>
          <a:xfrm>
            <a:off x="1190668" y="48088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SEI 조성 변화·열화 메커니즘</a:t>
            </a:r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3D1381DF-C27D-17E7-66E0-F358F9BE3CC8}"/>
              </a:ext>
            </a:extLst>
          </p:cNvPr>
          <p:cNvSpPr/>
          <p:nvPr/>
        </p:nvSpPr>
        <p:spPr>
          <a:xfrm>
            <a:off x="1100668" y="4988833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B0CDBBB7-5600-2C91-616C-D8E7C87AD5C0}"/>
              </a:ext>
            </a:extLst>
          </p:cNvPr>
          <p:cNvSpPr/>
          <p:nvPr/>
        </p:nvSpPr>
        <p:spPr>
          <a:xfrm>
            <a:off x="1100668" y="4988833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2441351F-EB0B-9173-5845-A812D3819CB0}"/>
              </a:ext>
            </a:extLst>
          </p:cNvPr>
          <p:cNvSpPr txBox="1"/>
          <p:nvPr/>
        </p:nvSpPr>
        <p:spPr>
          <a:xfrm>
            <a:off x="1190668" y="5003233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⑨ ALD 인공 SEI 설계 원칙 도출</a:t>
            </a:r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F4D5BC69-1B0D-D297-492B-306646023BFE}"/>
              </a:ext>
            </a:extLst>
          </p:cNvPr>
          <p:cNvSpPr txBox="1"/>
          <p:nvPr/>
        </p:nvSpPr>
        <p:spPr>
          <a:xfrm>
            <a:off x="1190668" y="51544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 dirty="0" err="1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ZnF</a:t>
            </a:r>
            <a:r>
              <a:rPr sz="720" b="0" dirty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₂/</a:t>
            </a:r>
            <a:r>
              <a:rPr sz="720" b="0" dirty="0" err="1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AlF</a:t>
            </a:r>
            <a:r>
              <a:rPr sz="720" b="0" dirty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₃/</a:t>
            </a:r>
            <a:r>
              <a:rPr sz="720" b="0" dirty="0" err="1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LiF</a:t>
            </a:r>
            <a:r>
              <a:rPr sz="720" b="0" dirty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720" b="0" dirty="0" err="1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비교</a:t>
            </a:r>
            <a:r>
              <a:rPr sz="720" b="0" dirty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720" b="0" dirty="0" err="1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정립</a:t>
            </a:r>
            <a:endParaRPr sz="720" b="0" dirty="0">
              <a:solidFill>
                <a:srgbClr val="E65100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D7A446D8-1C6F-715A-E753-345581674C62}"/>
              </a:ext>
            </a:extLst>
          </p:cNvPr>
          <p:cNvSpPr/>
          <p:nvPr/>
        </p:nvSpPr>
        <p:spPr>
          <a:xfrm>
            <a:off x="2954668" y="2011632"/>
            <a:ext cx="1739966" cy="237600"/>
          </a:xfrm>
          <a:prstGeom prst="rect">
            <a:avLst/>
          </a:prstGeom>
          <a:solidFill>
            <a:srgbClr val="C5CA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11D64A57-A3B2-4049-7F46-25143C6B6B25}"/>
              </a:ext>
            </a:extLst>
          </p:cNvPr>
          <p:cNvSpPr txBox="1"/>
          <p:nvPr/>
        </p:nvSpPr>
        <p:spPr>
          <a:xfrm>
            <a:off x="2954668" y="2011632"/>
            <a:ext cx="1739966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dirty="0">
                <a:solidFill>
                  <a:srgbClr val="1A237E"/>
                </a:solidFill>
                <a:latin typeface="맑은 고딕"/>
              </a:rPr>
              <a:t>1년차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63D41351-4E2C-1DB6-4D6E-BCF83B650F55}"/>
              </a:ext>
            </a:extLst>
          </p:cNvPr>
          <p:cNvSpPr/>
          <p:nvPr/>
        </p:nvSpPr>
        <p:spPr>
          <a:xfrm>
            <a:off x="4694635" y="2011632"/>
            <a:ext cx="1739966" cy="2376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208BCA0-A120-ABB1-A9B1-9BE6CF092E07}"/>
              </a:ext>
            </a:extLst>
          </p:cNvPr>
          <p:cNvSpPr txBox="1"/>
          <p:nvPr/>
        </p:nvSpPr>
        <p:spPr>
          <a:xfrm>
            <a:off x="4694635" y="2011632"/>
            <a:ext cx="1739966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47A1"/>
                </a:solidFill>
                <a:latin typeface="맑은 고딕"/>
              </a:rPr>
              <a:t>2년차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F34B9737-C6BD-FFC0-128D-0532AD3BB48B}"/>
              </a:ext>
            </a:extLst>
          </p:cNvPr>
          <p:cNvSpPr/>
          <p:nvPr/>
        </p:nvSpPr>
        <p:spPr>
          <a:xfrm>
            <a:off x="6434601" y="2011632"/>
            <a:ext cx="1739966" cy="237600"/>
          </a:xfrm>
          <a:prstGeom prst="rect">
            <a:avLst/>
          </a:prstGeom>
          <a:solidFill>
            <a:srgbClr val="B3E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42B6CE28-D26B-BC18-728F-5931334F53D2}"/>
              </a:ext>
            </a:extLst>
          </p:cNvPr>
          <p:cNvSpPr txBox="1"/>
          <p:nvPr/>
        </p:nvSpPr>
        <p:spPr>
          <a:xfrm>
            <a:off x="6434601" y="2011632"/>
            <a:ext cx="1739966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1579B"/>
                </a:solidFill>
                <a:latin typeface="맑은 고딕"/>
              </a:rPr>
              <a:t>3년차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B2F04082-0C22-F309-B8CC-F1D3E30FF53E}"/>
              </a:ext>
            </a:extLst>
          </p:cNvPr>
          <p:cNvSpPr/>
          <p:nvPr/>
        </p:nvSpPr>
        <p:spPr>
          <a:xfrm>
            <a:off x="2954668" y="2249233"/>
            <a:ext cx="5219899" cy="162000"/>
          </a:xfrm>
          <a:prstGeom prst="rect">
            <a:avLst/>
          </a:prstGeom>
          <a:solidFill>
            <a:srgbClr val="EDE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7DCCCFF5-A8D7-C138-11E0-A31919CC9B0C}"/>
              </a:ext>
            </a:extLst>
          </p:cNvPr>
          <p:cNvSpPr txBox="1"/>
          <p:nvPr/>
        </p:nvSpPr>
        <p:spPr>
          <a:xfrm>
            <a:off x="2954668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1CC3E173-E79C-8660-4AD9-9555540967B9}"/>
              </a:ext>
            </a:extLst>
          </p:cNvPr>
          <p:cNvSpPr txBox="1"/>
          <p:nvPr/>
        </p:nvSpPr>
        <p:spPr>
          <a:xfrm>
            <a:off x="3389660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A1778B3-AC96-0699-7B60-04C85CFE70C4}"/>
              </a:ext>
            </a:extLst>
          </p:cNvPr>
          <p:cNvSpPr txBox="1"/>
          <p:nvPr/>
        </p:nvSpPr>
        <p:spPr>
          <a:xfrm>
            <a:off x="3824651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9A668B2D-336D-4E94-924F-87C2E876C759}"/>
              </a:ext>
            </a:extLst>
          </p:cNvPr>
          <p:cNvSpPr txBox="1"/>
          <p:nvPr/>
        </p:nvSpPr>
        <p:spPr>
          <a:xfrm>
            <a:off x="4259643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69C5244-9EE4-D6FB-A891-5E45E58EE2C1}"/>
              </a:ext>
            </a:extLst>
          </p:cNvPr>
          <p:cNvSpPr txBox="1"/>
          <p:nvPr/>
        </p:nvSpPr>
        <p:spPr>
          <a:xfrm>
            <a:off x="4694635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874C43DA-086D-5AA1-D3D7-1D91B87A5BAF}"/>
              </a:ext>
            </a:extLst>
          </p:cNvPr>
          <p:cNvSpPr txBox="1"/>
          <p:nvPr/>
        </p:nvSpPr>
        <p:spPr>
          <a:xfrm>
            <a:off x="5129626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B25F716-8539-9586-CFC2-BBCCFEF786BD}"/>
              </a:ext>
            </a:extLst>
          </p:cNvPr>
          <p:cNvSpPr txBox="1"/>
          <p:nvPr/>
        </p:nvSpPr>
        <p:spPr>
          <a:xfrm>
            <a:off x="5564618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91CD4795-C956-9B9F-17FC-7B8DB5CE54EA}"/>
              </a:ext>
            </a:extLst>
          </p:cNvPr>
          <p:cNvSpPr txBox="1"/>
          <p:nvPr/>
        </p:nvSpPr>
        <p:spPr>
          <a:xfrm>
            <a:off x="5999609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051405B8-EF3A-7228-033E-A0A07E913F81}"/>
              </a:ext>
            </a:extLst>
          </p:cNvPr>
          <p:cNvSpPr txBox="1"/>
          <p:nvPr/>
        </p:nvSpPr>
        <p:spPr>
          <a:xfrm>
            <a:off x="6434601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D4C6BF81-BB8F-D37D-E545-B0D327BD2497}"/>
              </a:ext>
            </a:extLst>
          </p:cNvPr>
          <p:cNvSpPr txBox="1"/>
          <p:nvPr/>
        </p:nvSpPr>
        <p:spPr>
          <a:xfrm>
            <a:off x="6869593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DC6BDB5-F4B3-8B5A-7A17-D63D50A48236}"/>
              </a:ext>
            </a:extLst>
          </p:cNvPr>
          <p:cNvSpPr txBox="1"/>
          <p:nvPr/>
        </p:nvSpPr>
        <p:spPr>
          <a:xfrm>
            <a:off x="7304584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0CECFAD2-4167-4531-B923-331E449F76F7}"/>
              </a:ext>
            </a:extLst>
          </p:cNvPr>
          <p:cNvSpPr txBox="1"/>
          <p:nvPr/>
        </p:nvSpPr>
        <p:spPr>
          <a:xfrm>
            <a:off x="7739575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cxnSp>
        <p:nvCxnSpPr>
          <p:cNvPr id="131" name="Connector 79">
            <a:extLst>
              <a:ext uri="{FF2B5EF4-FFF2-40B4-BE49-F238E27FC236}">
                <a16:creationId xmlns:a16="http://schemas.microsoft.com/office/drawing/2014/main" id="{757763DB-D1B2-70C4-E6E8-A18C0F2E1E91}"/>
              </a:ext>
            </a:extLst>
          </p:cNvPr>
          <p:cNvCxnSpPr/>
          <p:nvPr/>
        </p:nvCxnSpPr>
        <p:spPr>
          <a:xfrm>
            <a:off x="2954668" y="2249233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80">
            <a:extLst>
              <a:ext uri="{FF2B5EF4-FFF2-40B4-BE49-F238E27FC236}">
                <a16:creationId xmlns:a16="http://schemas.microsoft.com/office/drawing/2014/main" id="{098EC66F-1257-5271-906B-41B750BA6FC8}"/>
              </a:ext>
            </a:extLst>
          </p:cNvPr>
          <p:cNvCxnSpPr/>
          <p:nvPr/>
        </p:nvCxnSpPr>
        <p:spPr>
          <a:xfrm>
            <a:off x="3389660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81">
            <a:extLst>
              <a:ext uri="{FF2B5EF4-FFF2-40B4-BE49-F238E27FC236}">
                <a16:creationId xmlns:a16="http://schemas.microsoft.com/office/drawing/2014/main" id="{2567E60E-DBF3-5D38-DE95-BC03496996F5}"/>
              </a:ext>
            </a:extLst>
          </p:cNvPr>
          <p:cNvCxnSpPr/>
          <p:nvPr/>
        </p:nvCxnSpPr>
        <p:spPr>
          <a:xfrm>
            <a:off x="3824651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82">
            <a:extLst>
              <a:ext uri="{FF2B5EF4-FFF2-40B4-BE49-F238E27FC236}">
                <a16:creationId xmlns:a16="http://schemas.microsoft.com/office/drawing/2014/main" id="{86D17D0B-EA34-F7B7-E554-CDB8B0EA5A75}"/>
              </a:ext>
            </a:extLst>
          </p:cNvPr>
          <p:cNvCxnSpPr/>
          <p:nvPr/>
        </p:nvCxnSpPr>
        <p:spPr>
          <a:xfrm>
            <a:off x="4259643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83">
            <a:extLst>
              <a:ext uri="{FF2B5EF4-FFF2-40B4-BE49-F238E27FC236}">
                <a16:creationId xmlns:a16="http://schemas.microsoft.com/office/drawing/2014/main" id="{1F8EA9DF-1E6E-BF97-9619-4203766D95A1}"/>
              </a:ext>
            </a:extLst>
          </p:cNvPr>
          <p:cNvCxnSpPr/>
          <p:nvPr/>
        </p:nvCxnSpPr>
        <p:spPr>
          <a:xfrm>
            <a:off x="4694635" y="2249233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84">
            <a:extLst>
              <a:ext uri="{FF2B5EF4-FFF2-40B4-BE49-F238E27FC236}">
                <a16:creationId xmlns:a16="http://schemas.microsoft.com/office/drawing/2014/main" id="{F19D1068-D027-548C-E3E4-DD4524FA18ED}"/>
              </a:ext>
            </a:extLst>
          </p:cNvPr>
          <p:cNvCxnSpPr/>
          <p:nvPr/>
        </p:nvCxnSpPr>
        <p:spPr>
          <a:xfrm>
            <a:off x="5129626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85">
            <a:extLst>
              <a:ext uri="{FF2B5EF4-FFF2-40B4-BE49-F238E27FC236}">
                <a16:creationId xmlns:a16="http://schemas.microsoft.com/office/drawing/2014/main" id="{C87A9C0E-92F7-8C18-0148-A70BA2C71CDC}"/>
              </a:ext>
            </a:extLst>
          </p:cNvPr>
          <p:cNvCxnSpPr/>
          <p:nvPr/>
        </p:nvCxnSpPr>
        <p:spPr>
          <a:xfrm>
            <a:off x="5564618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86">
            <a:extLst>
              <a:ext uri="{FF2B5EF4-FFF2-40B4-BE49-F238E27FC236}">
                <a16:creationId xmlns:a16="http://schemas.microsoft.com/office/drawing/2014/main" id="{D56A04C9-0E75-31B4-2493-8C8D693B6AEB}"/>
              </a:ext>
            </a:extLst>
          </p:cNvPr>
          <p:cNvCxnSpPr/>
          <p:nvPr/>
        </p:nvCxnSpPr>
        <p:spPr>
          <a:xfrm>
            <a:off x="5999609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87">
            <a:extLst>
              <a:ext uri="{FF2B5EF4-FFF2-40B4-BE49-F238E27FC236}">
                <a16:creationId xmlns:a16="http://schemas.microsoft.com/office/drawing/2014/main" id="{3F16021E-3C29-5C6A-44A2-BA1AFCCE01C8}"/>
              </a:ext>
            </a:extLst>
          </p:cNvPr>
          <p:cNvCxnSpPr/>
          <p:nvPr/>
        </p:nvCxnSpPr>
        <p:spPr>
          <a:xfrm>
            <a:off x="6434601" y="2249233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88">
            <a:extLst>
              <a:ext uri="{FF2B5EF4-FFF2-40B4-BE49-F238E27FC236}">
                <a16:creationId xmlns:a16="http://schemas.microsoft.com/office/drawing/2014/main" id="{DF229B76-FB26-C79A-6BA5-7823BAFBAB39}"/>
              </a:ext>
            </a:extLst>
          </p:cNvPr>
          <p:cNvCxnSpPr/>
          <p:nvPr/>
        </p:nvCxnSpPr>
        <p:spPr>
          <a:xfrm>
            <a:off x="6869593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89">
            <a:extLst>
              <a:ext uri="{FF2B5EF4-FFF2-40B4-BE49-F238E27FC236}">
                <a16:creationId xmlns:a16="http://schemas.microsoft.com/office/drawing/2014/main" id="{C12359A7-7732-4DD8-9F5F-D1270EECBAB5}"/>
              </a:ext>
            </a:extLst>
          </p:cNvPr>
          <p:cNvCxnSpPr/>
          <p:nvPr/>
        </p:nvCxnSpPr>
        <p:spPr>
          <a:xfrm>
            <a:off x="7304584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90">
            <a:extLst>
              <a:ext uri="{FF2B5EF4-FFF2-40B4-BE49-F238E27FC236}">
                <a16:creationId xmlns:a16="http://schemas.microsoft.com/office/drawing/2014/main" id="{452F4D21-F144-B312-26B2-D08DC8F141EA}"/>
              </a:ext>
            </a:extLst>
          </p:cNvPr>
          <p:cNvCxnSpPr/>
          <p:nvPr/>
        </p:nvCxnSpPr>
        <p:spPr>
          <a:xfrm>
            <a:off x="7739575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91">
            <a:extLst>
              <a:ext uri="{FF2B5EF4-FFF2-40B4-BE49-F238E27FC236}">
                <a16:creationId xmlns:a16="http://schemas.microsoft.com/office/drawing/2014/main" id="{BFC24B34-DD0D-E422-5C9A-7C72D37328DB}"/>
              </a:ext>
            </a:extLst>
          </p:cNvPr>
          <p:cNvCxnSpPr/>
          <p:nvPr/>
        </p:nvCxnSpPr>
        <p:spPr>
          <a:xfrm>
            <a:off x="8174567" y="2249233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Rectangle 147">
            <a:extLst>
              <a:ext uri="{FF2B5EF4-FFF2-40B4-BE49-F238E27FC236}">
                <a16:creationId xmlns:a16="http://schemas.microsoft.com/office/drawing/2014/main" id="{E32782F6-1339-CF72-6541-D661CD5EA757}"/>
              </a:ext>
            </a:extLst>
          </p:cNvPr>
          <p:cNvSpPr/>
          <p:nvPr/>
        </p:nvSpPr>
        <p:spPr>
          <a:xfrm>
            <a:off x="2954668" y="2224032"/>
            <a:ext cx="52198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C9C1B6CE-301E-E80B-534B-52CD4B0B1E9B}"/>
              </a:ext>
            </a:extLst>
          </p:cNvPr>
          <p:cNvSpPr/>
          <p:nvPr/>
        </p:nvSpPr>
        <p:spPr>
          <a:xfrm>
            <a:off x="2965030" y="2303233"/>
            <a:ext cx="1719242" cy="187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30250A0C-C752-E8F1-CD8E-7333166D1EA0}"/>
              </a:ext>
            </a:extLst>
          </p:cNvPr>
          <p:cNvSpPr txBox="1"/>
          <p:nvPr/>
        </p:nvSpPr>
        <p:spPr>
          <a:xfrm>
            <a:off x="2911318" y="2295033"/>
            <a:ext cx="178935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전구체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최적화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및 ALD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파라미터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탐색</a:t>
            </a:r>
            <a:endParaRPr sz="800" b="0" dirty="0">
              <a:solidFill>
                <a:srgbClr val="FFFFFF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52F9318E-CA32-86BB-BB73-7BBAB04362D7}"/>
              </a:ext>
            </a:extLst>
          </p:cNvPr>
          <p:cNvSpPr/>
          <p:nvPr/>
        </p:nvSpPr>
        <p:spPr>
          <a:xfrm>
            <a:off x="2954668" y="2569632"/>
            <a:ext cx="52198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3FA7D43D-C162-8535-267B-029240BB1A04}"/>
              </a:ext>
            </a:extLst>
          </p:cNvPr>
          <p:cNvSpPr/>
          <p:nvPr/>
        </p:nvSpPr>
        <p:spPr>
          <a:xfrm>
            <a:off x="3400022" y="2648832"/>
            <a:ext cx="2154233" cy="1872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B70FA59A-EEF0-BD7A-030B-077D1D7E0717}"/>
              </a:ext>
            </a:extLst>
          </p:cNvPr>
          <p:cNvSpPr txBox="1"/>
          <p:nvPr/>
        </p:nvSpPr>
        <p:spPr>
          <a:xfrm>
            <a:off x="3400022" y="2648832"/>
            <a:ext cx="215423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XRD / XPS / TEM-EDS / ToF-SIMS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471CE5D1-E068-5535-48A0-3DA2655D16FD}"/>
              </a:ext>
            </a:extLst>
          </p:cNvPr>
          <p:cNvSpPr/>
          <p:nvPr/>
        </p:nvSpPr>
        <p:spPr>
          <a:xfrm>
            <a:off x="2954668" y="2915232"/>
            <a:ext cx="52198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8FC7B023-3416-5CF9-AEAE-8EADC78A9299}"/>
              </a:ext>
            </a:extLst>
          </p:cNvPr>
          <p:cNvSpPr/>
          <p:nvPr/>
        </p:nvSpPr>
        <p:spPr>
          <a:xfrm>
            <a:off x="3617415" y="2994433"/>
            <a:ext cx="1066856" cy="1872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984DE01C-9BE0-9A0F-A2D1-CF2236F05B34}"/>
              </a:ext>
            </a:extLst>
          </p:cNvPr>
          <p:cNvSpPr txBox="1"/>
          <p:nvPr/>
        </p:nvSpPr>
        <p:spPr>
          <a:xfrm>
            <a:off x="3594184" y="2990453"/>
            <a:ext cx="114968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EIS · Li⁺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이온전도도</a:t>
            </a:r>
            <a:endParaRPr sz="800" b="0" dirty="0">
              <a:solidFill>
                <a:srgbClr val="FFFFFF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32193BCD-B4AB-9989-695D-E50EFD4CBB2A}"/>
              </a:ext>
            </a:extLst>
          </p:cNvPr>
          <p:cNvSpPr/>
          <p:nvPr/>
        </p:nvSpPr>
        <p:spPr>
          <a:xfrm>
            <a:off x="2954668" y="3260833"/>
            <a:ext cx="52198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57A632D6-D0EF-4098-FA43-FEBB216A22C1}"/>
              </a:ext>
            </a:extLst>
          </p:cNvPr>
          <p:cNvSpPr/>
          <p:nvPr/>
        </p:nvSpPr>
        <p:spPr>
          <a:xfrm>
            <a:off x="3835013" y="3340033"/>
            <a:ext cx="2589225" cy="18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4E393352-50DB-6D06-2014-F92B0EF30C84}"/>
              </a:ext>
            </a:extLst>
          </p:cNvPr>
          <p:cNvSpPr txBox="1"/>
          <p:nvPr/>
        </p:nvSpPr>
        <p:spPr>
          <a:xfrm>
            <a:off x="3835013" y="3340033"/>
            <a:ext cx="258922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Cryo-TEM Li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핵생성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나노구조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관찰</a:t>
            </a:r>
            <a:endParaRPr sz="800" b="0" dirty="0">
              <a:solidFill>
                <a:srgbClr val="FFFFFF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F2F58E69-6B4A-3993-04B4-A6C495EB29D6}"/>
              </a:ext>
            </a:extLst>
          </p:cNvPr>
          <p:cNvSpPr/>
          <p:nvPr/>
        </p:nvSpPr>
        <p:spPr>
          <a:xfrm>
            <a:off x="2954668" y="3606433"/>
            <a:ext cx="52198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F0EAD0D8-B0C0-EE0C-5516-71D7A7C7A372}"/>
              </a:ext>
            </a:extLst>
          </p:cNvPr>
          <p:cNvSpPr/>
          <p:nvPr/>
        </p:nvSpPr>
        <p:spPr>
          <a:xfrm>
            <a:off x="4270004" y="3685633"/>
            <a:ext cx="2154233" cy="187200"/>
          </a:xfrm>
          <a:prstGeom prst="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B228ABA5-2415-1F59-DC7D-2AFCADA28CAB}"/>
              </a:ext>
            </a:extLst>
          </p:cNvPr>
          <p:cNvSpPr txBox="1"/>
          <p:nvPr/>
        </p:nvSpPr>
        <p:spPr>
          <a:xfrm>
            <a:off x="4270004" y="3685633"/>
            <a:ext cx="215423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Operando XRD / in-situ SEM 모니터링</a:t>
            </a:r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02FDAAB6-F178-5C68-C544-7541EB7F2193}"/>
              </a:ext>
            </a:extLst>
          </p:cNvPr>
          <p:cNvSpPr/>
          <p:nvPr/>
        </p:nvSpPr>
        <p:spPr>
          <a:xfrm>
            <a:off x="2954668" y="3952032"/>
            <a:ext cx="52198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5AF677B8-EE66-D3D6-8C5C-BA526A1CAF46}"/>
              </a:ext>
            </a:extLst>
          </p:cNvPr>
          <p:cNvSpPr/>
          <p:nvPr/>
        </p:nvSpPr>
        <p:spPr>
          <a:xfrm>
            <a:off x="4270004" y="4031232"/>
            <a:ext cx="2154233" cy="1872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BF6B294A-4754-6FD2-D8D4-14219D2CB8CA}"/>
              </a:ext>
            </a:extLst>
          </p:cNvPr>
          <p:cNvSpPr txBox="1"/>
          <p:nvPr/>
        </p:nvSpPr>
        <p:spPr>
          <a:xfrm>
            <a:off x="4270004" y="4031232"/>
            <a:ext cx="215423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DFT: 불화물/Li 계면 Li⁺ 확산 에너지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BE710C44-8B28-8FA1-2F86-0C10883F5259}"/>
              </a:ext>
            </a:extLst>
          </p:cNvPr>
          <p:cNvSpPr/>
          <p:nvPr/>
        </p:nvSpPr>
        <p:spPr>
          <a:xfrm>
            <a:off x="2954668" y="4297633"/>
            <a:ext cx="52198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CD4141BB-5CA0-0006-D16A-D8D6AA52ABE2}"/>
              </a:ext>
            </a:extLst>
          </p:cNvPr>
          <p:cNvSpPr/>
          <p:nvPr/>
        </p:nvSpPr>
        <p:spPr>
          <a:xfrm>
            <a:off x="5574980" y="4376833"/>
            <a:ext cx="2589225" cy="1872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9BAAF75E-BF49-818B-593E-21D9730509CB}"/>
              </a:ext>
            </a:extLst>
          </p:cNvPr>
          <p:cNvSpPr txBox="1"/>
          <p:nvPr/>
        </p:nvSpPr>
        <p:spPr>
          <a:xfrm>
            <a:off x="5574980" y="4376833"/>
            <a:ext cx="258922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Li||NCM Full Cell 장기 사이클링 (&gt;300 cycles)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D3EF0248-7C0F-9241-57EF-365C7FBE1762}"/>
              </a:ext>
            </a:extLst>
          </p:cNvPr>
          <p:cNvSpPr/>
          <p:nvPr/>
        </p:nvSpPr>
        <p:spPr>
          <a:xfrm>
            <a:off x="2954668" y="4643233"/>
            <a:ext cx="52198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B44ED841-E4E0-7E9B-DB37-B994FF483C18}"/>
              </a:ext>
            </a:extLst>
          </p:cNvPr>
          <p:cNvSpPr/>
          <p:nvPr/>
        </p:nvSpPr>
        <p:spPr>
          <a:xfrm>
            <a:off x="6444963" y="4722432"/>
            <a:ext cx="1719242" cy="1872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0F24B811-EAAF-AC1D-7CA2-4D914D2910C8}"/>
              </a:ext>
            </a:extLst>
          </p:cNvPr>
          <p:cNvSpPr txBox="1"/>
          <p:nvPr/>
        </p:nvSpPr>
        <p:spPr>
          <a:xfrm>
            <a:off x="6444963" y="4722432"/>
            <a:ext cx="171924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Post-mortem XPS / TEM 분석</a:t>
            </a:r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9D3EE103-B7F5-0958-6459-229795E0FF8C}"/>
              </a:ext>
            </a:extLst>
          </p:cNvPr>
          <p:cNvSpPr/>
          <p:nvPr/>
        </p:nvSpPr>
        <p:spPr>
          <a:xfrm>
            <a:off x="2954668" y="4988833"/>
            <a:ext cx="52198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18CD2B0E-38E1-964A-022C-AC5875361863}"/>
              </a:ext>
            </a:extLst>
          </p:cNvPr>
          <p:cNvSpPr/>
          <p:nvPr/>
        </p:nvSpPr>
        <p:spPr>
          <a:xfrm>
            <a:off x="6741138" y="5068033"/>
            <a:ext cx="1423066" cy="18720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F6B0CF69-AEDC-ECD2-DE99-E06A9B1065ED}"/>
              </a:ext>
            </a:extLst>
          </p:cNvPr>
          <p:cNvSpPr txBox="1"/>
          <p:nvPr/>
        </p:nvSpPr>
        <p:spPr>
          <a:xfrm>
            <a:off x="6741138" y="5060083"/>
            <a:ext cx="149476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범용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ALD-SEI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설계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원칙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정립</a:t>
            </a:r>
            <a:endParaRPr sz="800" b="0" dirty="0">
              <a:solidFill>
                <a:srgbClr val="FFFFFF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cxnSp>
        <p:nvCxnSpPr>
          <p:cNvPr id="216" name="Connector 164">
            <a:extLst>
              <a:ext uri="{FF2B5EF4-FFF2-40B4-BE49-F238E27FC236}">
                <a16:creationId xmlns:a16="http://schemas.microsoft.com/office/drawing/2014/main" id="{28B9EAD6-21D6-89E9-F633-9AE885B4A7EB}"/>
              </a:ext>
            </a:extLst>
          </p:cNvPr>
          <p:cNvCxnSpPr/>
          <p:nvPr/>
        </p:nvCxnSpPr>
        <p:spPr>
          <a:xfrm>
            <a:off x="2954668" y="2224032"/>
            <a:ext cx="0" cy="3110401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339346E2-7AD3-8CF9-3CF0-729A941BF577}"/>
              </a:ext>
            </a:extLst>
          </p:cNvPr>
          <p:cNvGrpSpPr/>
          <p:nvPr/>
        </p:nvGrpSpPr>
        <p:grpSpPr>
          <a:xfrm>
            <a:off x="1092468" y="2569632"/>
            <a:ext cx="7085923" cy="2793601"/>
            <a:chOff x="-133366" y="1932432"/>
            <a:chExt cx="9159545" cy="2793601"/>
          </a:xfrm>
        </p:grpSpPr>
        <p:cxnSp>
          <p:nvCxnSpPr>
            <p:cNvPr id="151" name="Connector 99">
              <a:extLst>
                <a:ext uri="{FF2B5EF4-FFF2-40B4-BE49-F238E27FC236}">
                  <a16:creationId xmlns:a16="http://schemas.microsoft.com/office/drawing/2014/main" id="{E2797AD0-54EA-9A46-3AD4-8C8A579226FD}"/>
                </a:ext>
              </a:extLst>
            </p:cNvPr>
            <p:cNvCxnSpPr/>
            <p:nvPr/>
          </p:nvCxnSpPr>
          <p:spPr>
            <a:xfrm>
              <a:off x="-122766" y="1932432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ctor 107">
              <a:extLst>
                <a:ext uri="{FF2B5EF4-FFF2-40B4-BE49-F238E27FC236}">
                  <a16:creationId xmlns:a16="http://schemas.microsoft.com/office/drawing/2014/main" id="{95C3023A-0A1A-401E-E2F4-985EB628C9E9}"/>
                </a:ext>
              </a:extLst>
            </p:cNvPr>
            <p:cNvCxnSpPr/>
            <p:nvPr/>
          </p:nvCxnSpPr>
          <p:spPr>
            <a:xfrm>
              <a:off x="-122766" y="2278032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Connector 115">
              <a:extLst>
                <a:ext uri="{FF2B5EF4-FFF2-40B4-BE49-F238E27FC236}">
                  <a16:creationId xmlns:a16="http://schemas.microsoft.com/office/drawing/2014/main" id="{B8654474-C37A-6732-0206-CBDBE8E6821E}"/>
                </a:ext>
              </a:extLst>
            </p:cNvPr>
            <p:cNvCxnSpPr/>
            <p:nvPr/>
          </p:nvCxnSpPr>
          <p:spPr>
            <a:xfrm>
              <a:off x="-122766" y="2623633"/>
              <a:ext cx="9144000" cy="0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Connector 123">
              <a:extLst>
                <a:ext uri="{FF2B5EF4-FFF2-40B4-BE49-F238E27FC236}">
                  <a16:creationId xmlns:a16="http://schemas.microsoft.com/office/drawing/2014/main" id="{6207829D-65CA-4D20-5E4E-3C6BA78B2D8A}"/>
                </a:ext>
              </a:extLst>
            </p:cNvPr>
            <p:cNvCxnSpPr/>
            <p:nvPr/>
          </p:nvCxnSpPr>
          <p:spPr>
            <a:xfrm>
              <a:off x="-122766" y="2969233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Connector 131">
              <a:extLst>
                <a:ext uri="{FF2B5EF4-FFF2-40B4-BE49-F238E27FC236}">
                  <a16:creationId xmlns:a16="http://schemas.microsoft.com/office/drawing/2014/main" id="{C36B9063-D760-6E9B-E56A-DB3AC64D43B0}"/>
                </a:ext>
              </a:extLst>
            </p:cNvPr>
            <p:cNvCxnSpPr/>
            <p:nvPr/>
          </p:nvCxnSpPr>
          <p:spPr>
            <a:xfrm>
              <a:off x="-122766" y="3314832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Connector 139">
              <a:extLst>
                <a:ext uri="{FF2B5EF4-FFF2-40B4-BE49-F238E27FC236}">
                  <a16:creationId xmlns:a16="http://schemas.microsoft.com/office/drawing/2014/main" id="{0E1A01BF-BE0E-FE91-2A88-B7E3103AD123}"/>
                </a:ext>
              </a:extLst>
            </p:cNvPr>
            <p:cNvCxnSpPr/>
            <p:nvPr/>
          </p:nvCxnSpPr>
          <p:spPr>
            <a:xfrm>
              <a:off x="-122766" y="3660433"/>
              <a:ext cx="9144000" cy="0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Connector 147">
              <a:extLst>
                <a:ext uri="{FF2B5EF4-FFF2-40B4-BE49-F238E27FC236}">
                  <a16:creationId xmlns:a16="http://schemas.microsoft.com/office/drawing/2014/main" id="{38541502-E9B2-6114-1ECE-2F2C7C9AB549}"/>
                </a:ext>
              </a:extLst>
            </p:cNvPr>
            <p:cNvCxnSpPr/>
            <p:nvPr/>
          </p:nvCxnSpPr>
          <p:spPr>
            <a:xfrm>
              <a:off x="-122766" y="4006033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Connector 155">
              <a:extLst>
                <a:ext uri="{FF2B5EF4-FFF2-40B4-BE49-F238E27FC236}">
                  <a16:creationId xmlns:a16="http://schemas.microsoft.com/office/drawing/2014/main" id="{1289DC5B-9E46-9E3D-D707-B780DE9338F7}"/>
                </a:ext>
              </a:extLst>
            </p:cNvPr>
            <p:cNvCxnSpPr/>
            <p:nvPr/>
          </p:nvCxnSpPr>
          <p:spPr>
            <a:xfrm>
              <a:off x="-122766" y="4351633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Connector 163">
              <a:extLst>
                <a:ext uri="{FF2B5EF4-FFF2-40B4-BE49-F238E27FC236}">
                  <a16:creationId xmlns:a16="http://schemas.microsoft.com/office/drawing/2014/main" id="{61AA2879-B0DA-6F41-9D58-DD91145F8316}"/>
                </a:ext>
              </a:extLst>
            </p:cNvPr>
            <p:cNvCxnSpPr/>
            <p:nvPr/>
          </p:nvCxnSpPr>
          <p:spPr>
            <a:xfrm>
              <a:off x="-133366" y="4697233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7" name="Rectangle 216">
              <a:extLst>
                <a:ext uri="{FF2B5EF4-FFF2-40B4-BE49-F238E27FC236}">
                  <a16:creationId xmlns:a16="http://schemas.microsoft.com/office/drawing/2014/main" id="{6BA035E6-8E2B-F2B9-D81B-166283BC7D91}"/>
                </a:ext>
              </a:extLst>
            </p:cNvPr>
            <p:cNvSpPr/>
            <p:nvPr/>
          </p:nvSpPr>
          <p:spPr>
            <a:xfrm>
              <a:off x="-117822" y="4697233"/>
              <a:ext cx="9144001" cy="28800"/>
            </a:xfrm>
            <a:prstGeom prst="rect">
              <a:avLst/>
            </a:prstGeom>
            <a:solidFill>
              <a:srgbClr val="283593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20" name="Rectangle 219">
            <a:extLst>
              <a:ext uri="{FF2B5EF4-FFF2-40B4-BE49-F238E27FC236}">
                <a16:creationId xmlns:a16="http://schemas.microsoft.com/office/drawing/2014/main" id="{CEAD66CB-5F9A-6FCA-C176-E947B3124986}"/>
              </a:ext>
            </a:extLst>
          </p:cNvPr>
          <p:cNvSpPr/>
          <p:nvPr/>
        </p:nvSpPr>
        <p:spPr>
          <a:xfrm>
            <a:off x="1059392" y="1547231"/>
            <a:ext cx="7073898" cy="288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26327DF5-EAB5-9DEA-1FFD-78917F86B510}"/>
              </a:ext>
            </a:extLst>
          </p:cNvPr>
          <p:cNvSpPr/>
          <p:nvPr/>
        </p:nvSpPr>
        <p:spPr>
          <a:xfrm>
            <a:off x="301368" y="2011632"/>
            <a:ext cx="7883373" cy="33459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5A7FB96B-0DC2-589C-E311-5A05A63DB823}"/>
              </a:ext>
            </a:extLst>
          </p:cNvPr>
          <p:cNvSpPr/>
          <p:nvPr/>
        </p:nvSpPr>
        <p:spPr>
          <a:xfrm>
            <a:off x="301368" y="2229966"/>
            <a:ext cx="794276" cy="102240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Task 1</a:t>
            </a:r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1CF39448-0FAF-024A-EEDD-AC37C1FD6605}"/>
              </a:ext>
            </a:extLst>
          </p:cNvPr>
          <p:cNvSpPr/>
          <p:nvPr/>
        </p:nvSpPr>
        <p:spPr>
          <a:xfrm>
            <a:off x="301368" y="3264117"/>
            <a:ext cx="794276" cy="1022401"/>
          </a:xfrm>
          <a:prstGeom prst="rect">
            <a:avLst/>
          </a:prstGeom>
          <a:gradFill>
            <a:gsLst>
              <a:gs pos="0">
                <a:srgbClr val="00B050"/>
              </a:gs>
              <a:gs pos="100000">
                <a:schemeClr val="accent3">
                  <a:lumMod val="60000"/>
                  <a:lumOff val="40000"/>
                </a:schemeClr>
              </a:gs>
            </a:gsLst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Task 2</a:t>
            </a:r>
          </a:p>
        </p:txBody>
      </p:sp>
      <p:sp>
        <p:nvSpPr>
          <p:cNvPr id="226" name="Rectangle 225">
            <a:extLst>
              <a:ext uri="{FF2B5EF4-FFF2-40B4-BE49-F238E27FC236}">
                <a16:creationId xmlns:a16="http://schemas.microsoft.com/office/drawing/2014/main" id="{323F7E1E-9B73-328D-B4D5-EB7626D79884}"/>
              </a:ext>
            </a:extLst>
          </p:cNvPr>
          <p:cNvSpPr/>
          <p:nvPr/>
        </p:nvSpPr>
        <p:spPr>
          <a:xfrm>
            <a:off x="301368" y="4303515"/>
            <a:ext cx="794276" cy="1030918"/>
          </a:xfrm>
          <a:prstGeom prst="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100000">
                <a:schemeClr val="accent6">
                  <a:lumMod val="40000"/>
                  <a:lumOff val="60000"/>
                </a:schemeClr>
              </a:gs>
            </a:gsLst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Task 3</a:t>
            </a:r>
          </a:p>
        </p:txBody>
      </p:sp>
    </p:spTree>
    <p:extLst>
      <p:ext uri="{BB962C8B-B14F-4D97-AF65-F5344CB8AC3E}">
        <p14:creationId xmlns:p14="http://schemas.microsoft.com/office/powerpoint/2010/main" val="3713158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A50DD9DC-847D-29A0-8A11-8ECAB600D0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14575" y="785812"/>
            <a:ext cx="7562850" cy="528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89033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 109">
            <a:extLst>
              <a:ext uri="{FF2B5EF4-FFF2-40B4-BE49-F238E27FC236}">
                <a16:creationId xmlns:a16="http://schemas.microsoft.com/office/drawing/2014/main" id="{DC18ED00-46B3-76E6-EB8B-FA73BF8060D7}"/>
              </a:ext>
            </a:extLst>
          </p:cNvPr>
          <p:cNvSpPr/>
          <p:nvPr/>
        </p:nvSpPr>
        <p:spPr>
          <a:xfrm>
            <a:off x="-158768" y="473900"/>
            <a:ext cx="9144000" cy="36000"/>
          </a:xfrm>
          <a:prstGeom prst="rect">
            <a:avLst/>
          </a:prstGeom>
          <a:solidFill>
            <a:srgbClr val="394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6D4885DE-EE80-DFCB-2E3A-468ED1C8513A}"/>
              </a:ext>
            </a:extLst>
          </p:cNvPr>
          <p:cNvSpPr txBox="1"/>
          <p:nvPr/>
        </p:nvSpPr>
        <p:spPr>
          <a:xfrm>
            <a:off x="-122766" y="550031"/>
            <a:ext cx="28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dirty="0">
                <a:solidFill>
                  <a:srgbClr val="3F51B5"/>
                </a:solidFill>
                <a:latin typeface="맑은 고딕"/>
              </a:rPr>
              <a:t>▶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연차별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연구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추진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일정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(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간트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차트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)</a:t>
            </a:r>
          </a:p>
        </p:txBody>
      </p:sp>
      <p:sp>
        <p:nvSpPr>
          <p:cNvPr id="220" name="Rectangle 219">
            <a:extLst>
              <a:ext uri="{FF2B5EF4-FFF2-40B4-BE49-F238E27FC236}">
                <a16:creationId xmlns:a16="http://schemas.microsoft.com/office/drawing/2014/main" id="{CEAD66CB-5F9A-6FCA-C176-E947B3124986}"/>
              </a:ext>
            </a:extLst>
          </p:cNvPr>
          <p:cNvSpPr/>
          <p:nvPr/>
        </p:nvSpPr>
        <p:spPr>
          <a:xfrm>
            <a:off x="1059392" y="1547231"/>
            <a:ext cx="7073898" cy="288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AE10864-A4BA-1E19-39D6-FB40BFF72EE0}"/>
              </a:ext>
            </a:extLst>
          </p:cNvPr>
          <p:cNvGrpSpPr/>
          <p:nvPr/>
        </p:nvGrpSpPr>
        <p:grpSpPr>
          <a:xfrm>
            <a:off x="320684" y="2011632"/>
            <a:ext cx="7915217" cy="3345934"/>
            <a:chOff x="320684" y="2011632"/>
            <a:chExt cx="7915217" cy="3345934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503881FD-E899-0FE3-7A97-6AD16115C2C0}"/>
                </a:ext>
              </a:extLst>
            </p:cNvPr>
            <p:cNvSpPr/>
            <p:nvPr/>
          </p:nvSpPr>
          <p:spPr>
            <a:xfrm>
              <a:off x="1100668" y="2224032"/>
              <a:ext cx="1854000" cy="345600"/>
            </a:xfrm>
            <a:prstGeom prst="rect">
              <a:avLst/>
            </a:prstGeom>
            <a:solidFill>
              <a:srgbClr val="E3F2F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D869DAAF-2B9A-6103-C452-C6C1EF27FEEF}"/>
                </a:ext>
              </a:extLst>
            </p:cNvPr>
            <p:cNvSpPr/>
            <p:nvPr/>
          </p:nvSpPr>
          <p:spPr>
            <a:xfrm>
              <a:off x="1100668" y="2224032"/>
              <a:ext cx="64800" cy="345600"/>
            </a:xfrm>
            <a:prstGeom prst="rect">
              <a:avLst/>
            </a:prstGeom>
            <a:solidFill>
              <a:srgbClr val="1565C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47212D52-F7FF-D74B-8BD7-9260C5BEB11A}"/>
                </a:ext>
              </a:extLst>
            </p:cNvPr>
            <p:cNvSpPr txBox="1"/>
            <p:nvPr/>
          </p:nvSpPr>
          <p:spPr>
            <a:xfrm>
              <a:off x="1190668" y="2238432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 dirty="0">
                  <a:solidFill>
                    <a:srgbClr val="1565C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① ALD </a:t>
              </a:r>
              <a:r>
                <a:rPr sz="780" b="1" dirty="0" err="1">
                  <a:solidFill>
                    <a:srgbClr val="1565C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증착</a:t>
              </a:r>
              <a:r>
                <a:rPr sz="780" b="1" dirty="0">
                  <a:solidFill>
                    <a:srgbClr val="1565C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 </a:t>
              </a:r>
              <a:r>
                <a:rPr sz="780" b="1" dirty="0" err="1">
                  <a:solidFill>
                    <a:srgbClr val="1565C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조건</a:t>
              </a:r>
              <a:r>
                <a:rPr sz="780" b="1" dirty="0">
                  <a:solidFill>
                    <a:srgbClr val="1565C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 </a:t>
              </a:r>
              <a:r>
                <a:rPr sz="780" b="1" dirty="0" err="1">
                  <a:solidFill>
                    <a:srgbClr val="1565C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최적화</a:t>
              </a:r>
              <a:endParaRPr sz="780" b="1" dirty="0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endParaRP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0F92BC18-E963-B9B7-0676-B9B844D69AD8}"/>
                </a:ext>
              </a:extLst>
            </p:cNvPr>
            <p:cNvSpPr txBox="1"/>
            <p:nvPr/>
          </p:nvSpPr>
          <p:spPr>
            <a:xfrm>
              <a:off x="1190668" y="2389633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>
                  <a:solidFill>
                    <a:srgbClr val="1565C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(ZnF₂, AlF₃, LiF)</a:t>
              </a:r>
            </a:p>
          </p:txBody>
        </p:sp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7436005D-A88D-BABF-8B59-64F9D41028B1}"/>
                </a:ext>
              </a:extLst>
            </p:cNvPr>
            <p:cNvSpPr/>
            <p:nvPr/>
          </p:nvSpPr>
          <p:spPr>
            <a:xfrm>
              <a:off x="1100668" y="2569632"/>
              <a:ext cx="1854000" cy="345600"/>
            </a:xfrm>
            <a:prstGeom prst="rect">
              <a:avLst/>
            </a:prstGeom>
            <a:solidFill>
              <a:srgbClr val="E3F2F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EC0893CC-1AAA-15DC-79C5-DF8E1D6B8BBA}"/>
                </a:ext>
              </a:extLst>
            </p:cNvPr>
            <p:cNvSpPr/>
            <p:nvPr/>
          </p:nvSpPr>
          <p:spPr>
            <a:xfrm>
              <a:off x="1100668" y="2569632"/>
              <a:ext cx="64800" cy="345600"/>
            </a:xfrm>
            <a:prstGeom prst="rect">
              <a:avLst/>
            </a:prstGeom>
            <a:solidFill>
              <a:srgbClr val="1565C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0528BA99-B718-87A9-C3B3-412A533A1C8B}"/>
                </a:ext>
              </a:extLst>
            </p:cNvPr>
            <p:cNvSpPr txBox="1"/>
            <p:nvPr/>
          </p:nvSpPr>
          <p:spPr>
            <a:xfrm>
              <a:off x="1190668" y="2584032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>
                  <a:solidFill>
                    <a:srgbClr val="1565C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② 박막 구조·화학 조성 분석</a:t>
              </a:r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8BAE8CE8-FE70-6CC9-99CD-34272DF216A1}"/>
                </a:ext>
              </a:extLst>
            </p:cNvPr>
            <p:cNvSpPr txBox="1"/>
            <p:nvPr/>
          </p:nvSpPr>
          <p:spPr>
            <a:xfrm>
              <a:off x="1190668" y="2735232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>
                  <a:solidFill>
                    <a:srgbClr val="1565C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(XRD / XPS / TEM / ToF-SIMS)</a:t>
              </a:r>
            </a:p>
          </p:txBody>
        </p:sp>
        <p:sp>
          <p:nvSpPr>
            <p:cNvPr id="160" name="Rectangle 159">
              <a:extLst>
                <a:ext uri="{FF2B5EF4-FFF2-40B4-BE49-F238E27FC236}">
                  <a16:creationId xmlns:a16="http://schemas.microsoft.com/office/drawing/2014/main" id="{D5892ACD-1478-6E73-BDCE-EBD1B57943ED}"/>
                </a:ext>
              </a:extLst>
            </p:cNvPr>
            <p:cNvSpPr/>
            <p:nvPr/>
          </p:nvSpPr>
          <p:spPr>
            <a:xfrm>
              <a:off x="1100668" y="2915232"/>
              <a:ext cx="1854000" cy="345600"/>
            </a:xfrm>
            <a:prstGeom prst="rect">
              <a:avLst/>
            </a:prstGeom>
            <a:solidFill>
              <a:srgbClr val="E3F2F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C2497B53-7DAE-0B5D-494E-F17694FFDBB2}"/>
                </a:ext>
              </a:extLst>
            </p:cNvPr>
            <p:cNvSpPr/>
            <p:nvPr/>
          </p:nvSpPr>
          <p:spPr>
            <a:xfrm>
              <a:off x="1100668" y="2915232"/>
              <a:ext cx="64800" cy="345600"/>
            </a:xfrm>
            <a:prstGeom prst="rect">
              <a:avLst/>
            </a:prstGeom>
            <a:solidFill>
              <a:srgbClr val="1565C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8782AC62-D03A-3A0C-5B56-64CAAC58611E}"/>
                </a:ext>
              </a:extLst>
            </p:cNvPr>
            <p:cNvSpPr txBox="1"/>
            <p:nvPr/>
          </p:nvSpPr>
          <p:spPr>
            <a:xfrm>
              <a:off x="1190668" y="2929632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>
                  <a:solidFill>
                    <a:srgbClr val="1565C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③ EIS · Li⁺ 이온전도도 평가</a:t>
              </a:r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742294A1-B8C3-04FD-EE81-68618603F38F}"/>
                </a:ext>
              </a:extLst>
            </p:cNvPr>
            <p:cNvSpPr txBox="1"/>
            <p:nvPr/>
          </p:nvSpPr>
          <p:spPr>
            <a:xfrm>
              <a:off x="1190668" y="3080833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>
                  <a:solidFill>
                    <a:srgbClr val="1565C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(pinhole-free 조건 확립)</a:t>
              </a:r>
            </a:p>
          </p:txBody>
        </p:sp>
        <p:sp>
          <p:nvSpPr>
            <p:cNvPr id="168" name="Rectangle 167">
              <a:extLst>
                <a:ext uri="{FF2B5EF4-FFF2-40B4-BE49-F238E27FC236}">
                  <a16:creationId xmlns:a16="http://schemas.microsoft.com/office/drawing/2014/main" id="{6FF4C663-746F-C66E-F9BE-8005E1B5B7F5}"/>
                </a:ext>
              </a:extLst>
            </p:cNvPr>
            <p:cNvSpPr/>
            <p:nvPr/>
          </p:nvSpPr>
          <p:spPr>
            <a:xfrm>
              <a:off x="1100668" y="3260833"/>
              <a:ext cx="1854000" cy="345600"/>
            </a:xfrm>
            <a:prstGeom prst="rect">
              <a:avLst/>
            </a:prstGeom>
            <a:solidFill>
              <a:srgbClr val="E8F5E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9" name="Rectangle 168">
              <a:extLst>
                <a:ext uri="{FF2B5EF4-FFF2-40B4-BE49-F238E27FC236}">
                  <a16:creationId xmlns:a16="http://schemas.microsoft.com/office/drawing/2014/main" id="{5AC6882D-67FB-97CD-935A-A36F889C150F}"/>
                </a:ext>
              </a:extLst>
            </p:cNvPr>
            <p:cNvSpPr/>
            <p:nvPr/>
          </p:nvSpPr>
          <p:spPr>
            <a:xfrm>
              <a:off x="1100668" y="3260833"/>
              <a:ext cx="64800" cy="345600"/>
            </a:xfrm>
            <a:prstGeom prst="rect">
              <a:avLst/>
            </a:prstGeom>
            <a:solidFill>
              <a:srgbClr val="2E7D3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1DBE1854-04A5-A75E-9743-589ACED2CE48}"/>
                </a:ext>
              </a:extLst>
            </p:cNvPr>
            <p:cNvSpPr txBox="1"/>
            <p:nvPr/>
          </p:nvSpPr>
          <p:spPr>
            <a:xfrm>
              <a:off x="1190668" y="3275233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 dirty="0">
                  <a:solidFill>
                    <a:srgbClr val="2E7D32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④ Cryo-TEM </a:t>
              </a:r>
              <a:r>
                <a:rPr sz="780" b="1" dirty="0" err="1">
                  <a:solidFill>
                    <a:srgbClr val="2E7D32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핵생성</a:t>
              </a:r>
              <a:r>
                <a:rPr sz="780" b="1" dirty="0">
                  <a:solidFill>
                    <a:srgbClr val="2E7D32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 </a:t>
              </a:r>
              <a:r>
                <a:rPr sz="780" b="1" dirty="0" err="1">
                  <a:solidFill>
                    <a:srgbClr val="2E7D32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관찰</a:t>
              </a:r>
              <a:endParaRPr sz="780" b="1" dirty="0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endParaRPr>
            </a:p>
          </p:txBody>
        </p: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F7392CA3-F382-65EA-41D4-2C2E8D88BFF2}"/>
                </a:ext>
              </a:extLst>
            </p:cNvPr>
            <p:cNvSpPr txBox="1"/>
            <p:nvPr/>
          </p:nvSpPr>
          <p:spPr>
            <a:xfrm>
              <a:off x="1190668" y="3426433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>
                  <a:solidFill>
                    <a:srgbClr val="2E7D32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Li 핵생성 나노구조 실시간</a:t>
              </a:r>
            </a:p>
          </p:txBody>
        </p:sp>
        <p:sp>
          <p:nvSpPr>
            <p:cNvPr id="176" name="Rectangle 175">
              <a:extLst>
                <a:ext uri="{FF2B5EF4-FFF2-40B4-BE49-F238E27FC236}">
                  <a16:creationId xmlns:a16="http://schemas.microsoft.com/office/drawing/2014/main" id="{52AB0769-20C6-7CC6-6946-70F1070B3047}"/>
                </a:ext>
              </a:extLst>
            </p:cNvPr>
            <p:cNvSpPr/>
            <p:nvPr/>
          </p:nvSpPr>
          <p:spPr>
            <a:xfrm>
              <a:off x="1100668" y="3606433"/>
              <a:ext cx="1854000" cy="345600"/>
            </a:xfrm>
            <a:prstGeom prst="rect">
              <a:avLst/>
            </a:prstGeom>
            <a:solidFill>
              <a:srgbClr val="E8F5E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7" name="Rectangle 176">
              <a:extLst>
                <a:ext uri="{FF2B5EF4-FFF2-40B4-BE49-F238E27FC236}">
                  <a16:creationId xmlns:a16="http://schemas.microsoft.com/office/drawing/2014/main" id="{5F858564-7A9A-9669-F637-FA7D34BEE146}"/>
                </a:ext>
              </a:extLst>
            </p:cNvPr>
            <p:cNvSpPr/>
            <p:nvPr/>
          </p:nvSpPr>
          <p:spPr>
            <a:xfrm>
              <a:off x="1100668" y="3606433"/>
              <a:ext cx="64800" cy="345600"/>
            </a:xfrm>
            <a:prstGeom prst="rect">
              <a:avLst/>
            </a:prstGeom>
            <a:solidFill>
              <a:srgbClr val="2E7D3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551E4A4E-3893-D7BB-3582-B617501D11AF}"/>
                </a:ext>
              </a:extLst>
            </p:cNvPr>
            <p:cNvSpPr txBox="1"/>
            <p:nvPr/>
          </p:nvSpPr>
          <p:spPr>
            <a:xfrm>
              <a:off x="1190668" y="3620832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>
                  <a:solidFill>
                    <a:srgbClr val="2E7D32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⑤ Operando XRD / in-situ SEM</a:t>
              </a:r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3349C5C8-1C53-5C4F-AF52-94D473787FDC}"/>
                </a:ext>
              </a:extLst>
            </p:cNvPr>
            <p:cNvSpPr txBox="1"/>
            <p:nvPr/>
          </p:nvSpPr>
          <p:spPr>
            <a:xfrm>
              <a:off x="1190668" y="3772033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>
                  <a:solidFill>
                    <a:srgbClr val="2E7D32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Li 증착·용해 거동 모니터링</a:t>
              </a:r>
            </a:p>
          </p:txBody>
        </p:sp>
        <p:sp>
          <p:nvSpPr>
            <p:cNvPr id="184" name="Rectangle 183">
              <a:extLst>
                <a:ext uri="{FF2B5EF4-FFF2-40B4-BE49-F238E27FC236}">
                  <a16:creationId xmlns:a16="http://schemas.microsoft.com/office/drawing/2014/main" id="{BC4F2B4D-7E91-E183-7CDC-BD9CF16F5631}"/>
                </a:ext>
              </a:extLst>
            </p:cNvPr>
            <p:cNvSpPr/>
            <p:nvPr/>
          </p:nvSpPr>
          <p:spPr>
            <a:xfrm>
              <a:off x="1100668" y="3952032"/>
              <a:ext cx="1854000" cy="345600"/>
            </a:xfrm>
            <a:prstGeom prst="rect">
              <a:avLst/>
            </a:prstGeom>
            <a:solidFill>
              <a:srgbClr val="E8F5E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5" name="Rectangle 184">
              <a:extLst>
                <a:ext uri="{FF2B5EF4-FFF2-40B4-BE49-F238E27FC236}">
                  <a16:creationId xmlns:a16="http://schemas.microsoft.com/office/drawing/2014/main" id="{0E07732D-345D-6499-2561-BB41E0C4AC8B}"/>
                </a:ext>
              </a:extLst>
            </p:cNvPr>
            <p:cNvSpPr/>
            <p:nvPr/>
          </p:nvSpPr>
          <p:spPr>
            <a:xfrm>
              <a:off x="1100668" y="3952032"/>
              <a:ext cx="64800" cy="345600"/>
            </a:xfrm>
            <a:prstGeom prst="rect">
              <a:avLst/>
            </a:prstGeom>
            <a:solidFill>
              <a:srgbClr val="2E7D3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0BDB0FA3-EB15-523D-53E5-4AE02898D23A}"/>
                </a:ext>
              </a:extLst>
            </p:cNvPr>
            <p:cNvSpPr txBox="1"/>
            <p:nvPr/>
          </p:nvSpPr>
          <p:spPr>
            <a:xfrm>
              <a:off x="1190668" y="3966432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>
                  <a:solidFill>
                    <a:srgbClr val="2E7D32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⑥ DFT 이론 계산</a:t>
              </a:r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D83242C7-0D63-6125-F10D-A718AE211FD2}"/>
                </a:ext>
              </a:extLst>
            </p:cNvPr>
            <p:cNvSpPr txBox="1"/>
            <p:nvPr/>
          </p:nvSpPr>
          <p:spPr>
            <a:xfrm>
              <a:off x="1190668" y="4117633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>
                  <a:solidFill>
                    <a:srgbClr val="2E7D32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계면 Li⁺ 확산 에너지 배리어</a:t>
              </a:r>
            </a:p>
          </p:txBody>
        </p:sp>
        <p:sp>
          <p:nvSpPr>
            <p:cNvPr id="192" name="Rectangle 191">
              <a:extLst>
                <a:ext uri="{FF2B5EF4-FFF2-40B4-BE49-F238E27FC236}">
                  <a16:creationId xmlns:a16="http://schemas.microsoft.com/office/drawing/2014/main" id="{407B01C5-CB85-94B5-1017-B5352C640543}"/>
                </a:ext>
              </a:extLst>
            </p:cNvPr>
            <p:cNvSpPr/>
            <p:nvPr/>
          </p:nvSpPr>
          <p:spPr>
            <a:xfrm>
              <a:off x="1100668" y="4297633"/>
              <a:ext cx="1854000" cy="345600"/>
            </a:xfrm>
            <a:prstGeom prst="rect">
              <a:avLst/>
            </a:prstGeom>
            <a:solidFill>
              <a:srgbClr val="FFF3E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3" name="Rectangle 192">
              <a:extLst>
                <a:ext uri="{FF2B5EF4-FFF2-40B4-BE49-F238E27FC236}">
                  <a16:creationId xmlns:a16="http://schemas.microsoft.com/office/drawing/2014/main" id="{1AB50607-CD6B-A897-5E89-079FD3910EAF}"/>
                </a:ext>
              </a:extLst>
            </p:cNvPr>
            <p:cNvSpPr/>
            <p:nvPr/>
          </p:nvSpPr>
          <p:spPr>
            <a:xfrm>
              <a:off x="1100668" y="4297633"/>
              <a:ext cx="64800" cy="345600"/>
            </a:xfrm>
            <a:prstGeom prst="rect">
              <a:avLst/>
            </a:prstGeom>
            <a:solidFill>
              <a:srgbClr val="E651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ADE98098-44C3-7ED6-670B-E3A9ED9E53EF}"/>
                </a:ext>
              </a:extLst>
            </p:cNvPr>
            <p:cNvSpPr txBox="1"/>
            <p:nvPr/>
          </p:nvSpPr>
          <p:spPr>
            <a:xfrm>
              <a:off x="1190668" y="4312032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>
                  <a:solidFill>
                    <a:srgbClr val="E6510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⑦ Li||NCM 풀 셀 장기 사이클</a:t>
              </a:r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9E044C84-5BDF-396B-D8D3-C79510912556}"/>
                </a:ext>
              </a:extLst>
            </p:cNvPr>
            <p:cNvSpPr txBox="1"/>
            <p:nvPr/>
          </p:nvSpPr>
          <p:spPr>
            <a:xfrm>
              <a:off x="1190668" y="4463233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&gt;300 사이클, CE &gt;99.5%</a:t>
              </a:r>
            </a:p>
          </p:txBody>
        </p:sp>
        <p:sp>
          <p:nvSpPr>
            <p:cNvPr id="200" name="Rectangle 199">
              <a:extLst>
                <a:ext uri="{FF2B5EF4-FFF2-40B4-BE49-F238E27FC236}">
                  <a16:creationId xmlns:a16="http://schemas.microsoft.com/office/drawing/2014/main" id="{48A970D1-E9C7-9A8A-60C9-B9BA449B2719}"/>
                </a:ext>
              </a:extLst>
            </p:cNvPr>
            <p:cNvSpPr/>
            <p:nvPr/>
          </p:nvSpPr>
          <p:spPr>
            <a:xfrm>
              <a:off x="1100668" y="4643233"/>
              <a:ext cx="1854000" cy="345600"/>
            </a:xfrm>
            <a:prstGeom prst="rect">
              <a:avLst/>
            </a:prstGeom>
            <a:solidFill>
              <a:srgbClr val="FFF3E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47073B1A-7FB7-0FE1-C51B-0D4072830E3A}"/>
                </a:ext>
              </a:extLst>
            </p:cNvPr>
            <p:cNvSpPr/>
            <p:nvPr/>
          </p:nvSpPr>
          <p:spPr>
            <a:xfrm>
              <a:off x="1100668" y="4643233"/>
              <a:ext cx="64800" cy="345600"/>
            </a:xfrm>
            <a:prstGeom prst="rect">
              <a:avLst/>
            </a:prstGeom>
            <a:solidFill>
              <a:srgbClr val="E651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D9130242-FEEC-B5D1-51C9-ED7D9CE0C08E}"/>
                </a:ext>
              </a:extLst>
            </p:cNvPr>
            <p:cNvSpPr txBox="1"/>
            <p:nvPr/>
          </p:nvSpPr>
          <p:spPr>
            <a:xfrm>
              <a:off x="1190668" y="4657633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>
                  <a:solidFill>
                    <a:srgbClr val="E6510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⑧ Post-mortem XPS/TEM 분석</a:t>
              </a:r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4EFA48A3-8BC7-95C7-0AA6-8734285B4EBD}"/>
                </a:ext>
              </a:extLst>
            </p:cNvPr>
            <p:cNvSpPr txBox="1"/>
            <p:nvPr/>
          </p:nvSpPr>
          <p:spPr>
            <a:xfrm>
              <a:off x="1190668" y="4808833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SEI 조성 변화·열화 메커니즘</a:t>
              </a:r>
            </a:p>
          </p:txBody>
        </p: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3D1381DF-C27D-17E7-66E0-F358F9BE3CC8}"/>
                </a:ext>
              </a:extLst>
            </p:cNvPr>
            <p:cNvSpPr/>
            <p:nvPr/>
          </p:nvSpPr>
          <p:spPr>
            <a:xfrm>
              <a:off x="1100668" y="4988833"/>
              <a:ext cx="1854000" cy="345600"/>
            </a:xfrm>
            <a:prstGeom prst="rect">
              <a:avLst/>
            </a:prstGeom>
            <a:solidFill>
              <a:srgbClr val="FFF3E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B0CDBBB7-5600-2C91-616C-D8E7C87AD5C0}"/>
                </a:ext>
              </a:extLst>
            </p:cNvPr>
            <p:cNvSpPr/>
            <p:nvPr/>
          </p:nvSpPr>
          <p:spPr>
            <a:xfrm>
              <a:off x="1100668" y="4988833"/>
              <a:ext cx="64800" cy="345600"/>
            </a:xfrm>
            <a:prstGeom prst="rect">
              <a:avLst/>
            </a:prstGeom>
            <a:solidFill>
              <a:srgbClr val="E651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2441351F-EB0B-9173-5845-A812D3819CB0}"/>
                </a:ext>
              </a:extLst>
            </p:cNvPr>
            <p:cNvSpPr txBox="1"/>
            <p:nvPr/>
          </p:nvSpPr>
          <p:spPr>
            <a:xfrm>
              <a:off x="1190668" y="5003233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>
                  <a:solidFill>
                    <a:srgbClr val="E6510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⑨ ALD 인공 SEI 설계 원칙 도출</a:t>
              </a:r>
            </a:p>
          </p:txBody>
        </p:sp>
        <p:sp>
          <p:nvSpPr>
            <p:cNvPr id="211" name="TextBox 210">
              <a:extLst>
                <a:ext uri="{FF2B5EF4-FFF2-40B4-BE49-F238E27FC236}">
                  <a16:creationId xmlns:a16="http://schemas.microsoft.com/office/drawing/2014/main" id="{F4D5BC69-1B0D-D297-492B-306646023BFE}"/>
                </a:ext>
              </a:extLst>
            </p:cNvPr>
            <p:cNvSpPr txBox="1"/>
            <p:nvPr/>
          </p:nvSpPr>
          <p:spPr>
            <a:xfrm>
              <a:off x="1190668" y="5154433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 dirty="0" err="1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ZnF</a:t>
              </a:r>
              <a:r>
                <a:rPr sz="720" b="0" dirty="0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₂/</a:t>
              </a:r>
              <a:r>
                <a:rPr sz="720" b="0" dirty="0" err="1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AlF</a:t>
              </a:r>
              <a:r>
                <a:rPr sz="720" b="0" dirty="0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₃/</a:t>
              </a:r>
              <a:r>
                <a:rPr sz="720" b="0" dirty="0" err="1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LiF</a:t>
              </a:r>
              <a:r>
                <a:rPr sz="720" b="0" dirty="0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</a:t>
              </a:r>
              <a:r>
                <a:rPr sz="720" b="0" dirty="0" err="1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비교</a:t>
              </a:r>
              <a:r>
                <a:rPr sz="720" b="0" dirty="0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</a:t>
              </a:r>
              <a:r>
                <a:rPr sz="720" b="0" dirty="0" err="1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정립</a:t>
              </a:r>
              <a:endParaRPr sz="720" b="0" dirty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endParaRPr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D7A446D8-1C6F-715A-E753-345581674C62}"/>
                </a:ext>
              </a:extLst>
            </p:cNvPr>
            <p:cNvSpPr/>
            <p:nvPr/>
          </p:nvSpPr>
          <p:spPr>
            <a:xfrm>
              <a:off x="2954668" y="2011632"/>
              <a:ext cx="1739966" cy="237600"/>
            </a:xfrm>
            <a:prstGeom prst="rect">
              <a:avLst/>
            </a:prstGeom>
            <a:solidFill>
              <a:srgbClr val="C5CAE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11D64A57-A3B2-4049-7F46-25143C6B6B25}"/>
                </a:ext>
              </a:extLst>
            </p:cNvPr>
            <p:cNvSpPr txBox="1"/>
            <p:nvPr/>
          </p:nvSpPr>
          <p:spPr>
            <a:xfrm>
              <a:off x="2954668" y="2011632"/>
              <a:ext cx="1739966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000" b="1" dirty="0">
                  <a:solidFill>
                    <a:srgbClr val="1A237E"/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1년차</a:t>
              </a: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63D41351-4E2C-1DB6-4D6E-BCF83B650F55}"/>
                </a:ext>
              </a:extLst>
            </p:cNvPr>
            <p:cNvSpPr/>
            <p:nvPr/>
          </p:nvSpPr>
          <p:spPr>
            <a:xfrm>
              <a:off x="4694635" y="2011632"/>
              <a:ext cx="1739966" cy="237600"/>
            </a:xfrm>
            <a:prstGeom prst="rect">
              <a:avLst/>
            </a:prstGeom>
            <a:solidFill>
              <a:srgbClr val="BBDEF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C208BCA0-A120-ABB1-A9B1-9BE6CF092E07}"/>
                </a:ext>
              </a:extLst>
            </p:cNvPr>
            <p:cNvSpPr txBox="1"/>
            <p:nvPr/>
          </p:nvSpPr>
          <p:spPr>
            <a:xfrm>
              <a:off x="4694635" y="2011632"/>
              <a:ext cx="1739966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000" b="1">
                  <a:solidFill>
                    <a:srgbClr val="0D47A1"/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2년차</a:t>
              </a:r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F34B9737-C6BD-FFC0-128D-0532AD3BB48B}"/>
                </a:ext>
              </a:extLst>
            </p:cNvPr>
            <p:cNvSpPr/>
            <p:nvPr/>
          </p:nvSpPr>
          <p:spPr>
            <a:xfrm>
              <a:off x="6434601" y="2011632"/>
              <a:ext cx="1739966" cy="237600"/>
            </a:xfrm>
            <a:prstGeom prst="rect">
              <a:avLst/>
            </a:prstGeom>
            <a:solidFill>
              <a:srgbClr val="B3E5F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42B6CE28-D26B-BC18-728F-5931334F53D2}"/>
                </a:ext>
              </a:extLst>
            </p:cNvPr>
            <p:cNvSpPr txBox="1"/>
            <p:nvPr/>
          </p:nvSpPr>
          <p:spPr>
            <a:xfrm>
              <a:off x="6434601" y="2011632"/>
              <a:ext cx="1739966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000" b="1">
                  <a:solidFill>
                    <a:srgbClr val="01579B"/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3년차</a:t>
              </a:r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B2F04082-0C22-F309-B8CC-F1D3E30FF53E}"/>
                </a:ext>
              </a:extLst>
            </p:cNvPr>
            <p:cNvSpPr/>
            <p:nvPr/>
          </p:nvSpPr>
          <p:spPr>
            <a:xfrm>
              <a:off x="2954668" y="2249233"/>
              <a:ext cx="5219899" cy="162000"/>
            </a:xfrm>
            <a:prstGeom prst="rect">
              <a:avLst/>
            </a:prstGeom>
            <a:solidFill>
              <a:srgbClr val="EDE7F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7DCCCFF5-A8D7-C138-11E0-A31919CC9B0C}"/>
                </a:ext>
              </a:extLst>
            </p:cNvPr>
            <p:cNvSpPr txBox="1"/>
            <p:nvPr/>
          </p:nvSpPr>
          <p:spPr>
            <a:xfrm>
              <a:off x="2954668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1Q</a:t>
              </a: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1CC3E173-E79C-8660-4AD9-9555540967B9}"/>
                </a:ext>
              </a:extLst>
            </p:cNvPr>
            <p:cNvSpPr txBox="1"/>
            <p:nvPr/>
          </p:nvSpPr>
          <p:spPr>
            <a:xfrm>
              <a:off x="3389660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2Q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4A1778B3-AC96-0699-7B60-04C85CFE70C4}"/>
                </a:ext>
              </a:extLst>
            </p:cNvPr>
            <p:cNvSpPr txBox="1"/>
            <p:nvPr/>
          </p:nvSpPr>
          <p:spPr>
            <a:xfrm>
              <a:off x="3824651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3Q</a:t>
              </a:r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9A668B2D-336D-4E94-924F-87C2E876C759}"/>
                </a:ext>
              </a:extLst>
            </p:cNvPr>
            <p:cNvSpPr txBox="1"/>
            <p:nvPr/>
          </p:nvSpPr>
          <p:spPr>
            <a:xfrm>
              <a:off x="4259643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4Q</a:t>
              </a: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C69C5244-9EE4-D6FB-A891-5E45E58EE2C1}"/>
                </a:ext>
              </a:extLst>
            </p:cNvPr>
            <p:cNvSpPr txBox="1"/>
            <p:nvPr/>
          </p:nvSpPr>
          <p:spPr>
            <a:xfrm>
              <a:off x="4694635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1Q</a:t>
              </a:r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874C43DA-086D-5AA1-D3D7-1D91B87A5BAF}"/>
                </a:ext>
              </a:extLst>
            </p:cNvPr>
            <p:cNvSpPr txBox="1"/>
            <p:nvPr/>
          </p:nvSpPr>
          <p:spPr>
            <a:xfrm>
              <a:off x="5129626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2Q</a:t>
              </a: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BB25F716-8539-9586-CFC2-BBCCFEF786BD}"/>
                </a:ext>
              </a:extLst>
            </p:cNvPr>
            <p:cNvSpPr txBox="1"/>
            <p:nvPr/>
          </p:nvSpPr>
          <p:spPr>
            <a:xfrm>
              <a:off x="5564618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3Q</a:t>
              </a: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91CD4795-C956-9B9F-17FC-7B8DB5CE54EA}"/>
                </a:ext>
              </a:extLst>
            </p:cNvPr>
            <p:cNvSpPr txBox="1"/>
            <p:nvPr/>
          </p:nvSpPr>
          <p:spPr>
            <a:xfrm>
              <a:off x="5999609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4Q</a:t>
              </a:r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051405B8-EF3A-7228-033E-A0A07E913F81}"/>
                </a:ext>
              </a:extLst>
            </p:cNvPr>
            <p:cNvSpPr txBox="1"/>
            <p:nvPr/>
          </p:nvSpPr>
          <p:spPr>
            <a:xfrm>
              <a:off x="6434601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1Q</a:t>
              </a: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D4C6BF81-BB8F-D37D-E545-B0D327BD2497}"/>
                </a:ext>
              </a:extLst>
            </p:cNvPr>
            <p:cNvSpPr txBox="1"/>
            <p:nvPr/>
          </p:nvSpPr>
          <p:spPr>
            <a:xfrm>
              <a:off x="6869593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2Q</a:t>
              </a:r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9DC6BDB5-F4B3-8B5A-7A17-D63D50A48236}"/>
                </a:ext>
              </a:extLst>
            </p:cNvPr>
            <p:cNvSpPr txBox="1"/>
            <p:nvPr/>
          </p:nvSpPr>
          <p:spPr>
            <a:xfrm>
              <a:off x="7304584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3Q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0CECFAD2-4167-4531-B923-331E449F76F7}"/>
                </a:ext>
              </a:extLst>
            </p:cNvPr>
            <p:cNvSpPr txBox="1"/>
            <p:nvPr/>
          </p:nvSpPr>
          <p:spPr>
            <a:xfrm>
              <a:off x="7739575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4Q</a:t>
              </a:r>
            </a:p>
          </p:txBody>
        </p:sp>
        <p:cxnSp>
          <p:nvCxnSpPr>
            <p:cNvPr id="131" name="Connector 79">
              <a:extLst>
                <a:ext uri="{FF2B5EF4-FFF2-40B4-BE49-F238E27FC236}">
                  <a16:creationId xmlns:a16="http://schemas.microsoft.com/office/drawing/2014/main" id="{757763DB-D1B2-70C4-E6E8-A18C0F2E1E91}"/>
                </a:ext>
              </a:extLst>
            </p:cNvPr>
            <p:cNvCxnSpPr/>
            <p:nvPr/>
          </p:nvCxnSpPr>
          <p:spPr>
            <a:xfrm>
              <a:off x="2954668" y="2249233"/>
              <a:ext cx="0" cy="3085200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Connector 80">
              <a:extLst>
                <a:ext uri="{FF2B5EF4-FFF2-40B4-BE49-F238E27FC236}">
                  <a16:creationId xmlns:a16="http://schemas.microsoft.com/office/drawing/2014/main" id="{098EC66F-1257-5271-906B-41B750BA6FC8}"/>
                </a:ext>
              </a:extLst>
            </p:cNvPr>
            <p:cNvCxnSpPr/>
            <p:nvPr/>
          </p:nvCxnSpPr>
          <p:spPr>
            <a:xfrm>
              <a:off x="3389660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Connector 81">
              <a:extLst>
                <a:ext uri="{FF2B5EF4-FFF2-40B4-BE49-F238E27FC236}">
                  <a16:creationId xmlns:a16="http://schemas.microsoft.com/office/drawing/2014/main" id="{2567E60E-DBF3-5D38-DE95-BC03496996F5}"/>
                </a:ext>
              </a:extLst>
            </p:cNvPr>
            <p:cNvCxnSpPr/>
            <p:nvPr/>
          </p:nvCxnSpPr>
          <p:spPr>
            <a:xfrm>
              <a:off x="3824651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Connector 82">
              <a:extLst>
                <a:ext uri="{FF2B5EF4-FFF2-40B4-BE49-F238E27FC236}">
                  <a16:creationId xmlns:a16="http://schemas.microsoft.com/office/drawing/2014/main" id="{86D17D0B-EA34-F7B7-E554-CDB8B0EA5A75}"/>
                </a:ext>
              </a:extLst>
            </p:cNvPr>
            <p:cNvCxnSpPr/>
            <p:nvPr/>
          </p:nvCxnSpPr>
          <p:spPr>
            <a:xfrm>
              <a:off x="4259643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Connector 83">
              <a:extLst>
                <a:ext uri="{FF2B5EF4-FFF2-40B4-BE49-F238E27FC236}">
                  <a16:creationId xmlns:a16="http://schemas.microsoft.com/office/drawing/2014/main" id="{1F8EA9DF-1E6E-BF97-9619-4203766D95A1}"/>
                </a:ext>
              </a:extLst>
            </p:cNvPr>
            <p:cNvCxnSpPr/>
            <p:nvPr/>
          </p:nvCxnSpPr>
          <p:spPr>
            <a:xfrm>
              <a:off x="4694635" y="2249233"/>
              <a:ext cx="0" cy="3085200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Connector 84">
              <a:extLst>
                <a:ext uri="{FF2B5EF4-FFF2-40B4-BE49-F238E27FC236}">
                  <a16:creationId xmlns:a16="http://schemas.microsoft.com/office/drawing/2014/main" id="{F19D1068-D027-548C-E3E4-DD4524FA18ED}"/>
                </a:ext>
              </a:extLst>
            </p:cNvPr>
            <p:cNvCxnSpPr/>
            <p:nvPr/>
          </p:nvCxnSpPr>
          <p:spPr>
            <a:xfrm>
              <a:off x="5129626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Connector 85">
              <a:extLst>
                <a:ext uri="{FF2B5EF4-FFF2-40B4-BE49-F238E27FC236}">
                  <a16:creationId xmlns:a16="http://schemas.microsoft.com/office/drawing/2014/main" id="{C87A9C0E-92F7-8C18-0148-A70BA2C71CDC}"/>
                </a:ext>
              </a:extLst>
            </p:cNvPr>
            <p:cNvCxnSpPr/>
            <p:nvPr/>
          </p:nvCxnSpPr>
          <p:spPr>
            <a:xfrm>
              <a:off x="5564618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Connector 86">
              <a:extLst>
                <a:ext uri="{FF2B5EF4-FFF2-40B4-BE49-F238E27FC236}">
                  <a16:creationId xmlns:a16="http://schemas.microsoft.com/office/drawing/2014/main" id="{D56A04C9-0E75-31B4-2493-8C8D693B6AEB}"/>
                </a:ext>
              </a:extLst>
            </p:cNvPr>
            <p:cNvCxnSpPr/>
            <p:nvPr/>
          </p:nvCxnSpPr>
          <p:spPr>
            <a:xfrm>
              <a:off x="5999609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Connector 87">
              <a:extLst>
                <a:ext uri="{FF2B5EF4-FFF2-40B4-BE49-F238E27FC236}">
                  <a16:creationId xmlns:a16="http://schemas.microsoft.com/office/drawing/2014/main" id="{3F16021E-3C29-5C6A-44A2-BA1AFCCE01C8}"/>
                </a:ext>
              </a:extLst>
            </p:cNvPr>
            <p:cNvCxnSpPr/>
            <p:nvPr/>
          </p:nvCxnSpPr>
          <p:spPr>
            <a:xfrm>
              <a:off x="6434601" y="2249233"/>
              <a:ext cx="0" cy="3085200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Connector 88">
              <a:extLst>
                <a:ext uri="{FF2B5EF4-FFF2-40B4-BE49-F238E27FC236}">
                  <a16:creationId xmlns:a16="http://schemas.microsoft.com/office/drawing/2014/main" id="{DF229B76-FB26-C79A-6BA5-7823BAFBAB39}"/>
                </a:ext>
              </a:extLst>
            </p:cNvPr>
            <p:cNvCxnSpPr/>
            <p:nvPr/>
          </p:nvCxnSpPr>
          <p:spPr>
            <a:xfrm>
              <a:off x="6869593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Connector 89">
              <a:extLst>
                <a:ext uri="{FF2B5EF4-FFF2-40B4-BE49-F238E27FC236}">
                  <a16:creationId xmlns:a16="http://schemas.microsoft.com/office/drawing/2014/main" id="{C12359A7-7732-4DD8-9F5F-D1270EECBAB5}"/>
                </a:ext>
              </a:extLst>
            </p:cNvPr>
            <p:cNvCxnSpPr/>
            <p:nvPr/>
          </p:nvCxnSpPr>
          <p:spPr>
            <a:xfrm>
              <a:off x="7304584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Connector 90">
              <a:extLst>
                <a:ext uri="{FF2B5EF4-FFF2-40B4-BE49-F238E27FC236}">
                  <a16:creationId xmlns:a16="http://schemas.microsoft.com/office/drawing/2014/main" id="{452F4D21-F144-B312-26B2-D08DC8F141EA}"/>
                </a:ext>
              </a:extLst>
            </p:cNvPr>
            <p:cNvCxnSpPr/>
            <p:nvPr/>
          </p:nvCxnSpPr>
          <p:spPr>
            <a:xfrm>
              <a:off x="7739575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Connector 91">
              <a:extLst>
                <a:ext uri="{FF2B5EF4-FFF2-40B4-BE49-F238E27FC236}">
                  <a16:creationId xmlns:a16="http://schemas.microsoft.com/office/drawing/2014/main" id="{BFC24B34-DD0D-E422-5C9A-7C72D37328DB}"/>
                </a:ext>
              </a:extLst>
            </p:cNvPr>
            <p:cNvCxnSpPr/>
            <p:nvPr/>
          </p:nvCxnSpPr>
          <p:spPr>
            <a:xfrm>
              <a:off x="8174567" y="2249233"/>
              <a:ext cx="0" cy="3085200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E32782F6-1339-CF72-6541-D661CD5EA757}"/>
                </a:ext>
              </a:extLst>
            </p:cNvPr>
            <p:cNvSpPr/>
            <p:nvPr/>
          </p:nvSpPr>
          <p:spPr>
            <a:xfrm>
              <a:off x="2954668" y="2224032"/>
              <a:ext cx="5219899" cy="345600"/>
            </a:xfrm>
            <a:prstGeom prst="rect">
              <a:avLst/>
            </a:prstGeom>
            <a:solidFill>
              <a:srgbClr val="FAFA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C9C1B6CE-301E-E80B-534B-52CD4B0B1E9B}"/>
                </a:ext>
              </a:extLst>
            </p:cNvPr>
            <p:cNvSpPr/>
            <p:nvPr/>
          </p:nvSpPr>
          <p:spPr>
            <a:xfrm>
              <a:off x="2965030" y="2303233"/>
              <a:ext cx="1719242" cy="187200"/>
            </a:xfrm>
            <a:prstGeom prst="rect">
              <a:avLst/>
            </a:prstGeom>
            <a:solidFill>
              <a:srgbClr val="1565C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30250A0C-C752-E8F1-CD8E-7333166D1EA0}"/>
                </a:ext>
              </a:extLst>
            </p:cNvPr>
            <p:cNvSpPr txBox="1"/>
            <p:nvPr/>
          </p:nvSpPr>
          <p:spPr>
            <a:xfrm>
              <a:off x="2911318" y="2295033"/>
              <a:ext cx="1789354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전구체</a:t>
              </a:r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최적화</a:t>
              </a:r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및 ALD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파라미터</a:t>
              </a:r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탐색</a:t>
              </a:r>
              <a:endPara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endParaRPr>
            </a:p>
          </p:txBody>
        </p:sp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52F9318E-CA32-86BB-BB73-7BBAB04362D7}"/>
                </a:ext>
              </a:extLst>
            </p:cNvPr>
            <p:cNvSpPr/>
            <p:nvPr/>
          </p:nvSpPr>
          <p:spPr>
            <a:xfrm>
              <a:off x="2954668" y="2569632"/>
              <a:ext cx="5219899" cy="345600"/>
            </a:xfrm>
            <a:prstGeom prst="rect">
              <a:avLst/>
            </a:prstGeom>
            <a:solidFill>
              <a:srgbClr val="FAFA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3FA7D43D-C162-8535-267B-029240BB1A04}"/>
                </a:ext>
              </a:extLst>
            </p:cNvPr>
            <p:cNvSpPr/>
            <p:nvPr/>
          </p:nvSpPr>
          <p:spPr>
            <a:xfrm>
              <a:off x="3400022" y="2648832"/>
              <a:ext cx="2154233" cy="187200"/>
            </a:xfrm>
            <a:prstGeom prst="rect">
              <a:avLst/>
            </a:prstGeom>
            <a:solidFill>
              <a:srgbClr val="1976D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B70FA59A-EEF0-BD7A-030B-077D1D7E0717}"/>
                </a:ext>
              </a:extLst>
            </p:cNvPr>
            <p:cNvSpPr txBox="1"/>
            <p:nvPr/>
          </p:nvSpPr>
          <p:spPr>
            <a:xfrm>
              <a:off x="3400022" y="2648832"/>
              <a:ext cx="2154233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XRD / XPS / TEM-EDS / ToF-SIMS</a:t>
              </a:r>
            </a:p>
          </p:txBody>
        </p:sp>
        <p:sp>
          <p:nvSpPr>
            <p:cNvPr id="164" name="Rectangle 163">
              <a:extLst>
                <a:ext uri="{FF2B5EF4-FFF2-40B4-BE49-F238E27FC236}">
                  <a16:creationId xmlns:a16="http://schemas.microsoft.com/office/drawing/2014/main" id="{471CE5D1-E068-5535-48A0-3DA2655D16FD}"/>
                </a:ext>
              </a:extLst>
            </p:cNvPr>
            <p:cNvSpPr/>
            <p:nvPr/>
          </p:nvSpPr>
          <p:spPr>
            <a:xfrm>
              <a:off x="2954668" y="2915232"/>
              <a:ext cx="5219899" cy="345600"/>
            </a:xfrm>
            <a:prstGeom prst="rect">
              <a:avLst/>
            </a:prstGeom>
            <a:solidFill>
              <a:srgbClr val="FAFA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8FC7B023-3416-5CF9-AEAE-8EADC78A9299}"/>
                </a:ext>
              </a:extLst>
            </p:cNvPr>
            <p:cNvSpPr/>
            <p:nvPr/>
          </p:nvSpPr>
          <p:spPr>
            <a:xfrm>
              <a:off x="3617415" y="2994433"/>
              <a:ext cx="1066856" cy="187200"/>
            </a:xfrm>
            <a:prstGeom prst="rect">
              <a:avLst/>
            </a:prstGeom>
            <a:solidFill>
              <a:srgbClr val="283593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984DE01C-9BE0-9A0F-A2D1-CF2236F05B34}"/>
                </a:ext>
              </a:extLst>
            </p:cNvPr>
            <p:cNvSpPr txBox="1"/>
            <p:nvPr/>
          </p:nvSpPr>
          <p:spPr>
            <a:xfrm>
              <a:off x="3594184" y="2990453"/>
              <a:ext cx="1149684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EIS · Li⁺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이온전도도</a:t>
              </a:r>
              <a:endPara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endParaRPr>
            </a:p>
          </p:txBody>
        </p:sp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32193BCD-B4AB-9989-695D-E50EFD4CBB2A}"/>
                </a:ext>
              </a:extLst>
            </p:cNvPr>
            <p:cNvSpPr/>
            <p:nvPr/>
          </p:nvSpPr>
          <p:spPr>
            <a:xfrm>
              <a:off x="2954668" y="3260833"/>
              <a:ext cx="5219899" cy="345600"/>
            </a:xfrm>
            <a:prstGeom prst="rect">
              <a:avLst/>
            </a:prstGeom>
            <a:solidFill>
              <a:srgbClr val="F5FFF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57A632D6-D0EF-4098-FA43-FEBB216A22C1}"/>
                </a:ext>
              </a:extLst>
            </p:cNvPr>
            <p:cNvSpPr/>
            <p:nvPr/>
          </p:nvSpPr>
          <p:spPr>
            <a:xfrm>
              <a:off x="3835013" y="3340033"/>
              <a:ext cx="2589225" cy="187200"/>
            </a:xfrm>
            <a:prstGeom prst="rect">
              <a:avLst/>
            </a:prstGeom>
            <a:solidFill>
              <a:srgbClr val="2E7D3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4E393352-50DB-6D06-2014-F92B0EF30C84}"/>
                </a:ext>
              </a:extLst>
            </p:cNvPr>
            <p:cNvSpPr txBox="1"/>
            <p:nvPr/>
          </p:nvSpPr>
          <p:spPr>
            <a:xfrm>
              <a:off x="3835013" y="3340033"/>
              <a:ext cx="2589225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Cryo-TEM Li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핵생성</a:t>
              </a:r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나노구조</a:t>
              </a:r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관찰</a:t>
              </a:r>
              <a:endPara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endParaRPr>
            </a:p>
          </p:txBody>
        </p:sp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F2F58E69-6B4A-3993-04B4-A6C495EB29D6}"/>
                </a:ext>
              </a:extLst>
            </p:cNvPr>
            <p:cNvSpPr/>
            <p:nvPr/>
          </p:nvSpPr>
          <p:spPr>
            <a:xfrm>
              <a:off x="2954668" y="3606433"/>
              <a:ext cx="5219899" cy="345600"/>
            </a:xfrm>
            <a:prstGeom prst="rect">
              <a:avLst/>
            </a:prstGeom>
            <a:solidFill>
              <a:srgbClr val="F5FFF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F0EAD0D8-B0C0-EE0C-5516-71D7A7C7A372}"/>
                </a:ext>
              </a:extLst>
            </p:cNvPr>
            <p:cNvSpPr/>
            <p:nvPr/>
          </p:nvSpPr>
          <p:spPr>
            <a:xfrm>
              <a:off x="4270004" y="3685633"/>
              <a:ext cx="2154233" cy="187200"/>
            </a:xfrm>
            <a:prstGeom prst="rect">
              <a:avLst/>
            </a:prstGeom>
            <a:solidFill>
              <a:srgbClr val="388E3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B228ABA5-2415-1F59-DC7D-2AFCADA28CAB}"/>
                </a:ext>
              </a:extLst>
            </p:cNvPr>
            <p:cNvSpPr txBox="1"/>
            <p:nvPr/>
          </p:nvSpPr>
          <p:spPr>
            <a:xfrm>
              <a:off x="4270004" y="3685633"/>
              <a:ext cx="2154233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Operando XRD / in-situ SEM 모니터링</a:t>
              </a:r>
            </a:p>
          </p:txBody>
        </p:sp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02FDAAB6-F178-5C68-C544-7541EB7F2193}"/>
                </a:ext>
              </a:extLst>
            </p:cNvPr>
            <p:cNvSpPr/>
            <p:nvPr/>
          </p:nvSpPr>
          <p:spPr>
            <a:xfrm>
              <a:off x="2954668" y="3952032"/>
              <a:ext cx="5219899" cy="345600"/>
            </a:xfrm>
            <a:prstGeom prst="rect">
              <a:avLst/>
            </a:prstGeom>
            <a:solidFill>
              <a:srgbClr val="F5FFF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9" name="Rectangle 188">
              <a:extLst>
                <a:ext uri="{FF2B5EF4-FFF2-40B4-BE49-F238E27FC236}">
                  <a16:creationId xmlns:a16="http://schemas.microsoft.com/office/drawing/2014/main" id="{5AF677B8-EE66-D3D6-8C5C-BA526A1CAF46}"/>
                </a:ext>
              </a:extLst>
            </p:cNvPr>
            <p:cNvSpPr/>
            <p:nvPr/>
          </p:nvSpPr>
          <p:spPr>
            <a:xfrm>
              <a:off x="4270004" y="4031232"/>
              <a:ext cx="2154233" cy="187200"/>
            </a:xfrm>
            <a:prstGeom prst="rect">
              <a:avLst/>
            </a:prstGeom>
            <a:solidFill>
              <a:srgbClr val="1B5E2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BF6B294A-4754-6FD2-D8D4-14219D2CB8CA}"/>
                </a:ext>
              </a:extLst>
            </p:cNvPr>
            <p:cNvSpPr txBox="1"/>
            <p:nvPr/>
          </p:nvSpPr>
          <p:spPr>
            <a:xfrm>
              <a:off x="4270004" y="4031232"/>
              <a:ext cx="2154233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DFT: 불화물/Li 계면 Li⁺ 확산 에너지</a:t>
              </a:r>
            </a:p>
          </p:txBody>
        </p:sp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BE710C44-8B28-8FA1-2F86-0C10883F5259}"/>
                </a:ext>
              </a:extLst>
            </p:cNvPr>
            <p:cNvSpPr/>
            <p:nvPr/>
          </p:nvSpPr>
          <p:spPr>
            <a:xfrm>
              <a:off x="2954668" y="4297633"/>
              <a:ext cx="5219899" cy="345600"/>
            </a:xfrm>
            <a:prstGeom prst="rect">
              <a:avLst/>
            </a:prstGeom>
            <a:solidFill>
              <a:srgbClr val="FFFD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CD4141BB-5CA0-0006-D16A-D8D6AA52ABE2}"/>
                </a:ext>
              </a:extLst>
            </p:cNvPr>
            <p:cNvSpPr/>
            <p:nvPr/>
          </p:nvSpPr>
          <p:spPr>
            <a:xfrm>
              <a:off x="5574980" y="4376833"/>
              <a:ext cx="2589225" cy="187200"/>
            </a:xfrm>
            <a:prstGeom prst="rect">
              <a:avLst/>
            </a:prstGeom>
            <a:solidFill>
              <a:srgbClr val="E651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9BAAF75E-BF49-818B-593E-21D9730509CB}"/>
                </a:ext>
              </a:extLst>
            </p:cNvPr>
            <p:cNvSpPr txBox="1"/>
            <p:nvPr/>
          </p:nvSpPr>
          <p:spPr>
            <a:xfrm>
              <a:off x="5574980" y="4376833"/>
              <a:ext cx="2589225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Li||NCM Full Cell 장기 사이클링 (&gt;300 cycles)</a:t>
              </a:r>
            </a:p>
          </p:txBody>
        </p:sp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D3EF0248-7C0F-9241-57EF-365C7FBE1762}"/>
                </a:ext>
              </a:extLst>
            </p:cNvPr>
            <p:cNvSpPr/>
            <p:nvPr/>
          </p:nvSpPr>
          <p:spPr>
            <a:xfrm>
              <a:off x="2954668" y="4643233"/>
              <a:ext cx="5219899" cy="345600"/>
            </a:xfrm>
            <a:prstGeom prst="rect">
              <a:avLst/>
            </a:prstGeom>
            <a:solidFill>
              <a:srgbClr val="FFFD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5" name="Rectangle 204">
              <a:extLst>
                <a:ext uri="{FF2B5EF4-FFF2-40B4-BE49-F238E27FC236}">
                  <a16:creationId xmlns:a16="http://schemas.microsoft.com/office/drawing/2014/main" id="{B44ED841-E4E0-7E9B-DB37-B994FF483C18}"/>
                </a:ext>
              </a:extLst>
            </p:cNvPr>
            <p:cNvSpPr/>
            <p:nvPr/>
          </p:nvSpPr>
          <p:spPr>
            <a:xfrm>
              <a:off x="6444963" y="4722432"/>
              <a:ext cx="1719242" cy="187200"/>
            </a:xfrm>
            <a:prstGeom prst="rect">
              <a:avLst/>
            </a:prstGeom>
            <a:solidFill>
              <a:srgbClr val="F57C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6" name="TextBox 205">
              <a:extLst>
                <a:ext uri="{FF2B5EF4-FFF2-40B4-BE49-F238E27FC236}">
                  <a16:creationId xmlns:a16="http://schemas.microsoft.com/office/drawing/2014/main" id="{0F24B811-EAAF-AC1D-7CA2-4D914D2910C8}"/>
                </a:ext>
              </a:extLst>
            </p:cNvPr>
            <p:cNvSpPr txBox="1"/>
            <p:nvPr/>
          </p:nvSpPr>
          <p:spPr>
            <a:xfrm>
              <a:off x="6444963" y="4722432"/>
              <a:ext cx="1719242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Post-mortem XPS / TEM 분석</a:t>
              </a:r>
            </a:p>
          </p:txBody>
        </p:sp>
        <p:sp>
          <p:nvSpPr>
            <p:cNvPr id="212" name="Rectangle 211">
              <a:extLst>
                <a:ext uri="{FF2B5EF4-FFF2-40B4-BE49-F238E27FC236}">
                  <a16:creationId xmlns:a16="http://schemas.microsoft.com/office/drawing/2014/main" id="{9D3EE103-B7F5-0958-6459-229795E0FF8C}"/>
                </a:ext>
              </a:extLst>
            </p:cNvPr>
            <p:cNvSpPr/>
            <p:nvPr/>
          </p:nvSpPr>
          <p:spPr>
            <a:xfrm>
              <a:off x="2954668" y="4988833"/>
              <a:ext cx="5219899" cy="345600"/>
            </a:xfrm>
            <a:prstGeom prst="rect">
              <a:avLst/>
            </a:prstGeom>
            <a:solidFill>
              <a:srgbClr val="FFFD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3" name="Rectangle 212">
              <a:extLst>
                <a:ext uri="{FF2B5EF4-FFF2-40B4-BE49-F238E27FC236}">
                  <a16:creationId xmlns:a16="http://schemas.microsoft.com/office/drawing/2014/main" id="{18CD2B0E-38E1-964A-022C-AC5875361863}"/>
                </a:ext>
              </a:extLst>
            </p:cNvPr>
            <p:cNvSpPr/>
            <p:nvPr/>
          </p:nvSpPr>
          <p:spPr>
            <a:xfrm>
              <a:off x="6741138" y="5068033"/>
              <a:ext cx="1423066" cy="187200"/>
            </a:xfrm>
            <a:prstGeom prst="rect">
              <a:avLst/>
            </a:prstGeom>
            <a:solidFill>
              <a:srgbClr val="BF360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4" name="TextBox 213">
              <a:extLst>
                <a:ext uri="{FF2B5EF4-FFF2-40B4-BE49-F238E27FC236}">
                  <a16:creationId xmlns:a16="http://schemas.microsoft.com/office/drawing/2014/main" id="{F6B0CF69-AEDC-ECD2-DE99-E06A9B1065ED}"/>
                </a:ext>
              </a:extLst>
            </p:cNvPr>
            <p:cNvSpPr txBox="1"/>
            <p:nvPr/>
          </p:nvSpPr>
          <p:spPr>
            <a:xfrm>
              <a:off x="6741138" y="5060083"/>
              <a:ext cx="1494763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범용</a:t>
              </a:r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ALD-SEI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설계</a:t>
              </a:r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원칙</a:t>
              </a:r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정립</a:t>
              </a:r>
              <a:endPara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endParaRPr>
            </a:p>
          </p:txBody>
        </p:sp>
        <p:grpSp>
          <p:nvGrpSpPr>
            <p:cNvPr id="219" name="Group 218">
              <a:extLst>
                <a:ext uri="{FF2B5EF4-FFF2-40B4-BE49-F238E27FC236}">
                  <a16:creationId xmlns:a16="http://schemas.microsoft.com/office/drawing/2014/main" id="{339346E2-7AD3-8CF9-3CF0-729A941BF577}"/>
                </a:ext>
              </a:extLst>
            </p:cNvPr>
            <p:cNvGrpSpPr/>
            <p:nvPr/>
          </p:nvGrpSpPr>
          <p:grpSpPr>
            <a:xfrm>
              <a:off x="320684" y="2569632"/>
              <a:ext cx="7853881" cy="2764801"/>
              <a:chOff x="-1131005" y="1932432"/>
              <a:chExt cx="10152239" cy="2764801"/>
            </a:xfrm>
          </p:grpSpPr>
          <p:cxnSp>
            <p:nvCxnSpPr>
              <p:cNvPr id="151" name="Connector 99">
                <a:extLst>
                  <a:ext uri="{FF2B5EF4-FFF2-40B4-BE49-F238E27FC236}">
                    <a16:creationId xmlns:a16="http://schemas.microsoft.com/office/drawing/2014/main" id="{E2797AD0-54EA-9A46-3AD4-8C8A579226FD}"/>
                  </a:ext>
                </a:extLst>
              </p:cNvPr>
              <p:cNvCxnSpPr/>
              <p:nvPr/>
            </p:nvCxnSpPr>
            <p:spPr>
              <a:xfrm>
                <a:off x="-122766" y="1932432"/>
                <a:ext cx="9144000" cy="0"/>
              </a:xfrm>
              <a:prstGeom prst="line">
                <a:avLst/>
              </a:prstGeom>
              <a:ln w="5080">
                <a:solidFill>
                  <a:srgbClr val="C5CAE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9" name="Connector 107">
                <a:extLst>
                  <a:ext uri="{FF2B5EF4-FFF2-40B4-BE49-F238E27FC236}">
                    <a16:creationId xmlns:a16="http://schemas.microsoft.com/office/drawing/2014/main" id="{95C3023A-0A1A-401E-E2F4-985EB628C9E9}"/>
                  </a:ext>
                </a:extLst>
              </p:cNvPr>
              <p:cNvCxnSpPr/>
              <p:nvPr/>
            </p:nvCxnSpPr>
            <p:spPr>
              <a:xfrm>
                <a:off x="-122766" y="2278032"/>
                <a:ext cx="9144000" cy="0"/>
              </a:xfrm>
              <a:prstGeom prst="line">
                <a:avLst/>
              </a:prstGeom>
              <a:ln w="5080">
                <a:solidFill>
                  <a:srgbClr val="C5CAE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7" name="Connector 115">
                <a:extLst>
                  <a:ext uri="{FF2B5EF4-FFF2-40B4-BE49-F238E27FC236}">
                    <a16:creationId xmlns:a16="http://schemas.microsoft.com/office/drawing/2014/main" id="{B8654474-C37A-6732-0206-CBDBE8E682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1131005" y="2623633"/>
                <a:ext cx="10152239" cy="0"/>
              </a:xfrm>
              <a:prstGeom prst="line">
                <a:avLst/>
              </a:prstGeom>
              <a:ln w="12700">
                <a:solidFill>
                  <a:srgbClr val="7986CB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" name="Connector 123">
                <a:extLst>
                  <a:ext uri="{FF2B5EF4-FFF2-40B4-BE49-F238E27FC236}">
                    <a16:creationId xmlns:a16="http://schemas.microsoft.com/office/drawing/2014/main" id="{6207829D-65CA-4D20-5E4E-3C6BA78B2D8A}"/>
                  </a:ext>
                </a:extLst>
              </p:cNvPr>
              <p:cNvCxnSpPr/>
              <p:nvPr/>
            </p:nvCxnSpPr>
            <p:spPr>
              <a:xfrm>
                <a:off x="-122766" y="2969233"/>
                <a:ext cx="9144000" cy="0"/>
              </a:xfrm>
              <a:prstGeom prst="line">
                <a:avLst/>
              </a:prstGeom>
              <a:ln w="5080">
                <a:solidFill>
                  <a:srgbClr val="C5CAE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3" name="Connector 131">
                <a:extLst>
                  <a:ext uri="{FF2B5EF4-FFF2-40B4-BE49-F238E27FC236}">
                    <a16:creationId xmlns:a16="http://schemas.microsoft.com/office/drawing/2014/main" id="{C36B9063-D760-6E9B-E56A-DB3AC64D43B0}"/>
                  </a:ext>
                </a:extLst>
              </p:cNvPr>
              <p:cNvCxnSpPr/>
              <p:nvPr/>
            </p:nvCxnSpPr>
            <p:spPr>
              <a:xfrm>
                <a:off x="-122766" y="3314832"/>
                <a:ext cx="9144000" cy="0"/>
              </a:xfrm>
              <a:prstGeom prst="line">
                <a:avLst/>
              </a:prstGeom>
              <a:ln w="5080">
                <a:solidFill>
                  <a:srgbClr val="C5CAE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1" name="Connector 139">
                <a:extLst>
                  <a:ext uri="{FF2B5EF4-FFF2-40B4-BE49-F238E27FC236}">
                    <a16:creationId xmlns:a16="http://schemas.microsoft.com/office/drawing/2014/main" id="{0E1A01BF-BE0E-FE91-2A88-B7E3103AD1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1131005" y="3660433"/>
                <a:ext cx="10152239" cy="0"/>
              </a:xfrm>
              <a:prstGeom prst="line">
                <a:avLst/>
              </a:prstGeom>
              <a:ln w="12700">
                <a:solidFill>
                  <a:srgbClr val="7986CB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Connector 147">
                <a:extLst>
                  <a:ext uri="{FF2B5EF4-FFF2-40B4-BE49-F238E27FC236}">
                    <a16:creationId xmlns:a16="http://schemas.microsoft.com/office/drawing/2014/main" id="{38541502-E9B2-6114-1ECE-2F2C7C9AB549}"/>
                  </a:ext>
                </a:extLst>
              </p:cNvPr>
              <p:cNvCxnSpPr/>
              <p:nvPr/>
            </p:nvCxnSpPr>
            <p:spPr>
              <a:xfrm>
                <a:off x="-122766" y="4006033"/>
                <a:ext cx="9144000" cy="0"/>
              </a:xfrm>
              <a:prstGeom prst="line">
                <a:avLst/>
              </a:prstGeom>
              <a:ln w="5080">
                <a:solidFill>
                  <a:srgbClr val="C5CAE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7" name="Connector 155">
                <a:extLst>
                  <a:ext uri="{FF2B5EF4-FFF2-40B4-BE49-F238E27FC236}">
                    <a16:creationId xmlns:a16="http://schemas.microsoft.com/office/drawing/2014/main" id="{1289DC5B-9E46-9E3D-D707-B780DE9338F7}"/>
                  </a:ext>
                </a:extLst>
              </p:cNvPr>
              <p:cNvCxnSpPr/>
              <p:nvPr/>
            </p:nvCxnSpPr>
            <p:spPr>
              <a:xfrm>
                <a:off x="-122766" y="4351633"/>
                <a:ext cx="9144000" cy="0"/>
              </a:xfrm>
              <a:prstGeom prst="line">
                <a:avLst/>
              </a:prstGeom>
              <a:ln w="5080">
                <a:solidFill>
                  <a:srgbClr val="C5CAE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Connector 163">
                <a:extLst>
                  <a:ext uri="{FF2B5EF4-FFF2-40B4-BE49-F238E27FC236}">
                    <a16:creationId xmlns:a16="http://schemas.microsoft.com/office/drawing/2014/main" id="{61AA2879-B0DA-6F41-9D58-DD91145F8316}"/>
                  </a:ext>
                </a:extLst>
              </p:cNvPr>
              <p:cNvCxnSpPr/>
              <p:nvPr/>
            </p:nvCxnSpPr>
            <p:spPr>
              <a:xfrm>
                <a:off x="-133366" y="4697233"/>
                <a:ext cx="9144000" cy="0"/>
              </a:xfrm>
              <a:prstGeom prst="line">
                <a:avLst/>
              </a:prstGeom>
              <a:ln w="5080">
                <a:solidFill>
                  <a:srgbClr val="C5CAE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24" name="Rectangle 223">
              <a:extLst>
                <a:ext uri="{FF2B5EF4-FFF2-40B4-BE49-F238E27FC236}">
                  <a16:creationId xmlns:a16="http://schemas.microsoft.com/office/drawing/2014/main" id="{5A7FB96B-0DC2-589C-E311-5A05A63DB823}"/>
                </a:ext>
              </a:extLst>
            </p:cNvPr>
            <p:cNvSpPr/>
            <p:nvPr/>
          </p:nvSpPr>
          <p:spPr>
            <a:xfrm>
              <a:off x="320684" y="2229966"/>
              <a:ext cx="774960" cy="102240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Task 1</a:t>
              </a:r>
            </a:p>
          </p:txBody>
        </p:sp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1CF39448-0FAF-024A-EEDD-AC37C1FD6605}"/>
                </a:ext>
              </a:extLst>
            </p:cNvPr>
            <p:cNvSpPr/>
            <p:nvPr/>
          </p:nvSpPr>
          <p:spPr>
            <a:xfrm>
              <a:off x="320684" y="3264117"/>
              <a:ext cx="774960" cy="1022401"/>
            </a:xfrm>
            <a:prstGeom prst="rect">
              <a:avLst/>
            </a:prstGeom>
            <a:gradFill>
              <a:gsLst>
                <a:gs pos="0">
                  <a:srgbClr val="00B050"/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</a:gra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Task 2</a:t>
              </a:r>
            </a:p>
          </p:txBody>
        </p:sp>
        <p:sp>
          <p:nvSpPr>
            <p:cNvPr id="226" name="Rectangle 225">
              <a:extLst>
                <a:ext uri="{FF2B5EF4-FFF2-40B4-BE49-F238E27FC236}">
                  <a16:creationId xmlns:a16="http://schemas.microsoft.com/office/drawing/2014/main" id="{323F7E1E-9B73-328D-B4D5-EB7626D79884}"/>
                </a:ext>
              </a:extLst>
            </p:cNvPr>
            <p:cNvSpPr/>
            <p:nvPr/>
          </p:nvSpPr>
          <p:spPr>
            <a:xfrm>
              <a:off x="320684" y="4303515"/>
              <a:ext cx="774960" cy="1030918"/>
            </a:xfrm>
            <a:prstGeom prst="rect">
              <a:avLst/>
            </a:prstGeom>
            <a:gradFill>
              <a:gsLst>
                <a:gs pos="0">
                  <a:schemeClr val="accent6">
                    <a:lumMod val="75000"/>
                  </a:schemeClr>
                </a:gs>
                <a:gs pos="100000">
                  <a:schemeClr val="accent6">
                    <a:lumMod val="40000"/>
                    <a:lumOff val="60000"/>
                  </a:schemeClr>
                </a:gs>
              </a:gsLst>
            </a:gra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Task 3</a:t>
              </a:r>
            </a:p>
          </p:txBody>
        </p:sp>
        <p:sp>
          <p:nvSpPr>
            <p:cNvPr id="221" name="Rectangle 220">
              <a:extLst>
                <a:ext uri="{FF2B5EF4-FFF2-40B4-BE49-F238E27FC236}">
                  <a16:creationId xmlns:a16="http://schemas.microsoft.com/office/drawing/2014/main" id="{26327DF5-EAB5-9DEA-1FFD-78917F86B510}"/>
                </a:ext>
              </a:extLst>
            </p:cNvPr>
            <p:cNvSpPr/>
            <p:nvPr/>
          </p:nvSpPr>
          <p:spPr>
            <a:xfrm>
              <a:off x="320684" y="2011632"/>
              <a:ext cx="7864057" cy="3326884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359C4DCE-44A5-5FDF-FFA1-77FEF75D866C}"/>
                </a:ext>
              </a:extLst>
            </p:cNvPr>
            <p:cNvCxnSpPr>
              <a:cxnSpLocks/>
            </p:cNvCxnSpPr>
            <p:nvPr/>
          </p:nvCxnSpPr>
          <p:spPr>
            <a:xfrm>
              <a:off x="1100668" y="2011632"/>
              <a:ext cx="0" cy="3333234"/>
            </a:xfrm>
            <a:prstGeom prst="line">
              <a:avLst/>
            </a:prstGeom>
            <a:ln w="6350">
              <a:solidFill>
                <a:srgbClr val="CDD3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or 107">
              <a:extLst>
                <a:ext uri="{FF2B5EF4-FFF2-40B4-BE49-F238E27FC236}">
                  <a16:creationId xmlns:a16="http://schemas.microsoft.com/office/drawing/2014/main" id="{2738BB68-372E-242F-F7F0-D1CD895D58B2}"/>
                </a:ext>
              </a:extLst>
            </p:cNvPr>
            <p:cNvCxnSpPr>
              <a:cxnSpLocks/>
            </p:cNvCxnSpPr>
            <p:nvPr/>
          </p:nvCxnSpPr>
          <p:spPr>
            <a:xfrm>
              <a:off x="320684" y="2224032"/>
              <a:ext cx="7864057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9EC8388-7ED0-559A-00F1-94BECB505212}"/>
                </a:ext>
              </a:extLst>
            </p:cNvPr>
            <p:cNvSpPr/>
            <p:nvPr/>
          </p:nvSpPr>
          <p:spPr>
            <a:xfrm>
              <a:off x="332984" y="2017882"/>
              <a:ext cx="779983" cy="20615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Task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B029C5F-A4D6-43CE-BF7A-86B04E2FF5E5}"/>
                </a:ext>
              </a:extLst>
            </p:cNvPr>
            <p:cNvSpPr/>
            <p:nvPr/>
          </p:nvSpPr>
          <p:spPr>
            <a:xfrm>
              <a:off x="1100668" y="2017882"/>
              <a:ext cx="1853997" cy="20615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dirty="0">
                  <a:solidFill>
                    <a:schemeClr val="tx1"/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세부 연구 내용</a:t>
              </a:r>
              <a:endParaRPr lang="en-US" sz="1100" dirty="0">
                <a:solidFill>
                  <a:schemeClr val="tx1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endParaRPr>
            </a:p>
          </p:txBody>
        </p:sp>
        <p:cxnSp>
          <p:nvCxnSpPr>
            <p:cNvPr id="7" name="Connector 164">
              <a:extLst>
                <a:ext uri="{FF2B5EF4-FFF2-40B4-BE49-F238E27FC236}">
                  <a16:creationId xmlns:a16="http://schemas.microsoft.com/office/drawing/2014/main" id="{C3868DA2-7422-2351-30AE-B28ED7F34AD5}"/>
                </a:ext>
              </a:extLst>
            </p:cNvPr>
            <p:cNvCxnSpPr>
              <a:cxnSpLocks/>
            </p:cNvCxnSpPr>
            <p:nvPr/>
          </p:nvCxnSpPr>
          <p:spPr>
            <a:xfrm>
              <a:off x="1105761" y="2017882"/>
              <a:ext cx="0" cy="3322801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64">
              <a:extLst>
                <a:ext uri="{FF2B5EF4-FFF2-40B4-BE49-F238E27FC236}">
                  <a16:creationId xmlns:a16="http://schemas.microsoft.com/office/drawing/2014/main" id="{28B9EAD6-21D6-89E9-F633-9AE885B4A7EB}"/>
                </a:ext>
              </a:extLst>
            </p:cNvPr>
            <p:cNvCxnSpPr>
              <a:cxnSpLocks/>
            </p:cNvCxnSpPr>
            <p:nvPr/>
          </p:nvCxnSpPr>
          <p:spPr>
            <a:xfrm>
              <a:off x="2954668" y="2011632"/>
              <a:ext cx="0" cy="3322801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64">
              <a:extLst>
                <a:ext uri="{FF2B5EF4-FFF2-40B4-BE49-F238E27FC236}">
                  <a16:creationId xmlns:a16="http://schemas.microsoft.com/office/drawing/2014/main" id="{C70AFD3F-8C90-76E7-5243-19789B9A819A}"/>
                </a:ext>
              </a:extLst>
            </p:cNvPr>
            <p:cNvCxnSpPr>
              <a:cxnSpLocks/>
            </p:cNvCxnSpPr>
            <p:nvPr/>
          </p:nvCxnSpPr>
          <p:spPr>
            <a:xfrm>
              <a:off x="1101661" y="2011632"/>
              <a:ext cx="0" cy="3322801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5" name="Connector 115">
            <a:extLst>
              <a:ext uri="{FF2B5EF4-FFF2-40B4-BE49-F238E27FC236}">
                <a16:creationId xmlns:a16="http://schemas.microsoft.com/office/drawing/2014/main" id="{73BF8BD3-E4E0-6F99-3A69-62DB81DB6ECE}"/>
              </a:ext>
            </a:extLst>
          </p:cNvPr>
          <p:cNvCxnSpPr>
            <a:cxnSpLocks/>
          </p:cNvCxnSpPr>
          <p:nvPr/>
        </p:nvCxnSpPr>
        <p:spPr>
          <a:xfrm>
            <a:off x="320684" y="2224032"/>
            <a:ext cx="7866180" cy="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17452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1344</TotalTime>
  <Words>2119</Words>
  <Application>Microsoft Office PowerPoint</Application>
  <PresentationFormat>Custom</PresentationFormat>
  <Paragraphs>409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22" baseType="lpstr">
      <vt:lpstr>나눔스퀘어 Bold</vt:lpstr>
      <vt:lpstr>나눔스퀘어 네오 Bold</vt:lpstr>
      <vt:lpstr>맑은 고딕</vt:lpstr>
      <vt:lpstr>에스코어 드림 4 Regular</vt:lpstr>
      <vt:lpstr>에스코어 드림 6 Bold</vt:lpstr>
      <vt:lpstr>에스코어 드림 7 ExtraBold</vt:lpstr>
      <vt:lpstr>에스코어 드림 9 Black</vt:lpstr>
      <vt:lpstr>프리젠테이션 7 Bold</vt:lpstr>
      <vt:lpstr>프리젠테이션 9 Black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Seung-Mo Lee</cp:lastModifiedBy>
  <cp:revision>8</cp:revision>
  <dcterms:created xsi:type="dcterms:W3CDTF">2013-01-27T09:14:16Z</dcterms:created>
  <dcterms:modified xsi:type="dcterms:W3CDTF">2026-04-29T08:38:53Z</dcterms:modified>
  <cp:category/>
</cp:coreProperties>
</file>