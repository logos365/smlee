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2"/>
    <p:sldId id="261" r:id="rId3"/>
    <p:sldId id="263" r:id="rId4"/>
    <p:sldId id="264" r:id="rId5"/>
    <p:sldId id="256" r:id="rId6"/>
    <p:sldId id="259" r:id="rId7"/>
    <p:sldId id="258" r:id="rId8"/>
    <p:sldId id="257" r:id="rId9"/>
    <p:sldId id="260" r:id="rId10"/>
  </p:sldIdLst>
  <p:sldSz cx="9144000" cy="6400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2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D3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1308" y="180"/>
      </p:cViewPr>
      <p:guideLst>
        <p:guide orient="horz" pos="215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734268-319E-FD40-E428-9F8AEB81061A}"/>
              </a:ext>
            </a:extLst>
          </p:cNvPr>
          <p:cNvSpPr/>
          <p:nvPr/>
        </p:nvSpPr>
        <p:spPr>
          <a:xfrm>
            <a:off x="0" y="0"/>
            <a:ext cx="9144000" cy="3600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9B3F93-F434-F31E-E02E-6670D19388B5}"/>
              </a:ext>
            </a:extLst>
          </p:cNvPr>
          <p:cNvSpPr txBox="1"/>
          <p:nvPr/>
        </p:nvSpPr>
        <p:spPr>
          <a:xfrm>
            <a:off x="0" y="21600"/>
            <a:ext cx="9144000" cy="31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1]  연구 개념도 — ALD 불화물 인공 SEI 전략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B14EA5-28C2-F64B-8D3E-7E2663FFF920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D27A8A-C48F-0092-EF30-76E45D1C433D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672A46-346F-168E-2859-8D80D6FCB866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3DD875-7527-0306-D9BC-90C9C2547F89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6B53DF-7116-53F0-0D7E-BF565EABCF9F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C723DE-8D7D-B300-D923-EA26785D3F14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2EE22C-E811-A7B6-B2CD-7B538F078AF3}"/>
              </a:ext>
            </a:extLst>
          </p:cNvPr>
          <p:cNvSpPr txBox="1"/>
          <p:nvPr/>
        </p:nvSpPr>
        <p:spPr>
          <a:xfrm>
            <a:off x="90000" y="399600"/>
            <a:ext cx="2772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(좌)  문제 : 불균일 Li 핵생성 및 덴드라이트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F7481-032E-24FE-1807-ECEE0C5FE9AE}"/>
              </a:ext>
            </a:extLst>
          </p:cNvPr>
          <p:cNvSpPr txBox="1"/>
          <p:nvPr/>
        </p:nvSpPr>
        <p:spPr>
          <a:xfrm>
            <a:off x="3114000" y="399600"/>
            <a:ext cx="2772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(중)  ALD ZnF₂ 증착 공정 사이클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B36F57-4621-74E5-4334-B56B02B05473}"/>
              </a:ext>
            </a:extLst>
          </p:cNvPr>
          <p:cNvSpPr txBox="1"/>
          <p:nvPr/>
        </p:nvSpPr>
        <p:spPr>
          <a:xfrm>
            <a:off x="6138000" y="399600"/>
            <a:ext cx="2916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(우)  해결 : 균일 Li 핵생성 및 평탄한 증착</a:t>
            </a: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219BAFAF-5925-4B15-F597-157D591132AF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98199B8-2261-A814-AD96-5251B1874552}"/>
              </a:ext>
            </a:extLst>
          </p:cNvPr>
          <p:cNvSpPr txBox="1"/>
          <p:nvPr/>
        </p:nvSpPr>
        <p:spPr>
          <a:xfrm>
            <a:off x="2862000" y="2118240"/>
            <a:ext cx="251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03F9F"/>
                </a:solidFill>
                <a:latin typeface="맑은 고딕"/>
              </a:rPr>
              <a:t>ALD
코팅</a:t>
            </a:r>
          </a:p>
        </p:txBody>
      </p: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1865C4F8-4460-DB3E-3449-A080C4A71AEA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9D5BFE1-2427-AA15-8EA2-5914EACD4F03}"/>
              </a:ext>
            </a:extLst>
          </p:cNvPr>
          <p:cNvSpPr txBox="1"/>
          <p:nvPr/>
        </p:nvSpPr>
        <p:spPr>
          <a:xfrm>
            <a:off x="5886000" y="2118240"/>
            <a:ext cx="251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맑은 고딕"/>
              </a:rPr>
              <a:t>→ 해결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4DEFC-D4DB-2724-75A9-E029086B102E}"/>
              </a:ext>
            </a:extLst>
          </p:cNvPr>
          <p:cNvSpPr/>
          <p:nvPr/>
        </p:nvSpPr>
        <p:spPr>
          <a:xfrm>
            <a:off x="108000" y="666000"/>
            <a:ext cx="2736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1A922A-30E3-7358-6208-1D06B2D7B7D0}"/>
              </a:ext>
            </a:extLst>
          </p:cNvPr>
          <p:cNvSpPr txBox="1"/>
          <p:nvPr/>
        </p:nvSpPr>
        <p:spPr>
          <a:xfrm>
            <a:off x="144000" y="694800"/>
            <a:ext cx="273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1579B"/>
                </a:solidFill>
                <a:latin typeface="맑은 고딕"/>
              </a:rPr>
              <a:t>전해질 (Electrolyte)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71FE22C-E4C6-3FA4-D16F-426F283C936B}"/>
              </a:ext>
            </a:extLst>
          </p:cNvPr>
          <p:cNvSpPr/>
          <p:nvPr/>
        </p:nvSpPr>
        <p:spPr>
          <a:xfrm>
            <a:off x="108000" y="2790000"/>
            <a:ext cx="2736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63EF58-93F3-048D-FD7E-24C9FD0C0A32}"/>
              </a:ext>
            </a:extLst>
          </p:cNvPr>
          <p:cNvSpPr txBox="1"/>
          <p:nvPr/>
        </p:nvSpPr>
        <p:spPr>
          <a:xfrm>
            <a:off x="108000" y="2861999"/>
            <a:ext cx="273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Cu 집전체</a:t>
            </a: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B6660D6-104F-107D-5AAB-6A2385AB4375}"/>
              </a:ext>
            </a:extLst>
          </p:cNvPr>
          <p:cNvSpPr/>
          <p:nvPr/>
        </p:nvSpPr>
        <p:spPr>
          <a:xfrm>
            <a:off x="156599" y="1494000"/>
            <a:ext cx="118800" cy="129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946A4645-FF47-F1C8-39AD-9AA93D0C7976}"/>
              </a:ext>
            </a:extLst>
          </p:cNvPr>
          <p:cNvSpPr/>
          <p:nvPr/>
        </p:nvSpPr>
        <p:spPr>
          <a:xfrm>
            <a:off x="324000" y="1962000"/>
            <a:ext cx="108000" cy="827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BCAE2BFC-1EEA-8DAF-13C0-C106DE2B4AA9}"/>
              </a:ext>
            </a:extLst>
          </p:cNvPr>
          <p:cNvSpPr/>
          <p:nvPr/>
        </p:nvSpPr>
        <p:spPr>
          <a:xfrm>
            <a:off x="464400" y="1205999"/>
            <a:ext cx="151200" cy="1584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D23B0636-35C2-F36B-BA27-FF07B9F8D51D}"/>
              </a:ext>
            </a:extLst>
          </p:cNvPr>
          <p:cNvSpPr/>
          <p:nvPr/>
        </p:nvSpPr>
        <p:spPr>
          <a:xfrm>
            <a:off x="673200" y="2142000"/>
            <a:ext cx="93600" cy="64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E089FE07-438B-597E-EFE5-CA682A82822D}"/>
              </a:ext>
            </a:extLst>
          </p:cNvPr>
          <p:cNvSpPr/>
          <p:nvPr/>
        </p:nvSpPr>
        <p:spPr>
          <a:xfrm>
            <a:off x="826200" y="1710000"/>
            <a:ext cx="111600" cy="108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FEF5A2FB-6174-1A71-4921-AFC559F3777E}"/>
              </a:ext>
            </a:extLst>
          </p:cNvPr>
          <p:cNvSpPr/>
          <p:nvPr/>
        </p:nvSpPr>
        <p:spPr>
          <a:xfrm>
            <a:off x="981000" y="1062000"/>
            <a:ext cx="162000" cy="172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8801C842-1193-DBD8-DB88-E3AB8170C168}"/>
              </a:ext>
            </a:extLst>
          </p:cNvPr>
          <p:cNvSpPr/>
          <p:nvPr/>
        </p:nvSpPr>
        <p:spPr>
          <a:xfrm>
            <a:off x="1191600" y="2034000"/>
            <a:ext cx="100800" cy="75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56A45589-A32E-778A-E4D8-3560D30FBB55}"/>
              </a:ext>
            </a:extLst>
          </p:cNvPr>
          <p:cNvSpPr/>
          <p:nvPr/>
        </p:nvSpPr>
        <p:spPr>
          <a:xfrm>
            <a:off x="1357200" y="1458000"/>
            <a:ext cx="129600" cy="133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E9DCE7F0-852C-15CC-9AAD-6E84CD93FA31}"/>
              </a:ext>
            </a:extLst>
          </p:cNvPr>
          <p:cNvSpPr/>
          <p:nvPr/>
        </p:nvSpPr>
        <p:spPr>
          <a:xfrm>
            <a:off x="1558800" y="2214000"/>
            <a:ext cx="86400" cy="57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9373819-23C4-BC33-8F5E-B0EFC11855DD}"/>
              </a:ext>
            </a:extLst>
          </p:cNvPr>
          <p:cNvSpPr/>
          <p:nvPr/>
        </p:nvSpPr>
        <p:spPr>
          <a:xfrm>
            <a:off x="1710000" y="1314000"/>
            <a:ext cx="144000" cy="1475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8A24B95A-357E-4CD0-43CC-F23DBB65D2F7}"/>
              </a:ext>
            </a:extLst>
          </p:cNvPr>
          <p:cNvSpPr/>
          <p:nvPr/>
        </p:nvSpPr>
        <p:spPr>
          <a:xfrm>
            <a:off x="1904400" y="1818000"/>
            <a:ext cx="115200" cy="97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6D8BF9D4-3913-F431-8FE2-419A16B476D8}"/>
              </a:ext>
            </a:extLst>
          </p:cNvPr>
          <p:cNvSpPr/>
          <p:nvPr/>
        </p:nvSpPr>
        <p:spPr>
          <a:xfrm>
            <a:off x="2080800" y="1602000"/>
            <a:ext cx="122400" cy="118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3C0A71F-0844-5397-BC1E-6BDA0158D5E0}"/>
              </a:ext>
            </a:extLst>
          </p:cNvPr>
          <p:cNvSpPr/>
          <p:nvPr/>
        </p:nvSpPr>
        <p:spPr>
          <a:xfrm>
            <a:off x="2244600" y="1170000"/>
            <a:ext cx="154800" cy="16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327E8A58-BFEB-91F7-511B-401E73295877}"/>
              </a:ext>
            </a:extLst>
          </p:cNvPr>
          <p:cNvSpPr/>
          <p:nvPr/>
        </p:nvSpPr>
        <p:spPr>
          <a:xfrm>
            <a:off x="2453400" y="2070000"/>
            <a:ext cx="97200" cy="7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CEF2B33-D11F-0907-D6A7-DEB138AA584F}"/>
              </a:ext>
            </a:extLst>
          </p:cNvPr>
          <p:cNvSpPr/>
          <p:nvPr/>
        </p:nvSpPr>
        <p:spPr>
          <a:xfrm>
            <a:off x="125999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4D67C63-B97B-E702-F68C-AD2E6CFC0728}"/>
              </a:ext>
            </a:extLst>
          </p:cNvPr>
          <p:cNvSpPr/>
          <p:nvPr/>
        </p:nvSpPr>
        <p:spPr>
          <a:xfrm>
            <a:off x="360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2FFF64F-80DA-2CCF-7A08-13F202A1E9A3}"/>
              </a:ext>
            </a:extLst>
          </p:cNvPr>
          <p:cNvSpPr/>
          <p:nvPr/>
        </p:nvSpPr>
        <p:spPr>
          <a:xfrm>
            <a:off x="630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D547AE8-7D55-69A5-B748-97824FC45425}"/>
              </a:ext>
            </a:extLst>
          </p:cNvPr>
          <p:cNvSpPr/>
          <p:nvPr/>
        </p:nvSpPr>
        <p:spPr>
          <a:xfrm>
            <a:off x="900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4FD16A6-2070-9C0A-FE0D-180A3057D4B0}"/>
              </a:ext>
            </a:extLst>
          </p:cNvPr>
          <p:cNvSpPr/>
          <p:nvPr/>
        </p:nvSpPr>
        <p:spPr>
          <a:xfrm>
            <a:off x="118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6D8CED9B-4AC0-8B1F-ABEF-D6B6EAAE972A}"/>
              </a:ext>
            </a:extLst>
          </p:cNvPr>
          <p:cNvSpPr/>
          <p:nvPr/>
        </p:nvSpPr>
        <p:spPr>
          <a:xfrm>
            <a:off x="1458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C58D6C84-1F27-8D31-1BA4-207F8379A902}"/>
              </a:ext>
            </a:extLst>
          </p:cNvPr>
          <p:cNvSpPr/>
          <p:nvPr/>
        </p:nvSpPr>
        <p:spPr>
          <a:xfrm>
            <a:off x="1728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3A383B8-5BAE-7D6B-B719-90206D706020}"/>
              </a:ext>
            </a:extLst>
          </p:cNvPr>
          <p:cNvSpPr/>
          <p:nvPr/>
        </p:nvSpPr>
        <p:spPr>
          <a:xfrm>
            <a:off x="1998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81AD1E4-2090-1ACA-5CA7-01BF643FC215}"/>
              </a:ext>
            </a:extLst>
          </p:cNvPr>
          <p:cNvSpPr/>
          <p:nvPr/>
        </p:nvSpPr>
        <p:spPr>
          <a:xfrm>
            <a:off x="226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C5EE0959-0070-31EA-FB9F-2B134DEB5C76}"/>
              </a:ext>
            </a:extLst>
          </p:cNvPr>
          <p:cNvSpPr/>
          <p:nvPr/>
        </p:nvSpPr>
        <p:spPr>
          <a:xfrm>
            <a:off x="2520000" y="2725200"/>
            <a:ext cx="151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C61EC7-99FA-C1F9-DAE2-3ADD96D17E83}"/>
              </a:ext>
            </a:extLst>
          </p:cNvPr>
          <p:cNvSpPr txBox="1"/>
          <p:nvPr/>
        </p:nvSpPr>
        <p:spPr>
          <a:xfrm>
            <a:off x="1278000" y="864000"/>
            <a:ext cx="136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  <a:latin typeface="맑은 고딕"/>
              </a:rPr>
              <a:t>Li 덴드라이트 ⚠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FC5712-BA6E-37BF-1C95-BE930A79A43D}"/>
              </a:ext>
            </a:extLst>
          </p:cNvPr>
          <p:cNvSpPr txBox="1"/>
          <p:nvPr/>
        </p:nvSpPr>
        <p:spPr>
          <a:xfrm>
            <a:off x="1458000" y="2527200"/>
            <a:ext cx="1152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BF360C"/>
                </a:solidFill>
                <a:latin typeface="맑은 고딕"/>
              </a:rPr>
              <a:t>불균일·파단 SEI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511E51-0A78-581F-14E8-51629645CC74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0345C3-E927-C39B-3188-0419CB80C8AA}"/>
              </a:ext>
            </a:extLst>
          </p:cNvPr>
          <p:cNvSpPr txBox="1"/>
          <p:nvPr/>
        </p:nvSpPr>
        <p:spPr>
          <a:xfrm>
            <a:off x="144000" y="3186000"/>
            <a:ext cx="2646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Cu 집전체 위 ALD 코팅 없이 Li 전착 시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핵생성 과전압 불균일 → 덴드라이트 성장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두껍고 불균일한 SEI 형성 반복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쿨롱 효율 저하 및 내부 단락(short) 위험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FD433BC-6841-385B-1C1A-45F93112FA20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E4FC6E31-2EED-BBE3-B1C8-1BFA11FD547C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9BE420B1-96FC-F17C-61E0-9FAD71A59CCE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155B35AE-7356-393E-DF5B-538C84B001A3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539994-4041-C7BD-9BA5-DE71D09C5F80}"/>
              </a:ext>
            </a:extLst>
          </p:cNvPr>
          <p:cNvSpPr/>
          <p:nvPr/>
        </p:nvSpPr>
        <p:spPr>
          <a:xfrm>
            <a:off x="3132000" y="691200"/>
            <a:ext cx="2736000" cy="2015999"/>
          </a:xfrm>
          <a:prstGeom prst="rect">
            <a:avLst/>
          </a:prstGeom>
          <a:solidFill>
            <a:srgbClr val="F3E5F5"/>
          </a:solidFill>
          <a:ln w="63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8F65ED-27B0-7769-A0B0-AF12AEA33551}"/>
              </a:ext>
            </a:extLst>
          </p:cNvPr>
          <p:cNvSpPr txBox="1"/>
          <p:nvPr/>
        </p:nvSpPr>
        <p:spPr>
          <a:xfrm>
            <a:off x="3132000" y="716400"/>
            <a:ext cx="27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6A1B9A"/>
                </a:solidFill>
                <a:latin typeface="맑은 고딕"/>
              </a:rPr>
              <a:t>ALD 증착 사이클 (1 cycle)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DA4C2CE4-EB15-139C-C3E3-F3EF19466A00}"/>
              </a:ext>
            </a:extLst>
          </p:cNvPr>
          <p:cNvSpPr/>
          <p:nvPr/>
        </p:nvSpPr>
        <p:spPr>
          <a:xfrm>
            <a:off x="3360000" y="1243200"/>
            <a:ext cx="1026000" cy="378000"/>
          </a:xfrm>
          <a:prstGeom prst="roundRect">
            <a:avLst/>
          </a:prstGeom>
          <a:solidFill>
            <a:srgbClr val="1976D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461E34-7402-FD05-717B-D7279ABBD6A7}"/>
              </a:ext>
            </a:extLst>
          </p:cNvPr>
          <p:cNvSpPr txBox="1"/>
          <p:nvPr/>
        </p:nvSpPr>
        <p:spPr>
          <a:xfrm>
            <a:off x="3360000" y="1279200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① 전구체 노출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3C6D23-C272-6C2C-5C99-781D0ADCF2A2}"/>
              </a:ext>
            </a:extLst>
          </p:cNvPr>
          <p:cNvSpPr txBox="1"/>
          <p:nvPr/>
        </p:nvSpPr>
        <p:spPr>
          <a:xfrm>
            <a:off x="3360000" y="1452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(DEZ 펄스)</a:t>
            </a: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90F34F89-8969-B1E7-4ADC-D5AD3203AAEB}"/>
              </a:ext>
            </a:extLst>
          </p:cNvPr>
          <p:cNvSpPr/>
          <p:nvPr/>
        </p:nvSpPr>
        <p:spPr>
          <a:xfrm>
            <a:off x="4614000" y="1243200"/>
            <a:ext cx="1026000" cy="378000"/>
          </a:xfrm>
          <a:prstGeom prst="roundRect">
            <a:avLst/>
          </a:prstGeom>
          <a:solidFill>
            <a:srgbClr val="F9A825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852036B-0E30-D269-AB50-F65F9A0EA69F}"/>
              </a:ext>
            </a:extLst>
          </p:cNvPr>
          <p:cNvSpPr txBox="1"/>
          <p:nvPr/>
        </p:nvSpPr>
        <p:spPr>
          <a:xfrm>
            <a:off x="4614000" y="1279200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② 퍼지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0FA1D1-BB9A-A888-5399-C344B97BF8BA}"/>
              </a:ext>
            </a:extLst>
          </p:cNvPr>
          <p:cNvSpPr txBox="1"/>
          <p:nvPr/>
        </p:nvSpPr>
        <p:spPr>
          <a:xfrm>
            <a:off x="4614000" y="1452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(N₂ 가스)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E5367DCC-C256-CDB9-0B27-46BF68D731F0}"/>
              </a:ext>
            </a:extLst>
          </p:cNvPr>
          <p:cNvSpPr/>
          <p:nvPr/>
        </p:nvSpPr>
        <p:spPr>
          <a:xfrm>
            <a:off x="4614000" y="1975200"/>
            <a:ext cx="1026000" cy="378000"/>
          </a:xfrm>
          <a:prstGeom prst="roundRect">
            <a:avLst/>
          </a:prstGeom>
          <a:solidFill>
            <a:srgbClr val="43A04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DFB140-6A09-9F49-6AA6-3A34FD7E5644}"/>
              </a:ext>
            </a:extLst>
          </p:cNvPr>
          <p:cNvSpPr txBox="1"/>
          <p:nvPr/>
        </p:nvSpPr>
        <p:spPr>
          <a:xfrm>
            <a:off x="4614000" y="2011199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③ 반응물 노출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E323C0-EAFE-9DC6-60EE-A10104204389}"/>
              </a:ext>
            </a:extLst>
          </p:cNvPr>
          <p:cNvSpPr txBox="1"/>
          <p:nvPr/>
        </p:nvSpPr>
        <p:spPr>
          <a:xfrm>
            <a:off x="4614000" y="2184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(HF·py 펄스)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0F9D90CC-F4BB-A0E3-E6DF-563D2AE24495}"/>
              </a:ext>
            </a:extLst>
          </p:cNvPr>
          <p:cNvSpPr/>
          <p:nvPr/>
        </p:nvSpPr>
        <p:spPr>
          <a:xfrm>
            <a:off x="3360000" y="1975200"/>
            <a:ext cx="1026000" cy="378000"/>
          </a:xfrm>
          <a:prstGeom prst="roundRect">
            <a:avLst/>
          </a:prstGeom>
          <a:solidFill>
            <a:srgbClr val="EF53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C5F0B1-17A6-6647-D8D7-9974FAC2DF14}"/>
              </a:ext>
            </a:extLst>
          </p:cNvPr>
          <p:cNvSpPr txBox="1"/>
          <p:nvPr/>
        </p:nvSpPr>
        <p:spPr>
          <a:xfrm>
            <a:off x="3360000" y="2011199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④ 퍼지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3A13F4E-4F32-CA4A-7BEC-A57FF4119AE7}"/>
              </a:ext>
            </a:extLst>
          </p:cNvPr>
          <p:cNvSpPr txBox="1"/>
          <p:nvPr/>
        </p:nvSpPr>
        <p:spPr>
          <a:xfrm>
            <a:off x="3360000" y="2184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(N₂ 가스)</a:t>
            </a:r>
          </a:p>
        </p:txBody>
      </p:sp>
      <p:cxnSp>
        <p:nvCxnSpPr>
          <p:cNvPr id="67" name="Connector 66">
            <a:extLst>
              <a:ext uri="{FF2B5EF4-FFF2-40B4-BE49-F238E27FC236}">
                <a16:creationId xmlns:a16="http://schemas.microsoft.com/office/drawing/2014/main" id="{F404C6FD-14DD-AEF4-AFD6-38CDC55D476D}"/>
              </a:ext>
            </a:extLst>
          </p:cNvPr>
          <p:cNvCxnSpPr/>
          <p:nvPr/>
        </p:nvCxnSpPr>
        <p:spPr>
          <a:xfrm>
            <a:off x="4386000" y="1432200"/>
            <a:ext cx="228000" cy="0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>
            <a:extLst>
              <a:ext uri="{FF2B5EF4-FFF2-40B4-BE49-F238E27FC236}">
                <a16:creationId xmlns:a16="http://schemas.microsoft.com/office/drawing/2014/main" id="{52174CCA-50A1-4E92-E550-8C009B555ED0}"/>
              </a:ext>
            </a:extLst>
          </p:cNvPr>
          <p:cNvCxnSpPr/>
          <p:nvPr/>
        </p:nvCxnSpPr>
        <p:spPr>
          <a:xfrm>
            <a:off x="5127000" y="1621199"/>
            <a:ext cx="0" cy="354001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>
            <a:extLst>
              <a:ext uri="{FF2B5EF4-FFF2-40B4-BE49-F238E27FC236}">
                <a16:creationId xmlns:a16="http://schemas.microsoft.com/office/drawing/2014/main" id="{6992CAF6-C985-CD2B-A91E-9E8F876F0D99}"/>
              </a:ext>
            </a:extLst>
          </p:cNvPr>
          <p:cNvCxnSpPr/>
          <p:nvPr/>
        </p:nvCxnSpPr>
        <p:spPr>
          <a:xfrm flipH="1">
            <a:off x="4386000" y="2164200"/>
            <a:ext cx="228000" cy="0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>
            <a:extLst>
              <a:ext uri="{FF2B5EF4-FFF2-40B4-BE49-F238E27FC236}">
                <a16:creationId xmlns:a16="http://schemas.microsoft.com/office/drawing/2014/main" id="{913E3119-EA82-0B36-09AA-9C588C5AB5CE}"/>
              </a:ext>
            </a:extLst>
          </p:cNvPr>
          <p:cNvCxnSpPr/>
          <p:nvPr/>
        </p:nvCxnSpPr>
        <p:spPr>
          <a:xfrm flipV="1">
            <a:off x="3873000" y="1621199"/>
            <a:ext cx="0" cy="354001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5EF9F0A9-FD51-55CB-8C2B-6DA42C4ECC90}"/>
              </a:ext>
            </a:extLst>
          </p:cNvPr>
          <p:cNvSpPr/>
          <p:nvPr/>
        </p:nvSpPr>
        <p:spPr>
          <a:xfrm>
            <a:off x="4104000" y="1690199"/>
            <a:ext cx="792000" cy="21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7C24B4B-B683-58CC-1CF0-B75B416CF61F}"/>
              </a:ext>
            </a:extLst>
          </p:cNvPr>
          <p:cNvSpPr txBox="1"/>
          <p:nvPr/>
        </p:nvSpPr>
        <p:spPr>
          <a:xfrm>
            <a:off x="4104000" y="1690199"/>
            <a:ext cx="7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6A1B9A"/>
                </a:solidFill>
                <a:latin typeface="맑은 고딕"/>
              </a:rPr>
              <a:t>ALD 1 사이클 반복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AF671E7-6E43-24F5-83CF-2E18848A9E58}"/>
              </a:ext>
            </a:extLst>
          </p:cNvPr>
          <p:cNvSpPr/>
          <p:nvPr/>
        </p:nvSpPr>
        <p:spPr>
          <a:xfrm>
            <a:off x="3132000" y="2761200"/>
            <a:ext cx="2736000" cy="666000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F20A20D-8275-A761-B2D5-488E58D0BDEE}"/>
              </a:ext>
            </a:extLst>
          </p:cNvPr>
          <p:cNvSpPr txBox="1"/>
          <p:nvPr/>
        </p:nvSpPr>
        <p:spPr>
          <a:xfrm>
            <a:off x="3132000" y="2782800"/>
            <a:ext cx="27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303F9F"/>
                </a:solidFill>
                <a:latin typeface="맑은 고딕"/>
              </a:rPr>
              <a:t>박막 형성 단면 모식도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45DB71E-1A27-A97B-18A1-A4EE458BEB79}"/>
              </a:ext>
            </a:extLst>
          </p:cNvPr>
          <p:cNvSpPr/>
          <p:nvPr/>
        </p:nvSpPr>
        <p:spPr>
          <a:xfrm>
            <a:off x="3222000" y="3211200"/>
            <a:ext cx="2556000" cy="1512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0F27563-DA0D-8F98-663B-018525DD1555}"/>
              </a:ext>
            </a:extLst>
          </p:cNvPr>
          <p:cNvSpPr txBox="1"/>
          <p:nvPr/>
        </p:nvSpPr>
        <p:spPr>
          <a:xfrm>
            <a:off x="3222000" y="3232800"/>
            <a:ext cx="2556000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</a:rPr>
              <a:t>Cu 기판 / Li 금속 음극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C650431-EF44-39D3-148A-0F00FF3CBB61}"/>
              </a:ext>
            </a:extLst>
          </p:cNvPr>
          <p:cNvSpPr/>
          <p:nvPr/>
        </p:nvSpPr>
        <p:spPr>
          <a:xfrm>
            <a:off x="3222000" y="3110400"/>
            <a:ext cx="2556000" cy="10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130373-D6DE-F8F3-4D36-340429B04C99}"/>
              </a:ext>
            </a:extLst>
          </p:cNvPr>
          <p:cNvSpPr txBox="1"/>
          <p:nvPr/>
        </p:nvSpPr>
        <p:spPr>
          <a:xfrm>
            <a:off x="3222000" y="3117600"/>
            <a:ext cx="2556000" cy="1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</a:rPr>
              <a:t>ZnF₂ ALD 박막  (두께: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7903B0-9F4E-E54E-6E84-7302A483A2BD}"/>
              </a:ext>
            </a:extLst>
          </p:cNvPr>
          <p:cNvSpPr txBox="1"/>
          <p:nvPr/>
        </p:nvSpPr>
        <p:spPr>
          <a:xfrm>
            <a:off x="3222000" y="2973600"/>
            <a:ext cx="2556000" cy="11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3949AB"/>
                </a:solidFill>
                <a:latin typeface="맑은 고딕"/>
              </a:rPr>
              <a:t>← n 사이클 반복으로 두께 제어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830DA35-E0D4-99E0-5C1E-82D8D4CEB4EF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AB5E873-A5F3-4C0E-57F9-B8EDC27E7376}"/>
              </a:ext>
            </a:extLst>
          </p:cNvPr>
          <p:cNvSpPr txBox="1"/>
          <p:nvPr/>
        </p:nvSpPr>
        <p:spPr>
          <a:xfrm>
            <a:off x="3175200" y="3499199"/>
            <a:ext cx="2664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ZnF₂ ALD: DEZ + HF·py 전구체 조합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자기제한적(self-limiting) 표면 반응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기판 온도 50~200°C, Å 수준 두께 제어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결과: 균일·공형(conformal) 불화물 박막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4EB99DF-B154-DBC1-CB99-6CB136632C74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7CCBC7A6-C370-5D84-F9EC-315094668F62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570F419-0BC7-7CA8-FF19-8DB90A48008E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A87A00FE-AA7D-BAC7-1359-7C39F750E686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60524A8-4CBE-E564-1F99-79902CA714DF}"/>
              </a:ext>
            </a:extLst>
          </p:cNvPr>
          <p:cNvSpPr/>
          <p:nvPr/>
        </p:nvSpPr>
        <p:spPr>
          <a:xfrm>
            <a:off x="6156000" y="666000"/>
            <a:ext cx="2880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3BF4023-3D9A-7154-E04D-7C53436C780B}"/>
              </a:ext>
            </a:extLst>
          </p:cNvPr>
          <p:cNvSpPr txBox="1"/>
          <p:nvPr/>
        </p:nvSpPr>
        <p:spPr>
          <a:xfrm>
            <a:off x="6192000" y="694800"/>
            <a:ext cx="2808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1579B"/>
                </a:solidFill>
                <a:latin typeface="맑은 고딕"/>
              </a:rPr>
              <a:t>전해질 (Electrolyte)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3FC66C0-7D5B-E0CA-CBE2-C83B3EB5A4F2}"/>
              </a:ext>
            </a:extLst>
          </p:cNvPr>
          <p:cNvSpPr/>
          <p:nvPr/>
        </p:nvSpPr>
        <p:spPr>
          <a:xfrm>
            <a:off x="6156000" y="2790000"/>
            <a:ext cx="2880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AC1984C-2275-D906-DF68-7391EC429280}"/>
              </a:ext>
            </a:extLst>
          </p:cNvPr>
          <p:cNvSpPr txBox="1"/>
          <p:nvPr/>
        </p:nvSpPr>
        <p:spPr>
          <a:xfrm>
            <a:off x="6156000" y="2861999"/>
            <a:ext cx="288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Cu 집전체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A2E2B6E-2AE8-5AF9-F13E-E0128C377566}"/>
              </a:ext>
            </a:extLst>
          </p:cNvPr>
          <p:cNvSpPr/>
          <p:nvPr/>
        </p:nvSpPr>
        <p:spPr>
          <a:xfrm>
            <a:off x="6156000" y="2689200"/>
            <a:ext cx="2880000" cy="10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BE8DDA-E680-32C3-E6F3-D5FBABB6DE7B}"/>
              </a:ext>
            </a:extLst>
          </p:cNvPr>
          <p:cNvSpPr txBox="1"/>
          <p:nvPr/>
        </p:nvSpPr>
        <p:spPr>
          <a:xfrm>
            <a:off x="6156000" y="2696399"/>
            <a:ext cx="2880000" cy="1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</a:rPr>
              <a:t>ALD 불화물 인공 SEI  (ZnF₂ / AlF₃ / LiF)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C4D1A2E-C5C0-355B-D35A-8C2AD33B4B99}"/>
              </a:ext>
            </a:extLst>
          </p:cNvPr>
          <p:cNvSpPr/>
          <p:nvPr/>
        </p:nvSpPr>
        <p:spPr>
          <a:xfrm>
            <a:off x="6246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E0AA6CDA-F56B-0A5E-EC34-5E2BEB1C114C}"/>
              </a:ext>
            </a:extLst>
          </p:cNvPr>
          <p:cNvSpPr/>
          <p:nvPr/>
        </p:nvSpPr>
        <p:spPr>
          <a:xfrm>
            <a:off x="6447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896D908B-1A1B-A5B0-3906-1D92CD47D34C}"/>
              </a:ext>
            </a:extLst>
          </p:cNvPr>
          <p:cNvSpPr/>
          <p:nvPr/>
        </p:nvSpPr>
        <p:spPr>
          <a:xfrm>
            <a:off x="6649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4FFE5D1A-D7DA-1A83-EA4F-E71D18419F71}"/>
              </a:ext>
            </a:extLst>
          </p:cNvPr>
          <p:cNvSpPr/>
          <p:nvPr/>
        </p:nvSpPr>
        <p:spPr>
          <a:xfrm>
            <a:off x="6850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E15D5A0-2BAC-3CE9-23C1-0CCDB33E77BE}"/>
              </a:ext>
            </a:extLst>
          </p:cNvPr>
          <p:cNvSpPr/>
          <p:nvPr/>
        </p:nvSpPr>
        <p:spPr>
          <a:xfrm>
            <a:off x="70524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C664A03E-6A31-5EA8-3812-BFE9AFFA4E1D}"/>
              </a:ext>
            </a:extLst>
          </p:cNvPr>
          <p:cNvSpPr/>
          <p:nvPr/>
        </p:nvSpPr>
        <p:spPr>
          <a:xfrm>
            <a:off x="7254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ABE004F1-7B48-FFC8-454A-908957FE07FF}"/>
              </a:ext>
            </a:extLst>
          </p:cNvPr>
          <p:cNvSpPr/>
          <p:nvPr/>
        </p:nvSpPr>
        <p:spPr>
          <a:xfrm>
            <a:off x="7455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614407BC-C817-0AEC-5640-050D3072F4CE}"/>
              </a:ext>
            </a:extLst>
          </p:cNvPr>
          <p:cNvSpPr/>
          <p:nvPr/>
        </p:nvSpPr>
        <p:spPr>
          <a:xfrm>
            <a:off x="7657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0B031C6-1AC3-2EE8-1CC2-7F91E95F92FA}"/>
              </a:ext>
            </a:extLst>
          </p:cNvPr>
          <p:cNvSpPr/>
          <p:nvPr/>
        </p:nvSpPr>
        <p:spPr>
          <a:xfrm>
            <a:off x="7858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EC92C075-B937-102E-D32C-C64C08394246}"/>
              </a:ext>
            </a:extLst>
          </p:cNvPr>
          <p:cNvSpPr/>
          <p:nvPr/>
        </p:nvSpPr>
        <p:spPr>
          <a:xfrm>
            <a:off x="80604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73BBBDF-E3E7-964C-0226-DCE5C4BED94B}"/>
              </a:ext>
            </a:extLst>
          </p:cNvPr>
          <p:cNvSpPr/>
          <p:nvPr/>
        </p:nvSpPr>
        <p:spPr>
          <a:xfrm>
            <a:off x="8262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75CEC7BD-F844-6F02-A504-2E0C975DCD97}"/>
              </a:ext>
            </a:extLst>
          </p:cNvPr>
          <p:cNvSpPr/>
          <p:nvPr/>
        </p:nvSpPr>
        <p:spPr>
          <a:xfrm>
            <a:off x="8463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5F3116AB-46D3-ADB0-14DB-43F660F8FEBA}"/>
              </a:ext>
            </a:extLst>
          </p:cNvPr>
          <p:cNvSpPr/>
          <p:nvPr/>
        </p:nvSpPr>
        <p:spPr>
          <a:xfrm>
            <a:off x="8665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6B7ADF24-B496-A6CB-8203-6A43636E29E9}"/>
              </a:ext>
            </a:extLst>
          </p:cNvPr>
          <p:cNvSpPr/>
          <p:nvPr/>
        </p:nvSpPr>
        <p:spPr>
          <a:xfrm>
            <a:off x="8866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2600A87-AD9D-7D2B-3CAF-618A1D04D3A3}"/>
              </a:ext>
            </a:extLst>
          </p:cNvPr>
          <p:cNvSpPr/>
          <p:nvPr/>
        </p:nvSpPr>
        <p:spPr>
          <a:xfrm>
            <a:off x="6156000" y="2106000"/>
            <a:ext cx="2880000" cy="468000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52D741B-0C91-77F8-6596-29B4E3279236}"/>
              </a:ext>
            </a:extLst>
          </p:cNvPr>
          <p:cNvSpPr txBox="1"/>
          <p:nvPr/>
        </p:nvSpPr>
        <p:spPr>
          <a:xfrm>
            <a:off x="6156000" y="2257200"/>
            <a:ext cx="288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균일하고 평탄한 Li 증착층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BBBF47A-7163-7AC7-BBC1-F4A0CB3418D4}"/>
              </a:ext>
            </a:extLst>
          </p:cNvPr>
          <p:cNvSpPr txBox="1"/>
          <p:nvPr/>
        </p:nvSpPr>
        <p:spPr>
          <a:xfrm>
            <a:off x="7578000" y="2429999"/>
            <a:ext cx="1368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맑은 고딕"/>
              </a:rPr>
              <a:t>✓ 균일 Li 핵생성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249F7D2-C92D-90F4-007A-A929C295296F}"/>
              </a:ext>
            </a:extLst>
          </p:cNvPr>
          <p:cNvSpPr txBox="1"/>
          <p:nvPr/>
        </p:nvSpPr>
        <p:spPr>
          <a:xfrm>
            <a:off x="7578000" y="2538000"/>
            <a:ext cx="1368000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695C"/>
                </a:solidFill>
                <a:latin typeface="맑은 고딕"/>
              </a:rPr>
              <a:t>인공 SEI (ALD 불화물)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A68D4A1-ADE2-D870-4F01-76499FD370E8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8514410-D0B3-9CEB-7B93-2ADBE61E4A03}"/>
              </a:ext>
            </a:extLst>
          </p:cNvPr>
          <p:cNvSpPr txBox="1"/>
          <p:nvPr/>
        </p:nvSpPr>
        <p:spPr>
          <a:xfrm>
            <a:off x="6192000" y="3186000"/>
            <a:ext cx="2790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ALD 불화물 인공 SEI 형성 후 Li 전착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균일 핵생성 → 조밀·평탄한 Li 증착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덴드라이트 억제, SEI 두께·조성 정밀 제어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목표: CE &gt;99.5%, 용량유지율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E40053D-A911-CB8F-7F9A-453CF49CB1CB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6DDF4DE0-DC89-B62C-0865-637FD87FA946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7BB94D60-70A0-CA26-83CE-263EF6F568CF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B8899F7-2107-C609-92E9-B60E5A37653D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62DCFC4A-9AB1-1D14-1F30-60FD633E21A9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129740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4D39E-E3D6-2AE0-2D2C-ED41279674B7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CA2E6E-4107-F9CD-9C9B-42EE6CF15797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6B895-D012-03EB-FAF5-F42C238DC9BD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A115C1-A606-6EA3-FD70-50C1F72D075B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7876D-BD67-166A-5125-E873885E8450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2A5D2B-A5CC-8941-B848-DAFC25E05D9A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D814B-86E1-244C-AB3B-B9993C05AEEC}"/>
              </a:ext>
            </a:extLst>
          </p:cNvPr>
          <p:cNvSpPr txBox="1"/>
          <p:nvPr/>
        </p:nvSpPr>
        <p:spPr>
          <a:xfrm>
            <a:off x="90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불균일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덴드라이트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1C129-3F40-68D2-2965-2D7666001C74}"/>
              </a:ext>
            </a:extLst>
          </p:cNvPr>
          <p:cNvSpPr txBox="1"/>
          <p:nvPr/>
        </p:nvSpPr>
        <p:spPr>
          <a:xfrm>
            <a:off x="3114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Metal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Fluoride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ALD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B2EA1-B191-F604-30D2-2EB2C601EF06}"/>
              </a:ext>
            </a:extLst>
          </p:cNvPr>
          <p:cNvSpPr txBox="1"/>
          <p:nvPr/>
        </p:nvSpPr>
        <p:spPr>
          <a:xfrm>
            <a:off x="6138000" y="399600"/>
            <a:ext cx="291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해결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1F4C3C94-B6F8-075A-D3DC-BB516D32B6F0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3BB49A8A-FB05-214E-2B16-FB1C30F5A7D0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891AD70F-72EE-3768-AED7-69FA9CF0AD04}"/>
              </a:ext>
            </a:extLst>
          </p:cNvPr>
          <p:cNvSpPr/>
          <p:nvPr/>
        </p:nvSpPr>
        <p:spPr>
          <a:xfrm>
            <a:off x="108000" y="666000"/>
            <a:ext cx="2736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F463CB-6DB7-FF81-CBAD-D3CB6AE37E8D}"/>
              </a:ext>
            </a:extLst>
          </p:cNvPr>
          <p:cNvSpPr txBox="1"/>
          <p:nvPr/>
        </p:nvSpPr>
        <p:spPr>
          <a:xfrm>
            <a:off x="144000" y="694800"/>
            <a:ext cx="2736000" cy="230832"/>
          </a:xfrm>
          <a:prstGeom prst="rect">
            <a:avLst/>
          </a:prstGeom>
          <a:noFill/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sz="900" b="1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전해질</a:t>
            </a:r>
            <a:r>
              <a:rPr sz="900" b="1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(Electrolyte)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E2FC0-B1FF-A68A-6FD6-F4E69EB45D1C}"/>
              </a:ext>
            </a:extLst>
          </p:cNvPr>
          <p:cNvSpPr/>
          <p:nvPr/>
        </p:nvSpPr>
        <p:spPr>
          <a:xfrm>
            <a:off x="108000" y="2790000"/>
            <a:ext cx="2736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D42603-E3F2-2E7C-78AA-DF2A51B84BD6}"/>
              </a:ext>
            </a:extLst>
          </p:cNvPr>
          <p:cNvSpPr txBox="1"/>
          <p:nvPr/>
        </p:nvSpPr>
        <p:spPr>
          <a:xfrm>
            <a:off x="108000" y="2861999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sz="900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  <a:endParaRPr sz="900" dirty="0">
              <a:solidFill>
                <a:srgbClr val="FFFFFF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D4723233-A871-0B85-BB39-D40CF2CDCDBF}"/>
              </a:ext>
            </a:extLst>
          </p:cNvPr>
          <p:cNvSpPr/>
          <p:nvPr/>
        </p:nvSpPr>
        <p:spPr>
          <a:xfrm>
            <a:off x="156599" y="1494000"/>
            <a:ext cx="118800" cy="129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FC68EDF7-0170-3C03-9285-9812986A68F6}"/>
              </a:ext>
            </a:extLst>
          </p:cNvPr>
          <p:cNvSpPr/>
          <p:nvPr/>
        </p:nvSpPr>
        <p:spPr>
          <a:xfrm>
            <a:off x="324000" y="1962000"/>
            <a:ext cx="108000" cy="827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5967E81-6DF6-7BED-89B9-AD3D30E5F8AC}"/>
              </a:ext>
            </a:extLst>
          </p:cNvPr>
          <p:cNvSpPr/>
          <p:nvPr/>
        </p:nvSpPr>
        <p:spPr>
          <a:xfrm>
            <a:off x="464400" y="1205999"/>
            <a:ext cx="151200" cy="1584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756EB8D1-3D17-F267-CFEF-3AD9865B410B}"/>
              </a:ext>
            </a:extLst>
          </p:cNvPr>
          <p:cNvSpPr/>
          <p:nvPr/>
        </p:nvSpPr>
        <p:spPr>
          <a:xfrm>
            <a:off x="673200" y="2142000"/>
            <a:ext cx="93600" cy="64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BB270242-86B5-378A-F1A2-0FB64DBCCAE2}"/>
              </a:ext>
            </a:extLst>
          </p:cNvPr>
          <p:cNvSpPr/>
          <p:nvPr/>
        </p:nvSpPr>
        <p:spPr>
          <a:xfrm>
            <a:off x="826200" y="1710000"/>
            <a:ext cx="111600" cy="108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37971D90-AFC1-4F6D-1F85-D127CC971B07}"/>
              </a:ext>
            </a:extLst>
          </p:cNvPr>
          <p:cNvSpPr/>
          <p:nvPr/>
        </p:nvSpPr>
        <p:spPr>
          <a:xfrm>
            <a:off x="981000" y="1062000"/>
            <a:ext cx="162000" cy="172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41E40534-4DEE-790C-5908-8803248E726C}"/>
              </a:ext>
            </a:extLst>
          </p:cNvPr>
          <p:cNvSpPr/>
          <p:nvPr/>
        </p:nvSpPr>
        <p:spPr>
          <a:xfrm>
            <a:off x="1191600" y="2034000"/>
            <a:ext cx="100800" cy="75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4F82690C-5996-4DFA-DD3C-850ACFCFA77E}"/>
              </a:ext>
            </a:extLst>
          </p:cNvPr>
          <p:cNvSpPr/>
          <p:nvPr/>
        </p:nvSpPr>
        <p:spPr>
          <a:xfrm>
            <a:off x="1357200" y="1458000"/>
            <a:ext cx="129600" cy="133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615B1765-9EE7-86AB-042E-50F66989A38A}"/>
              </a:ext>
            </a:extLst>
          </p:cNvPr>
          <p:cNvSpPr/>
          <p:nvPr/>
        </p:nvSpPr>
        <p:spPr>
          <a:xfrm>
            <a:off x="1558800" y="2214000"/>
            <a:ext cx="86400" cy="57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FB67E1E-1914-EE35-3406-21DB6E8C2C1B}"/>
              </a:ext>
            </a:extLst>
          </p:cNvPr>
          <p:cNvSpPr/>
          <p:nvPr/>
        </p:nvSpPr>
        <p:spPr>
          <a:xfrm>
            <a:off x="1710000" y="1314000"/>
            <a:ext cx="144000" cy="1475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62169E8C-E710-B7F8-A88C-A4A64307DB7B}"/>
              </a:ext>
            </a:extLst>
          </p:cNvPr>
          <p:cNvSpPr/>
          <p:nvPr/>
        </p:nvSpPr>
        <p:spPr>
          <a:xfrm>
            <a:off x="1904400" y="1818000"/>
            <a:ext cx="115200" cy="97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29173F2E-DF7A-9286-7197-A27784536915}"/>
              </a:ext>
            </a:extLst>
          </p:cNvPr>
          <p:cNvSpPr/>
          <p:nvPr/>
        </p:nvSpPr>
        <p:spPr>
          <a:xfrm>
            <a:off x="2080800" y="1602000"/>
            <a:ext cx="122400" cy="118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EB2C92-6DAC-DC8E-26FE-AAD87E6A8FBF}"/>
              </a:ext>
            </a:extLst>
          </p:cNvPr>
          <p:cNvSpPr/>
          <p:nvPr/>
        </p:nvSpPr>
        <p:spPr>
          <a:xfrm>
            <a:off x="2244600" y="1170000"/>
            <a:ext cx="154800" cy="16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F71ACD68-EC5E-E87E-34B3-47C020B39A1F}"/>
              </a:ext>
            </a:extLst>
          </p:cNvPr>
          <p:cNvSpPr/>
          <p:nvPr/>
        </p:nvSpPr>
        <p:spPr>
          <a:xfrm>
            <a:off x="2453400" y="2070000"/>
            <a:ext cx="97200" cy="7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73DFF1C-F436-7AA4-F9FF-9E1FFFF00FA1}"/>
              </a:ext>
            </a:extLst>
          </p:cNvPr>
          <p:cNvSpPr/>
          <p:nvPr/>
        </p:nvSpPr>
        <p:spPr>
          <a:xfrm>
            <a:off x="125999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AF9FCE2-B982-E7CC-DCB7-193824E428FB}"/>
              </a:ext>
            </a:extLst>
          </p:cNvPr>
          <p:cNvSpPr/>
          <p:nvPr/>
        </p:nvSpPr>
        <p:spPr>
          <a:xfrm>
            <a:off x="360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518CF28-B18A-AE31-5F81-5A60B3EA4E9F}"/>
              </a:ext>
            </a:extLst>
          </p:cNvPr>
          <p:cNvSpPr/>
          <p:nvPr/>
        </p:nvSpPr>
        <p:spPr>
          <a:xfrm>
            <a:off x="630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3C05F61-969B-88AC-F853-316DDC1D8535}"/>
              </a:ext>
            </a:extLst>
          </p:cNvPr>
          <p:cNvSpPr/>
          <p:nvPr/>
        </p:nvSpPr>
        <p:spPr>
          <a:xfrm>
            <a:off x="900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1193E39-0C19-A1E3-6EFE-9198B414D47B}"/>
              </a:ext>
            </a:extLst>
          </p:cNvPr>
          <p:cNvSpPr/>
          <p:nvPr/>
        </p:nvSpPr>
        <p:spPr>
          <a:xfrm>
            <a:off x="118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3EC5D294-7C89-B7DE-EF0A-ACFAAF4DCCFD}"/>
              </a:ext>
            </a:extLst>
          </p:cNvPr>
          <p:cNvSpPr/>
          <p:nvPr/>
        </p:nvSpPr>
        <p:spPr>
          <a:xfrm>
            <a:off x="1458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F1044AD7-958A-16C7-DA7F-031A3415FF29}"/>
              </a:ext>
            </a:extLst>
          </p:cNvPr>
          <p:cNvSpPr/>
          <p:nvPr/>
        </p:nvSpPr>
        <p:spPr>
          <a:xfrm>
            <a:off x="1728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D0E595D-6D53-117E-D7B5-8C8B14BB736D}"/>
              </a:ext>
            </a:extLst>
          </p:cNvPr>
          <p:cNvSpPr/>
          <p:nvPr/>
        </p:nvSpPr>
        <p:spPr>
          <a:xfrm>
            <a:off x="1998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181B867-7EFE-47E5-86E9-EFAB769B5AEE}"/>
              </a:ext>
            </a:extLst>
          </p:cNvPr>
          <p:cNvSpPr/>
          <p:nvPr/>
        </p:nvSpPr>
        <p:spPr>
          <a:xfrm>
            <a:off x="226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9B6D30E6-689D-DDBF-0770-CFB034703232}"/>
              </a:ext>
            </a:extLst>
          </p:cNvPr>
          <p:cNvSpPr/>
          <p:nvPr/>
        </p:nvSpPr>
        <p:spPr>
          <a:xfrm>
            <a:off x="2520000" y="2725200"/>
            <a:ext cx="151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995953-E10A-DAF2-4A10-B48E7FA01B76}"/>
              </a:ext>
            </a:extLst>
          </p:cNvPr>
          <p:cNvSpPr txBox="1"/>
          <p:nvPr/>
        </p:nvSpPr>
        <p:spPr>
          <a:xfrm>
            <a:off x="1130400" y="1132516"/>
            <a:ext cx="136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Li </a:t>
            </a:r>
            <a:r>
              <a:rPr sz="1050" dirty="0" err="1"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덴드라이트</a:t>
            </a:r>
            <a:endParaRPr sz="1050" dirty="0"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92C0EF-D293-8EDB-F554-0E34298F5FB4}"/>
              </a:ext>
            </a:extLst>
          </p:cNvPr>
          <p:cNvSpPr txBox="1"/>
          <p:nvPr/>
        </p:nvSpPr>
        <p:spPr>
          <a:xfrm>
            <a:off x="849600" y="2371114"/>
            <a:ext cx="115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 err="1">
                <a:solidFill>
                  <a:srgbClr val="FFFF00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불균일·파단</a:t>
            </a:r>
            <a:r>
              <a:rPr sz="1000" b="1" dirty="0">
                <a:solidFill>
                  <a:srgbClr val="FFFF00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SEI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BE649B-3C80-CC33-3C4B-7927AA938B60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4F054E-90A8-1D5B-83BF-07EE9ABE1F67}"/>
              </a:ext>
            </a:extLst>
          </p:cNvPr>
          <p:cNvSpPr txBox="1"/>
          <p:nvPr/>
        </p:nvSpPr>
        <p:spPr>
          <a:xfrm>
            <a:off x="144000" y="3186000"/>
            <a:ext cx="2646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Cu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집전체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위 ALD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코팅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없이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Li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전착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시</a:t>
            </a: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핵생성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과전압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→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덴드라이트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성장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두껍고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불균일한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SEI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형성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반복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쿨롱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효율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저하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및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내부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단락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(short)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위험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37AC400-CA50-B284-39FD-0B062B01F2F1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59386DC7-FC81-C20A-F9D7-F243CFAADC5B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6D721C8F-638C-2489-1B8F-003140565875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65727DB-1531-F114-292A-C7533271C857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AB40EF-34C4-97B2-3792-E80E76E4BFF3}"/>
              </a:ext>
            </a:extLst>
          </p:cNvPr>
          <p:cNvSpPr/>
          <p:nvPr/>
        </p:nvSpPr>
        <p:spPr>
          <a:xfrm>
            <a:off x="3132000" y="691200"/>
            <a:ext cx="2736000" cy="1907397"/>
          </a:xfrm>
          <a:prstGeom prst="rect">
            <a:avLst/>
          </a:prstGeom>
          <a:solidFill>
            <a:srgbClr val="F3E5F5"/>
          </a:solidFill>
          <a:ln w="63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EACF5B-787D-78F0-B52E-956C62B39C2B}"/>
              </a:ext>
            </a:extLst>
          </p:cNvPr>
          <p:cNvSpPr txBox="1"/>
          <p:nvPr/>
        </p:nvSpPr>
        <p:spPr>
          <a:xfrm>
            <a:off x="3132000" y="716400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ALD </a:t>
            </a:r>
            <a:r>
              <a:rPr lang="ko-KR" altLang="en-US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증착 사이클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A4BF24-C596-12F2-14DE-4B04F77DB1D6}"/>
              </a:ext>
            </a:extLst>
          </p:cNvPr>
          <p:cNvSpPr/>
          <p:nvPr/>
        </p:nvSpPr>
        <p:spPr>
          <a:xfrm>
            <a:off x="3132000" y="2617335"/>
            <a:ext cx="2736000" cy="809865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20D1C-BB22-70AB-8AAB-084F79965890}"/>
              </a:ext>
            </a:extLst>
          </p:cNvPr>
          <p:cNvSpPr txBox="1"/>
          <p:nvPr/>
        </p:nvSpPr>
        <p:spPr>
          <a:xfrm>
            <a:off x="3442845" y="2706669"/>
            <a:ext cx="209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형성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단면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모식도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B46B0CE-6F6D-FE00-29C2-313B19DA46BD}"/>
              </a:ext>
            </a:extLst>
          </p:cNvPr>
          <p:cNvSpPr/>
          <p:nvPr/>
        </p:nvSpPr>
        <p:spPr>
          <a:xfrm>
            <a:off x="3222000" y="3211200"/>
            <a:ext cx="2556000" cy="197998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A6F839-79EB-4D21-1967-0595C7BABDFE}"/>
              </a:ext>
            </a:extLst>
          </p:cNvPr>
          <p:cNvSpPr/>
          <p:nvPr/>
        </p:nvSpPr>
        <p:spPr>
          <a:xfrm>
            <a:off x="3222000" y="3010245"/>
            <a:ext cx="2556000" cy="200955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149C84-1118-CFC7-FE0D-483F5547B2C2}"/>
              </a:ext>
            </a:extLst>
          </p:cNvPr>
          <p:cNvSpPr txBox="1"/>
          <p:nvPr/>
        </p:nvSpPr>
        <p:spPr>
          <a:xfrm>
            <a:off x="3251860" y="3014494"/>
            <a:ext cx="25861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Metal Fluoride 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박막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두께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E3A4FD-5917-75BE-1D17-03FE4CFCE13E}"/>
              </a:ext>
            </a:extLst>
          </p:cNvPr>
          <p:cNvSpPr txBox="1"/>
          <p:nvPr/>
        </p:nvSpPr>
        <p:spPr>
          <a:xfrm>
            <a:off x="3206992" y="2827318"/>
            <a:ext cx="255600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← n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사이클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반복으로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D677B1E-D63C-968B-33F8-6CFC52281619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91737-B16C-0B42-F941-0C58A9CEADEB}"/>
              </a:ext>
            </a:extLst>
          </p:cNvPr>
          <p:cNvSpPr txBox="1"/>
          <p:nvPr/>
        </p:nvSpPr>
        <p:spPr>
          <a:xfrm>
            <a:off x="3175200" y="3499199"/>
            <a:ext cx="2664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ZnF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₂ ALD: DEZ +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HF·py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전구체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조합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자기제한적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(self-limiting)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표면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반응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기판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온도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50~200°C, Å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수준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결과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균일·공형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(conformal)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박막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0BF1A3C-8DF3-EA38-185A-60DFD4D7EDD7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C0C9CC02-9B8A-C658-3BD2-0CDCF09BD8AB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85D54A5-7C11-2C10-DD9E-7C3670FB1A43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024A175-BAF9-D4E4-2BBA-608AF867AF1C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DCE7FD5-69A3-BDE1-68A6-0C8B7C82BB60}"/>
              </a:ext>
            </a:extLst>
          </p:cNvPr>
          <p:cNvSpPr/>
          <p:nvPr/>
        </p:nvSpPr>
        <p:spPr>
          <a:xfrm>
            <a:off x="6156000" y="666000"/>
            <a:ext cx="2880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78457BA-53E8-1664-7B79-16574FDE1EE6}"/>
              </a:ext>
            </a:extLst>
          </p:cNvPr>
          <p:cNvSpPr txBox="1"/>
          <p:nvPr/>
        </p:nvSpPr>
        <p:spPr>
          <a:xfrm>
            <a:off x="6192000" y="694800"/>
            <a:ext cx="2808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전해질</a:t>
            </a:r>
            <a:r>
              <a:rPr sz="900" b="1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(Electrolyte)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FF09695-F45F-2734-C155-AE08AB58B8FC}"/>
              </a:ext>
            </a:extLst>
          </p:cNvPr>
          <p:cNvSpPr/>
          <p:nvPr/>
        </p:nvSpPr>
        <p:spPr>
          <a:xfrm>
            <a:off x="6156000" y="2790000"/>
            <a:ext cx="2880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56CD0C7-B78A-E3D5-E3DA-610AAF1CF38E}"/>
              </a:ext>
            </a:extLst>
          </p:cNvPr>
          <p:cNvSpPr txBox="1"/>
          <p:nvPr/>
        </p:nvSpPr>
        <p:spPr>
          <a:xfrm>
            <a:off x="6156000" y="2861999"/>
            <a:ext cx="2880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sz="900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  <a:endParaRPr sz="900" dirty="0">
              <a:solidFill>
                <a:srgbClr val="FFFFFF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F0B13A9-ECAC-3398-5D5C-332E7460E160}"/>
              </a:ext>
            </a:extLst>
          </p:cNvPr>
          <p:cNvSpPr/>
          <p:nvPr/>
        </p:nvSpPr>
        <p:spPr>
          <a:xfrm>
            <a:off x="6156000" y="2573798"/>
            <a:ext cx="2880000" cy="21620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18A8747-8CCF-FEF5-8A8A-398A4C578D75}"/>
              </a:ext>
            </a:extLst>
          </p:cNvPr>
          <p:cNvSpPr txBox="1"/>
          <p:nvPr/>
        </p:nvSpPr>
        <p:spPr>
          <a:xfrm>
            <a:off x="6584545" y="2585195"/>
            <a:ext cx="214531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불화물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인공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SEI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ZnF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₂ / </a:t>
            </a:r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Mg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F</a:t>
            </a:r>
            <a:r>
              <a:rPr lang="en-US" sz="800" b="1" baseline="-250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2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/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LiF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4667851-1986-41BE-10B1-9A5F66CF935D}"/>
              </a:ext>
            </a:extLst>
          </p:cNvPr>
          <p:cNvSpPr/>
          <p:nvPr/>
        </p:nvSpPr>
        <p:spPr>
          <a:xfrm>
            <a:off x="6246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819F860-DB50-1538-37FC-8C51A93CE0C5}"/>
              </a:ext>
            </a:extLst>
          </p:cNvPr>
          <p:cNvSpPr/>
          <p:nvPr/>
        </p:nvSpPr>
        <p:spPr>
          <a:xfrm>
            <a:off x="6447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D5C174A8-B3F7-3F63-7090-D82DD07CB1A9}"/>
              </a:ext>
            </a:extLst>
          </p:cNvPr>
          <p:cNvSpPr/>
          <p:nvPr/>
        </p:nvSpPr>
        <p:spPr>
          <a:xfrm>
            <a:off x="6649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4FC55B3A-C58F-7F71-576B-564080263A8D}"/>
              </a:ext>
            </a:extLst>
          </p:cNvPr>
          <p:cNvSpPr/>
          <p:nvPr/>
        </p:nvSpPr>
        <p:spPr>
          <a:xfrm>
            <a:off x="6850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409A8438-C17C-1C5C-2F21-0A2A1CF6EFB8}"/>
              </a:ext>
            </a:extLst>
          </p:cNvPr>
          <p:cNvSpPr/>
          <p:nvPr/>
        </p:nvSpPr>
        <p:spPr>
          <a:xfrm>
            <a:off x="70524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ED408D4B-DA19-1301-A68C-B124C44B61B1}"/>
              </a:ext>
            </a:extLst>
          </p:cNvPr>
          <p:cNvSpPr/>
          <p:nvPr/>
        </p:nvSpPr>
        <p:spPr>
          <a:xfrm>
            <a:off x="7254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BA434644-E808-1D27-4953-7813A31A3ACE}"/>
              </a:ext>
            </a:extLst>
          </p:cNvPr>
          <p:cNvSpPr/>
          <p:nvPr/>
        </p:nvSpPr>
        <p:spPr>
          <a:xfrm>
            <a:off x="7455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A318770-E906-6A95-7C2B-D8D4C21FC320}"/>
              </a:ext>
            </a:extLst>
          </p:cNvPr>
          <p:cNvSpPr/>
          <p:nvPr/>
        </p:nvSpPr>
        <p:spPr>
          <a:xfrm>
            <a:off x="7657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3B604FA2-0D3D-ABB3-43EF-7E871C98A338}"/>
              </a:ext>
            </a:extLst>
          </p:cNvPr>
          <p:cNvSpPr/>
          <p:nvPr/>
        </p:nvSpPr>
        <p:spPr>
          <a:xfrm>
            <a:off x="7858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479FDA57-3B4F-FE14-6B13-8C3F9BDAF50F}"/>
              </a:ext>
            </a:extLst>
          </p:cNvPr>
          <p:cNvSpPr/>
          <p:nvPr/>
        </p:nvSpPr>
        <p:spPr>
          <a:xfrm>
            <a:off x="80604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A853A93D-2E5F-C550-69F0-3E91331FA72E}"/>
              </a:ext>
            </a:extLst>
          </p:cNvPr>
          <p:cNvSpPr/>
          <p:nvPr/>
        </p:nvSpPr>
        <p:spPr>
          <a:xfrm>
            <a:off x="8262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5366423F-8E08-4709-5D25-0D2405765E32}"/>
              </a:ext>
            </a:extLst>
          </p:cNvPr>
          <p:cNvSpPr/>
          <p:nvPr/>
        </p:nvSpPr>
        <p:spPr>
          <a:xfrm>
            <a:off x="8463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169BD0AB-1D0E-2EC5-BDCF-0A41EAAB10D2}"/>
              </a:ext>
            </a:extLst>
          </p:cNvPr>
          <p:cNvSpPr/>
          <p:nvPr/>
        </p:nvSpPr>
        <p:spPr>
          <a:xfrm>
            <a:off x="8665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AEF79026-8359-48AE-07F1-4BE7ACA2DF15}"/>
              </a:ext>
            </a:extLst>
          </p:cNvPr>
          <p:cNvSpPr/>
          <p:nvPr/>
        </p:nvSpPr>
        <p:spPr>
          <a:xfrm>
            <a:off x="8866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840E267-C444-85C8-6309-B86381BF4E44}"/>
              </a:ext>
            </a:extLst>
          </p:cNvPr>
          <p:cNvSpPr/>
          <p:nvPr/>
        </p:nvSpPr>
        <p:spPr>
          <a:xfrm>
            <a:off x="6156000" y="1991195"/>
            <a:ext cx="2880000" cy="468000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DF00C40-0058-9326-C506-2007B510DF49}"/>
              </a:ext>
            </a:extLst>
          </p:cNvPr>
          <p:cNvSpPr txBox="1"/>
          <p:nvPr/>
        </p:nvSpPr>
        <p:spPr>
          <a:xfrm>
            <a:off x="7038000" y="1479168"/>
            <a:ext cx="164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균일하고</a:t>
            </a:r>
            <a:r>
              <a:rPr sz="900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평탄한</a:t>
            </a:r>
            <a:r>
              <a:rPr sz="900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증착층</a:t>
            </a:r>
            <a:endParaRPr sz="900" dirty="0">
              <a:effectLst>
                <a:glow rad="63500">
                  <a:schemeClr val="accent4">
                    <a:satMod val="175000"/>
                    <a:alpha val="40000"/>
                  </a:schemeClr>
                </a:glow>
              </a:effectLst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2D4C433-4F87-F356-BDA2-B96DBE402D59}"/>
              </a:ext>
            </a:extLst>
          </p:cNvPr>
          <p:cNvSpPr txBox="1"/>
          <p:nvPr/>
        </p:nvSpPr>
        <p:spPr>
          <a:xfrm>
            <a:off x="7596000" y="2231553"/>
            <a:ext cx="1368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✓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endParaRPr sz="800" dirty="0">
              <a:solidFill>
                <a:schemeClr val="bg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4EFA07A-78E2-FD77-CF53-24BBC0FE8BCE}"/>
              </a:ext>
            </a:extLst>
          </p:cNvPr>
          <p:cNvSpPr txBox="1"/>
          <p:nvPr/>
        </p:nvSpPr>
        <p:spPr>
          <a:xfrm>
            <a:off x="6194276" y="2088278"/>
            <a:ext cx="119791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(ALD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D47A79E7-46EB-6A61-276E-83053BE1E607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A66C92-8138-30E4-AB7F-FD073B86A6AA}"/>
              </a:ext>
            </a:extLst>
          </p:cNvPr>
          <p:cNvSpPr txBox="1"/>
          <p:nvPr/>
        </p:nvSpPr>
        <p:spPr>
          <a:xfrm>
            <a:off x="6192000" y="3186000"/>
            <a:ext cx="2790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ALD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형성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후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조밀·평탄한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덴드라이트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억제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두께·조성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정밀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목표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CE &gt;99.5%,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용량유지율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265055F-AD2E-CF39-BA29-FD5DFD63BE4C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42AD35D5-0DE9-C82E-5386-3C8303303B48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017FB558-D481-9DF7-50C5-1CE25CD53AC2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5F12439-BA16-08C6-AA28-F0C9879131D7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06427F-FC70-0E32-4DBC-BDF94F90528E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07E2B4C-EA3D-5B34-AC13-5B85F0581380}"/>
              </a:ext>
            </a:extLst>
          </p:cNvPr>
          <p:cNvSpPr txBox="1"/>
          <p:nvPr/>
        </p:nvSpPr>
        <p:spPr>
          <a:xfrm>
            <a:off x="3540417" y="3216457"/>
            <a:ext cx="187930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lang="ko-KR" altLang="en-US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</a:p>
        </p:txBody>
      </p:sp>
    </p:spTree>
    <p:extLst>
      <p:ext uri="{BB962C8B-B14F-4D97-AF65-F5344CB8AC3E}">
        <p14:creationId xmlns:p14="http://schemas.microsoft.com/office/powerpoint/2010/main" val="695017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7095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8031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맑은 고딕"/>
              </a:rPr>
              <a:t>Task 1.  ALD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불화물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박막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합성</a:t>
            </a:r>
            <a:endParaRPr sz="10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연차별 연구 추진 일정 (간트 차트)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전구체 최적화 및 ALD 파라미터 탐색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1.  ALD 불화물 박막 합성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 dirty="0" err="1">
                <a:solidFill>
                  <a:srgbClr val="FFFFFF"/>
                </a:solidFill>
                <a:latin typeface="맑은 고딕"/>
              </a:rPr>
              <a:t>전구체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최적화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및 ALD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파라미터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탐색</a:t>
            </a:r>
            <a:endParaRPr sz="720" b="0" dirty="0">
              <a:solidFill>
                <a:srgbClr val="FFFFFF"/>
              </a:solidFill>
              <a:latin typeface="맑은 고딕"/>
            </a:endParaRP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99519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03881FD-E899-0FE3-7A97-6AD16115C2C0}"/>
              </a:ext>
            </a:extLst>
          </p:cNvPr>
          <p:cNvSpPr/>
          <p:nvPr/>
        </p:nvSpPr>
        <p:spPr>
          <a:xfrm>
            <a:off x="1100668" y="22240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D869DAAF-2B9A-6103-C452-C6C1EF27FEEF}"/>
              </a:ext>
            </a:extLst>
          </p:cNvPr>
          <p:cNvSpPr/>
          <p:nvPr/>
        </p:nvSpPr>
        <p:spPr>
          <a:xfrm>
            <a:off x="1100668" y="22240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47212D52-F7FF-D74B-8BD7-9260C5BEB11A}"/>
              </a:ext>
            </a:extLst>
          </p:cNvPr>
          <p:cNvSpPr txBox="1"/>
          <p:nvPr/>
        </p:nvSpPr>
        <p:spPr>
          <a:xfrm>
            <a:off x="1190668" y="2238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① ALD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증착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조건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최적화</a:t>
            </a:r>
            <a:endParaRPr sz="780" b="1" dirty="0">
              <a:solidFill>
                <a:srgbClr val="1565C0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F92BC18-E963-B9B7-0676-B9B844D69AD8}"/>
              </a:ext>
            </a:extLst>
          </p:cNvPr>
          <p:cNvSpPr txBox="1"/>
          <p:nvPr/>
        </p:nvSpPr>
        <p:spPr>
          <a:xfrm>
            <a:off x="1190668" y="2389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(ZnF₂, AlF₃, LiF)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436005D-A88D-BABF-8B59-64F9D41028B1}"/>
              </a:ext>
            </a:extLst>
          </p:cNvPr>
          <p:cNvSpPr/>
          <p:nvPr/>
        </p:nvSpPr>
        <p:spPr>
          <a:xfrm>
            <a:off x="1100668" y="25696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EC0893CC-1AAA-15DC-79C5-DF8E1D6B8BBA}"/>
              </a:ext>
            </a:extLst>
          </p:cNvPr>
          <p:cNvSpPr/>
          <p:nvPr/>
        </p:nvSpPr>
        <p:spPr>
          <a:xfrm>
            <a:off x="1100668" y="25696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528BA99-B718-87A9-C3B3-412A533A1C8B}"/>
              </a:ext>
            </a:extLst>
          </p:cNvPr>
          <p:cNvSpPr txBox="1"/>
          <p:nvPr/>
        </p:nvSpPr>
        <p:spPr>
          <a:xfrm>
            <a:off x="1190668" y="2584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② 박막 구조·화학 조성 분석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8BAE8CE8-FE70-6CC9-99CD-34272DF216A1}"/>
              </a:ext>
            </a:extLst>
          </p:cNvPr>
          <p:cNvSpPr txBox="1"/>
          <p:nvPr/>
        </p:nvSpPr>
        <p:spPr>
          <a:xfrm>
            <a:off x="1190668" y="2735232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(XRD / XPS / TEM / ToF-SIMS)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5892ACD-1478-6E73-BDCE-EBD1B57943ED}"/>
              </a:ext>
            </a:extLst>
          </p:cNvPr>
          <p:cNvSpPr/>
          <p:nvPr/>
        </p:nvSpPr>
        <p:spPr>
          <a:xfrm>
            <a:off x="1100668" y="29152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C2497B53-7DAE-0B5D-494E-F17694FFDBB2}"/>
              </a:ext>
            </a:extLst>
          </p:cNvPr>
          <p:cNvSpPr/>
          <p:nvPr/>
        </p:nvSpPr>
        <p:spPr>
          <a:xfrm>
            <a:off x="1100668" y="29152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8782AC62-D03A-3A0C-5B56-64CAAC58611E}"/>
              </a:ext>
            </a:extLst>
          </p:cNvPr>
          <p:cNvSpPr txBox="1"/>
          <p:nvPr/>
        </p:nvSpPr>
        <p:spPr>
          <a:xfrm>
            <a:off x="1190668" y="29296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③ EIS · Li⁺ 이온전도도 평가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42294A1-B8C3-04FD-EE81-68618603F38F}"/>
              </a:ext>
            </a:extLst>
          </p:cNvPr>
          <p:cNvSpPr txBox="1"/>
          <p:nvPr/>
        </p:nvSpPr>
        <p:spPr>
          <a:xfrm>
            <a:off x="1190668" y="3080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(pinhole-free 조건 확립)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FF4C663-746F-C66E-F9BE-8005E1B5B7F5}"/>
              </a:ext>
            </a:extLst>
          </p:cNvPr>
          <p:cNvSpPr/>
          <p:nvPr/>
        </p:nvSpPr>
        <p:spPr>
          <a:xfrm>
            <a:off x="1100668" y="32608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5AC6882D-67FB-97CD-935A-A36F889C150F}"/>
              </a:ext>
            </a:extLst>
          </p:cNvPr>
          <p:cNvSpPr/>
          <p:nvPr/>
        </p:nvSpPr>
        <p:spPr>
          <a:xfrm>
            <a:off x="1100668" y="32608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DBE1854-04A5-A75E-9743-589ACED2CE48}"/>
              </a:ext>
            </a:extLst>
          </p:cNvPr>
          <p:cNvSpPr txBox="1"/>
          <p:nvPr/>
        </p:nvSpPr>
        <p:spPr>
          <a:xfrm>
            <a:off x="1190668" y="3275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④ Cryo-TEM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핵생성</a:t>
            </a:r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관찰</a:t>
            </a:r>
            <a:endParaRPr sz="780" b="1" dirty="0">
              <a:solidFill>
                <a:srgbClr val="2E7D32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7392CA3-F382-65EA-41D4-2C2E8D88BFF2}"/>
              </a:ext>
            </a:extLst>
          </p:cNvPr>
          <p:cNvSpPr txBox="1"/>
          <p:nvPr/>
        </p:nvSpPr>
        <p:spPr>
          <a:xfrm>
            <a:off x="1190668" y="3426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핵생성 나노구조 실시간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2AB0769-20C6-7CC6-6946-70F1070B3047}"/>
              </a:ext>
            </a:extLst>
          </p:cNvPr>
          <p:cNvSpPr/>
          <p:nvPr/>
        </p:nvSpPr>
        <p:spPr>
          <a:xfrm>
            <a:off x="1100668" y="36064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F858564-7A9A-9669-F637-FA7D34BEE146}"/>
              </a:ext>
            </a:extLst>
          </p:cNvPr>
          <p:cNvSpPr/>
          <p:nvPr/>
        </p:nvSpPr>
        <p:spPr>
          <a:xfrm>
            <a:off x="1100668" y="36064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551E4A4E-3893-D7BB-3582-B617501D11AF}"/>
              </a:ext>
            </a:extLst>
          </p:cNvPr>
          <p:cNvSpPr txBox="1"/>
          <p:nvPr/>
        </p:nvSpPr>
        <p:spPr>
          <a:xfrm>
            <a:off x="1190668" y="36208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⑤ Operando XRD / in-situ SEM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3349C5C8-1C53-5C4F-AF52-94D473787FDC}"/>
              </a:ext>
            </a:extLst>
          </p:cNvPr>
          <p:cNvSpPr txBox="1"/>
          <p:nvPr/>
        </p:nvSpPr>
        <p:spPr>
          <a:xfrm>
            <a:off x="1190668" y="37720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증착·용해 거동 모니터링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BC4F2B4D-7E91-E183-7CDC-BD9CF16F5631}"/>
              </a:ext>
            </a:extLst>
          </p:cNvPr>
          <p:cNvSpPr/>
          <p:nvPr/>
        </p:nvSpPr>
        <p:spPr>
          <a:xfrm>
            <a:off x="1100668" y="3952032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0E07732D-345D-6499-2561-BB41E0C4AC8B}"/>
              </a:ext>
            </a:extLst>
          </p:cNvPr>
          <p:cNvSpPr/>
          <p:nvPr/>
        </p:nvSpPr>
        <p:spPr>
          <a:xfrm>
            <a:off x="1100668" y="3952032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0BDB0FA3-EB15-523D-53E5-4AE02898D23A}"/>
              </a:ext>
            </a:extLst>
          </p:cNvPr>
          <p:cNvSpPr txBox="1"/>
          <p:nvPr/>
        </p:nvSpPr>
        <p:spPr>
          <a:xfrm>
            <a:off x="1190668" y="3966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⑥ DFT 이론 계산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D83242C7-0D63-6125-F10D-A718AE211FD2}"/>
              </a:ext>
            </a:extLst>
          </p:cNvPr>
          <p:cNvSpPr txBox="1"/>
          <p:nvPr/>
        </p:nvSpPr>
        <p:spPr>
          <a:xfrm>
            <a:off x="1190668" y="4117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계면 Li⁺ 확산 에너지 배리어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7B01C5-CB85-94B5-1017-B5352C640543}"/>
              </a:ext>
            </a:extLst>
          </p:cNvPr>
          <p:cNvSpPr/>
          <p:nvPr/>
        </p:nvSpPr>
        <p:spPr>
          <a:xfrm>
            <a:off x="1100668" y="42976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AB50607-CD6B-A897-5E89-079FD3910EAF}"/>
              </a:ext>
            </a:extLst>
          </p:cNvPr>
          <p:cNvSpPr/>
          <p:nvPr/>
        </p:nvSpPr>
        <p:spPr>
          <a:xfrm>
            <a:off x="1100668" y="42976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DE98098-44C3-7ED6-670B-E3A9ED9E53EF}"/>
              </a:ext>
            </a:extLst>
          </p:cNvPr>
          <p:cNvSpPr txBox="1"/>
          <p:nvPr/>
        </p:nvSpPr>
        <p:spPr>
          <a:xfrm>
            <a:off x="1190668" y="4312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⑦ Li||NCM 풀 셀 장기 사이클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9E044C84-5BDF-396B-D8D3-C79510912556}"/>
              </a:ext>
            </a:extLst>
          </p:cNvPr>
          <p:cNvSpPr txBox="1"/>
          <p:nvPr/>
        </p:nvSpPr>
        <p:spPr>
          <a:xfrm>
            <a:off x="1190668" y="44632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&gt;300 사이클, CE &gt;99.5%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48A970D1-E9C7-9A8A-60C9-B9BA449B2719}"/>
              </a:ext>
            </a:extLst>
          </p:cNvPr>
          <p:cNvSpPr/>
          <p:nvPr/>
        </p:nvSpPr>
        <p:spPr>
          <a:xfrm>
            <a:off x="1100668" y="46432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7073B1A-7FB7-0FE1-C51B-0D4072830E3A}"/>
              </a:ext>
            </a:extLst>
          </p:cNvPr>
          <p:cNvSpPr/>
          <p:nvPr/>
        </p:nvSpPr>
        <p:spPr>
          <a:xfrm>
            <a:off x="1100668" y="46432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D9130242-FEEC-B5D1-51C9-ED7D9CE0C08E}"/>
              </a:ext>
            </a:extLst>
          </p:cNvPr>
          <p:cNvSpPr txBox="1"/>
          <p:nvPr/>
        </p:nvSpPr>
        <p:spPr>
          <a:xfrm>
            <a:off x="1190668" y="46576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⑧ Post-mortem XPS/TEM 분석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4EFA48A3-8BC7-95C7-0AA6-8734285B4EBD}"/>
              </a:ext>
            </a:extLst>
          </p:cNvPr>
          <p:cNvSpPr txBox="1"/>
          <p:nvPr/>
        </p:nvSpPr>
        <p:spPr>
          <a:xfrm>
            <a:off x="1190668" y="4808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SEI 조성 변화·열화 메커니즘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3D1381DF-C27D-17E7-66E0-F358F9BE3CC8}"/>
              </a:ext>
            </a:extLst>
          </p:cNvPr>
          <p:cNvSpPr/>
          <p:nvPr/>
        </p:nvSpPr>
        <p:spPr>
          <a:xfrm>
            <a:off x="1100668" y="49888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B0CDBBB7-5600-2C91-616C-D8E7C87AD5C0}"/>
              </a:ext>
            </a:extLst>
          </p:cNvPr>
          <p:cNvSpPr/>
          <p:nvPr/>
        </p:nvSpPr>
        <p:spPr>
          <a:xfrm>
            <a:off x="1100668" y="49888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2441351F-EB0B-9173-5845-A812D3819CB0}"/>
              </a:ext>
            </a:extLst>
          </p:cNvPr>
          <p:cNvSpPr txBox="1"/>
          <p:nvPr/>
        </p:nvSpPr>
        <p:spPr>
          <a:xfrm>
            <a:off x="1190668" y="5003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⑨ ALD 인공 SEI 설계 원칙 도출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F4D5BC69-1B0D-D297-492B-306646023BFE}"/>
              </a:ext>
            </a:extLst>
          </p:cNvPr>
          <p:cNvSpPr txBox="1"/>
          <p:nvPr/>
        </p:nvSpPr>
        <p:spPr>
          <a:xfrm>
            <a:off x="1190668" y="5154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ZnF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₂/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AlF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₃/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비교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720" b="0" dirty="0">
              <a:solidFill>
                <a:srgbClr val="E651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7A446D8-1C6F-715A-E753-345581674C62}"/>
              </a:ext>
            </a:extLst>
          </p:cNvPr>
          <p:cNvSpPr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1D64A57-A3B2-4049-7F46-25143C6B6B25}"/>
              </a:ext>
            </a:extLst>
          </p:cNvPr>
          <p:cNvSpPr txBox="1"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3D41351-4E2C-1DB6-4D6E-BCF83B650F55}"/>
              </a:ext>
            </a:extLst>
          </p:cNvPr>
          <p:cNvSpPr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208BCA0-A120-ABB1-A9B1-9BE6CF092E07}"/>
              </a:ext>
            </a:extLst>
          </p:cNvPr>
          <p:cNvSpPr txBox="1"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4B9737-C6BD-FFC0-128D-0532AD3BB48B}"/>
              </a:ext>
            </a:extLst>
          </p:cNvPr>
          <p:cNvSpPr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2B6CE28-D26B-BC18-728F-5931334F53D2}"/>
              </a:ext>
            </a:extLst>
          </p:cNvPr>
          <p:cNvSpPr txBox="1"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2F04082-0C22-F309-B8CC-F1D3E30FF53E}"/>
              </a:ext>
            </a:extLst>
          </p:cNvPr>
          <p:cNvSpPr/>
          <p:nvPr/>
        </p:nvSpPr>
        <p:spPr>
          <a:xfrm>
            <a:off x="2954668" y="2249233"/>
            <a:ext cx="52198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DCCCFF5-A8D7-C138-11E0-A31919CC9B0C}"/>
              </a:ext>
            </a:extLst>
          </p:cNvPr>
          <p:cNvSpPr txBox="1"/>
          <p:nvPr/>
        </p:nvSpPr>
        <p:spPr>
          <a:xfrm>
            <a:off x="295466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CC3E173-E79C-8660-4AD9-9555540967B9}"/>
              </a:ext>
            </a:extLst>
          </p:cNvPr>
          <p:cNvSpPr txBox="1"/>
          <p:nvPr/>
        </p:nvSpPr>
        <p:spPr>
          <a:xfrm>
            <a:off x="3389660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1778B3-AC96-0699-7B60-04C85CFE70C4}"/>
              </a:ext>
            </a:extLst>
          </p:cNvPr>
          <p:cNvSpPr txBox="1"/>
          <p:nvPr/>
        </p:nvSpPr>
        <p:spPr>
          <a:xfrm>
            <a:off x="382465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A668B2D-336D-4E94-924F-87C2E876C759}"/>
              </a:ext>
            </a:extLst>
          </p:cNvPr>
          <p:cNvSpPr txBox="1"/>
          <p:nvPr/>
        </p:nvSpPr>
        <p:spPr>
          <a:xfrm>
            <a:off x="425964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69C5244-9EE4-D6FB-A891-5E45E58EE2C1}"/>
              </a:ext>
            </a:extLst>
          </p:cNvPr>
          <p:cNvSpPr txBox="1"/>
          <p:nvPr/>
        </p:nvSpPr>
        <p:spPr>
          <a:xfrm>
            <a:off x="469463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74C43DA-086D-5AA1-D3D7-1D91B87A5BAF}"/>
              </a:ext>
            </a:extLst>
          </p:cNvPr>
          <p:cNvSpPr txBox="1"/>
          <p:nvPr/>
        </p:nvSpPr>
        <p:spPr>
          <a:xfrm>
            <a:off x="5129626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B25F716-8539-9586-CFC2-BBCCFEF786BD}"/>
              </a:ext>
            </a:extLst>
          </p:cNvPr>
          <p:cNvSpPr txBox="1"/>
          <p:nvPr/>
        </p:nvSpPr>
        <p:spPr>
          <a:xfrm>
            <a:off x="556461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1CD4795-C956-9B9F-17FC-7B8DB5CE54EA}"/>
              </a:ext>
            </a:extLst>
          </p:cNvPr>
          <p:cNvSpPr txBox="1"/>
          <p:nvPr/>
        </p:nvSpPr>
        <p:spPr>
          <a:xfrm>
            <a:off x="5999609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51405B8-EF3A-7228-033E-A0A07E913F81}"/>
              </a:ext>
            </a:extLst>
          </p:cNvPr>
          <p:cNvSpPr txBox="1"/>
          <p:nvPr/>
        </p:nvSpPr>
        <p:spPr>
          <a:xfrm>
            <a:off x="643460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4C6BF81-BB8F-D37D-E545-B0D327BD2497}"/>
              </a:ext>
            </a:extLst>
          </p:cNvPr>
          <p:cNvSpPr txBox="1"/>
          <p:nvPr/>
        </p:nvSpPr>
        <p:spPr>
          <a:xfrm>
            <a:off x="686959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DC6BDB5-F4B3-8B5A-7A17-D63D50A48236}"/>
              </a:ext>
            </a:extLst>
          </p:cNvPr>
          <p:cNvSpPr txBox="1"/>
          <p:nvPr/>
        </p:nvSpPr>
        <p:spPr>
          <a:xfrm>
            <a:off x="7304584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CECFAD2-4167-4531-B923-331E449F76F7}"/>
              </a:ext>
            </a:extLst>
          </p:cNvPr>
          <p:cNvSpPr txBox="1"/>
          <p:nvPr/>
        </p:nvSpPr>
        <p:spPr>
          <a:xfrm>
            <a:off x="773957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131" name="Connector 79">
            <a:extLst>
              <a:ext uri="{FF2B5EF4-FFF2-40B4-BE49-F238E27FC236}">
                <a16:creationId xmlns:a16="http://schemas.microsoft.com/office/drawing/2014/main" id="{757763DB-D1B2-70C4-E6E8-A18C0F2E1E91}"/>
              </a:ext>
            </a:extLst>
          </p:cNvPr>
          <p:cNvCxnSpPr/>
          <p:nvPr/>
        </p:nvCxnSpPr>
        <p:spPr>
          <a:xfrm>
            <a:off x="2954668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80">
            <a:extLst>
              <a:ext uri="{FF2B5EF4-FFF2-40B4-BE49-F238E27FC236}">
                <a16:creationId xmlns:a16="http://schemas.microsoft.com/office/drawing/2014/main" id="{098EC66F-1257-5271-906B-41B750BA6FC8}"/>
              </a:ext>
            </a:extLst>
          </p:cNvPr>
          <p:cNvCxnSpPr/>
          <p:nvPr/>
        </p:nvCxnSpPr>
        <p:spPr>
          <a:xfrm>
            <a:off x="3389660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81">
            <a:extLst>
              <a:ext uri="{FF2B5EF4-FFF2-40B4-BE49-F238E27FC236}">
                <a16:creationId xmlns:a16="http://schemas.microsoft.com/office/drawing/2014/main" id="{2567E60E-DBF3-5D38-DE95-BC03496996F5}"/>
              </a:ext>
            </a:extLst>
          </p:cNvPr>
          <p:cNvCxnSpPr/>
          <p:nvPr/>
        </p:nvCxnSpPr>
        <p:spPr>
          <a:xfrm>
            <a:off x="3824651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82">
            <a:extLst>
              <a:ext uri="{FF2B5EF4-FFF2-40B4-BE49-F238E27FC236}">
                <a16:creationId xmlns:a16="http://schemas.microsoft.com/office/drawing/2014/main" id="{86D17D0B-EA34-F7B7-E554-CDB8B0EA5A75}"/>
              </a:ext>
            </a:extLst>
          </p:cNvPr>
          <p:cNvCxnSpPr/>
          <p:nvPr/>
        </p:nvCxnSpPr>
        <p:spPr>
          <a:xfrm>
            <a:off x="425964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83">
            <a:extLst>
              <a:ext uri="{FF2B5EF4-FFF2-40B4-BE49-F238E27FC236}">
                <a16:creationId xmlns:a16="http://schemas.microsoft.com/office/drawing/2014/main" id="{1F8EA9DF-1E6E-BF97-9619-4203766D95A1}"/>
              </a:ext>
            </a:extLst>
          </p:cNvPr>
          <p:cNvCxnSpPr/>
          <p:nvPr/>
        </p:nvCxnSpPr>
        <p:spPr>
          <a:xfrm>
            <a:off x="4694635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84">
            <a:extLst>
              <a:ext uri="{FF2B5EF4-FFF2-40B4-BE49-F238E27FC236}">
                <a16:creationId xmlns:a16="http://schemas.microsoft.com/office/drawing/2014/main" id="{F19D1068-D027-548C-E3E4-DD4524FA18ED}"/>
              </a:ext>
            </a:extLst>
          </p:cNvPr>
          <p:cNvCxnSpPr/>
          <p:nvPr/>
        </p:nvCxnSpPr>
        <p:spPr>
          <a:xfrm>
            <a:off x="5129626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85">
            <a:extLst>
              <a:ext uri="{FF2B5EF4-FFF2-40B4-BE49-F238E27FC236}">
                <a16:creationId xmlns:a16="http://schemas.microsoft.com/office/drawing/2014/main" id="{C87A9C0E-92F7-8C18-0148-A70BA2C71CDC}"/>
              </a:ext>
            </a:extLst>
          </p:cNvPr>
          <p:cNvCxnSpPr/>
          <p:nvPr/>
        </p:nvCxnSpPr>
        <p:spPr>
          <a:xfrm>
            <a:off x="5564618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86">
            <a:extLst>
              <a:ext uri="{FF2B5EF4-FFF2-40B4-BE49-F238E27FC236}">
                <a16:creationId xmlns:a16="http://schemas.microsoft.com/office/drawing/2014/main" id="{D56A04C9-0E75-31B4-2493-8C8D693B6AEB}"/>
              </a:ext>
            </a:extLst>
          </p:cNvPr>
          <p:cNvCxnSpPr/>
          <p:nvPr/>
        </p:nvCxnSpPr>
        <p:spPr>
          <a:xfrm>
            <a:off x="5999609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87">
            <a:extLst>
              <a:ext uri="{FF2B5EF4-FFF2-40B4-BE49-F238E27FC236}">
                <a16:creationId xmlns:a16="http://schemas.microsoft.com/office/drawing/2014/main" id="{3F16021E-3C29-5C6A-44A2-BA1AFCCE01C8}"/>
              </a:ext>
            </a:extLst>
          </p:cNvPr>
          <p:cNvCxnSpPr/>
          <p:nvPr/>
        </p:nvCxnSpPr>
        <p:spPr>
          <a:xfrm>
            <a:off x="6434601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88">
            <a:extLst>
              <a:ext uri="{FF2B5EF4-FFF2-40B4-BE49-F238E27FC236}">
                <a16:creationId xmlns:a16="http://schemas.microsoft.com/office/drawing/2014/main" id="{DF229B76-FB26-C79A-6BA5-7823BAFBAB39}"/>
              </a:ext>
            </a:extLst>
          </p:cNvPr>
          <p:cNvCxnSpPr/>
          <p:nvPr/>
        </p:nvCxnSpPr>
        <p:spPr>
          <a:xfrm>
            <a:off x="686959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89">
            <a:extLst>
              <a:ext uri="{FF2B5EF4-FFF2-40B4-BE49-F238E27FC236}">
                <a16:creationId xmlns:a16="http://schemas.microsoft.com/office/drawing/2014/main" id="{C12359A7-7732-4DD8-9F5F-D1270EECBAB5}"/>
              </a:ext>
            </a:extLst>
          </p:cNvPr>
          <p:cNvCxnSpPr/>
          <p:nvPr/>
        </p:nvCxnSpPr>
        <p:spPr>
          <a:xfrm>
            <a:off x="7304584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90">
            <a:extLst>
              <a:ext uri="{FF2B5EF4-FFF2-40B4-BE49-F238E27FC236}">
                <a16:creationId xmlns:a16="http://schemas.microsoft.com/office/drawing/2014/main" id="{452F4D21-F144-B312-26B2-D08DC8F141EA}"/>
              </a:ext>
            </a:extLst>
          </p:cNvPr>
          <p:cNvCxnSpPr/>
          <p:nvPr/>
        </p:nvCxnSpPr>
        <p:spPr>
          <a:xfrm>
            <a:off x="7739575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91">
            <a:extLst>
              <a:ext uri="{FF2B5EF4-FFF2-40B4-BE49-F238E27FC236}">
                <a16:creationId xmlns:a16="http://schemas.microsoft.com/office/drawing/2014/main" id="{BFC24B34-DD0D-E422-5C9A-7C72D37328DB}"/>
              </a:ext>
            </a:extLst>
          </p:cNvPr>
          <p:cNvCxnSpPr/>
          <p:nvPr/>
        </p:nvCxnSpPr>
        <p:spPr>
          <a:xfrm>
            <a:off x="8174567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32782F6-1339-CF72-6541-D661CD5EA757}"/>
              </a:ext>
            </a:extLst>
          </p:cNvPr>
          <p:cNvSpPr/>
          <p:nvPr/>
        </p:nvSpPr>
        <p:spPr>
          <a:xfrm>
            <a:off x="2954668" y="22240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9C1B6CE-301E-E80B-534B-52CD4B0B1E9B}"/>
              </a:ext>
            </a:extLst>
          </p:cNvPr>
          <p:cNvSpPr/>
          <p:nvPr/>
        </p:nvSpPr>
        <p:spPr>
          <a:xfrm>
            <a:off x="2965030" y="2303233"/>
            <a:ext cx="1719242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0250A0C-C752-E8F1-CD8E-7333166D1EA0}"/>
              </a:ext>
            </a:extLst>
          </p:cNvPr>
          <p:cNvSpPr txBox="1"/>
          <p:nvPr/>
        </p:nvSpPr>
        <p:spPr>
          <a:xfrm>
            <a:off x="2911318" y="2295033"/>
            <a:ext cx="1789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전구체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최적화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및 ALD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파라미터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탐색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52F9318E-CA32-86BB-BB73-7BBAB04362D7}"/>
              </a:ext>
            </a:extLst>
          </p:cNvPr>
          <p:cNvSpPr/>
          <p:nvPr/>
        </p:nvSpPr>
        <p:spPr>
          <a:xfrm>
            <a:off x="2954668" y="25696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3FA7D43D-C162-8535-267B-029240BB1A04}"/>
              </a:ext>
            </a:extLst>
          </p:cNvPr>
          <p:cNvSpPr/>
          <p:nvPr/>
        </p:nvSpPr>
        <p:spPr>
          <a:xfrm>
            <a:off x="3400022" y="2648832"/>
            <a:ext cx="2154233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B70FA59A-EEF0-BD7A-030B-077D1D7E0717}"/>
              </a:ext>
            </a:extLst>
          </p:cNvPr>
          <p:cNvSpPr txBox="1"/>
          <p:nvPr/>
        </p:nvSpPr>
        <p:spPr>
          <a:xfrm>
            <a:off x="3400022" y="26488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XRD / XPS / TEM-EDS / ToF-SIMS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471CE5D1-E068-5535-48A0-3DA2655D16FD}"/>
              </a:ext>
            </a:extLst>
          </p:cNvPr>
          <p:cNvSpPr/>
          <p:nvPr/>
        </p:nvSpPr>
        <p:spPr>
          <a:xfrm>
            <a:off x="2954668" y="29152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FC7B023-3416-5CF9-AEAE-8EADC78A9299}"/>
              </a:ext>
            </a:extLst>
          </p:cNvPr>
          <p:cNvSpPr/>
          <p:nvPr/>
        </p:nvSpPr>
        <p:spPr>
          <a:xfrm>
            <a:off x="3617415" y="2994433"/>
            <a:ext cx="1066856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84DE01C-9BE0-9A0F-A2D1-CF2236F05B34}"/>
              </a:ext>
            </a:extLst>
          </p:cNvPr>
          <p:cNvSpPr txBox="1"/>
          <p:nvPr/>
        </p:nvSpPr>
        <p:spPr>
          <a:xfrm>
            <a:off x="3594184" y="2990453"/>
            <a:ext cx="114968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EIS · Li⁺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이온전도도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2193BCD-B4AB-9989-695D-E50EFD4CBB2A}"/>
              </a:ext>
            </a:extLst>
          </p:cNvPr>
          <p:cNvSpPr/>
          <p:nvPr/>
        </p:nvSpPr>
        <p:spPr>
          <a:xfrm>
            <a:off x="2954668" y="32608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7A632D6-D0EF-4098-FA43-FEBB216A22C1}"/>
              </a:ext>
            </a:extLst>
          </p:cNvPr>
          <p:cNvSpPr/>
          <p:nvPr/>
        </p:nvSpPr>
        <p:spPr>
          <a:xfrm>
            <a:off x="3835013" y="3340033"/>
            <a:ext cx="2589225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E393352-50DB-6D06-2014-F92B0EF30C84}"/>
              </a:ext>
            </a:extLst>
          </p:cNvPr>
          <p:cNvSpPr txBox="1"/>
          <p:nvPr/>
        </p:nvSpPr>
        <p:spPr>
          <a:xfrm>
            <a:off x="3835013" y="33400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Cryo-TEM Li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핵생성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나노구조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관찰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F2F58E69-6B4A-3993-04B4-A6C495EB29D6}"/>
              </a:ext>
            </a:extLst>
          </p:cNvPr>
          <p:cNvSpPr/>
          <p:nvPr/>
        </p:nvSpPr>
        <p:spPr>
          <a:xfrm>
            <a:off x="2954668" y="36064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F0EAD0D8-B0C0-EE0C-5516-71D7A7C7A372}"/>
              </a:ext>
            </a:extLst>
          </p:cNvPr>
          <p:cNvSpPr/>
          <p:nvPr/>
        </p:nvSpPr>
        <p:spPr>
          <a:xfrm>
            <a:off x="4270004" y="3685633"/>
            <a:ext cx="2154233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B228ABA5-2415-1F59-DC7D-2AFCADA28CAB}"/>
              </a:ext>
            </a:extLst>
          </p:cNvPr>
          <p:cNvSpPr txBox="1"/>
          <p:nvPr/>
        </p:nvSpPr>
        <p:spPr>
          <a:xfrm>
            <a:off x="4270004" y="3685633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Operando XRD / in-situ SEM 모니터링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2FDAAB6-F178-5C68-C544-7541EB7F2193}"/>
              </a:ext>
            </a:extLst>
          </p:cNvPr>
          <p:cNvSpPr/>
          <p:nvPr/>
        </p:nvSpPr>
        <p:spPr>
          <a:xfrm>
            <a:off x="2954668" y="3952032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AF677B8-EE66-D3D6-8C5C-BA526A1CAF46}"/>
              </a:ext>
            </a:extLst>
          </p:cNvPr>
          <p:cNvSpPr/>
          <p:nvPr/>
        </p:nvSpPr>
        <p:spPr>
          <a:xfrm>
            <a:off x="4270004" y="4031232"/>
            <a:ext cx="2154233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BF6B294A-4754-6FD2-D8D4-14219D2CB8CA}"/>
              </a:ext>
            </a:extLst>
          </p:cNvPr>
          <p:cNvSpPr txBox="1"/>
          <p:nvPr/>
        </p:nvSpPr>
        <p:spPr>
          <a:xfrm>
            <a:off x="4270004" y="40312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DFT: 불화물/Li 계면 Li⁺ 확산 에너지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E710C44-8B28-8FA1-2F86-0C10883F5259}"/>
              </a:ext>
            </a:extLst>
          </p:cNvPr>
          <p:cNvSpPr/>
          <p:nvPr/>
        </p:nvSpPr>
        <p:spPr>
          <a:xfrm>
            <a:off x="2954668" y="42976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CD4141BB-5CA0-0006-D16A-D8D6AA52ABE2}"/>
              </a:ext>
            </a:extLst>
          </p:cNvPr>
          <p:cNvSpPr/>
          <p:nvPr/>
        </p:nvSpPr>
        <p:spPr>
          <a:xfrm>
            <a:off x="5574980" y="4376833"/>
            <a:ext cx="2589225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9BAAF75E-BF49-818B-593E-21D9730509CB}"/>
              </a:ext>
            </a:extLst>
          </p:cNvPr>
          <p:cNvSpPr txBox="1"/>
          <p:nvPr/>
        </p:nvSpPr>
        <p:spPr>
          <a:xfrm>
            <a:off x="5574980" y="43768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Li||NCM Full Cell 장기 사이클링 (&gt;300 cycles)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3EF0248-7C0F-9241-57EF-365C7FBE1762}"/>
              </a:ext>
            </a:extLst>
          </p:cNvPr>
          <p:cNvSpPr/>
          <p:nvPr/>
        </p:nvSpPr>
        <p:spPr>
          <a:xfrm>
            <a:off x="2954668" y="46432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44ED841-E4E0-7E9B-DB37-B994FF483C18}"/>
              </a:ext>
            </a:extLst>
          </p:cNvPr>
          <p:cNvSpPr/>
          <p:nvPr/>
        </p:nvSpPr>
        <p:spPr>
          <a:xfrm>
            <a:off x="6444963" y="4722432"/>
            <a:ext cx="1719242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0F24B811-EAAF-AC1D-7CA2-4D914D2910C8}"/>
              </a:ext>
            </a:extLst>
          </p:cNvPr>
          <p:cNvSpPr txBox="1"/>
          <p:nvPr/>
        </p:nvSpPr>
        <p:spPr>
          <a:xfrm>
            <a:off x="6444963" y="4722432"/>
            <a:ext cx="17192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Post-mortem XPS / TEM 분석</a:t>
            </a: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9D3EE103-B7F5-0958-6459-229795E0FF8C}"/>
              </a:ext>
            </a:extLst>
          </p:cNvPr>
          <p:cNvSpPr/>
          <p:nvPr/>
        </p:nvSpPr>
        <p:spPr>
          <a:xfrm>
            <a:off x="2954668" y="49888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18CD2B0E-38E1-964A-022C-AC5875361863}"/>
              </a:ext>
            </a:extLst>
          </p:cNvPr>
          <p:cNvSpPr/>
          <p:nvPr/>
        </p:nvSpPr>
        <p:spPr>
          <a:xfrm>
            <a:off x="6741138" y="5068033"/>
            <a:ext cx="1423066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6B0CF69-AEDC-ECD2-DE99-E06A9B1065ED}"/>
              </a:ext>
            </a:extLst>
          </p:cNvPr>
          <p:cNvSpPr txBox="1"/>
          <p:nvPr/>
        </p:nvSpPr>
        <p:spPr>
          <a:xfrm>
            <a:off x="6741138" y="5060083"/>
            <a:ext cx="149476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범용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ALD-SEI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설계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원칙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cxnSp>
        <p:nvCxnSpPr>
          <p:cNvPr id="216" name="Connector 164">
            <a:extLst>
              <a:ext uri="{FF2B5EF4-FFF2-40B4-BE49-F238E27FC236}">
                <a16:creationId xmlns:a16="http://schemas.microsoft.com/office/drawing/2014/main" id="{28B9EAD6-21D6-89E9-F633-9AE885B4A7EB}"/>
              </a:ext>
            </a:extLst>
          </p:cNvPr>
          <p:cNvCxnSpPr/>
          <p:nvPr/>
        </p:nvCxnSpPr>
        <p:spPr>
          <a:xfrm>
            <a:off x="2954668" y="2224032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339346E2-7AD3-8CF9-3CF0-729A941BF577}"/>
              </a:ext>
            </a:extLst>
          </p:cNvPr>
          <p:cNvGrpSpPr/>
          <p:nvPr/>
        </p:nvGrpSpPr>
        <p:grpSpPr>
          <a:xfrm>
            <a:off x="1092468" y="2569632"/>
            <a:ext cx="7085923" cy="2793601"/>
            <a:chOff x="-133366" y="1932432"/>
            <a:chExt cx="9159545" cy="2793601"/>
          </a:xfrm>
        </p:grpSpPr>
        <p:cxnSp>
          <p:nvCxnSpPr>
            <p:cNvPr id="151" name="Connector 99">
              <a:extLst>
                <a:ext uri="{FF2B5EF4-FFF2-40B4-BE49-F238E27FC236}">
                  <a16:creationId xmlns:a16="http://schemas.microsoft.com/office/drawing/2014/main" id="{E2797AD0-54EA-9A46-3AD4-8C8A579226FD}"/>
                </a:ext>
              </a:extLst>
            </p:cNvPr>
            <p:cNvCxnSpPr/>
            <p:nvPr/>
          </p:nvCxnSpPr>
          <p:spPr>
            <a:xfrm>
              <a:off x="-122766" y="19324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 107">
              <a:extLst>
                <a:ext uri="{FF2B5EF4-FFF2-40B4-BE49-F238E27FC236}">
                  <a16:creationId xmlns:a16="http://schemas.microsoft.com/office/drawing/2014/main" id="{95C3023A-0A1A-401E-E2F4-985EB628C9E9}"/>
                </a:ext>
              </a:extLst>
            </p:cNvPr>
            <p:cNvCxnSpPr/>
            <p:nvPr/>
          </p:nvCxnSpPr>
          <p:spPr>
            <a:xfrm>
              <a:off x="-122766" y="22780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 115">
              <a:extLst>
                <a:ext uri="{FF2B5EF4-FFF2-40B4-BE49-F238E27FC236}">
                  <a16:creationId xmlns:a16="http://schemas.microsoft.com/office/drawing/2014/main" id="{B8654474-C37A-6732-0206-CBDBE8E6821E}"/>
                </a:ext>
              </a:extLst>
            </p:cNvPr>
            <p:cNvCxnSpPr/>
            <p:nvPr/>
          </p:nvCxnSpPr>
          <p:spPr>
            <a:xfrm>
              <a:off x="-122766" y="26236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23">
              <a:extLst>
                <a:ext uri="{FF2B5EF4-FFF2-40B4-BE49-F238E27FC236}">
                  <a16:creationId xmlns:a16="http://schemas.microsoft.com/office/drawing/2014/main" id="{6207829D-65CA-4D20-5E4E-3C6BA78B2D8A}"/>
                </a:ext>
              </a:extLst>
            </p:cNvPr>
            <p:cNvCxnSpPr/>
            <p:nvPr/>
          </p:nvCxnSpPr>
          <p:spPr>
            <a:xfrm>
              <a:off x="-122766" y="2969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ctor 131">
              <a:extLst>
                <a:ext uri="{FF2B5EF4-FFF2-40B4-BE49-F238E27FC236}">
                  <a16:creationId xmlns:a16="http://schemas.microsoft.com/office/drawing/2014/main" id="{C36B9063-D760-6E9B-E56A-DB3AC64D43B0}"/>
                </a:ext>
              </a:extLst>
            </p:cNvPr>
            <p:cNvCxnSpPr/>
            <p:nvPr/>
          </p:nvCxnSpPr>
          <p:spPr>
            <a:xfrm>
              <a:off x="-122766" y="33148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39">
              <a:extLst>
                <a:ext uri="{FF2B5EF4-FFF2-40B4-BE49-F238E27FC236}">
                  <a16:creationId xmlns:a16="http://schemas.microsoft.com/office/drawing/2014/main" id="{0E1A01BF-BE0E-FE91-2A88-B7E3103AD123}"/>
                </a:ext>
              </a:extLst>
            </p:cNvPr>
            <p:cNvCxnSpPr/>
            <p:nvPr/>
          </p:nvCxnSpPr>
          <p:spPr>
            <a:xfrm>
              <a:off x="-122766" y="36604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ctor 147">
              <a:extLst>
                <a:ext uri="{FF2B5EF4-FFF2-40B4-BE49-F238E27FC236}">
                  <a16:creationId xmlns:a16="http://schemas.microsoft.com/office/drawing/2014/main" id="{38541502-E9B2-6114-1ECE-2F2C7C9AB549}"/>
                </a:ext>
              </a:extLst>
            </p:cNvPr>
            <p:cNvCxnSpPr/>
            <p:nvPr/>
          </p:nvCxnSpPr>
          <p:spPr>
            <a:xfrm>
              <a:off x="-122766" y="40060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155">
              <a:extLst>
                <a:ext uri="{FF2B5EF4-FFF2-40B4-BE49-F238E27FC236}">
                  <a16:creationId xmlns:a16="http://schemas.microsoft.com/office/drawing/2014/main" id="{1289DC5B-9E46-9E3D-D707-B780DE9338F7}"/>
                </a:ext>
              </a:extLst>
            </p:cNvPr>
            <p:cNvCxnSpPr/>
            <p:nvPr/>
          </p:nvCxnSpPr>
          <p:spPr>
            <a:xfrm>
              <a:off x="-122766" y="43516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or 163">
              <a:extLst>
                <a:ext uri="{FF2B5EF4-FFF2-40B4-BE49-F238E27FC236}">
                  <a16:creationId xmlns:a16="http://schemas.microsoft.com/office/drawing/2014/main" id="{61AA2879-B0DA-6F41-9D58-DD91145F8316}"/>
                </a:ext>
              </a:extLst>
            </p:cNvPr>
            <p:cNvCxnSpPr/>
            <p:nvPr/>
          </p:nvCxnSpPr>
          <p:spPr>
            <a:xfrm>
              <a:off x="-133366" y="4697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6BA035E6-8E2B-F2B9-D81B-166283BC7D91}"/>
                </a:ext>
              </a:extLst>
            </p:cNvPr>
            <p:cNvSpPr/>
            <p:nvPr/>
          </p:nvSpPr>
          <p:spPr>
            <a:xfrm>
              <a:off x="-117822" y="4697233"/>
              <a:ext cx="9144001" cy="28800"/>
            </a:xfrm>
            <a:prstGeom prst="rect">
              <a:avLst/>
            </a:prstGeom>
            <a:solidFill>
              <a:srgbClr val="2835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6327DF5-EAB5-9DEA-1FFD-78917F86B510}"/>
              </a:ext>
            </a:extLst>
          </p:cNvPr>
          <p:cNvSpPr/>
          <p:nvPr/>
        </p:nvSpPr>
        <p:spPr>
          <a:xfrm>
            <a:off x="301368" y="2011632"/>
            <a:ext cx="7883373" cy="33459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A7FB96B-0DC2-589C-E311-5A05A63DB823}"/>
              </a:ext>
            </a:extLst>
          </p:cNvPr>
          <p:cNvSpPr/>
          <p:nvPr/>
        </p:nvSpPr>
        <p:spPr>
          <a:xfrm>
            <a:off x="301368" y="2229966"/>
            <a:ext cx="794276" cy="10224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1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1CF39448-0FAF-024A-EEDD-AC37C1FD6605}"/>
              </a:ext>
            </a:extLst>
          </p:cNvPr>
          <p:cNvSpPr/>
          <p:nvPr/>
        </p:nvSpPr>
        <p:spPr>
          <a:xfrm>
            <a:off x="301368" y="3264117"/>
            <a:ext cx="794276" cy="1022401"/>
          </a:xfrm>
          <a:prstGeom prst="rect">
            <a:avLst/>
          </a:prstGeom>
          <a:gradFill>
            <a:gsLst>
              <a:gs pos="0">
                <a:srgbClr val="00B050"/>
              </a:gs>
              <a:gs pos="100000">
                <a:schemeClr val="accent3">
                  <a:lumMod val="60000"/>
                  <a:lumOff val="4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2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323F7E1E-9B73-328D-B4D5-EB7626D79884}"/>
              </a:ext>
            </a:extLst>
          </p:cNvPr>
          <p:cNvSpPr/>
          <p:nvPr/>
        </p:nvSpPr>
        <p:spPr>
          <a:xfrm>
            <a:off x="301368" y="4303515"/>
            <a:ext cx="794276" cy="1030918"/>
          </a:xfrm>
          <a:prstGeom prst="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3</a:t>
            </a:r>
          </a:p>
        </p:txBody>
      </p:sp>
    </p:spTree>
    <p:extLst>
      <p:ext uri="{BB962C8B-B14F-4D97-AF65-F5344CB8AC3E}">
        <p14:creationId xmlns:p14="http://schemas.microsoft.com/office/powerpoint/2010/main" val="371315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50DD9DC-847D-29A0-8A11-8ECAB600D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903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AE10864-A4BA-1E19-39D6-FB40BFF72EE0}"/>
              </a:ext>
            </a:extLst>
          </p:cNvPr>
          <p:cNvGrpSpPr/>
          <p:nvPr/>
        </p:nvGrpSpPr>
        <p:grpSpPr>
          <a:xfrm>
            <a:off x="320684" y="2011632"/>
            <a:ext cx="7915217" cy="3345934"/>
            <a:chOff x="320684" y="2011632"/>
            <a:chExt cx="7915217" cy="3345934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03881FD-E899-0FE3-7A97-6AD16115C2C0}"/>
                </a:ext>
              </a:extLst>
            </p:cNvPr>
            <p:cNvSpPr/>
            <p:nvPr/>
          </p:nvSpPr>
          <p:spPr>
            <a:xfrm>
              <a:off x="1100668" y="22240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D869DAAF-2B9A-6103-C452-C6C1EF27FEEF}"/>
                </a:ext>
              </a:extLst>
            </p:cNvPr>
            <p:cNvSpPr/>
            <p:nvPr/>
          </p:nvSpPr>
          <p:spPr>
            <a:xfrm>
              <a:off x="1100668" y="22240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47212D52-F7FF-D74B-8BD7-9260C5BEB11A}"/>
                </a:ext>
              </a:extLst>
            </p:cNvPr>
            <p:cNvSpPr txBox="1"/>
            <p:nvPr/>
          </p:nvSpPr>
          <p:spPr>
            <a:xfrm>
              <a:off x="1190668" y="22384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① ALD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증착</a:t>
              </a:r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조건</a:t>
              </a:r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최적화</a:t>
              </a:r>
              <a:endPara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0F92BC18-E963-B9B7-0676-B9B844D69AD8}"/>
                </a:ext>
              </a:extLst>
            </p:cNvPr>
            <p:cNvSpPr txBox="1"/>
            <p:nvPr/>
          </p:nvSpPr>
          <p:spPr>
            <a:xfrm>
              <a:off x="1190668" y="23896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(ZnF₂, AlF₃, LiF)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7436005D-A88D-BABF-8B59-64F9D41028B1}"/>
                </a:ext>
              </a:extLst>
            </p:cNvPr>
            <p:cNvSpPr/>
            <p:nvPr/>
          </p:nvSpPr>
          <p:spPr>
            <a:xfrm>
              <a:off x="1100668" y="25696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EC0893CC-1AAA-15DC-79C5-DF8E1D6B8BBA}"/>
                </a:ext>
              </a:extLst>
            </p:cNvPr>
            <p:cNvSpPr/>
            <p:nvPr/>
          </p:nvSpPr>
          <p:spPr>
            <a:xfrm>
              <a:off x="1100668" y="25696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528BA99-B718-87A9-C3B3-412A533A1C8B}"/>
                </a:ext>
              </a:extLst>
            </p:cNvPr>
            <p:cNvSpPr txBox="1"/>
            <p:nvPr/>
          </p:nvSpPr>
          <p:spPr>
            <a:xfrm>
              <a:off x="1190668" y="25840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② 박막 구조·화학 조성 분석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8BAE8CE8-FE70-6CC9-99CD-34272DF216A1}"/>
                </a:ext>
              </a:extLst>
            </p:cNvPr>
            <p:cNvSpPr txBox="1"/>
            <p:nvPr/>
          </p:nvSpPr>
          <p:spPr>
            <a:xfrm>
              <a:off x="1190668" y="2735232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(XRD / XPS / TEM / ToF-SIMS)</a:t>
              </a: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D5892ACD-1478-6E73-BDCE-EBD1B57943ED}"/>
                </a:ext>
              </a:extLst>
            </p:cNvPr>
            <p:cNvSpPr/>
            <p:nvPr/>
          </p:nvSpPr>
          <p:spPr>
            <a:xfrm>
              <a:off x="1100668" y="29152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C2497B53-7DAE-0B5D-494E-F17694FFDBB2}"/>
                </a:ext>
              </a:extLst>
            </p:cNvPr>
            <p:cNvSpPr/>
            <p:nvPr/>
          </p:nvSpPr>
          <p:spPr>
            <a:xfrm>
              <a:off x="1100668" y="29152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8782AC62-D03A-3A0C-5B56-64CAAC58611E}"/>
                </a:ext>
              </a:extLst>
            </p:cNvPr>
            <p:cNvSpPr txBox="1"/>
            <p:nvPr/>
          </p:nvSpPr>
          <p:spPr>
            <a:xfrm>
              <a:off x="1190668" y="29296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③ EIS · Li⁺ 이온전도도 평가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742294A1-B8C3-04FD-EE81-68618603F38F}"/>
                </a:ext>
              </a:extLst>
            </p:cNvPr>
            <p:cNvSpPr txBox="1"/>
            <p:nvPr/>
          </p:nvSpPr>
          <p:spPr>
            <a:xfrm>
              <a:off x="1190668" y="30808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(pinhole-free 조건 확립)</a:t>
              </a:r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6FF4C663-746F-C66E-F9BE-8005E1B5B7F5}"/>
                </a:ext>
              </a:extLst>
            </p:cNvPr>
            <p:cNvSpPr/>
            <p:nvPr/>
          </p:nvSpPr>
          <p:spPr>
            <a:xfrm>
              <a:off x="1100668" y="3260833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5AC6882D-67FB-97CD-935A-A36F889C150F}"/>
                </a:ext>
              </a:extLst>
            </p:cNvPr>
            <p:cNvSpPr/>
            <p:nvPr/>
          </p:nvSpPr>
          <p:spPr>
            <a:xfrm>
              <a:off x="1100668" y="3260833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DBE1854-04A5-A75E-9743-589ACED2CE48}"/>
                </a:ext>
              </a:extLst>
            </p:cNvPr>
            <p:cNvSpPr txBox="1"/>
            <p:nvPr/>
          </p:nvSpPr>
          <p:spPr>
            <a:xfrm>
              <a:off x="1190668" y="32752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 dirty="0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④ Cryo-TEM </a:t>
              </a:r>
              <a:r>
                <a:rPr sz="780" b="1" dirty="0" err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핵생성</a:t>
              </a:r>
              <a:r>
                <a:rPr sz="780" b="1" dirty="0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관찰</a:t>
              </a:r>
              <a:endPara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7392CA3-F382-65EA-41D4-2C2E8D88BFF2}"/>
                </a:ext>
              </a:extLst>
            </p:cNvPr>
            <p:cNvSpPr txBox="1"/>
            <p:nvPr/>
          </p:nvSpPr>
          <p:spPr>
            <a:xfrm>
              <a:off x="1190668" y="34264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 핵생성 나노구조 실시간</a:t>
              </a:r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52AB0769-20C6-7CC6-6946-70F1070B3047}"/>
                </a:ext>
              </a:extLst>
            </p:cNvPr>
            <p:cNvSpPr/>
            <p:nvPr/>
          </p:nvSpPr>
          <p:spPr>
            <a:xfrm>
              <a:off x="1100668" y="3606433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5F858564-7A9A-9669-F637-FA7D34BEE146}"/>
                </a:ext>
              </a:extLst>
            </p:cNvPr>
            <p:cNvSpPr/>
            <p:nvPr/>
          </p:nvSpPr>
          <p:spPr>
            <a:xfrm>
              <a:off x="1100668" y="3606433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51E4A4E-3893-D7BB-3582-B617501D11AF}"/>
                </a:ext>
              </a:extLst>
            </p:cNvPr>
            <p:cNvSpPr txBox="1"/>
            <p:nvPr/>
          </p:nvSpPr>
          <p:spPr>
            <a:xfrm>
              <a:off x="1190668" y="36208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⑤ Operando XRD / in-situ SEM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3349C5C8-1C53-5C4F-AF52-94D473787FDC}"/>
                </a:ext>
              </a:extLst>
            </p:cNvPr>
            <p:cNvSpPr txBox="1"/>
            <p:nvPr/>
          </p:nvSpPr>
          <p:spPr>
            <a:xfrm>
              <a:off x="1190668" y="37720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 증착·용해 거동 모니터링</a:t>
              </a:r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BC4F2B4D-7E91-E183-7CDC-BD9CF16F5631}"/>
                </a:ext>
              </a:extLst>
            </p:cNvPr>
            <p:cNvSpPr/>
            <p:nvPr/>
          </p:nvSpPr>
          <p:spPr>
            <a:xfrm>
              <a:off x="1100668" y="3952032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0E07732D-345D-6499-2561-BB41E0C4AC8B}"/>
                </a:ext>
              </a:extLst>
            </p:cNvPr>
            <p:cNvSpPr/>
            <p:nvPr/>
          </p:nvSpPr>
          <p:spPr>
            <a:xfrm>
              <a:off x="1100668" y="3952032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0BDB0FA3-EB15-523D-53E5-4AE02898D23A}"/>
                </a:ext>
              </a:extLst>
            </p:cNvPr>
            <p:cNvSpPr txBox="1"/>
            <p:nvPr/>
          </p:nvSpPr>
          <p:spPr>
            <a:xfrm>
              <a:off x="1190668" y="39664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⑥ DFT 이론 계산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D83242C7-0D63-6125-F10D-A718AE211FD2}"/>
                </a:ext>
              </a:extLst>
            </p:cNvPr>
            <p:cNvSpPr txBox="1"/>
            <p:nvPr/>
          </p:nvSpPr>
          <p:spPr>
            <a:xfrm>
              <a:off x="1190668" y="41176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계면 Li⁺ 확산 에너지 배리어</a:t>
              </a:r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407B01C5-CB85-94B5-1017-B5352C640543}"/>
                </a:ext>
              </a:extLst>
            </p:cNvPr>
            <p:cNvSpPr/>
            <p:nvPr/>
          </p:nvSpPr>
          <p:spPr>
            <a:xfrm>
              <a:off x="1100668" y="42976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1AB50607-CD6B-A897-5E89-079FD3910EAF}"/>
                </a:ext>
              </a:extLst>
            </p:cNvPr>
            <p:cNvSpPr/>
            <p:nvPr/>
          </p:nvSpPr>
          <p:spPr>
            <a:xfrm>
              <a:off x="1100668" y="42976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DE98098-44C3-7ED6-670B-E3A9ED9E53EF}"/>
                </a:ext>
              </a:extLst>
            </p:cNvPr>
            <p:cNvSpPr txBox="1"/>
            <p:nvPr/>
          </p:nvSpPr>
          <p:spPr>
            <a:xfrm>
              <a:off x="1190668" y="43120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⑦ Li||NCM 풀 셀 장기 사이클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9E044C84-5BDF-396B-D8D3-C79510912556}"/>
                </a:ext>
              </a:extLst>
            </p:cNvPr>
            <p:cNvSpPr txBox="1"/>
            <p:nvPr/>
          </p:nvSpPr>
          <p:spPr>
            <a:xfrm>
              <a:off x="1190668" y="44632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&gt;300 사이클, CE &gt;99.5%</a:t>
              </a:r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48A970D1-E9C7-9A8A-60C9-B9BA449B2719}"/>
                </a:ext>
              </a:extLst>
            </p:cNvPr>
            <p:cNvSpPr/>
            <p:nvPr/>
          </p:nvSpPr>
          <p:spPr>
            <a:xfrm>
              <a:off x="1100668" y="46432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7073B1A-7FB7-0FE1-C51B-0D4072830E3A}"/>
                </a:ext>
              </a:extLst>
            </p:cNvPr>
            <p:cNvSpPr/>
            <p:nvPr/>
          </p:nvSpPr>
          <p:spPr>
            <a:xfrm>
              <a:off x="1100668" y="46432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D9130242-FEEC-B5D1-51C9-ED7D9CE0C08E}"/>
                </a:ext>
              </a:extLst>
            </p:cNvPr>
            <p:cNvSpPr txBox="1"/>
            <p:nvPr/>
          </p:nvSpPr>
          <p:spPr>
            <a:xfrm>
              <a:off x="1190668" y="46576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⑧ Post-mortem XPS/TEM 분석</a:t>
              </a: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4EFA48A3-8BC7-95C7-0AA6-8734285B4EBD}"/>
                </a:ext>
              </a:extLst>
            </p:cNvPr>
            <p:cNvSpPr txBox="1"/>
            <p:nvPr/>
          </p:nvSpPr>
          <p:spPr>
            <a:xfrm>
              <a:off x="1190668" y="48088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SEI 조성 변화·열화 메커니즘</a:t>
              </a: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3D1381DF-C27D-17E7-66E0-F358F9BE3CC8}"/>
                </a:ext>
              </a:extLst>
            </p:cNvPr>
            <p:cNvSpPr/>
            <p:nvPr/>
          </p:nvSpPr>
          <p:spPr>
            <a:xfrm>
              <a:off x="1100668" y="49888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B0CDBBB7-5600-2C91-616C-D8E7C87AD5C0}"/>
                </a:ext>
              </a:extLst>
            </p:cNvPr>
            <p:cNvSpPr/>
            <p:nvPr/>
          </p:nvSpPr>
          <p:spPr>
            <a:xfrm>
              <a:off x="1100668" y="49888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441351F-EB0B-9173-5845-A812D3819CB0}"/>
                </a:ext>
              </a:extLst>
            </p:cNvPr>
            <p:cNvSpPr txBox="1"/>
            <p:nvPr/>
          </p:nvSpPr>
          <p:spPr>
            <a:xfrm>
              <a:off x="1190668" y="50032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⑨ ALD 인공 SEI 설계 원칙 도출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F4D5BC69-1B0D-D297-492B-306646023BFE}"/>
                </a:ext>
              </a:extLst>
            </p:cNvPr>
            <p:cNvSpPr txBox="1"/>
            <p:nvPr/>
          </p:nvSpPr>
          <p:spPr>
            <a:xfrm>
              <a:off x="1190668" y="51544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ZnF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₂/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AlF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₃/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비교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정립</a:t>
              </a:r>
              <a:endPara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D7A446D8-1C6F-715A-E753-345581674C62}"/>
                </a:ext>
              </a:extLst>
            </p:cNvPr>
            <p:cNvSpPr/>
            <p:nvPr/>
          </p:nvSpPr>
          <p:spPr>
            <a:xfrm>
              <a:off x="2954668" y="2011632"/>
              <a:ext cx="1739966" cy="237600"/>
            </a:xfrm>
            <a:prstGeom prst="rect">
              <a:avLst/>
            </a:prstGeom>
            <a:solidFill>
              <a:srgbClr val="C5CA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11D64A57-A3B2-4049-7F46-25143C6B6B25}"/>
                </a:ext>
              </a:extLst>
            </p:cNvPr>
            <p:cNvSpPr txBox="1"/>
            <p:nvPr/>
          </p:nvSpPr>
          <p:spPr>
            <a:xfrm>
              <a:off x="2954668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 dirty="0">
                  <a:solidFill>
                    <a:srgbClr val="1A237E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1년차</a:t>
              </a: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3D41351-4E2C-1DB6-4D6E-BCF83B650F55}"/>
                </a:ext>
              </a:extLst>
            </p:cNvPr>
            <p:cNvSpPr/>
            <p:nvPr/>
          </p:nvSpPr>
          <p:spPr>
            <a:xfrm>
              <a:off x="4694635" y="2011632"/>
              <a:ext cx="1739966" cy="237600"/>
            </a:xfrm>
            <a:prstGeom prst="rect">
              <a:avLst/>
            </a:prstGeom>
            <a:solidFill>
              <a:srgbClr val="BBDE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208BCA0-A120-ABB1-A9B1-9BE6CF092E07}"/>
                </a:ext>
              </a:extLst>
            </p:cNvPr>
            <p:cNvSpPr txBox="1"/>
            <p:nvPr/>
          </p:nvSpPr>
          <p:spPr>
            <a:xfrm>
              <a:off x="4694635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>
                  <a:solidFill>
                    <a:srgbClr val="0D47A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2년차</a:t>
              </a: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34B9737-C6BD-FFC0-128D-0532AD3BB48B}"/>
                </a:ext>
              </a:extLst>
            </p:cNvPr>
            <p:cNvSpPr/>
            <p:nvPr/>
          </p:nvSpPr>
          <p:spPr>
            <a:xfrm>
              <a:off x="6434601" y="2011632"/>
              <a:ext cx="1739966" cy="237600"/>
            </a:xfrm>
            <a:prstGeom prst="rect">
              <a:avLst/>
            </a:prstGeom>
            <a:solidFill>
              <a:srgbClr val="B3E5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42B6CE28-D26B-BC18-728F-5931334F53D2}"/>
                </a:ext>
              </a:extLst>
            </p:cNvPr>
            <p:cNvSpPr txBox="1"/>
            <p:nvPr/>
          </p:nvSpPr>
          <p:spPr>
            <a:xfrm>
              <a:off x="6434601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>
                  <a:solidFill>
                    <a:srgbClr val="01579B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3년차</a:t>
              </a: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B2F04082-0C22-F309-B8CC-F1D3E30FF53E}"/>
                </a:ext>
              </a:extLst>
            </p:cNvPr>
            <p:cNvSpPr/>
            <p:nvPr/>
          </p:nvSpPr>
          <p:spPr>
            <a:xfrm>
              <a:off x="2954668" y="2249233"/>
              <a:ext cx="5219899" cy="162000"/>
            </a:xfrm>
            <a:prstGeom prst="rect">
              <a:avLst/>
            </a:prstGeom>
            <a:solidFill>
              <a:srgbClr val="EDE7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7DCCCFF5-A8D7-C138-11E0-A31919CC9B0C}"/>
                </a:ext>
              </a:extLst>
            </p:cNvPr>
            <p:cNvSpPr txBox="1"/>
            <p:nvPr/>
          </p:nvSpPr>
          <p:spPr>
            <a:xfrm>
              <a:off x="2954668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1CC3E173-E79C-8660-4AD9-9555540967B9}"/>
                </a:ext>
              </a:extLst>
            </p:cNvPr>
            <p:cNvSpPr txBox="1"/>
            <p:nvPr/>
          </p:nvSpPr>
          <p:spPr>
            <a:xfrm>
              <a:off x="3389660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A1778B3-AC96-0699-7B60-04C85CFE70C4}"/>
                </a:ext>
              </a:extLst>
            </p:cNvPr>
            <p:cNvSpPr txBox="1"/>
            <p:nvPr/>
          </p:nvSpPr>
          <p:spPr>
            <a:xfrm>
              <a:off x="3824651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9A668B2D-336D-4E94-924F-87C2E876C759}"/>
                </a:ext>
              </a:extLst>
            </p:cNvPr>
            <p:cNvSpPr txBox="1"/>
            <p:nvPr/>
          </p:nvSpPr>
          <p:spPr>
            <a:xfrm>
              <a:off x="4259643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C69C5244-9EE4-D6FB-A891-5E45E58EE2C1}"/>
                </a:ext>
              </a:extLst>
            </p:cNvPr>
            <p:cNvSpPr txBox="1"/>
            <p:nvPr/>
          </p:nvSpPr>
          <p:spPr>
            <a:xfrm>
              <a:off x="4694635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874C43DA-086D-5AA1-D3D7-1D91B87A5BAF}"/>
                </a:ext>
              </a:extLst>
            </p:cNvPr>
            <p:cNvSpPr txBox="1"/>
            <p:nvPr/>
          </p:nvSpPr>
          <p:spPr>
            <a:xfrm>
              <a:off x="5129626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BB25F716-8539-9586-CFC2-BBCCFEF786BD}"/>
                </a:ext>
              </a:extLst>
            </p:cNvPr>
            <p:cNvSpPr txBox="1"/>
            <p:nvPr/>
          </p:nvSpPr>
          <p:spPr>
            <a:xfrm>
              <a:off x="5564618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91CD4795-C956-9B9F-17FC-7B8DB5CE54EA}"/>
                </a:ext>
              </a:extLst>
            </p:cNvPr>
            <p:cNvSpPr txBox="1"/>
            <p:nvPr/>
          </p:nvSpPr>
          <p:spPr>
            <a:xfrm>
              <a:off x="5999609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051405B8-EF3A-7228-033E-A0A07E913F81}"/>
                </a:ext>
              </a:extLst>
            </p:cNvPr>
            <p:cNvSpPr txBox="1"/>
            <p:nvPr/>
          </p:nvSpPr>
          <p:spPr>
            <a:xfrm>
              <a:off x="6434601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D4C6BF81-BB8F-D37D-E545-B0D327BD2497}"/>
                </a:ext>
              </a:extLst>
            </p:cNvPr>
            <p:cNvSpPr txBox="1"/>
            <p:nvPr/>
          </p:nvSpPr>
          <p:spPr>
            <a:xfrm>
              <a:off x="6869593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DC6BDB5-F4B3-8B5A-7A17-D63D50A48236}"/>
                </a:ext>
              </a:extLst>
            </p:cNvPr>
            <p:cNvSpPr txBox="1"/>
            <p:nvPr/>
          </p:nvSpPr>
          <p:spPr>
            <a:xfrm>
              <a:off x="7304584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0CECFAD2-4167-4531-B923-331E449F76F7}"/>
                </a:ext>
              </a:extLst>
            </p:cNvPr>
            <p:cNvSpPr txBox="1"/>
            <p:nvPr/>
          </p:nvSpPr>
          <p:spPr>
            <a:xfrm>
              <a:off x="7739575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cxnSp>
          <p:nvCxnSpPr>
            <p:cNvPr id="131" name="Connector 79">
              <a:extLst>
                <a:ext uri="{FF2B5EF4-FFF2-40B4-BE49-F238E27FC236}">
                  <a16:creationId xmlns:a16="http://schemas.microsoft.com/office/drawing/2014/main" id="{757763DB-D1B2-70C4-E6E8-A18C0F2E1E91}"/>
                </a:ext>
              </a:extLst>
            </p:cNvPr>
            <p:cNvCxnSpPr/>
            <p:nvPr/>
          </p:nvCxnSpPr>
          <p:spPr>
            <a:xfrm>
              <a:off x="2954668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80">
              <a:extLst>
                <a:ext uri="{FF2B5EF4-FFF2-40B4-BE49-F238E27FC236}">
                  <a16:creationId xmlns:a16="http://schemas.microsoft.com/office/drawing/2014/main" id="{098EC66F-1257-5271-906B-41B750BA6FC8}"/>
                </a:ext>
              </a:extLst>
            </p:cNvPr>
            <p:cNvCxnSpPr/>
            <p:nvPr/>
          </p:nvCxnSpPr>
          <p:spPr>
            <a:xfrm>
              <a:off x="3389660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81">
              <a:extLst>
                <a:ext uri="{FF2B5EF4-FFF2-40B4-BE49-F238E27FC236}">
                  <a16:creationId xmlns:a16="http://schemas.microsoft.com/office/drawing/2014/main" id="{2567E60E-DBF3-5D38-DE95-BC03496996F5}"/>
                </a:ext>
              </a:extLst>
            </p:cNvPr>
            <p:cNvCxnSpPr/>
            <p:nvPr/>
          </p:nvCxnSpPr>
          <p:spPr>
            <a:xfrm>
              <a:off x="3824651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82">
              <a:extLst>
                <a:ext uri="{FF2B5EF4-FFF2-40B4-BE49-F238E27FC236}">
                  <a16:creationId xmlns:a16="http://schemas.microsoft.com/office/drawing/2014/main" id="{86D17D0B-EA34-F7B7-E554-CDB8B0EA5A75}"/>
                </a:ext>
              </a:extLst>
            </p:cNvPr>
            <p:cNvCxnSpPr/>
            <p:nvPr/>
          </p:nvCxnSpPr>
          <p:spPr>
            <a:xfrm>
              <a:off x="4259643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ctor 83">
              <a:extLst>
                <a:ext uri="{FF2B5EF4-FFF2-40B4-BE49-F238E27FC236}">
                  <a16:creationId xmlns:a16="http://schemas.microsoft.com/office/drawing/2014/main" id="{1F8EA9DF-1E6E-BF97-9619-4203766D95A1}"/>
                </a:ext>
              </a:extLst>
            </p:cNvPr>
            <p:cNvCxnSpPr/>
            <p:nvPr/>
          </p:nvCxnSpPr>
          <p:spPr>
            <a:xfrm>
              <a:off x="4694635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ctor 84">
              <a:extLst>
                <a:ext uri="{FF2B5EF4-FFF2-40B4-BE49-F238E27FC236}">
                  <a16:creationId xmlns:a16="http://schemas.microsoft.com/office/drawing/2014/main" id="{F19D1068-D027-548C-E3E4-DD4524FA18ED}"/>
                </a:ext>
              </a:extLst>
            </p:cNvPr>
            <p:cNvCxnSpPr/>
            <p:nvPr/>
          </p:nvCxnSpPr>
          <p:spPr>
            <a:xfrm>
              <a:off x="5129626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 85">
              <a:extLst>
                <a:ext uri="{FF2B5EF4-FFF2-40B4-BE49-F238E27FC236}">
                  <a16:creationId xmlns:a16="http://schemas.microsoft.com/office/drawing/2014/main" id="{C87A9C0E-92F7-8C18-0148-A70BA2C71CDC}"/>
                </a:ext>
              </a:extLst>
            </p:cNvPr>
            <p:cNvCxnSpPr/>
            <p:nvPr/>
          </p:nvCxnSpPr>
          <p:spPr>
            <a:xfrm>
              <a:off x="5564618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nector 86">
              <a:extLst>
                <a:ext uri="{FF2B5EF4-FFF2-40B4-BE49-F238E27FC236}">
                  <a16:creationId xmlns:a16="http://schemas.microsoft.com/office/drawing/2014/main" id="{D56A04C9-0E75-31B4-2493-8C8D693B6AEB}"/>
                </a:ext>
              </a:extLst>
            </p:cNvPr>
            <p:cNvCxnSpPr/>
            <p:nvPr/>
          </p:nvCxnSpPr>
          <p:spPr>
            <a:xfrm>
              <a:off x="5999609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ctor 87">
              <a:extLst>
                <a:ext uri="{FF2B5EF4-FFF2-40B4-BE49-F238E27FC236}">
                  <a16:creationId xmlns:a16="http://schemas.microsoft.com/office/drawing/2014/main" id="{3F16021E-3C29-5C6A-44A2-BA1AFCCE01C8}"/>
                </a:ext>
              </a:extLst>
            </p:cNvPr>
            <p:cNvCxnSpPr/>
            <p:nvPr/>
          </p:nvCxnSpPr>
          <p:spPr>
            <a:xfrm>
              <a:off x="6434601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nector 88">
              <a:extLst>
                <a:ext uri="{FF2B5EF4-FFF2-40B4-BE49-F238E27FC236}">
                  <a16:creationId xmlns:a16="http://schemas.microsoft.com/office/drawing/2014/main" id="{DF229B76-FB26-C79A-6BA5-7823BAFBAB39}"/>
                </a:ext>
              </a:extLst>
            </p:cNvPr>
            <p:cNvCxnSpPr/>
            <p:nvPr/>
          </p:nvCxnSpPr>
          <p:spPr>
            <a:xfrm>
              <a:off x="6869593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 89">
              <a:extLst>
                <a:ext uri="{FF2B5EF4-FFF2-40B4-BE49-F238E27FC236}">
                  <a16:creationId xmlns:a16="http://schemas.microsoft.com/office/drawing/2014/main" id="{C12359A7-7732-4DD8-9F5F-D1270EECBAB5}"/>
                </a:ext>
              </a:extLst>
            </p:cNvPr>
            <p:cNvCxnSpPr/>
            <p:nvPr/>
          </p:nvCxnSpPr>
          <p:spPr>
            <a:xfrm>
              <a:off x="7304584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nector 90">
              <a:extLst>
                <a:ext uri="{FF2B5EF4-FFF2-40B4-BE49-F238E27FC236}">
                  <a16:creationId xmlns:a16="http://schemas.microsoft.com/office/drawing/2014/main" id="{452F4D21-F144-B312-26B2-D08DC8F141EA}"/>
                </a:ext>
              </a:extLst>
            </p:cNvPr>
            <p:cNvCxnSpPr/>
            <p:nvPr/>
          </p:nvCxnSpPr>
          <p:spPr>
            <a:xfrm>
              <a:off x="7739575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ctor 91">
              <a:extLst>
                <a:ext uri="{FF2B5EF4-FFF2-40B4-BE49-F238E27FC236}">
                  <a16:creationId xmlns:a16="http://schemas.microsoft.com/office/drawing/2014/main" id="{BFC24B34-DD0D-E422-5C9A-7C72D37328DB}"/>
                </a:ext>
              </a:extLst>
            </p:cNvPr>
            <p:cNvCxnSpPr/>
            <p:nvPr/>
          </p:nvCxnSpPr>
          <p:spPr>
            <a:xfrm>
              <a:off x="8174567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E32782F6-1339-CF72-6541-D661CD5EA757}"/>
                </a:ext>
              </a:extLst>
            </p:cNvPr>
            <p:cNvSpPr/>
            <p:nvPr/>
          </p:nvSpPr>
          <p:spPr>
            <a:xfrm>
              <a:off x="2954668" y="22240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C9C1B6CE-301E-E80B-534B-52CD4B0B1E9B}"/>
                </a:ext>
              </a:extLst>
            </p:cNvPr>
            <p:cNvSpPr/>
            <p:nvPr/>
          </p:nvSpPr>
          <p:spPr>
            <a:xfrm>
              <a:off x="2965030" y="2303233"/>
              <a:ext cx="1719242" cy="1872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30250A0C-C752-E8F1-CD8E-7333166D1EA0}"/>
                </a:ext>
              </a:extLst>
            </p:cNvPr>
            <p:cNvSpPr txBox="1"/>
            <p:nvPr/>
          </p:nvSpPr>
          <p:spPr>
            <a:xfrm>
              <a:off x="2911318" y="2295033"/>
              <a:ext cx="178935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전구체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최적화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및 ALD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파라미터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탐색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52F9318E-CA32-86BB-BB73-7BBAB04362D7}"/>
                </a:ext>
              </a:extLst>
            </p:cNvPr>
            <p:cNvSpPr/>
            <p:nvPr/>
          </p:nvSpPr>
          <p:spPr>
            <a:xfrm>
              <a:off x="2954668" y="25696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3FA7D43D-C162-8535-267B-029240BB1A04}"/>
                </a:ext>
              </a:extLst>
            </p:cNvPr>
            <p:cNvSpPr/>
            <p:nvPr/>
          </p:nvSpPr>
          <p:spPr>
            <a:xfrm>
              <a:off x="3400022" y="2648832"/>
              <a:ext cx="2154233" cy="187200"/>
            </a:xfrm>
            <a:prstGeom prst="rect">
              <a:avLst/>
            </a:prstGeom>
            <a:solidFill>
              <a:srgbClr val="1976D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B70FA59A-EEF0-BD7A-030B-077D1D7E0717}"/>
                </a:ext>
              </a:extLst>
            </p:cNvPr>
            <p:cNvSpPr txBox="1"/>
            <p:nvPr/>
          </p:nvSpPr>
          <p:spPr>
            <a:xfrm>
              <a:off x="3400022" y="2648832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XRD / XPS / TEM-EDS / ToF-SIMS</a:t>
              </a: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471CE5D1-E068-5535-48A0-3DA2655D16FD}"/>
                </a:ext>
              </a:extLst>
            </p:cNvPr>
            <p:cNvSpPr/>
            <p:nvPr/>
          </p:nvSpPr>
          <p:spPr>
            <a:xfrm>
              <a:off x="2954668" y="29152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8FC7B023-3416-5CF9-AEAE-8EADC78A9299}"/>
                </a:ext>
              </a:extLst>
            </p:cNvPr>
            <p:cNvSpPr/>
            <p:nvPr/>
          </p:nvSpPr>
          <p:spPr>
            <a:xfrm>
              <a:off x="3617415" y="2994433"/>
              <a:ext cx="1066856" cy="187200"/>
            </a:xfrm>
            <a:prstGeom prst="rect">
              <a:avLst/>
            </a:prstGeom>
            <a:solidFill>
              <a:srgbClr val="2835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984DE01C-9BE0-9A0F-A2D1-CF2236F05B34}"/>
                </a:ext>
              </a:extLst>
            </p:cNvPr>
            <p:cNvSpPr txBox="1"/>
            <p:nvPr/>
          </p:nvSpPr>
          <p:spPr>
            <a:xfrm>
              <a:off x="3594184" y="2990453"/>
              <a:ext cx="114968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EIS · Li⁺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이온전도도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32193BCD-B4AB-9989-695D-E50EFD4CBB2A}"/>
                </a:ext>
              </a:extLst>
            </p:cNvPr>
            <p:cNvSpPr/>
            <p:nvPr/>
          </p:nvSpPr>
          <p:spPr>
            <a:xfrm>
              <a:off x="2954668" y="3260833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57A632D6-D0EF-4098-FA43-FEBB216A22C1}"/>
                </a:ext>
              </a:extLst>
            </p:cNvPr>
            <p:cNvSpPr/>
            <p:nvPr/>
          </p:nvSpPr>
          <p:spPr>
            <a:xfrm>
              <a:off x="3835013" y="3340033"/>
              <a:ext cx="2589225" cy="1872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4E393352-50DB-6D06-2014-F92B0EF30C84}"/>
                </a:ext>
              </a:extLst>
            </p:cNvPr>
            <p:cNvSpPr txBox="1"/>
            <p:nvPr/>
          </p:nvSpPr>
          <p:spPr>
            <a:xfrm>
              <a:off x="3835013" y="3340033"/>
              <a:ext cx="258922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Cryo-TEM Li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핵생성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나노구조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관찰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F2F58E69-6B4A-3993-04B4-A6C495EB29D6}"/>
                </a:ext>
              </a:extLst>
            </p:cNvPr>
            <p:cNvSpPr/>
            <p:nvPr/>
          </p:nvSpPr>
          <p:spPr>
            <a:xfrm>
              <a:off x="2954668" y="3606433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F0EAD0D8-B0C0-EE0C-5516-71D7A7C7A372}"/>
                </a:ext>
              </a:extLst>
            </p:cNvPr>
            <p:cNvSpPr/>
            <p:nvPr/>
          </p:nvSpPr>
          <p:spPr>
            <a:xfrm>
              <a:off x="4270004" y="3685633"/>
              <a:ext cx="2154233" cy="187200"/>
            </a:xfrm>
            <a:prstGeom prst="rect">
              <a:avLst/>
            </a:prstGeom>
            <a:solidFill>
              <a:srgbClr val="388E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B228ABA5-2415-1F59-DC7D-2AFCADA28CAB}"/>
                </a:ext>
              </a:extLst>
            </p:cNvPr>
            <p:cNvSpPr txBox="1"/>
            <p:nvPr/>
          </p:nvSpPr>
          <p:spPr>
            <a:xfrm>
              <a:off x="4270004" y="3685633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Operando XRD / in-situ SEM 모니터링</a:t>
              </a: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02FDAAB6-F178-5C68-C544-7541EB7F2193}"/>
                </a:ext>
              </a:extLst>
            </p:cNvPr>
            <p:cNvSpPr/>
            <p:nvPr/>
          </p:nvSpPr>
          <p:spPr>
            <a:xfrm>
              <a:off x="2954668" y="3952032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5AF677B8-EE66-D3D6-8C5C-BA526A1CAF46}"/>
                </a:ext>
              </a:extLst>
            </p:cNvPr>
            <p:cNvSpPr/>
            <p:nvPr/>
          </p:nvSpPr>
          <p:spPr>
            <a:xfrm>
              <a:off x="4270004" y="4031232"/>
              <a:ext cx="2154233" cy="187200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BF6B294A-4754-6FD2-D8D4-14219D2CB8CA}"/>
                </a:ext>
              </a:extLst>
            </p:cNvPr>
            <p:cNvSpPr txBox="1"/>
            <p:nvPr/>
          </p:nvSpPr>
          <p:spPr>
            <a:xfrm>
              <a:off x="4270004" y="4031232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DFT: 불화물/Li 계면 Li⁺ 확산 에너지</a:t>
              </a:r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E710C44-8B28-8FA1-2F86-0C10883F5259}"/>
                </a:ext>
              </a:extLst>
            </p:cNvPr>
            <p:cNvSpPr/>
            <p:nvPr/>
          </p:nvSpPr>
          <p:spPr>
            <a:xfrm>
              <a:off x="2954668" y="42976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CD4141BB-5CA0-0006-D16A-D8D6AA52ABE2}"/>
                </a:ext>
              </a:extLst>
            </p:cNvPr>
            <p:cNvSpPr/>
            <p:nvPr/>
          </p:nvSpPr>
          <p:spPr>
            <a:xfrm>
              <a:off x="5574980" y="4376833"/>
              <a:ext cx="2589225" cy="1872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9BAAF75E-BF49-818B-593E-21D9730509CB}"/>
                </a:ext>
              </a:extLst>
            </p:cNvPr>
            <p:cNvSpPr txBox="1"/>
            <p:nvPr/>
          </p:nvSpPr>
          <p:spPr>
            <a:xfrm>
              <a:off x="5574980" y="4376833"/>
              <a:ext cx="258922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Li||NCM Full Cell 장기 사이클링 (&gt;300 cycles)</a:t>
              </a:r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D3EF0248-7C0F-9241-57EF-365C7FBE1762}"/>
                </a:ext>
              </a:extLst>
            </p:cNvPr>
            <p:cNvSpPr/>
            <p:nvPr/>
          </p:nvSpPr>
          <p:spPr>
            <a:xfrm>
              <a:off x="2954668" y="46432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B44ED841-E4E0-7E9B-DB37-B994FF483C18}"/>
                </a:ext>
              </a:extLst>
            </p:cNvPr>
            <p:cNvSpPr/>
            <p:nvPr/>
          </p:nvSpPr>
          <p:spPr>
            <a:xfrm>
              <a:off x="6444963" y="4722432"/>
              <a:ext cx="1719242" cy="187200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0F24B811-EAAF-AC1D-7CA2-4D914D2910C8}"/>
                </a:ext>
              </a:extLst>
            </p:cNvPr>
            <p:cNvSpPr txBox="1"/>
            <p:nvPr/>
          </p:nvSpPr>
          <p:spPr>
            <a:xfrm>
              <a:off x="6444963" y="4722432"/>
              <a:ext cx="171924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Post-mortem XPS / TEM 분석</a:t>
              </a:r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9D3EE103-B7F5-0958-6459-229795E0FF8C}"/>
                </a:ext>
              </a:extLst>
            </p:cNvPr>
            <p:cNvSpPr/>
            <p:nvPr/>
          </p:nvSpPr>
          <p:spPr>
            <a:xfrm>
              <a:off x="2954668" y="49888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18CD2B0E-38E1-964A-022C-AC5875361863}"/>
                </a:ext>
              </a:extLst>
            </p:cNvPr>
            <p:cNvSpPr/>
            <p:nvPr/>
          </p:nvSpPr>
          <p:spPr>
            <a:xfrm>
              <a:off x="6741138" y="5068033"/>
              <a:ext cx="1423066" cy="187200"/>
            </a:xfrm>
            <a:prstGeom prst="rect">
              <a:avLst/>
            </a:prstGeom>
            <a:solidFill>
              <a:srgbClr val="BF36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F6B0CF69-AEDC-ECD2-DE99-E06A9B1065ED}"/>
                </a:ext>
              </a:extLst>
            </p:cNvPr>
            <p:cNvSpPr txBox="1"/>
            <p:nvPr/>
          </p:nvSpPr>
          <p:spPr>
            <a:xfrm>
              <a:off x="6741138" y="5060083"/>
              <a:ext cx="149476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범용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ALD-SEI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설계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원칙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정립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grpSp>
          <p:nvGrpSpPr>
            <p:cNvPr id="219" name="Group 218">
              <a:extLst>
                <a:ext uri="{FF2B5EF4-FFF2-40B4-BE49-F238E27FC236}">
                  <a16:creationId xmlns:a16="http://schemas.microsoft.com/office/drawing/2014/main" id="{339346E2-7AD3-8CF9-3CF0-729A941BF577}"/>
                </a:ext>
              </a:extLst>
            </p:cNvPr>
            <p:cNvGrpSpPr/>
            <p:nvPr/>
          </p:nvGrpSpPr>
          <p:grpSpPr>
            <a:xfrm>
              <a:off x="320684" y="2569632"/>
              <a:ext cx="7853881" cy="2764801"/>
              <a:chOff x="-1131005" y="1932432"/>
              <a:chExt cx="10152239" cy="2764801"/>
            </a:xfrm>
          </p:grpSpPr>
          <p:cxnSp>
            <p:nvCxnSpPr>
              <p:cNvPr id="151" name="Connector 99">
                <a:extLst>
                  <a:ext uri="{FF2B5EF4-FFF2-40B4-BE49-F238E27FC236}">
                    <a16:creationId xmlns:a16="http://schemas.microsoft.com/office/drawing/2014/main" id="{E2797AD0-54EA-9A46-3AD4-8C8A579226FD}"/>
                  </a:ext>
                </a:extLst>
              </p:cNvPr>
              <p:cNvCxnSpPr/>
              <p:nvPr/>
            </p:nvCxnSpPr>
            <p:spPr>
              <a:xfrm>
                <a:off x="-122766" y="19324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Connector 107">
                <a:extLst>
                  <a:ext uri="{FF2B5EF4-FFF2-40B4-BE49-F238E27FC236}">
                    <a16:creationId xmlns:a16="http://schemas.microsoft.com/office/drawing/2014/main" id="{95C3023A-0A1A-401E-E2F4-985EB628C9E9}"/>
                  </a:ext>
                </a:extLst>
              </p:cNvPr>
              <p:cNvCxnSpPr/>
              <p:nvPr/>
            </p:nvCxnSpPr>
            <p:spPr>
              <a:xfrm>
                <a:off x="-122766" y="22780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Connector 115">
                <a:extLst>
                  <a:ext uri="{FF2B5EF4-FFF2-40B4-BE49-F238E27FC236}">
                    <a16:creationId xmlns:a16="http://schemas.microsoft.com/office/drawing/2014/main" id="{B8654474-C37A-6732-0206-CBDBE8E682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131005" y="2623633"/>
                <a:ext cx="10152239" cy="0"/>
              </a:xfrm>
              <a:prstGeom prst="line">
                <a:avLst/>
              </a:prstGeom>
              <a:ln w="12700">
                <a:solidFill>
                  <a:srgbClr val="7986C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Connector 123">
                <a:extLst>
                  <a:ext uri="{FF2B5EF4-FFF2-40B4-BE49-F238E27FC236}">
                    <a16:creationId xmlns:a16="http://schemas.microsoft.com/office/drawing/2014/main" id="{6207829D-65CA-4D20-5E4E-3C6BA78B2D8A}"/>
                  </a:ext>
                </a:extLst>
              </p:cNvPr>
              <p:cNvCxnSpPr/>
              <p:nvPr/>
            </p:nvCxnSpPr>
            <p:spPr>
              <a:xfrm>
                <a:off x="-122766" y="29692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Connector 131">
                <a:extLst>
                  <a:ext uri="{FF2B5EF4-FFF2-40B4-BE49-F238E27FC236}">
                    <a16:creationId xmlns:a16="http://schemas.microsoft.com/office/drawing/2014/main" id="{C36B9063-D760-6E9B-E56A-DB3AC64D43B0}"/>
                  </a:ext>
                </a:extLst>
              </p:cNvPr>
              <p:cNvCxnSpPr/>
              <p:nvPr/>
            </p:nvCxnSpPr>
            <p:spPr>
              <a:xfrm>
                <a:off x="-122766" y="33148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Connector 139">
                <a:extLst>
                  <a:ext uri="{FF2B5EF4-FFF2-40B4-BE49-F238E27FC236}">
                    <a16:creationId xmlns:a16="http://schemas.microsoft.com/office/drawing/2014/main" id="{0E1A01BF-BE0E-FE91-2A88-B7E3103AD1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131005" y="3660433"/>
                <a:ext cx="10152239" cy="0"/>
              </a:xfrm>
              <a:prstGeom prst="line">
                <a:avLst/>
              </a:prstGeom>
              <a:ln w="12700">
                <a:solidFill>
                  <a:srgbClr val="7986C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Connector 147">
                <a:extLst>
                  <a:ext uri="{FF2B5EF4-FFF2-40B4-BE49-F238E27FC236}">
                    <a16:creationId xmlns:a16="http://schemas.microsoft.com/office/drawing/2014/main" id="{38541502-E9B2-6114-1ECE-2F2C7C9AB549}"/>
                  </a:ext>
                </a:extLst>
              </p:cNvPr>
              <p:cNvCxnSpPr/>
              <p:nvPr/>
            </p:nvCxnSpPr>
            <p:spPr>
              <a:xfrm>
                <a:off x="-122766" y="40060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Connector 155">
                <a:extLst>
                  <a:ext uri="{FF2B5EF4-FFF2-40B4-BE49-F238E27FC236}">
                    <a16:creationId xmlns:a16="http://schemas.microsoft.com/office/drawing/2014/main" id="{1289DC5B-9E46-9E3D-D707-B780DE9338F7}"/>
                  </a:ext>
                </a:extLst>
              </p:cNvPr>
              <p:cNvCxnSpPr/>
              <p:nvPr/>
            </p:nvCxnSpPr>
            <p:spPr>
              <a:xfrm>
                <a:off x="-122766" y="43516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Connector 163">
                <a:extLst>
                  <a:ext uri="{FF2B5EF4-FFF2-40B4-BE49-F238E27FC236}">
                    <a16:creationId xmlns:a16="http://schemas.microsoft.com/office/drawing/2014/main" id="{61AA2879-B0DA-6F41-9D58-DD91145F8316}"/>
                  </a:ext>
                </a:extLst>
              </p:cNvPr>
              <p:cNvCxnSpPr/>
              <p:nvPr/>
            </p:nvCxnSpPr>
            <p:spPr>
              <a:xfrm>
                <a:off x="-133366" y="46972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5A7FB96B-0DC2-589C-E311-5A05A63DB823}"/>
                </a:ext>
              </a:extLst>
            </p:cNvPr>
            <p:cNvSpPr/>
            <p:nvPr/>
          </p:nvSpPr>
          <p:spPr>
            <a:xfrm>
              <a:off x="320684" y="2229966"/>
              <a:ext cx="774960" cy="102240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1</a:t>
              </a: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1CF39448-0FAF-024A-EEDD-AC37C1FD6605}"/>
                </a:ext>
              </a:extLst>
            </p:cNvPr>
            <p:cNvSpPr/>
            <p:nvPr/>
          </p:nvSpPr>
          <p:spPr>
            <a:xfrm>
              <a:off x="320684" y="3264117"/>
              <a:ext cx="774960" cy="1022401"/>
            </a:xfrm>
            <a:prstGeom prst="rect">
              <a:avLst/>
            </a:prstGeom>
            <a:gradFill>
              <a:gsLst>
                <a:gs pos="0">
                  <a:srgbClr val="00B050"/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2</a:t>
              </a: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23F7E1E-9B73-328D-B4D5-EB7626D79884}"/>
                </a:ext>
              </a:extLst>
            </p:cNvPr>
            <p:cNvSpPr/>
            <p:nvPr/>
          </p:nvSpPr>
          <p:spPr>
            <a:xfrm>
              <a:off x="320684" y="4303515"/>
              <a:ext cx="774960" cy="1030918"/>
            </a:xfrm>
            <a:prstGeom prst="rect">
              <a:avLst/>
            </a:prstGeom>
            <a:gradFill>
              <a:gsLst>
                <a:gs pos="0">
                  <a:schemeClr val="accent6">
                    <a:lumMod val="75000"/>
                  </a:schemeClr>
                </a:gs>
                <a:gs pos="100000">
                  <a:schemeClr val="accent6">
                    <a:lumMod val="40000"/>
                    <a:lumOff val="60000"/>
                  </a:schemeClr>
                </a:gs>
              </a:gsLst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3</a:t>
              </a:r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26327DF5-EAB5-9DEA-1FFD-78917F86B510}"/>
                </a:ext>
              </a:extLst>
            </p:cNvPr>
            <p:cNvSpPr/>
            <p:nvPr/>
          </p:nvSpPr>
          <p:spPr>
            <a:xfrm>
              <a:off x="320684" y="2011632"/>
              <a:ext cx="7864057" cy="3326884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59C4DCE-44A5-5FDF-FFA1-77FEF75D866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668" y="2011632"/>
              <a:ext cx="0" cy="3333234"/>
            </a:xfrm>
            <a:prstGeom prst="line">
              <a:avLst/>
            </a:prstGeom>
            <a:ln w="6350">
              <a:solidFill>
                <a:srgbClr val="CDD3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107">
              <a:extLst>
                <a:ext uri="{FF2B5EF4-FFF2-40B4-BE49-F238E27FC236}">
                  <a16:creationId xmlns:a16="http://schemas.microsoft.com/office/drawing/2014/main" id="{2738BB68-372E-242F-F7F0-D1CD895D58B2}"/>
                </a:ext>
              </a:extLst>
            </p:cNvPr>
            <p:cNvCxnSpPr>
              <a:cxnSpLocks/>
            </p:cNvCxnSpPr>
            <p:nvPr/>
          </p:nvCxnSpPr>
          <p:spPr>
            <a:xfrm>
              <a:off x="320684" y="2224032"/>
              <a:ext cx="7864057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9EC8388-7ED0-559A-00F1-94BECB505212}"/>
                </a:ext>
              </a:extLst>
            </p:cNvPr>
            <p:cNvSpPr/>
            <p:nvPr/>
          </p:nvSpPr>
          <p:spPr>
            <a:xfrm>
              <a:off x="332984" y="2017882"/>
              <a:ext cx="779983" cy="20615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B029C5F-A4D6-43CE-BF7A-86B04E2FF5E5}"/>
                </a:ext>
              </a:extLst>
            </p:cNvPr>
            <p:cNvSpPr/>
            <p:nvPr/>
          </p:nvSpPr>
          <p:spPr>
            <a:xfrm>
              <a:off x="1100668" y="2017882"/>
              <a:ext cx="1853997" cy="20615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세부 연구 내용</a:t>
              </a:r>
              <a:endParaRPr lang="en-US" sz="11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</p:txBody>
        </p:sp>
        <p:cxnSp>
          <p:nvCxnSpPr>
            <p:cNvPr id="7" name="Connector 164">
              <a:extLst>
                <a:ext uri="{FF2B5EF4-FFF2-40B4-BE49-F238E27FC236}">
                  <a16:creationId xmlns:a16="http://schemas.microsoft.com/office/drawing/2014/main" id="{C3868DA2-7422-2351-30AE-B28ED7F34AD5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61" y="2017882"/>
              <a:ext cx="0" cy="3322801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64">
              <a:extLst>
                <a:ext uri="{FF2B5EF4-FFF2-40B4-BE49-F238E27FC236}">
                  <a16:creationId xmlns:a16="http://schemas.microsoft.com/office/drawing/2014/main" id="{28B9EAD6-21D6-89E9-F633-9AE885B4A7EB}"/>
                </a:ext>
              </a:extLst>
            </p:cNvPr>
            <p:cNvCxnSpPr>
              <a:cxnSpLocks/>
            </p:cNvCxnSpPr>
            <p:nvPr/>
          </p:nvCxnSpPr>
          <p:spPr>
            <a:xfrm>
              <a:off x="2954668" y="2011632"/>
              <a:ext cx="0" cy="3322801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64">
              <a:extLst>
                <a:ext uri="{FF2B5EF4-FFF2-40B4-BE49-F238E27FC236}">
                  <a16:creationId xmlns:a16="http://schemas.microsoft.com/office/drawing/2014/main" id="{C70AFD3F-8C90-76E7-5243-19789B9A819A}"/>
                </a:ext>
              </a:extLst>
            </p:cNvPr>
            <p:cNvCxnSpPr>
              <a:cxnSpLocks/>
            </p:cNvCxnSpPr>
            <p:nvPr/>
          </p:nvCxnSpPr>
          <p:spPr>
            <a:xfrm>
              <a:off x="1101661" y="2011632"/>
              <a:ext cx="0" cy="3322801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" name="Connector 115">
            <a:extLst>
              <a:ext uri="{FF2B5EF4-FFF2-40B4-BE49-F238E27FC236}">
                <a16:creationId xmlns:a16="http://schemas.microsoft.com/office/drawing/2014/main" id="{73BF8BD3-E4E0-6F99-3A69-62DB81DB6ECE}"/>
              </a:ext>
            </a:extLst>
          </p:cNvPr>
          <p:cNvCxnSpPr>
            <a:cxnSpLocks/>
          </p:cNvCxnSpPr>
          <p:nvPr/>
        </p:nvCxnSpPr>
        <p:spPr>
          <a:xfrm>
            <a:off x="320684" y="2224032"/>
            <a:ext cx="786618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745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1248</TotalTime>
  <Words>1834</Words>
  <Application>Microsoft Office PowerPoint</Application>
  <PresentationFormat>Custom</PresentationFormat>
  <Paragraphs>346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나눔스퀘어 Bold</vt:lpstr>
      <vt:lpstr>나눔스퀘어 네오 Bold</vt:lpstr>
      <vt:lpstr>맑은 고딕</vt:lpstr>
      <vt:lpstr>에스코어 드림 4 Regular</vt:lpstr>
      <vt:lpstr>에스코어 드림 6 Bold</vt:lpstr>
      <vt:lpstr>에스코어 드림 7 ExtraBold</vt:lpstr>
      <vt:lpstr>에스코어 드림 9 Black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Seung-Mo Lee</cp:lastModifiedBy>
  <cp:revision>5</cp:revision>
  <dcterms:created xsi:type="dcterms:W3CDTF">2013-01-27T09:14:16Z</dcterms:created>
  <dcterms:modified xsi:type="dcterms:W3CDTF">2026-04-29T07:03:18Z</dcterms:modified>
  <cp:category/>
</cp:coreProperties>
</file>