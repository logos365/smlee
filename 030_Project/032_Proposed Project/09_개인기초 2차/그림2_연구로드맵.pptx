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1" r:id="rId3"/>
    <p:sldId id="265" r:id="rId4"/>
    <p:sldId id="263" r:id="rId5"/>
    <p:sldId id="266" r:id="rId6"/>
    <p:sldId id="264" r:id="rId7"/>
    <p:sldId id="256" r:id="rId8"/>
    <p:sldId id="259" r:id="rId9"/>
    <p:sldId id="258" r:id="rId10"/>
    <p:sldId id="257" r:id="rId11"/>
    <p:sldId id="260" r:id="rId12"/>
  </p:sldIdLst>
  <p:sldSz cx="9144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2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E5F5"/>
    <a:srgbClr val="FF00FF"/>
    <a:srgbClr val="CD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2028" y="684"/>
      </p:cViewPr>
      <p:guideLst>
        <p:guide orient="horz" pos="215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734268-319E-FD40-E428-9F8AEB81061A}"/>
              </a:ext>
            </a:extLst>
          </p:cNvPr>
          <p:cNvSpPr/>
          <p:nvPr/>
        </p:nvSpPr>
        <p:spPr>
          <a:xfrm>
            <a:off x="0" y="0"/>
            <a:ext cx="9144000" cy="3600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9B3F93-F434-F31E-E02E-6670D19388B5}"/>
              </a:ext>
            </a:extLst>
          </p:cNvPr>
          <p:cNvSpPr txBox="1"/>
          <p:nvPr/>
        </p:nvSpPr>
        <p:spPr>
          <a:xfrm>
            <a:off x="0" y="21600"/>
            <a:ext cx="9144000" cy="31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1]  연구 개념도 — ALD 불화물 인공 SEI 전략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B14EA5-28C2-F64B-8D3E-7E2663FFF920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D27A8A-C48F-0092-EF30-76E45D1C433D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672A46-346F-168E-2859-8D80D6FCB866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3DD875-7527-0306-D9BC-90C9C2547F89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6B53DF-7116-53F0-0D7E-BF565EABCF9F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C723DE-8D7D-B300-D923-EA26785D3F14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2EE22C-E811-A7B6-B2CD-7B538F078AF3}"/>
              </a:ext>
            </a:extLst>
          </p:cNvPr>
          <p:cNvSpPr txBox="1"/>
          <p:nvPr/>
        </p:nvSpPr>
        <p:spPr>
          <a:xfrm>
            <a:off x="90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(좌)  문제 : 불균일 Li 핵생성 및 덴드라이트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F7481-032E-24FE-1807-ECEE0C5FE9AE}"/>
              </a:ext>
            </a:extLst>
          </p:cNvPr>
          <p:cNvSpPr txBox="1"/>
          <p:nvPr/>
        </p:nvSpPr>
        <p:spPr>
          <a:xfrm>
            <a:off x="3114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(중)  ALD ZnF₂ 증착 공정 사이클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B36F57-4621-74E5-4334-B56B02B05473}"/>
              </a:ext>
            </a:extLst>
          </p:cNvPr>
          <p:cNvSpPr txBox="1"/>
          <p:nvPr/>
        </p:nvSpPr>
        <p:spPr>
          <a:xfrm>
            <a:off x="6138000" y="399600"/>
            <a:ext cx="2916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(우)  해결 : 균일 Li 핵생성 및 평탄한 증착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219BAFAF-5925-4B15-F597-157D591132AF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98199B8-2261-A814-AD96-5251B1874552}"/>
              </a:ext>
            </a:extLst>
          </p:cNvPr>
          <p:cNvSpPr txBox="1"/>
          <p:nvPr/>
        </p:nvSpPr>
        <p:spPr>
          <a:xfrm>
            <a:off x="2862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03F9F"/>
                </a:solidFill>
                <a:latin typeface="맑은 고딕"/>
              </a:rPr>
              <a:t>ALD
코팅</a:t>
            </a:r>
          </a:p>
        </p:txBody>
      </p: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1865C4F8-4460-DB3E-3449-A080C4A71AEA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9D5BFE1-2427-AA15-8EA2-5914EACD4F03}"/>
              </a:ext>
            </a:extLst>
          </p:cNvPr>
          <p:cNvSpPr txBox="1"/>
          <p:nvPr/>
        </p:nvSpPr>
        <p:spPr>
          <a:xfrm>
            <a:off x="5886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맑은 고딕"/>
              </a:rPr>
              <a:t>→ 해결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4DEFC-D4DB-2724-75A9-E029086B102E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1A922A-30E3-7358-6208-1D06B2D7B7D0}"/>
              </a:ext>
            </a:extLst>
          </p:cNvPr>
          <p:cNvSpPr txBox="1"/>
          <p:nvPr/>
        </p:nvSpPr>
        <p:spPr>
          <a:xfrm>
            <a:off x="144000" y="694800"/>
            <a:ext cx="273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1FE22C-E4C6-3FA4-D16F-426F283C936B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63EF58-93F3-048D-FD7E-24C9FD0C0A32}"/>
              </a:ext>
            </a:extLst>
          </p:cNvPr>
          <p:cNvSpPr txBox="1"/>
          <p:nvPr/>
        </p:nvSpPr>
        <p:spPr>
          <a:xfrm>
            <a:off x="108000" y="2861999"/>
            <a:ext cx="273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B6660D6-104F-107D-5AAB-6A2385AB4375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946A4645-FF47-F1C8-39AD-9AA93D0C797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BCAE2BFC-1EEA-8DAF-13C0-C106DE2B4AA9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D23B0636-35C2-F36B-BA27-FF07B9F8D51D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E089FE07-438B-597E-EFE5-CA682A82822D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FEF5A2FB-6174-1A71-4921-AFC559F3777E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8801C842-1193-DBD8-DB88-E3AB8170C168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56A45589-A32E-778A-E4D8-3560D30FBB55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E9DCE7F0-852C-15CC-9AAD-6E84CD93FA31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9373819-23C4-BC33-8F5E-B0EFC11855DD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8A24B95A-357E-4CD0-43CC-F23DBB65D2F7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6D8BF9D4-3913-F431-8FE2-419A16B476D8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3C0A71F-0844-5397-BC1E-6BDA0158D5E0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327E8A58-BFEB-91F7-511B-401E73295877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CEF2B33-D11F-0907-D6A7-DEB138AA584F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4D67C63-B97B-E702-F68C-AD2E6CFC0728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2FFF64F-80DA-2CCF-7A08-13F202A1E9A3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D547AE8-7D55-69A5-B748-97824FC4542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4FD16A6-2070-9C0A-FE0D-180A3057D4B0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D8CED9B-4AC0-8B1F-ABEF-D6B6EAAE972A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C58D6C84-1F27-8D31-1BA4-207F8379A902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3A383B8-5BAE-7D6B-B719-90206D706020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81AD1E4-2090-1ACA-5CA7-01BF643FC215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C5EE0959-0070-31EA-FB9F-2B134DEB5C76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C61EC7-99FA-C1F9-DAE2-3ADD96D17E83}"/>
              </a:ext>
            </a:extLst>
          </p:cNvPr>
          <p:cNvSpPr txBox="1"/>
          <p:nvPr/>
        </p:nvSpPr>
        <p:spPr>
          <a:xfrm>
            <a:off x="1278000" y="864000"/>
            <a:ext cx="136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  <a:latin typeface="맑은 고딕"/>
              </a:rPr>
              <a:t>Li 덴드라이트 ⚠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FC5712-BA6E-37BF-1C95-BE930A79A43D}"/>
              </a:ext>
            </a:extLst>
          </p:cNvPr>
          <p:cNvSpPr txBox="1"/>
          <p:nvPr/>
        </p:nvSpPr>
        <p:spPr>
          <a:xfrm>
            <a:off x="1458000" y="2527200"/>
            <a:ext cx="1152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dirty="0" err="1">
                <a:solidFill>
                  <a:srgbClr val="BF360C"/>
                </a:solidFill>
                <a:latin typeface="맑은 고딕"/>
              </a:rPr>
              <a:t>불균일·파단</a:t>
            </a:r>
            <a:r>
              <a:rPr sz="850" b="0" dirty="0">
                <a:solidFill>
                  <a:srgbClr val="BF360C"/>
                </a:solidFill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511E51-0A78-581F-14E8-51629645CC74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0345C3-E927-C39B-3188-0419CB80C8AA}"/>
              </a:ext>
            </a:extLst>
          </p:cNvPr>
          <p:cNvSpPr txBox="1"/>
          <p:nvPr/>
        </p:nvSpPr>
        <p:spPr>
          <a:xfrm>
            <a:off x="144000" y="3186000"/>
            <a:ext cx="2646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Cu 집전체 위 ALD 코팅 없이 Li 전착 시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핵생성 과전압 불균일 → 덴드라이트 성장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두껍고 불균일한 SEI 형성 반복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쿨롱 효율 저하 및 내부 단락(short) 위험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FD433BC-6841-385B-1C1A-45F93112FA20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E4FC6E31-2EED-BBE3-B1C8-1BFA11FD547C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9BE420B1-96FC-F17C-61E0-9FAD71A59CCE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55B35AE-7356-393E-DF5B-538C84B001A3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539994-4041-C7BD-9BA5-DE71D09C5F80}"/>
              </a:ext>
            </a:extLst>
          </p:cNvPr>
          <p:cNvSpPr/>
          <p:nvPr/>
        </p:nvSpPr>
        <p:spPr>
          <a:xfrm>
            <a:off x="3132000" y="691200"/>
            <a:ext cx="2736000" cy="2015999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8F65ED-27B0-7769-A0B0-AF12AEA33551}"/>
              </a:ext>
            </a:extLst>
          </p:cNvPr>
          <p:cNvSpPr txBox="1"/>
          <p:nvPr/>
        </p:nvSpPr>
        <p:spPr>
          <a:xfrm>
            <a:off x="3132000" y="7164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6A1B9A"/>
                </a:solidFill>
                <a:latin typeface="맑은 고딕"/>
              </a:rPr>
              <a:t>ALD 증착 사이클 (1 cycle)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DA4C2CE4-EB15-139C-C3E3-F3EF19466A00}"/>
              </a:ext>
            </a:extLst>
          </p:cNvPr>
          <p:cNvSpPr/>
          <p:nvPr/>
        </p:nvSpPr>
        <p:spPr>
          <a:xfrm>
            <a:off x="3360000" y="1243200"/>
            <a:ext cx="1026000" cy="378000"/>
          </a:xfrm>
          <a:prstGeom prst="roundRect">
            <a:avLst/>
          </a:prstGeom>
          <a:solidFill>
            <a:srgbClr val="1976D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461E34-7402-FD05-717B-D7279ABBD6A7}"/>
              </a:ext>
            </a:extLst>
          </p:cNvPr>
          <p:cNvSpPr txBox="1"/>
          <p:nvPr/>
        </p:nvSpPr>
        <p:spPr>
          <a:xfrm>
            <a:off x="3360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① 전구체 노출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3C6D23-C272-6C2C-5C99-781D0ADCF2A2}"/>
              </a:ext>
            </a:extLst>
          </p:cNvPr>
          <p:cNvSpPr txBox="1"/>
          <p:nvPr/>
        </p:nvSpPr>
        <p:spPr>
          <a:xfrm>
            <a:off x="3360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(DEZ 펄스)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90F34F89-8969-B1E7-4ADC-D5AD3203AAEB}"/>
              </a:ext>
            </a:extLst>
          </p:cNvPr>
          <p:cNvSpPr/>
          <p:nvPr/>
        </p:nvSpPr>
        <p:spPr>
          <a:xfrm>
            <a:off x="4614000" y="1243200"/>
            <a:ext cx="1026000" cy="378000"/>
          </a:xfrm>
          <a:prstGeom prst="roundRect">
            <a:avLst/>
          </a:prstGeom>
          <a:solidFill>
            <a:srgbClr val="F9A82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52036B-0E30-D269-AB50-F65F9A0EA69F}"/>
              </a:ext>
            </a:extLst>
          </p:cNvPr>
          <p:cNvSpPr txBox="1"/>
          <p:nvPr/>
        </p:nvSpPr>
        <p:spPr>
          <a:xfrm>
            <a:off x="4614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② 퍼지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0FA1D1-BB9A-A888-5399-C344B97BF8BA}"/>
              </a:ext>
            </a:extLst>
          </p:cNvPr>
          <p:cNvSpPr txBox="1"/>
          <p:nvPr/>
        </p:nvSpPr>
        <p:spPr>
          <a:xfrm>
            <a:off x="4614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E5367DCC-C256-CDB9-0B27-46BF68D731F0}"/>
              </a:ext>
            </a:extLst>
          </p:cNvPr>
          <p:cNvSpPr/>
          <p:nvPr/>
        </p:nvSpPr>
        <p:spPr>
          <a:xfrm>
            <a:off x="4614000" y="1975200"/>
            <a:ext cx="1026000" cy="37800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DFB140-6A09-9F49-6AA6-3A34FD7E5644}"/>
              </a:ext>
            </a:extLst>
          </p:cNvPr>
          <p:cNvSpPr txBox="1"/>
          <p:nvPr/>
        </p:nvSpPr>
        <p:spPr>
          <a:xfrm>
            <a:off x="4614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③ 반응물 노출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E323C0-EAFE-9DC6-60EE-A10104204389}"/>
              </a:ext>
            </a:extLst>
          </p:cNvPr>
          <p:cNvSpPr txBox="1"/>
          <p:nvPr/>
        </p:nvSpPr>
        <p:spPr>
          <a:xfrm>
            <a:off x="4614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(HF·py 펄스)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0F9D90CC-F4BB-A0E3-E6DF-563D2AE24495}"/>
              </a:ext>
            </a:extLst>
          </p:cNvPr>
          <p:cNvSpPr/>
          <p:nvPr/>
        </p:nvSpPr>
        <p:spPr>
          <a:xfrm>
            <a:off x="3360000" y="1975200"/>
            <a:ext cx="1026000" cy="378000"/>
          </a:xfrm>
          <a:prstGeom prst="roundRect">
            <a:avLst/>
          </a:prstGeom>
          <a:solidFill>
            <a:srgbClr val="EF53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C5F0B1-17A6-6647-D8D7-9974FAC2DF14}"/>
              </a:ext>
            </a:extLst>
          </p:cNvPr>
          <p:cNvSpPr txBox="1"/>
          <p:nvPr/>
        </p:nvSpPr>
        <p:spPr>
          <a:xfrm>
            <a:off x="3360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④ 퍼지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A13F4E-4F32-CA4A-7BEC-A57FF4119AE7}"/>
              </a:ext>
            </a:extLst>
          </p:cNvPr>
          <p:cNvSpPr txBox="1"/>
          <p:nvPr/>
        </p:nvSpPr>
        <p:spPr>
          <a:xfrm>
            <a:off x="3360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cxnSp>
        <p:nvCxnSpPr>
          <p:cNvPr id="67" name="Connector 66">
            <a:extLst>
              <a:ext uri="{FF2B5EF4-FFF2-40B4-BE49-F238E27FC236}">
                <a16:creationId xmlns:a16="http://schemas.microsoft.com/office/drawing/2014/main" id="{F404C6FD-14DD-AEF4-AFD6-38CDC55D476D}"/>
              </a:ext>
            </a:extLst>
          </p:cNvPr>
          <p:cNvCxnSpPr/>
          <p:nvPr/>
        </p:nvCxnSpPr>
        <p:spPr>
          <a:xfrm>
            <a:off x="4386000" y="1432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>
            <a:extLst>
              <a:ext uri="{FF2B5EF4-FFF2-40B4-BE49-F238E27FC236}">
                <a16:creationId xmlns:a16="http://schemas.microsoft.com/office/drawing/2014/main" id="{52174CCA-50A1-4E92-E550-8C009B555ED0}"/>
              </a:ext>
            </a:extLst>
          </p:cNvPr>
          <p:cNvCxnSpPr/>
          <p:nvPr/>
        </p:nvCxnSpPr>
        <p:spPr>
          <a:xfrm>
            <a:off x="5127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>
            <a:extLst>
              <a:ext uri="{FF2B5EF4-FFF2-40B4-BE49-F238E27FC236}">
                <a16:creationId xmlns:a16="http://schemas.microsoft.com/office/drawing/2014/main" id="{6992CAF6-C985-CD2B-A91E-9E8F876F0D99}"/>
              </a:ext>
            </a:extLst>
          </p:cNvPr>
          <p:cNvCxnSpPr/>
          <p:nvPr/>
        </p:nvCxnSpPr>
        <p:spPr>
          <a:xfrm flipH="1">
            <a:off x="4386000" y="2164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>
            <a:extLst>
              <a:ext uri="{FF2B5EF4-FFF2-40B4-BE49-F238E27FC236}">
                <a16:creationId xmlns:a16="http://schemas.microsoft.com/office/drawing/2014/main" id="{913E3119-EA82-0B36-09AA-9C588C5AB5CE}"/>
              </a:ext>
            </a:extLst>
          </p:cNvPr>
          <p:cNvCxnSpPr/>
          <p:nvPr/>
        </p:nvCxnSpPr>
        <p:spPr>
          <a:xfrm flipV="1">
            <a:off x="3873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EF9F0A9-FD51-55CB-8C2B-6DA42C4ECC90}"/>
              </a:ext>
            </a:extLst>
          </p:cNvPr>
          <p:cNvSpPr/>
          <p:nvPr/>
        </p:nvSpPr>
        <p:spPr>
          <a:xfrm>
            <a:off x="4104000" y="1690199"/>
            <a:ext cx="792000" cy="2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C24B4B-B683-58CC-1CF0-B75B416CF61F}"/>
              </a:ext>
            </a:extLst>
          </p:cNvPr>
          <p:cNvSpPr txBox="1"/>
          <p:nvPr/>
        </p:nvSpPr>
        <p:spPr>
          <a:xfrm>
            <a:off x="4104000" y="1690199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6A1B9A"/>
                </a:solidFill>
                <a:latin typeface="맑은 고딕"/>
              </a:rPr>
              <a:t>ALD 1 사이클 반복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AF671E7-6E43-24F5-83CF-2E18848A9E58}"/>
              </a:ext>
            </a:extLst>
          </p:cNvPr>
          <p:cNvSpPr/>
          <p:nvPr/>
        </p:nvSpPr>
        <p:spPr>
          <a:xfrm>
            <a:off x="3132000" y="2761200"/>
            <a:ext cx="2736000" cy="666000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20A20D-8275-A761-B2D5-488E58D0BDEE}"/>
              </a:ext>
            </a:extLst>
          </p:cNvPr>
          <p:cNvSpPr txBox="1"/>
          <p:nvPr/>
        </p:nvSpPr>
        <p:spPr>
          <a:xfrm>
            <a:off x="3132000" y="27828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303F9F"/>
                </a:solidFill>
                <a:latin typeface="맑은 고딕"/>
              </a:rPr>
              <a:t>박막 형성 단면 모식도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45DB71E-1A27-A97B-18A1-A4EE458BEB79}"/>
              </a:ext>
            </a:extLst>
          </p:cNvPr>
          <p:cNvSpPr/>
          <p:nvPr/>
        </p:nvSpPr>
        <p:spPr>
          <a:xfrm>
            <a:off x="3222000" y="3211200"/>
            <a:ext cx="2556000" cy="1512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0F27563-DA0D-8F98-663B-018525DD1555}"/>
              </a:ext>
            </a:extLst>
          </p:cNvPr>
          <p:cNvSpPr txBox="1"/>
          <p:nvPr/>
        </p:nvSpPr>
        <p:spPr>
          <a:xfrm>
            <a:off x="3222000" y="3232800"/>
            <a:ext cx="2556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</a:rPr>
              <a:t>Cu 기판 / Li 금속 음극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C650431-EF44-39D3-148A-0F00FF3CBB61}"/>
              </a:ext>
            </a:extLst>
          </p:cNvPr>
          <p:cNvSpPr/>
          <p:nvPr/>
        </p:nvSpPr>
        <p:spPr>
          <a:xfrm>
            <a:off x="3222000" y="3110400"/>
            <a:ext cx="2556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130373-D6DE-F8F3-4D36-340429B04C99}"/>
              </a:ext>
            </a:extLst>
          </p:cNvPr>
          <p:cNvSpPr txBox="1"/>
          <p:nvPr/>
        </p:nvSpPr>
        <p:spPr>
          <a:xfrm>
            <a:off x="3222000" y="3117600"/>
            <a:ext cx="2556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ZnF₂ ALD 박막  (두께: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7903B0-9F4E-E54E-6E84-7302A483A2BD}"/>
              </a:ext>
            </a:extLst>
          </p:cNvPr>
          <p:cNvSpPr txBox="1"/>
          <p:nvPr/>
        </p:nvSpPr>
        <p:spPr>
          <a:xfrm>
            <a:off x="3222000" y="2973600"/>
            <a:ext cx="2556000" cy="11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3949AB"/>
                </a:solidFill>
                <a:latin typeface="맑은 고딕"/>
              </a:rPr>
              <a:t>← n 사이클 반복으로 두께 제어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830DA35-E0D4-99E0-5C1E-82D8D4CEB4EF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B5E873-A5F3-4C0E-57F9-B8EDC27E7376}"/>
              </a:ext>
            </a:extLst>
          </p:cNvPr>
          <p:cNvSpPr txBox="1"/>
          <p:nvPr/>
        </p:nvSpPr>
        <p:spPr>
          <a:xfrm>
            <a:off x="3175200" y="3499199"/>
            <a:ext cx="2664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ZnF₂ ALD: DEZ + HF·py 전구체 조합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자기제한적(self-limiting) 표면 반응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기판 온도 50~200°C, Å 수준 두께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결과: 균일·공형(conformal) 불화물 박막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4EB99DF-B154-DBC1-CB99-6CB136632C74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7CCBC7A6-C370-5D84-F9EC-315094668F62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570F419-0BC7-7CA8-FF19-8DB90A48008E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A87A00FE-AA7D-BAC7-1359-7C39F750E686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60524A8-4CBE-E564-1F99-79902CA714DF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3BF4023-3D9A-7154-E04D-7C53436C780B}"/>
              </a:ext>
            </a:extLst>
          </p:cNvPr>
          <p:cNvSpPr txBox="1"/>
          <p:nvPr/>
        </p:nvSpPr>
        <p:spPr>
          <a:xfrm>
            <a:off x="6192000" y="694800"/>
            <a:ext cx="2808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3FC66C0-7D5B-E0CA-CBE2-C83B3EB5A4F2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AC1984C-2275-D906-DF68-7391EC429280}"/>
              </a:ext>
            </a:extLst>
          </p:cNvPr>
          <p:cNvSpPr txBox="1"/>
          <p:nvPr/>
        </p:nvSpPr>
        <p:spPr>
          <a:xfrm>
            <a:off x="6156000" y="2861999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A2E2B6E-2AE8-5AF9-F13E-E0128C377566}"/>
              </a:ext>
            </a:extLst>
          </p:cNvPr>
          <p:cNvSpPr/>
          <p:nvPr/>
        </p:nvSpPr>
        <p:spPr>
          <a:xfrm>
            <a:off x="6156000" y="2689200"/>
            <a:ext cx="2880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BE8DDA-E680-32C3-E6F3-D5FBABB6DE7B}"/>
              </a:ext>
            </a:extLst>
          </p:cNvPr>
          <p:cNvSpPr txBox="1"/>
          <p:nvPr/>
        </p:nvSpPr>
        <p:spPr>
          <a:xfrm>
            <a:off x="6156000" y="2696399"/>
            <a:ext cx="2880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ALD 불화물 인공 SEI  (ZnF₂ / AlF₃ / LiF)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C4D1A2E-C5C0-355B-D35A-8C2AD33B4B99}"/>
              </a:ext>
            </a:extLst>
          </p:cNvPr>
          <p:cNvSpPr/>
          <p:nvPr/>
        </p:nvSpPr>
        <p:spPr>
          <a:xfrm>
            <a:off x="6246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0AA6CDA-F56B-0A5E-EC34-5E2BEB1C114C}"/>
              </a:ext>
            </a:extLst>
          </p:cNvPr>
          <p:cNvSpPr/>
          <p:nvPr/>
        </p:nvSpPr>
        <p:spPr>
          <a:xfrm>
            <a:off x="6447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96D908B-1A1B-A5B0-3906-1D92CD47D34C}"/>
              </a:ext>
            </a:extLst>
          </p:cNvPr>
          <p:cNvSpPr/>
          <p:nvPr/>
        </p:nvSpPr>
        <p:spPr>
          <a:xfrm>
            <a:off x="6649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FE5D1A-D7DA-1A83-EA4F-E71D18419F71}"/>
              </a:ext>
            </a:extLst>
          </p:cNvPr>
          <p:cNvSpPr/>
          <p:nvPr/>
        </p:nvSpPr>
        <p:spPr>
          <a:xfrm>
            <a:off x="6850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E15D5A0-2BAC-3CE9-23C1-0CCDB33E77BE}"/>
              </a:ext>
            </a:extLst>
          </p:cNvPr>
          <p:cNvSpPr/>
          <p:nvPr/>
        </p:nvSpPr>
        <p:spPr>
          <a:xfrm>
            <a:off x="7052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664A03E-6A31-5EA8-3812-BFE9AFFA4E1D}"/>
              </a:ext>
            </a:extLst>
          </p:cNvPr>
          <p:cNvSpPr/>
          <p:nvPr/>
        </p:nvSpPr>
        <p:spPr>
          <a:xfrm>
            <a:off x="7254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ABE004F1-7B48-FFC8-454A-908957FE07FF}"/>
              </a:ext>
            </a:extLst>
          </p:cNvPr>
          <p:cNvSpPr/>
          <p:nvPr/>
        </p:nvSpPr>
        <p:spPr>
          <a:xfrm>
            <a:off x="7455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614407BC-C817-0AEC-5640-050D3072F4CE}"/>
              </a:ext>
            </a:extLst>
          </p:cNvPr>
          <p:cNvSpPr/>
          <p:nvPr/>
        </p:nvSpPr>
        <p:spPr>
          <a:xfrm>
            <a:off x="7657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0B031C6-1AC3-2EE8-1CC2-7F91E95F92FA}"/>
              </a:ext>
            </a:extLst>
          </p:cNvPr>
          <p:cNvSpPr/>
          <p:nvPr/>
        </p:nvSpPr>
        <p:spPr>
          <a:xfrm>
            <a:off x="7858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C92C075-B937-102E-D32C-C64C08394246}"/>
              </a:ext>
            </a:extLst>
          </p:cNvPr>
          <p:cNvSpPr/>
          <p:nvPr/>
        </p:nvSpPr>
        <p:spPr>
          <a:xfrm>
            <a:off x="8060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73BBBDF-E3E7-964C-0226-DCE5C4BED94B}"/>
              </a:ext>
            </a:extLst>
          </p:cNvPr>
          <p:cNvSpPr/>
          <p:nvPr/>
        </p:nvSpPr>
        <p:spPr>
          <a:xfrm>
            <a:off x="8262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75CEC7BD-F844-6F02-A504-2E0C975DCD97}"/>
              </a:ext>
            </a:extLst>
          </p:cNvPr>
          <p:cNvSpPr/>
          <p:nvPr/>
        </p:nvSpPr>
        <p:spPr>
          <a:xfrm>
            <a:off x="8463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5F3116AB-46D3-ADB0-14DB-43F660F8FEBA}"/>
              </a:ext>
            </a:extLst>
          </p:cNvPr>
          <p:cNvSpPr/>
          <p:nvPr/>
        </p:nvSpPr>
        <p:spPr>
          <a:xfrm>
            <a:off x="8665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6B7ADF24-B496-A6CB-8203-6A43636E29E9}"/>
              </a:ext>
            </a:extLst>
          </p:cNvPr>
          <p:cNvSpPr/>
          <p:nvPr/>
        </p:nvSpPr>
        <p:spPr>
          <a:xfrm>
            <a:off x="8866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2600A87-AD9D-7D2B-3CAF-618A1D04D3A3}"/>
              </a:ext>
            </a:extLst>
          </p:cNvPr>
          <p:cNvSpPr/>
          <p:nvPr/>
        </p:nvSpPr>
        <p:spPr>
          <a:xfrm>
            <a:off x="6156000" y="2106000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52D741B-0C91-77F8-6596-29B4E3279236}"/>
              </a:ext>
            </a:extLst>
          </p:cNvPr>
          <p:cNvSpPr txBox="1"/>
          <p:nvPr/>
        </p:nvSpPr>
        <p:spPr>
          <a:xfrm>
            <a:off x="6156000" y="2257200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맑은 고딕"/>
              </a:rPr>
              <a:t>균일하고</a:t>
            </a:r>
            <a:r>
              <a:rPr sz="9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맑은 고딕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맑은 고딕"/>
              </a:rPr>
              <a:t>증착층</a:t>
            </a:r>
            <a:endParaRPr sz="9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BBBF47A-7163-7AC7-BBC1-F4A0CB3418D4}"/>
              </a:ext>
            </a:extLst>
          </p:cNvPr>
          <p:cNvSpPr txBox="1"/>
          <p:nvPr/>
        </p:nvSpPr>
        <p:spPr>
          <a:xfrm>
            <a:off x="7578000" y="2429999"/>
            <a:ext cx="1368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맑은 고딕"/>
              </a:rPr>
              <a:t>✓ 균일 Li 핵생성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249F7D2-C92D-90F4-007A-A929C295296F}"/>
              </a:ext>
            </a:extLst>
          </p:cNvPr>
          <p:cNvSpPr txBox="1"/>
          <p:nvPr/>
        </p:nvSpPr>
        <p:spPr>
          <a:xfrm>
            <a:off x="7578000" y="2538000"/>
            <a:ext cx="1368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695C"/>
                </a:solidFill>
                <a:latin typeface="맑은 고딕"/>
              </a:rPr>
              <a:t>인공 SEI (ALD 불화물)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A68D4A1-ADE2-D870-4F01-76499FD370E8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8514410-D0B3-9CEB-7B93-2ADBE61E4A03}"/>
              </a:ext>
            </a:extLst>
          </p:cNvPr>
          <p:cNvSpPr txBox="1"/>
          <p:nvPr/>
        </p:nvSpPr>
        <p:spPr>
          <a:xfrm>
            <a:off x="6192000" y="3186000"/>
            <a:ext cx="2790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ALD 불화물 인공 SEI 형성 후 Li 전착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균일 핵생성 → 조밀·평탄한 Li 증착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덴드라이트 억제, SEI 두께·조성 정밀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목표: CE &gt;99.5%, 용량유지율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E40053D-A911-CB8F-7F9A-453CF49CB1CB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6DDF4DE0-DC89-B62C-0865-637FD87FA946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7BB94D60-70A0-CA26-83CE-263EF6F568CF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B8899F7-2107-C609-92E9-B60E5A37653D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62DCFC4A-9AB1-1D14-1F30-60FD633E21A9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129740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91AD70F-72EE-3768-AED7-69FA9CF0AD04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F463CB-6DB7-FF81-CBAD-D3CB6AE37E8D}"/>
              </a:ext>
            </a:extLst>
          </p:cNvPr>
          <p:cNvSpPr txBox="1"/>
          <p:nvPr/>
        </p:nvSpPr>
        <p:spPr>
          <a:xfrm>
            <a:off x="144000" y="694800"/>
            <a:ext cx="2736000" cy="230832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E2FC0-B1FF-A68A-6FD6-F4E69EB45D1C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D42603-E3F2-2E7C-78AA-DF2A51B84BD6}"/>
              </a:ext>
            </a:extLst>
          </p:cNvPr>
          <p:cNvSpPr txBox="1"/>
          <p:nvPr/>
        </p:nvSpPr>
        <p:spPr>
          <a:xfrm>
            <a:off x="108000" y="2861999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D4723233-A871-0B85-BB39-D40CF2CDCDBF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FC68EDF7-0170-3C03-9285-9812986A68F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5967E81-6DF6-7BED-89B9-AD3D30E5F8AC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756EB8D1-3D17-F267-CFEF-3AD9865B410B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BB270242-86B5-378A-F1A2-0FB64DBCCAE2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7971D90-AFC1-4F6D-1F85-D127CC971B07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41E40534-4DEE-790C-5908-8803248E726C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4F82690C-5996-4DFA-DD3C-850ACFCFA77E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15B1765-9EE7-86AB-042E-50F66989A38A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FB67E1E-1914-EE35-3406-21DB6E8C2C1B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62169E8C-E710-B7F8-A88C-A4A64307DB7B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29173F2E-DF7A-9286-7197-A27784536915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EB2C92-6DAC-DC8E-26FE-AAD87E6A8FBF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F71ACD68-EC5E-E87E-34B3-47C020B39A1F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73DFF1C-F436-7AA4-F9FF-9E1FFFF00FA1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AF9FCE2-B982-E7CC-DCB7-193824E428FB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518CF28-B18A-AE31-5F81-5A60B3EA4E9F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3C05F61-969B-88AC-F853-316DDC1D853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1193E39-0C19-A1E3-6EFE-9198B414D47B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3EC5D294-7C89-B7DE-EF0A-ACFAAF4DCCFD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1044AD7-958A-16C7-DA7F-031A3415FF29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D0E595D-6D53-117E-D7B5-8C8B14BB736D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181B867-7EFE-47E5-86E9-EFAB769B5AEE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9B6D30E6-689D-DDBF-0770-CFB034703232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995953-E10A-DAF2-4A10-B48E7FA01B76}"/>
              </a:ext>
            </a:extLst>
          </p:cNvPr>
          <p:cNvSpPr txBox="1"/>
          <p:nvPr/>
        </p:nvSpPr>
        <p:spPr>
          <a:xfrm>
            <a:off x="1130400" y="1132516"/>
            <a:ext cx="136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Li </a:t>
            </a:r>
            <a:r>
              <a:rPr sz="1050" dirty="0" err="1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덴드라이트</a:t>
            </a:r>
            <a:endParaRPr sz="1050" dirty="0"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92C0EF-D293-8EDB-F554-0E34298F5FB4}"/>
              </a:ext>
            </a:extLst>
          </p:cNvPr>
          <p:cNvSpPr txBox="1"/>
          <p:nvPr/>
        </p:nvSpPr>
        <p:spPr>
          <a:xfrm>
            <a:off x="849600" y="2371114"/>
            <a:ext cx="115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 err="1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불균일·파단</a:t>
            </a:r>
            <a:r>
              <a:rPr sz="1000" b="1" dirty="0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2000" y="691200"/>
            <a:ext cx="2736000" cy="1907397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EACF5B-787D-78F0-B52E-956C62B39C2B}"/>
              </a:ext>
            </a:extLst>
          </p:cNvPr>
          <p:cNvSpPr txBox="1"/>
          <p:nvPr/>
        </p:nvSpPr>
        <p:spPr>
          <a:xfrm>
            <a:off x="3132000" y="716400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ALD </a:t>
            </a:r>
            <a:r>
              <a:rPr lang="ko-KR" altLang="en-US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증착 사이클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3132000" y="2617335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3442845" y="270666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46B0CE-6F6D-FE00-29C2-313B19DA46BD}"/>
              </a:ext>
            </a:extLst>
          </p:cNvPr>
          <p:cNvSpPr/>
          <p:nvPr/>
        </p:nvSpPr>
        <p:spPr>
          <a:xfrm>
            <a:off x="3222000" y="3211200"/>
            <a:ext cx="2556000" cy="197998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A6F839-79EB-4D21-1967-0595C7BABDFE}"/>
              </a:ext>
            </a:extLst>
          </p:cNvPr>
          <p:cNvSpPr/>
          <p:nvPr/>
        </p:nvSpPr>
        <p:spPr>
          <a:xfrm>
            <a:off x="3222000" y="3010245"/>
            <a:ext cx="2556000" cy="200955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149C84-1118-CFC7-FE0D-483F5547B2C2}"/>
              </a:ext>
            </a:extLst>
          </p:cNvPr>
          <p:cNvSpPr txBox="1"/>
          <p:nvPr/>
        </p:nvSpPr>
        <p:spPr>
          <a:xfrm>
            <a:off x="3251860" y="3014494"/>
            <a:ext cx="25861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Metal Fluoride 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박막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두께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E3A4FD-5917-75BE-1D17-03FE4CFCE13E}"/>
              </a:ext>
            </a:extLst>
          </p:cNvPr>
          <p:cNvSpPr txBox="1"/>
          <p:nvPr/>
        </p:nvSpPr>
        <p:spPr>
          <a:xfrm>
            <a:off x="3206992" y="2827318"/>
            <a:ext cx="255600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← n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사이클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반복으로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8457BA-53E8-1664-7B79-16574FDE1EE6}"/>
              </a:ext>
            </a:extLst>
          </p:cNvPr>
          <p:cNvSpPr txBox="1"/>
          <p:nvPr/>
        </p:nvSpPr>
        <p:spPr>
          <a:xfrm>
            <a:off x="6192000" y="694800"/>
            <a:ext cx="280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FF09695-F45F-2734-C155-AE08AB58B8FC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56CD0C7-B78A-E3D5-E3DA-610AAF1CF38E}"/>
              </a:ext>
            </a:extLst>
          </p:cNvPr>
          <p:cNvSpPr txBox="1"/>
          <p:nvPr/>
        </p:nvSpPr>
        <p:spPr>
          <a:xfrm>
            <a:off x="6156000" y="2861999"/>
            <a:ext cx="2880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F0B13A9-ECAC-3398-5D5C-332E7460E160}"/>
              </a:ext>
            </a:extLst>
          </p:cNvPr>
          <p:cNvSpPr/>
          <p:nvPr/>
        </p:nvSpPr>
        <p:spPr>
          <a:xfrm>
            <a:off x="6156000" y="2573798"/>
            <a:ext cx="2880000" cy="21620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18A8747-8CCF-FEF5-8A8A-398A4C578D75}"/>
              </a:ext>
            </a:extLst>
          </p:cNvPr>
          <p:cNvSpPr txBox="1"/>
          <p:nvPr/>
        </p:nvSpPr>
        <p:spPr>
          <a:xfrm>
            <a:off x="6584545" y="2585195"/>
            <a:ext cx="214531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불화물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인공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ZnF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₂ / </a:t>
            </a:r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Mg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F</a:t>
            </a:r>
            <a:r>
              <a:rPr lang="en-US" sz="800" b="1" baseline="-250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2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/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LiF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4667851-1986-41BE-10B1-9A5F66CF935D}"/>
              </a:ext>
            </a:extLst>
          </p:cNvPr>
          <p:cNvSpPr/>
          <p:nvPr/>
        </p:nvSpPr>
        <p:spPr>
          <a:xfrm>
            <a:off x="6246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819F860-DB50-1538-37FC-8C51A93CE0C5}"/>
              </a:ext>
            </a:extLst>
          </p:cNvPr>
          <p:cNvSpPr/>
          <p:nvPr/>
        </p:nvSpPr>
        <p:spPr>
          <a:xfrm>
            <a:off x="6447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D5C174A8-B3F7-3F63-7090-D82DD07CB1A9}"/>
              </a:ext>
            </a:extLst>
          </p:cNvPr>
          <p:cNvSpPr/>
          <p:nvPr/>
        </p:nvSpPr>
        <p:spPr>
          <a:xfrm>
            <a:off x="6649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C55B3A-C58F-7F71-576B-564080263A8D}"/>
              </a:ext>
            </a:extLst>
          </p:cNvPr>
          <p:cNvSpPr/>
          <p:nvPr/>
        </p:nvSpPr>
        <p:spPr>
          <a:xfrm>
            <a:off x="6850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09A8438-C17C-1C5C-2F21-0A2A1CF6EFB8}"/>
              </a:ext>
            </a:extLst>
          </p:cNvPr>
          <p:cNvSpPr/>
          <p:nvPr/>
        </p:nvSpPr>
        <p:spPr>
          <a:xfrm>
            <a:off x="7052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ED408D4B-DA19-1301-A68C-B124C44B61B1}"/>
              </a:ext>
            </a:extLst>
          </p:cNvPr>
          <p:cNvSpPr/>
          <p:nvPr/>
        </p:nvSpPr>
        <p:spPr>
          <a:xfrm>
            <a:off x="7254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BA434644-E808-1D27-4953-7813A31A3ACE}"/>
              </a:ext>
            </a:extLst>
          </p:cNvPr>
          <p:cNvSpPr/>
          <p:nvPr/>
        </p:nvSpPr>
        <p:spPr>
          <a:xfrm>
            <a:off x="7455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A318770-E906-6A95-7C2B-D8D4C21FC320}"/>
              </a:ext>
            </a:extLst>
          </p:cNvPr>
          <p:cNvSpPr/>
          <p:nvPr/>
        </p:nvSpPr>
        <p:spPr>
          <a:xfrm>
            <a:off x="7657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3B604FA2-0D3D-ABB3-43EF-7E871C98A338}"/>
              </a:ext>
            </a:extLst>
          </p:cNvPr>
          <p:cNvSpPr/>
          <p:nvPr/>
        </p:nvSpPr>
        <p:spPr>
          <a:xfrm>
            <a:off x="7858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479FDA57-3B4F-FE14-6B13-8C3F9BDAF50F}"/>
              </a:ext>
            </a:extLst>
          </p:cNvPr>
          <p:cNvSpPr/>
          <p:nvPr/>
        </p:nvSpPr>
        <p:spPr>
          <a:xfrm>
            <a:off x="8060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A853A93D-2E5F-C550-69F0-3E91331FA72E}"/>
              </a:ext>
            </a:extLst>
          </p:cNvPr>
          <p:cNvSpPr/>
          <p:nvPr/>
        </p:nvSpPr>
        <p:spPr>
          <a:xfrm>
            <a:off x="8262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5366423F-8E08-4709-5D25-0D2405765E32}"/>
              </a:ext>
            </a:extLst>
          </p:cNvPr>
          <p:cNvSpPr/>
          <p:nvPr/>
        </p:nvSpPr>
        <p:spPr>
          <a:xfrm>
            <a:off x="8463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169BD0AB-1D0E-2EC5-BDCF-0A41EAAB10D2}"/>
              </a:ext>
            </a:extLst>
          </p:cNvPr>
          <p:cNvSpPr/>
          <p:nvPr/>
        </p:nvSpPr>
        <p:spPr>
          <a:xfrm>
            <a:off x="8665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AEF79026-8359-48AE-07F1-4BE7ACA2DF15}"/>
              </a:ext>
            </a:extLst>
          </p:cNvPr>
          <p:cNvSpPr/>
          <p:nvPr/>
        </p:nvSpPr>
        <p:spPr>
          <a:xfrm>
            <a:off x="8866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840E267-C444-85C8-6309-B86381BF4E44}"/>
              </a:ext>
            </a:extLst>
          </p:cNvPr>
          <p:cNvSpPr/>
          <p:nvPr/>
        </p:nvSpPr>
        <p:spPr>
          <a:xfrm>
            <a:off x="6156000" y="1991195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DF00C40-0058-9326-C506-2007B510DF49}"/>
              </a:ext>
            </a:extLst>
          </p:cNvPr>
          <p:cNvSpPr txBox="1"/>
          <p:nvPr/>
        </p:nvSpPr>
        <p:spPr>
          <a:xfrm>
            <a:off x="7038000" y="1479168"/>
            <a:ext cx="164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균일하고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평탄한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증착층</a:t>
            </a:r>
            <a:endParaRPr sz="900" dirty="0">
              <a:effectLst>
                <a:glow rad="63500">
                  <a:schemeClr val="accent4">
                    <a:satMod val="175000"/>
                    <a:alpha val="40000"/>
                  </a:schemeClr>
                </a:glow>
              </a:effectLst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2D4C433-4F87-F356-BDA2-B96DBE402D59}"/>
              </a:ext>
            </a:extLst>
          </p:cNvPr>
          <p:cNvSpPr txBox="1"/>
          <p:nvPr/>
        </p:nvSpPr>
        <p:spPr>
          <a:xfrm>
            <a:off x="7596000" y="2231553"/>
            <a:ext cx="1368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✓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endParaRPr sz="800" dirty="0">
              <a:solidFill>
                <a:schemeClr val="bg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4EFA07A-78E2-FD77-CF53-24BBC0FE8BCE}"/>
              </a:ext>
            </a:extLst>
          </p:cNvPr>
          <p:cNvSpPr txBox="1"/>
          <p:nvPr/>
        </p:nvSpPr>
        <p:spPr>
          <a:xfrm>
            <a:off x="6194276" y="2088278"/>
            <a:ext cx="119791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(ALD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7E2B4C-EA3D-5B34-AC13-5B85F0581380}"/>
              </a:ext>
            </a:extLst>
          </p:cNvPr>
          <p:cNvSpPr txBox="1"/>
          <p:nvPr/>
        </p:nvSpPr>
        <p:spPr>
          <a:xfrm>
            <a:off x="3540417" y="3216457"/>
            <a:ext cx="18793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lang="ko-KR" altLang="en-US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</a:p>
        </p:txBody>
      </p:sp>
    </p:spTree>
    <p:extLst>
      <p:ext uri="{BB962C8B-B14F-4D97-AF65-F5344CB8AC3E}">
        <p14:creationId xmlns:p14="http://schemas.microsoft.com/office/powerpoint/2010/main" val="695017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4B490A6-7650-5FAA-5D2A-DE450D536BC6}"/>
              </a:ext>
            </a:extLst>
          </p:cNvPr>
          <p:cNvSpPr/>
          <p:nvPr/>
        </p:nvSpPr>
        <p:spPr>
          <a:xfrm>
            <a:off x="108000" y="666001"/>
            <a:ext cx="2736000" cy="19296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6233" y="640400"/>
            <a:ext cx="2736000" cy="1951735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EACF5B-787D-78F0-B52E-956C62B39C2B}"/>
              </a:ext>
            </a:extLst>
          </p:cNvPr>
          <p:cNvSpPr txBox="1"/>
          <p:nvPr/>
        </p:nvSpPr>
        <p:spPr>
          <a:xfrm>
            <a:off x="3133067" y="704155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ALD </a:t>
            </a:r>
            <a:r>
              <a:rPr lang="ko-KR" altLang="en-US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증착 사이클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3132000" y="2617335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3442845" y="270666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46B0CE-6F6D-FE00-29C2-313B19DA46BD}"/>
              </a:ext>
            </a:extLst>
          </p:cNvPr>
          <p:cNvSpPr/>
          <p:nvPr/>
        </p:nvSpPr>
        <p:spPr>
          <a:xfrm>
            <a:off x="3222000" y="3211200"/>
            <a:ext cx="2556000" cy="197998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A6F839-79EB-4D21-1967-0595C7BABDFE}"/>
              </a:ext>
            </a:extLst>
          </p:cNvPr>
          <p:cNvSpPr/>
          <p:nvPr/>
        </p:nvSpPr>
        <p:spPr>
          <a:xfrm>
            <a:off x="3222000" y="3010245"/>
            <a:ext cx="2556000" cy="200955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149C84-1118-CFC7-FE0D-483F5547B2C2}"/>
              </a:ext>
            </a:extLst>
          </p:cNvPr>
          <p:cNvSpPr txBox="1"/>
          <p:nvPr/>
        </p:nvSpPr>
        <p:spPr>
          <a:xfrm>
            <a:off x="3251860" y="3014494"/>
            <a:ext cx="25861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Metal Fluoride 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박막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두께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E3A4FD-5917-75BE-1D17-03FE4CFCE13E}"/>
              </a:ext>
            </a:extLst>
          </p:cNvPr>
          <p:cNvSpPr txBox="1"/>
          <p:nvPr/>
        </p:nvSpPr>
        <p:spPr>
          <a:xfrm>
            <a:off x="3206992" y="2827318"/>
            <a:ext cx="255600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← n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사이클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반복으로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1951335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7E2B4C-EA3D-5B34-AC13-5B85F0581380}"/>
              </a:ext>
            </a:extLst>
          </p:cNvPr>
          <p:cNvSpPr txBox="1"/>
          <p:nvPr/>
        </p:nvSpPr>
        <p:spPr>
          <a:xfrm>
            <a:off x="3540417" y="3216457"/>
            <a:ext cx="18793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lang="ko-KR" altLang="en-US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BC33A1-639E-B645-8A9B-324BF7079ACB}"/>
              </a:ext>
            </a:extLst>
          </p:cNvPr>
          <p:cNvGrpSpPr/>
          <p:nvPr/>
        </p:nvGrpSpPr>
        <p:grpSpPr>
          <a:xfrm>
            <a:off x="124659" y="945294"/>
            <a:ext cx="2659224" cy="1416401"/>
            <a:chOff x="1932819" y="987409"/>
            <a:chExt cx="3559230" cy="1895777"/>
          </a:xfrm>
        </p:grpSpPr>
        <p:pic>
          <p:nvPicPr>
            <p:cNvPr id="62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BB89BB7E-8636-6588-9284-52FB8F16A3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39B42A4-4B11-4BBB-B878-1210364EBEF1}"/>
                </a:ext>
              </a:extLst>
            </p:cNvPr>
            <p:cNvSpPr txBox="1"/>
            <p:nvPr/>
          </p:nvSpPr>
          <p:spPr>
            <a:xfrm>
              <a:off x="2003738" y="2570561"/>
              <a:ext cx="433828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64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318E64E8-CF5D-4BE3-9D2E-E62A3FB09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65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010D41E6-B66F-14CC-CE4B-0EF2555904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66" name="Picture 1078" descr="E:\PNG\화살표\1304 - 복사본.png">
              <a:extLst>
                <a:ext uri="{FF2B5EF4-FFF2-40B4-BE49-F238E27FC236}">
                  <a16:creationId xmlns:a16="http://schemas.microsoft.com/office/drawing/2014/main" id="{BB1E9E80-1042-4CEB-5FB9-D2BA00B68A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49C51C4-4332-AF1F-4437-EFC60CA7CBA7}"/>
                </a:ext>
              </a:extLst>
            </p:cNvPr>
            <p:cNvSpPr txBox="1"/>
            <p:nvPr/>
          </p:nvSpPr>
          <p:spPr>
            <a:xfrm>
              <a:off x="2353099" y="1629719"/>
              <a:ext cx="953045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68FCD10-E2A6-8974-65FE-45F7705B39C0}"/>
                </a:ext>
              </a:extLst>
            </p:cNvPr>
            <p:cNvSpPr txBox="1"/>
            <p:nvPr/>
          </p:nvSpPr>
          <p:spPr>
            <a:xfrm>
              <a:off x="2641246" y="2574230"/>
              <a:ext cx="1671800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69" name="Picture 24" descr="E:\PNG\화살표\1304 - 복사본.png">
              <a:extLst>
                <a:ext uri="{FF2B5EF4-FFF2-40B4-BE49-F238E27FC236}">
                  <a16:creationId xmlns:a16="http://schemas.microsoft.com/office/drawing/2014/main" id="{5D76C693-8F1A-7CF2-181C-94120FB2A9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CE7B78F-AF5E-D5A5-D96F-87D37F2316EA}"/>
                </a:ext>
              </a:extLst>
            </p:cNvPr>
            <p:cNvSpPr txBox="1"/>
            <p:nvPr/>
          </p:nvSpPr>
          <p:spPr>
            <a:xfrm>
              <a:off x="3703125" y="1655118"/>
              <a:ext cx="959483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011E4-BEE8-9CF0-305E-DD0EF612B686}"/>
                </a:ext>
              </a:extLst>
            </p:cNvPr>
            <p:cNvSpPr txBox="1"/>
            <p:nvPr/>
          </p:nvSpPr>
          <p:spPr>
            <a:xfrm>
              <a:off x="4426990" y="2570561"/>
              <a:ext cx="1053886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1C58559-B50C-0E53-4B7B-A8795A83FBFF}"/>
                </a:ext>
              </a:extLst>
            </p:cNvPr>
            <p:cNvSpPr txBox="1"/>
            <p:nvPr/>
          </p:nvSpPr>
          <p:spPr>
            <a:xfrm>
              <a:off x="3775008" y="1108571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3AA3116-80CE-5B63-F7D3-64BC011D8B2D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673FAF3A-C3AB-509C-FF1F-214B445CCFAF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38D97EB-7EE6-BF56-9D82-D7865FF157F0}"/>
                </a:ext>
              </a:extLst>
            </p:cNvPr>
            <p:cNvSpPr txBox="1"/>
            <p:nvPr/>
          </p:nvSpPr>
          <p:spPr>
            <a:xfrm>
              <a:off x="2418180" y="1129573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8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B953CE4-52F9-8C8B-4B4C-F407ED289D76}"/>
              </a:ext>
            </a:extLst>
          </p:cNvPr>
          <p:cNvGrpSpPr/>
          <p:nvPr/>
        </p:nvGrpSpPr>
        <p:grpSpPr>
          <a:xfrm>
            <a:off x="6165229" y="947233"/>
            <a:ext cx="2888771" cy="1609862"/>
            <a:chOff x="1822446" y="4037861"/>
            <a:chExt cx="3946675" cy="2199413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85FC6287-8A72-73C4-530D-128AEDAADD30}"/>
                </a:ext>
              </a:extLst>
            </p:cNvPr>
            <p:cNvSpPr txBox="1"/>
            <p:nvPr/>
          </p:nvSpPr>
          <p:spPr>
            <a:xfrm>
              <a:off x="1822446" y="5615716"/>
              <a:ext cx="969688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9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9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9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FD19287-55CD-CDD1-503A-088A459D606F}"/>
                </a:ext>
              </a:extLst>
            </p:cNvPr>
            <p:cNvSpPr txBox="1"/>
            <p:nvPr/>
          </p:nvSpPr>
          <p:spPr>
            <a:xfrm>
              <a:off x="2469783" y="5359301"/>
              <a:ext cx="968437" cy="2943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8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24" name="Picture 26" descr="E:\PNG\화살표\1304 - 복사본.png">
              <a:extLst>
                <a:ext uri="{FF2B5EF4-FFF2-40B4-BE49-F238E27FC236}">
                  <a16:creationId xmlns:a16="http://schemas.microsoft.com/office/drawing/2014/main" id="{EC5FC447-C1EE-30FC-A79D-F2A9D19B4A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5730AE50-3781-6218-DB73-5B5285A9DBDE}"/>
                </a:ext>
              </a:extLst>
            </p:cNvPr>
            <p:cNvSpPr txBox="1"/>
            <p:nvPr/>
          </p:nvSpPr>
          <p:spPr>
            <a:xfrm>
              <a:off x="2419425" y="4744765"/>
              <a:ext cx="880258" cy="3016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26" name="Picture 34" descr="E:\PNG\화살표\1304 - 복사본.png">
              <a:extLst>
                <a:ext uri="{FF2B5EF4-FFF2-40B4-BE49-F238E27FC236}">
                  <a16:creationId xmlns:a16="http://schemas.microsoft.com/office/drawing/2014/main" id="{5E263F17-85E7-4F4D-8F21-BF4BEC37B5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BD66E55-323B-6928-0E13-F4C581E5F248}"/>
                </a:ext>
              </a:extLst>
            </p:cNvPr>
            <p:cNvSpPr txBox="1"/>
            <p:nvPr/>
          </p:nvSpPr>
          <p:spPr>
            <a:xfrm>
              <a:off x="3740534" y="4653561"/>
              <a:ext cx="904428" cy="4640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128" name="그림 48">
              <a:extLst>
                <a:ext uri="{FF2B5EF4-FFF2-40B4-BE49-F238E27FC236}">
                  <a16:creationId xmlns:a16="http://schemas.microsoft.com/office/drawing/2014/main" id="{5BB7E39B-D6C7-12BC-83AA-B39D6C718E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129" name="그림 49">
              <a:extLst>
                <a:ext uri="{FF2B5EF4-FFF2-40B4-BE49-F238E27FC236}">
                  <a16:creationId xmlns:a16="http://schemas.microsoft.com/office/drawing/2014/main" id="{08BFF6B1-24D3-D14F-CA74-193D530FC5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130" name="그림 50">
              <a:extLst>
                <a:ext uri="{FF2B5EF4-FFF2-40B4-BE49-F238E27FC236}">
                  <a16:creationId xmlns:a16="http://schemas.microsoft.com/office/drawing/2014/main" id="{928989F1-04B5-AF86-9DAC-611C002C30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C43297D-88BE-A845-423C-E3CFCBBD500F}"/>
                </a:ext>
              </a:extLst>
            </p:cNvPr>
            <p:cNvSpPr txBox="1"/>
            <p:nvPr/>
          </p:nvSpPr>
          <p:spPr>
            <a:xfrm>
              <a:off x="4229831" y="5615716"/>
              <a:ext cx="1539290" cy="3153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3AFFD2DC-247D-DFF0-2BBD-1466F5066779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E00BB48-C304-DA23-CFED-4C0F59EE6D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981BB7EF-D6EA-0314-9432-3451EF1C63EF}"/>
                </a:ext>
              </a:extLst>
            </p:cNvPr>
            <p:cNvSpPr txBox="1"/>
            <p:nvPr/>
          </p:nvSpPr>
          <p:spPr>
            <a:xfrm>
              <a:off x="2793257" y="5615716"/>
              <a:ext cx="1675442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6FAFFB8F-C13A-EEEB-0756-86B39A3CDCC9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3FDC3EB-68BC-8E76-BB3D-D344FD60EAA2}"/>
                </a:ext>
              </a:extLst>
            </p:cNvPr>
            <p:cNvSpPr txBox="1"/>
            <p:nvPr/>
          </p:nvSpPr>
          <p:spPr>
            <a:xfrm>
              <a:off x="2328748" y="4066214"/>
              <a:ext cx="1211531" cy="2943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8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8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D239EEB5-7373-AA0F-DF9A-7A98D691F33C}"/>
                </a:ext>
              </a:extLst>
            </p:cNvPr>
            <p:cNvSpPr txBox="1"/>
            <p:nvPr/>
          </p:nvSpPr>
          <p:spPr>
            <a:xfrm>
              <a:off x="3597361" y="4068987"/>
              <a:ext cx="1325363" cy="46253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91C8ED89-732B-3167-9EE6-6E91CE574BD6}"/>
                </a:ext>
              </a:extLst>
            </p:cNvPr>
            <p:cNvSpPr txBox="1"/>
            <p:nvPr/>
          </p:nvSpPr>
          <p:spPr>
            <a:xfrm>
              <a:off x="1963484" y="5942932"/>
              <a:ext cx="2939923" cy="2943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8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D54C0FF-E418-5003-58F2-1F9C4C66052C}"/>
              </a:ext>
            </a:extLst>
          </p:cNvPr>
          <p:cNvSpPr/>
          <p:nvPr/>
        </p:nvSpPr>
        <p:spPr>
          <a:xfrm>
            <a:off x="9306000" y="3267934"/>
            <a:ext cx="1368000" cy="927089"/>
          </a:xfrm>
          <a:prstGeom prst="rect">
            <a:avLst/>
          </a:prstGeom>
          <a:solidFill>
            <a:srgbClr val="F3E5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0" name="Picture 4">
            <a:extLst>
              <a:ext uri="{FF2B5EF4-FFF2-40B4-BE49-F238E27FC236}">
                <a16:creationId xmlns:a16="http://schemas.microsoft.com/office/drawing/2014/main" id="{A39F0CAF-9CC6-0696-239F-0070FC284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985" y="1002059"/>
            <a:ext cx="2225723" cy="145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0760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F755D013-1CC9-89B6-E163-07BC07B3977F}"/>
              </a:ext>
            </a:extLst>
          </p:cNvPr>
          <p:cNvGrpSpPr/>
          <p:nvPr/>
        </p:nvGrpSpPr>
        <p:grpSpPr>
          <a:xfrm>
            <a:off x="7121251" y="1572643"/>
            <a:ext cx="727801" cy="232844"/>
            <a:chOff x="6561481" y="1836490"/>
            <a:chExt cx="727801" cy="232844"/>
          </a:xfrm>
        </p:grpSpPr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C87D0E9E-C7ED-2535-5C42-ED204AECB76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7636D81-3920-85B6-B9D1-2DACEA9BAE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EF6506-45B8-DF68-3355-CCB95C2AA3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8" descr="3d Sphere Sphere PNG &amp; clipart images | TOPpng">
              <a:extLst>
                <a:ext uri="{FF2B5EF4-FFF2-40B4-BE49-F238E27FC236}">
                  <a16:creationId xmlns:a16="http://schemas.microsoft.com/office/drawing/2014/main" id="{217478B1-8630-D593-95D9-1A4CC3BE66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8719B67-5D07-4930-DD01-5FF9354834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6" name="Picture 2" descr="Atomic Layer Deposition (ALD) and Atomic Layer Etching (ALE) - AIP  Publishing LLC">
            <a:extLst>
              <a:ext uri="{FF2B5EF4-FFF2-40B4-BE49-F238E27FC236}">
                <a16:creationId xmlns:a16="http://schemas.microsoft.com/office/drawing/2014/main" id="{044CFB18-57D2-B0AB-E4F7-B04E308CC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459" y="1096434"/>
            <a:ext cx="2793087" cy="2747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DBC0590-1363-0719-BF9E-FA07FF056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6432" y="2375217"/>
            <a:ext cx="2251075" cy="146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12660C8-4D5C-CE20-4AF9-2FD07011A2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006"/>
          <a:stretch/>
        </p:blipFill>
        <p:spPr bwMode="auto">
          <a:xfrm>
            <a:off x="3293632" y="4015904"/>
            <a:ext cx="1852988" cy="453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B70F8C3-93F3-0BD0-4320-7282E9396B5C}"/>
              </a:ext>
            </a:extLst>
          </p:cNvPr>
          <p:cNvCxnSpPr/>
          <p:nvPr/>
        </p:nvCxnSpPr>
        <p:spPr>
          <a:xfrm>
            <a:off x="3587892" y="4510494"/>
            <a:ext cx="1265234" cy="0"/>
          </a:xfrm>
          <a:prstGeom prst="straightConnector1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6">
            <a:extLst>
              <a:ext uri="{FF2B5EF4-FFF2-40B4-BE49-F238E27FC236}">
                <a16:creationId xmlns:a16="http://schemas.microsoft.com/office/drawing/2014/main" id="{048D3FA0-D6CA-6CE2-675B-8344CF16C7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-13493"/>
          <a:stretch/>
        </p:blipFill>
        <p:spPr bwMode="auto">
          <a:xfrm>
            <a:off x="238798" y="3562319"/>
            <a:ext cx="1852988" cy="780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E37B87-0B35-9092-B7B8-0E5386295138}"/>
              </a:ext>
            </a:extLst>
          </p:cNvPr>
          <p:cNvSpPr txBox="1"/>
          <p:nvPr/>
        </p:nvSpPr>
        <p:spPr>
          <a:xfrm>
            <a:off x="3652245" y="4530905"/>
            <a:ext cx="108485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b="1" dirty="0">
                <a:effectLst/>
                <a:latin typeface="프리젠테이션 7 Bold" pitchFamily="2" charset="-127"/>
                <a:ea typeface="프리젠테이션 7 Bold" pitchFamily="2" charset="-127"/>
              </a:rPr>
              <a:t># of ALD cycles</a:t>
            </a:r>
            <a:endParaRPr lang="ko-KR" altLang="en-US" sz="900" b="1" dirty="0">
              <a:effectLst/>
              <a:latin typeface="프리젠테이션 7 Bold" pitchFamily="2" charset="-127"/>
              <a:ea typeface="프리젠테이션 7 Bold" pitchFamily="2" charset="-127"/>
            </a:endParaRPr>
          </a:p>
        </p:txBody>
      </p:sp>
      <p:pic>
        <p:nvPicPr>
          <p:cNvPr id="10" name="Picture 8" descr="3d Sphere Sphere PNG &amp; clipart images | TOPpng">
            <a:extLst>
              <a:ext uri="{FF2B5EF4-FFF2-40B4-BE49-F238E27FC236}">
                <a16:creationId xmlns:a16="http://schemas.microsoft.com/office/drawing/2014/main" id="{6DC8FF48-66E8-6A72-4F38-74D685D197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  <a14:imgEffect>
                      <a14:saturation sat="400000"/>
                    </a14:imgEffect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707" t="9788" r="8682" b="9788"/>
          <a:stretch/>
        </p:blipFill>
        <p:spPr bwMode="auto">
          <a:xfrm>
            <a:off x="5760907" y="1692040"/>
            <a:ext cx="145103" cy="14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67636A2-2E28-0F47-39E0-08F662F057DE}"/>
              </a:ext>
            </a:extLst>
          </p:cNvPr>
          <p:cNvCxnSpPr/>
          <p:nvPr/>
        </p:nvCxnSpPr>
        <p:spPr>
          <a:xfrm flipV="1">
            <a:off x="6383177" y="1362397"/>
            <a:ext cx="960238" cy="6130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9855F-7055-AC48-BBA8-659D479C05B8}"/>
              </a:ext>
            </a:extLst>
          </p:cNvPr>
          <p:cNvCxnSpPr>
            <a:cxnSpLocks/>
          </p:cNvCxnSpPr>
          <p:nvPr/>
        </p:nvCxnSpPr>
        <p:spPr>
          <a:xfrm>
            <a:off x="6408874" y="1955586"/>
            <a:ext cx="1239010" cy="1951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016E6F-33D0-36E8-EA6F-2B55C13DBA0B}"/>
              </a:ext>
            </a:extLst>
          </p:cNvPr>
          <p:cNvGrpSpPr/>
          <p:nvPr/>
        </p:nvGrpSpPr>
        <p:grpSpPr>
          <a:xfrm>
            <a:off x="6968140" y="1663789"/>
            <a:ext cx="727801" cy="232844"/>
            <a:chOff x="6561481" y="1836490"/>
            <a:chExt cx="727801" cy="232844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8F5ACC8-4EC9-B0F5-8A00-71F7930512F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34DD45-A9A8-92C6-BBB8-A1422A132B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B9AD39A8-1D85-0A69-5916-125226C168F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6894953B-9971-D054-BF43-526511F5F8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ED50EB50-0F32-E642-2E53-DBC62824D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0666890-AE87-A8C4-D837-C52C66C206C9}"/>
              </a:ext>
            </a:extLst>
          </p:cNvPr>
          <p:cNvGrpSpPr/>
          <p:nvPr/>
        </p:nvGrpSpPr>
        <p:grpSpPr>
          <a:xfrm>
            <a:off x="6812420" y="1761128"/>
            <a:ext cx="727801" cy="232844"/>
            <a:chOff x="6561481" y="1836490"/>
            <a:chExt cx="727801" cy="23284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46A4A771-1411-94A6-991C-33AD1229FD3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D36A7917-0551-1002-273D-E6A9AA8C40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77BBC42D-76A2-FB2D-95D4-7BB505C67B2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0307195F-D8EF-7667-DA59-299178CFB9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B11D0D-38FF-D049-1E6E-32622C3B469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9E452F7-9D60-52A1-8D2D-85E48FE8A401}"/>
              </a:ext>
            </a:extLst>
          </p:cNvPr>
          <p:cNvGrpSpPr/>
          <p:nvPr/>
        </p:nvGrpSpPr>
        <p:grpSpPr>
          <a:xfrm>
            <a:off x="6641311" y="1857186"/>
            <a:ext cx="727801" cy="232844"/>
            <a:chOff x="6561481" y="1836490"/>
            <a:chExt cx="727801" cy="232844"/>
          </a:xfrm>
        </p:grpSpPr>
        <p:pic>
          <p:nvPicPr>
            <p:cNvPr id="1032" name="Picture 8" descr="3d Sphere Sphere PNG &amp; clipart images | TOPpng">
              <a:extLst>
                <a:ext uri="{FF2B5EF4-FFF2-40B4-BE49-F238E27FC236}">
                  <a16:creationId xmlns:a16="http://schemas.microsoft.com/office/drawing/2014/main" id="{18A23B01-BAEF-B57E-DAA1-CC793E9EA8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ABB7B65D-8604-705A-E8DD-3005329F707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C10B1F7-4006-3B0F-DED6-D6610BDDA79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10729A-5BB1-B853-479C-2394FB2A9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25659CA-52E4-3878-5B47-084B1C6427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A436C974-54F3-4DCC-561C-5A54ACB99897}"/>
              </a:ext>
            </a:extLst>
          </p:cNvPr>
          <p:cNvGrpSpPr/>
          <p:nvPr/>
        </p:nvGrpSpPr>
        <p:grpSpPr>
          <a:xfrm>
            <a:off x="4540535" y="510372"/>
            <a:ext cx="1100652" cy="1288395"/>
            <a:chOff x="4540535" y="510372"/>
            <a:chExt cx="1100652" cy="12883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F1F489-12E5-1C62-58A9-7914A132FF2F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25" name="Group 1024">
              <a:extLst>
                <a:ext uri="{FF2B5EF4-FFF2-40B4-BE49-F238E27FC236}">
                  <a16:creationId xmlns:a16="http://schemas.microsoft.com/office/drawing/2014/main" id="{ECF3BBA4-FFA4-36B2-543B-4534C5D6CB47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CA87E28-C352-4B58-1949-3C2879D9C0C3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9ACF9F3-3992-7963-8195-B054BEF46A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826CDDC-375B-65BE-C25F-8B6A473FBD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CE4E490-901B-E209-3E65-F45A34453E7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9488ED-E3A7-57BE-5E5C-C01E38F62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F18983-FAED-CFB4-8316-21A080FF782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56AC517D-A9E4-2F3E-A217-2599F5620E2D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D750A13-3738-ADAF-B17A-127BF67FA78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1BA419B-F913-64AD-C2B8-445D7E0BA4E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160C034-795E-790A-FCB7-204623802AF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4B76963-B925-A644-CC0E-26BCADF2DE1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55359AA-1C71-0847-49F0-2246EF45822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E71A4F5-B4E4-BD53-68CC-C8E4044E84CC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6695B7F-753F-529E-A449-75E140590D1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59CF342-7AD1-8084-D859-03748D21A9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A932-4621-8A11-C831-09A5A6CF5F4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E241B30-5B03-29AB-AE35-EE09E259D9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35E2047-07FB-E1A4-780F-50FFA52619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BA6B54E-C5AE-E3FB-6971-64DCF3EA295F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06E6810-46C1-2100-70AF-395480DFCA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AB6B539-58E9-E2D6-D3E0-25FE2C1E2F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30EECBC-84EA-5A67-7073-5836A14966F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10BDB67-6986-A737-31BF-2BC7F6CB784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8DFEDBB-24F1-3936-8A3B-8D4041E36A1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3267095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3BB5357D-4978-2910-8979-2736C80AED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2349619" y="1819592"/>
            <a:ext cx="1329982" cy="1305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380D62E7-30BD-AADE-63EF-05E7D6350933}"/>
              </a:ext>
            </a:extLst>
          </p:cNvPr>
          <p:cNvGrpSpPr/>
          <p:nvPr/>
        </p:nvGrpSpPr>
        <p:grpSpPr>
          <a:xfrm>
            <a:off x="3471348" y="1111998"/>
            <a:ext cx="1100652" cy="1288395"/>
            <a:chOff x="4540535" y="510372"/>
            <a:chExt cx="1100652" cy="128839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33984E4-A79A-EE28-5BF1-3296B4CDC186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F05AB71-B7BA-11AA-6D55-7A3DEC618ECC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27E98972-38B5-284F-81EB-E26D06C468CE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5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EF68FD8-9ED6-F850-A3D3-D456DD1E2D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A297D37-0D61-8D3A-1181-15AC4A29D80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07F5C1B-D5C4-BF1E-F2BD-7A1369678C8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A9635B8-F4AC-0E68-84AD-29AF6D45A4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DC617B-0433-B8DC-AE8C-DDB5678F10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A30ECDEE-94B3-C956-A614-2008B0B1C4A0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4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20C4664-8024-C99A-25AE-B236C6FAE37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FFD70A1-20F3-0667-166C-E63148069CF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27E839E-6FE7-A95F-DB09-B00B4371F68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7F78BEF-6B1F-2B09-CDE8-6572BE1F29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978EC-E3C5-59C8-2C74-C12926DA7B4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2AC1CA7B-18D9-1B9E-9771-E91982BDED30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4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AA03C3E-0B7D-1FF1-6CEC-6A935F5680F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015EFD-979C-B490-6D2E-6996BCC4590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404D7F-7839-046B-3C35-2138149AA3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D26D323-423A-1987-71CE-502F58E770F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C1FB855-92DA-2521-0B5A-A9A5FB827E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3148019D-00EF-3EC7-0E6A-D723A20233E2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36" name="Picture 35" descr="3d Sphere Sphere PNG &amp; clipart images | TOPpng">
                  <a:extLst>
                    <a:ext uri="{FF2B5EF4-FFF2-40B4-BE49-F238E27FC236}">
                      <a16:creationId xmlns:a16="http://schemas.microsoft.com/office/drawing/2014/main" id="{99C000A8-89E1-823B-1737-74FD8E329B7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04D65A5-0ED5-C2B1-0C46-6346444ACCC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DA93036-0C86-4DBC-87CA-7F0FF85D8D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0343E5A-B715-2C4F-CE9B-EF43669F09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14A443C-4C09-709E-32F2-C0950B0A6FE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4EC59313-4939-E651-D871-C8988D8CEAAE}"/>
              </a:ext>
            </a:extLst>
          </p:cNvPr>
          <p:cNvGrpSpPr/>
          <p:nvPr/>
        </p:nvGrpSpPr>
        <p:grpSpPr>
          <a:xfrm>
            <a:off x="1590955" y="1111998"/>
            <a:ext cx="1174952" cy="1288395"/>
            <a:chOff x="1590955" y="1111998"/>
            <a:chExt cx="1174952" cy="128839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F02AEA4-578C-C94D-8995-9497B20FC840}"/>
                </a:ext>
              </a:extLst>
            </p:cNvPr>
            <p:cNvGrpSpPr/>
            <p:nvPr/>
          </p:nvGrpSpPr>
          <p:grpSpPr>
            <a:xfrm>
              <a:off x="1665255" y="1111998"/>
              <a:ext cx="1100652" cy="1288395"/>
              <a:chOff x="4540535" y="510372"/>
              <a:chExt cx="1100652" cy="128839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A63EC4C-7D60-0BC5-8627-79443CCBF7E6}"/>
                  </a:ext>
                </a:extLst>
              </p:cNvPr>
              <p:cNvSpPr/>
              <p:nvPr/>
            </p:nvSpPr>
            <p:spPr>
              <a:xfrm>
                <a:off x="4562956" y="51037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B5AEC58E-87C6-E283-7324-AC39C10325B0}"/>
                  </a:ext>
                </a:extLst>
              </p:cNvPr>
              <p:cNvGrpSpPr/>
              <p:nvPr/>
            </p:nvGrpSpPr>
            <p:grpSpPr>
              <a:xfrm>
                <a:off x="4540535" y="90763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5" name="Group 4">
                  <a:extLst>
                    <a:ext uri="{FF2B5EF4-FFF2-40B4-BE49-F238E27FC236}">
                      <a16:creationId xmlns:a16="http://schemas.microsoft.com/office/drawing/2014/main" id="{CD1CB34E-9826-D7DC-DFA9-081EDBA38F4B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2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9EE77BA-D0AF-4A99-2470-0767CDF3763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46105A0-F4DE-B7E0-49C4-95F86F161D5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D8E73CF-BB1A-E876-1D2C-C65DE0CBC48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1666118-ABE1-7C50-2813-DC059E4FA42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31A6087-81D1-4A6D-C23E-C3F55357C1B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F9AB9A62-9045-FDEB-E573-77F78B6C6F71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3C8E444-2589-F792-5682-75882DA1D97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1DF2645-6B83-DBC9-60C5-1992E2AE943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D49BA75-BFA8-5746-E4A1-D9A57524FAD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2EEF0833-7242-AEFA-93DB-D02A2313443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F128A21-4C63-979F-BBE5-C5851F1B433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F3504961-6A70-7D41-30BF-5950567208FB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E21CABE-B7EF-80EA-905E-D3ADB5AFB44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8EAAE32-0D27-0D66-CB01-6979AC366EA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C5074FA-D144-C084-1EDF-E920B0B75B5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BD4A36F-840E-5FA1-E93B-B71196BE2BA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3F34E5C-E1E5-4007-8FED-40361AF2BDC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A0C42AA5-2628-BDAC-70E1-7F1A1FA71648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596444A-2934-2067-7EF2-ABCD7897D8E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0BE68DB-D3B3-D802-ED70-E799290D449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8C6DA02-6D83-FD3F-3A05-3505443E921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B3373E4-C378-74C9-9C4B-F4D06033D25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9BF9EBA-2774-0EDB-192D-38E1B132411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pic>
          <p:nvPicPr>
            <p:cNvPr id="56" name="Picture 8" descr="3d Sphere Sphere PNG &amp; clipart images | TOPpng">
              <a:extLst>
                <a:ext uri="{FF2B5EF4-FFF2-40B4-BE49-F238E27FC236}">
                  <a16:creationId xmlns:a16="http://schemas.microsoft.com/office/drawing/2014/main" id="{5492B58F-1699-5019-2324-DBFE4EEF328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8" descr="3d Sphere Sphere PNG &amp; clipart images | TOPpng">
              <a:extLst>
                <a:ext uri="{FF2B5EF4-FFF2-40B4-BE49-F238E27FC236}">
                  <a16:creationId xmlns:a16="http://schemas.microsoft.com/office/drawing/2014/main" id="{8E86C5BF-0CFC-EBF6-CC19-88183595C9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8" descr="3d Sphere Sphere PNG &amp; clipart images | TOPpng">
              <a:extLst>
                <a:ext uri="{FF2B5EF4-FFF2-40B4-BE49-F238E27FC236}">
                  <a16:creationId xmlns:a16="http://schemas.microsoft.com/office/drawing/2014/main" id="{A6661BA1-F58C-CC89-976D-7FF3C1DF8C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FA95ABE-24A1-C2EB-17B0-CA7131FD0EE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7579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0" name="Picture 8" descr="3d Sphere Sphere PNG &amp; clipart images | TOPpng">
              <a:extLst>
                <a:ext uri="{FF2B5EF4-FFF2-40B4-BE49-F238E27FC236}">
                  <a16:creationId xmlns:a16="http://schemas.microsoft.com/office/drawing/2014/main" id="{D70DB861-AA70-C560-1616-9D176A665AD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D760EE2-E0E7-FA89-34A9-7D562A1D396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3d Sphere Sphere PNG &amp; clipart images | TOPpng">
              <a:extLst>
                <a:ext uri="{FF2B5EF4-FFF2-40B4-BE49-F238E27FC236}">
                  <a16:creationId xmlns:a16="http://schemas.microsoft.com/office/drawing/2014/main" id="{6A30DECB-64BC-2581-B6A0-C91F1A4690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D0E421B-F053-F125-CAA3-5A0D6845F2A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8" descr="3d Sphere Sphere PNG &amp; clipart images | TOPpng">
              <a:extLst>
                <a:ext uri="{FF2B5EF4-FFF2-40B4-BE49-F238E27FC236}">
                  <a16:creationId xmlns:a16="http://schemas.microsoft.com/office/drawing/2014/main" id="{F2FA1183-D9E4-2635-0321-E121060CA2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77663" y="11966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97DA111-3EC6-6D9C-0527-81CFC807ED0B}"/>
              </a:ext>
            </a:extLst>
          </p:cNvPr>
          <p:cNvGrpSpPr/>
          <p:nvPr/>
        </p:nvGrpSpPr>
        <p:grpSpPr>
          <a:xfrm>
            <a:off x="3481469" y="2556202"/>
            <a:ext cx="1100652" cy="1288395"/>
            <a:chOff x="3481469" y="2556202"/>
            <a:chExt cx="1100652" cy="1288395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BA875C6-A1BE-3EDA-3F04-FF8252700F7D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B767613-2FD2-08D7-5B53-400DADC05F06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D077ECB7-4DF7-EA2B-9701-5529069F97B5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6257091-2060-A24B-A9F2-A02ACA71240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39340F-910A-E0F2-6A4B-9F83A678639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E8761CC-0B6D-6673-D6D6-9F4D2A9DF5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D89A540-5839-B6BD-F03F-04110E3A4D0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32C53F8-527F-4660-90B5-72D74D8C1BD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94CC80F7-A4C1-1EC6-FC14-B9692681E2C9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D66CF5-6376-82CE-5CEC-32C39B9B73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AA6E301-A7BB-662E-5190-290D38B4622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C21817-D6AD-1E82-BCD5-698C400900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C93DAE-AC61-D6AD-C214-E3C5CE80781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A5372F3-6936-41B6-65A1-A2AE4B841D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C27F0BEA-92D6-E6D8-9392-5645D36989A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7D81A43-75F2-9B78-8EB1-6D366C680C9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2DAF6FE-01C1-BEE0-0CCB-6FB2E7F0B6C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BAC3BD4-0620-C10A-9841-F430545B6D2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614B54C-8FB2-6D10-B353-A79835CBB5F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58E73AA-BFDF-FD94-FCD8-C5694109B0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C3DA5784-B710-2C55-51A1-2AAE8EBC21FD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2" name="Picture 71" descr="3d Sphere Sphere PNG &amp; clipart images | TOPpng">
                  <a:extLst>
                    <a:ext uri="{FF2B5EF4-FFF2-40B4-BE49-F238E27FC236}">
                      <a16:creationId xmlns:a16="http://schemas.microsoft.com/office/drawing/2014/main" id="{4436FC83-6CC4-86B2-20D1-1D4F591CAF6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BA1D31F-6040-BEE3-C513-FB7CC833569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0DD7707-F59F-1353-7F8D-A7C79544A0D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0B51022-D242-05C2-BC48-C5E663AB0EF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F6AA1F-752C-1E4F-0EFE-AE33928DF0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2CE46697-B741-5A11-2274-066BC89DE16E}"/>
              </a:ext>
            </a:extLst>
          </p:cNvPr>
          <p:cNvGrpSpPr/>
          <p:nvPr/>
        </p:nvGrpSpPr>
        <p:grpSpPr>
          <a:xfrm>
            <a:off x="1542980" y="2556202"/>
            <a:ext cx="1259564" cy="1288395"/>
            <a:chOff x="1542980" y="2556202"/>
            <a:chExt cx="1259564" cy="1288395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54B12F8B-CD01-4A12-F8FE-6C33220B1C63}"/>
                </a:ext>
              </a:extLst>
            </p:cNvPr>
            <p:cNvSpPr/>
            <p:nvPr/>
          </p:nvSpPr>
          <p:spPr>
            <a:xfrm>
              <a:off x="1724313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9D08A800-13CA-F16A-5394-A88CEFC7757B}"/>
                </a:ext>
              </a:extLst>
            </p:cNvPr>
            <p:cNvGrpSpPr/>
            <p:nvPr/>
          </p:nvGrpSpPr>
          <p:grpSpPr>
            <a:xfrm>
              <a:off x="1701892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E2378FDC-F31C-2A83-2F1E-DC219190CC7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1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A5D6E23-3CEB-E36A-709A-ABB0CBCD70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EE948F-508B-BBB0-FD2B-7A615022367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20D546-BB94-78F5-25C1-B465E0D010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64FFF8C-0BD1-C17C-8985-2F9F7A6749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F5F87F-6B85-E4E2-F646-5EDC129D153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1C4DED0A-F445-00AA-F733-C689E75D09B8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03896B1-B560-0C54-28DB-E3E4544F65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F4FA0E1-39FD-E4FE-38F7-067C8AEC93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08316BF-C138-E4DA-4241-7D6E08D826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719874-EDE5-47C7-9CED-D4B329029CD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349525D-4335-8246-929C-F0972CF1D7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08FEE60-DAEC-FCD7-7570-21AB03070F83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4DFE45-50F7-3FCC-5A53-F077F63E8C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556640B-123E-4C81-D44A-FCA50C119AB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F7C2CA-8A7D-FF98-EECB-1F80C7F38DA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961FAD2-1A5B-5F3F-1351-D304081C74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6934850-6ADA-0866-B7DF-2EF5C98138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5039D11B-DE62-2975-BB41-9C32628720BB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8" name="Picture 97" descr="3d Sphere Sphere PNG &amp; clipart images | TOPpng">
                  <a:extLst>
                    <a:ext uri="{FF2B5EF4-FFF2-40B4-BE49-F238E27FC236}">
                      <a16:creationId xmlns:a16="http://schemas.microsoft.com/office/drawing/2014/main" id="{03FF4F34-048B-3621-CCEE-792F0EB0D04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8D1D4F3-4F2C-7E31-FD2F-A0C68547F3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9A12837-15F4-CA64-C1BC-DA9E11B79DF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0119A9-3F89-CEE1-1C5F-900F40D8948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9752470-CEC7-AA53-EE20-78FD610E69B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D723D4A0-1793-706A-4849-A33D1D590A23}"/>
                </a:ext>
              </a:extLst>
            </p:cNvPr>
            <p:cNvGrpSpPr/>
            <p:nvPr/>
          </p:nvGrpSpPr>
          <p:grpSpPr>
            <a:xfrm rot="10396219">
              <a:off x="1542980" y="2680544"/>
              <a:ext cx="717595" cy="312595"/>
              <a:chOff x="1743355" y="1349070"/>
              <a:chExt cx="717595" cy="312595"/>
            </a:xfrm>
          </p:grpSpPr>
          <p:pic>
            <p:nvPicPr>
              <p:cNvPr id="11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E63A111-63E7-0681-18EE-1EB7D92DEE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4335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6FAE7FC-3B86-4C1C-B915-2DB2F8F93B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080C72-B0E6-EC52-18C6-FBD48AF9C2D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3BF67BA-1EE7-E523-0B53-F38C30C9B5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04618" y="15402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A808988-CF1C-C0A6-A60D-39FBCB63427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5263" y="15017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5CF8900-48C9-6565-ADE4-63A0655E8A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4815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227CFD7-8446-6130-5626-F9EC576477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1CABD5C-2138-73B3-F368-A4CF2ED21B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30063" y="13490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521502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0" descr="E:\PNG\화살표\1304 - 복사본.png">
            <a:extLst>
              <a:ext uri="{FF2B5EF4-FFF2-40B4-BE49-F238E27FC236}">
                <a16:creationId xmlns:a16="http://schemas.microsoft.com/office/drawing/2014/main" id="{D3974CB5-A3AF-4E87-2AD6-AFD4AFE5B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31774" y="2512179"/>
            <a:ext cx="555412" cy="1376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35E459-6A23-9C1E-CFA9-D2F7550D91DE}"/>
              </a:ext>
            </a:extLst>
          </p:cNvPr>
          <p:cNvSpPr txBox="1"/>
          <p:nvPr/>
        </p:nvSpPr>
        <p:spPr>
          <a:xfrm>
            <a:off x="535320" y="2933881"/>
            <a:ext cx="55496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Zn</a:t>
            </a:r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ea typeface="Malgun Gothic" panose="020B0503020000020004" pitchFamily="34" charset="-127"/>
              </a:rPr>
              <a:t>F</a:t>
            </a:r>
            <a:r>
              <a:rPr lang="en-US" sz="1300" b="1" baseline="-25000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ea typeface="Malgun Gothic" panose="020B0503020000020004" pitchFamily="34" charset="-127"/>
              </a:rPr>
              <a:t>2</a:t>
            </a:r>
            <a:endParaRPr lang="en-US" sz="1300" b="1" baseline="-25000" dirty="0">
              <a:solidFill>
                <a:srgbClr val="FF0000"/>
              </a:solidFill>
              <a:effectLst>
                <a:glow rad="101600">
                  <a:schemeClr val="accent1">
                    <a:satMod val="175000"/>
                    <a:alpha val="40000"/>
                  </a:schemeClr>
                </a:glow>
              </a:effectLst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  <a:p>
            <a:pPr algn="ctr"/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ALD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8B353F7-2E44-628B-7A15-9C7A4D676039}"/>
              </a:ext>
            </a:extLst>
          </p:cNvPr>
          <p:cNvGrpSpPr/>
          <p:nvPr/>
        </p:nvGrpSpPr>
        <p:grpSpPr>
          <a:xfrm>
            <a:off x="1932819" y="987409"/>
            <a:ext cx="3617394" cy="1881194"/>
            <a:chOff x="1932819" y="987409"/>
            <a:chExt cx="3617394" cy="1881194"/>
          </a:xfrm>
        </p:grpSpPr>
        <p:pic>
          <p:nvPicPr>
            <p:cNvPr id="3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19EBFD7E-D425-BD30-D8AD-C9B1D6D4B2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62EEB72-BFF1-182D-05E3-11053082709E}"/>
                </a:ext>
              </a:extLst>
            </p:cNvPr>
            <p:cNvSpPr txBox="1"/>
            <p:nvPr/>
          </p:nvSpPr>
          <p:spPr>
            <a:xfrm>
              <a:off x="2003738" y="2570560"/>
              <a:ext cx="386644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9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54204652-094E-21F0-2005-4D04AE360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10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2B2709A1-43A1-1A49-102E-62D4218347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11" name="Picture 1078" descr="E:\PNG\화살표\1304 - 복사본.png">
              <a:extLst>
                <a:ext uri="{FF2B5EF4-FFF2-40B4-BE49-F238E27FC236}">
                  <a16:creationId xmlns:a16="http://schemas.microsoft.com/office/drawing/2014/main" id="{1ED72ACA-A894-3C49-5B81-119BD47389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35EA719-E913-F246-870A-3B5E9D584B1F}"/>
                </a:ext>
              </a:extLst>
            </p:cNvPr>
            <p:cNvSpPr txBox="1"/>
            <p:nvPr/>
          </p:nvSpPr>
          <p:spPr>
            <a:xfrm>
              <a:off x="2415085" y="1629718"/>
              <a:ext cx="82907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FFAC72-32A2-BAA4-E347-26C82A1BE1EC}"/>
                </a:ext>
              </a:extLst>
            </p:cNvPr>
            <p:cNvSpPr txBox="1"/>
            <p:nvPr/>
          </p:nvSpPr>
          <p:spPr>
            <a:xfrm>
              <a:off x="2732675" y="2568896"/>
              <a:ext cx="1725280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14" name="Picture 24" descr="E:\PNG\화살표\1304 - 복사본.png">
              <a:extLst>
                <a:ext uri="{FF2B5EF4-FFF2-40B4-BE49-F238E27FC236}">
                  <a16:creationId xmlns:a16="http://schemas.microsoft.com/office/drawing/2014/main" id="{AF52B302-EF39-0CC9-4CEC-9A5EE57CBA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EC1F3F-B5D1-D040-6446-CFE5A9079CDE}"/>
                </a:ext>
              </a:extLst>
            </p:cNvPr>
            <p:cNvSpPr txBox="1"/>
            <p:nvPr/>
          </p:nvSpPr>
          <p:spPr>
            <a:xfrm>
              <a:off x="3768330" y="1655118"/>
              <a:ext cx="82907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2DB5D5-C3F4-15B3-FD32-FCEA9C8CEA4D}"/>
                </a:ext>
              </a:extLst>
            </p:cNvPr>
            <p:cNvSpPr txBox="1"/>
            <p:nvPr/>
          </p:nvSpPr>
          <p:spPr>
            <a:xfrm>
              <a:off x="4490051" y="2576215"/>
              <a:ext cx="106016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8EBDB4B-21FC-33FD-0DDA-1E24B8F0579C}"/>
                </a:ext>
              </a:extLst>
            </p:cNvPr>
            <p:cNvSpPr txBox="1"/>
            <p:nvPr/>
          </p:nvSpPr>
          <p:spPr>
            <a:xfrm>
              <a:off x="3775007" y="1108571"/>
              <a:ext cx="115200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930FF60-25C1-C541-0A77-5AD6232DB69B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B286F80-D682-E30C-241C-D993C1B9945B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C7F586-E2F0-6A75-4B76-092777A122AD}"/>
                </a:ext>
              </a:extLst>
            </p:cNvPr>
            <p:cNvSpPr txBox="1"/>
            <p:nvPr/>
          </p:nvSpPr>
          <p:spPr>
            <a:xfrm>
              <a:off x="2418180" y="1129574"/>
              <a:ext cx="115200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9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0FEBAB7-C7BF-9F33-7730-E4FB61362781}"/>
              </a:ext>
            </a:extLst>
          </p:cNvPr>
          <p:cNvGrpSpPr/>
          <p:nvPr/>
        </p:nvGrpSpPr>
        <p:grpSpPr>
          <a:xfrm>
            <a:off x="1822446" y="4037861"/>
            <a:ext cx="4069353" cy="2200096"/>
            <a:chOff x="1822446" y="4037861"/>
            <a:chExt cx="4069353" cy="220009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0B10D8A-976F-29E5-13C2-E02DDBC9A55A}"/>
                </a:ext>
              </a:extLst>
            </p:cNvPr>
            <p:cNvSpPr txBox="1"/>
            <p:nvPr/>
          </p:nvSpPr>
          <p:spPr>
            <a:xfrm>
              <a:off x="1822446" y="5651763"/>
              <a:ext cx="86889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13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13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13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6A1ECC0-59BB-C2D7-1AD8-AEFA70414D36}"/>
                </a:ext>
              </a:extLst>
            </p:cNvPr>
            <p:cNvSpPr txBox="1"/>
            <p:nvPr/>
          </p:nvSpPr>
          <p:spPr>
            <a:xfrm>
              <a:off x="2515460" y="5354465"/>
              <a:ext cx="8370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10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6" name="Picture 26" descr="E:\PNG\화살표\1304 - 복사본.png">
              <a:extLst>
                <a:ext uri="{FF2B5EF4-FFF2-40B4-BE49-F238E27FC236}">
                  <a16:creationId xmlns:a16="http://schemas.microsoft.com/office/drawing/2014/main" id="{0A655A29-1775-0532-2D90-C199F8CF0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CBD0D84-20BB-7928-E0BA-21B88E7E2A3C}"/>
                </a:ext>
              </a:extLst>
            </p:cNvPr>
            <p:cNvSpPr txBox="1"/>
            <p:nvPr/>
          </p:nvSpPr>
          <p:spPr>
            <a:xfrm>
              <a:off x="2454637" y="4744764"/>
              <a:ext cx="8098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8" name="Picture 34" descr="E:\PNG\화살표\1304 - 복사본.png">
              <a:extLst>
                <a:ext uri="{FF2B5EF4-FFF2-40B4-BE49-F238E27FC236}">
                  <a16:creationId xmlns:a16="http://schemas.microsoft.com/office/drawing/2014/main" id="{2F60D7D7-34D1-EDD4-1310-4F7A044561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206620-0036-9E31-EA93-04B144DFC933}"/>
                </a:ext>
              </a:extLst>
            </p:cNvPr>
            <p:cNvSpPr txBox="1"/>
            <p:nvPr/>
          </p:nvSpPr>
          <p:spPr>
            <a:xfrm>
              <a:off x="3775007" y="4653560"/>
              <a:ext cx="83548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20" name="그림 48">
              <a:extLst>
                <a:ext uri="{FF2B5EF4-FFF2-40B4-BE49-F238E27FC236}">
                  <a16:creationId xmlns:a16="http://schemas.microsoft.com/office/drawing/2014/main" id="{D4785107-4B5D-C455-84E2-AADD9E71C6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21" name="그림 49">
              <a:extLst>
                <a:ext uri="{FF2B5EF4-FFF2-40B4-BE49-F238E27FC236}">
                  <a16:creationId xmlns:a16="http://schemas.microsoft.com/office/drawing/2014/main" id="{96030CAA-22DF-22C7-2B6C-9FD60CBC38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22" name="그림 50">
              <a:extLst>
                <a:ext uri="{FF2B5EF4-FFF2-40B4-BE49-F238E27FC236}">
                  <a16:creationId xmlns:a16="http://schemas.microsoft.com/office/drawing/2014/main" id="{C598EF39-389B-91F2-13DF-992ABDDC26C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69B98B7-55FA-035A-9405-CB6593C63737}"/>
                </a:ext>
              </a:extLst>
            </p:cNvPr>
            <p:cNvSpPr txBox="1"/>
            <p:nvPr/>
          </p:nvSpPr>
          <p:spPr>
            <a:xfrm>
              <a:off x="4318163" y="5651763"/>
              <a:ext cx="1573636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5309FC9-ECA4-1078-EB97-6BB7BD10FDB8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CE7F096-C4A3-94A6-78DB-49998918D1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DEB460F-5502-CC4F-C3FD-B133C142FDED}"/>
                </a:ext>
              </a:extLst>
            </p:cNvPr>
            <p:cNvSpPr txBox="1"/>
            <p:nvPr/>
          </p:nvSpPr>
          <p:spPr>
            <a:xfrm>
              <a:off x="2793258" y="5651763"/>
              <a:ext cx="1524905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E685A04-BAD1-9C23-1CAE-34D50A1E8596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ACFECB5-BED5-F76B-3ED9-950C6AB02DA9}"/>
                </a:ext>
              </a:extLst>
            </p:cNvPr>
            <p:cNvSpPr txBox="1"/>
            <p:nvPr/>
          </p:nvSpPr>
          <p:spPr>
            <a:xfrm>
              <a:off x="2464038" y="4095324"/>
              <a:ext cx="9717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9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9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9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5C5B792-2BCC-5307-6BEB-3BE36E0A3ADB}"/>
                </a:ext>
              </a:extLst>
            </p:cNvPr>
            <p:cNvSpPr txBox="1"/>
            <p:nvPr/>
          </p:nvSpPr>
          <p:spPr>
            <a:xfrm>
              <a:off x="3671031" y="4098096"/>
              <a:ext cx="132536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AB11A4C-483A-3160-AE40-ED3F06E3A61D}"/>
                </a:ext>
              </a:extLst>
            </p:cNvPr>
            <p:cNvSpPr txBox="1"/>
            <p:nvPr/>
          </p:nvSpPr>
          <p:spPr>
            <a:xfrm>
              <a:off x="1822446" y="5976347"/>
              <a:ext cx="269891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11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11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11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31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맑은 고딕"/>
              </a:rPr>
              <a:t>Task 1.  ALD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불화물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박막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합성</a:t>
            </a:r>
            <a:endParaRPr sz="10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연차별 연구 추진 일정 (간트 차트)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전구체 최적화 및 ALD 파라미터 탐색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1.  ALD 불화물 박막 합성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 dirty="0" err="1">
                <a:solidFill>
                  <a:srgbClr val="FFFFFF"/>
                </a:solidFill>
                <a:latin typeface="맑은 고딕"/>
              </a:rPr>
              <a:t>전구체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최적화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및 ALD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파라미터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탐색</a:t>
            </a:r>
            <a:endParaRPr sz="720" b="0" dirty="0">
              <a:solidFill>
                <a:srgbClr val="FFFFFF"/>
              </a:solidFill>
              <a:latin typeface="맑은 고딕"/>
            </a:endParaRP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99519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03881FD-E899-0FE3-7A97-6AD16115C2C0}"/>
              </a:ext>
            </a:extLst>
          </p:cNvPr>
          <p:cNvSpPr/>
          <p:nvPr/>
        </p:nvSpPr>
        <p:spPr>
          <a:xfrm>
            <a:off x="1100668" y="22240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D869DAAF-2B9A-6103-C452-C6C1EF27FEEF}"/>
              </a:ext>
            </a:extLst>
          </p:cNvPr>
          <p:cNvSpPr/>
          <p:nvPr/>
        </p:nvSpPr>
        <p:spPr>
          <a:xfrm>
            <a:off x="1100668" y="22240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7212D52-F7FF-D74B-8BD7-9260C5BEB11A}"/>
              </a:ext>
            </a:extLst>
          </p:cNvPr>
          <p:cNvSpPr txBox="1"/>
          <p:nvPr/>
        </p:nvSpPr>
        <p:spPr>
          <a:xfrm>
            <a:off x="1190668" y="2238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① ALD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증착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조건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최적화</a:t>
            </a:r>
            <a:endParaRPr sz="780" b="1" dirty="0">
              <a:solidFill>
                <a:srgbClr val="1565C0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F92BC18-E963-B9B7-0676-B9B844D69AD8}"/>
              </a:ext>
            </a:extLst>
          </p:cNvPr>
          <p:cNvSpPr txBox="1"/>
          <p:nvPr/>
        </p:nvSpPr>
        <p:spPr>
          <a:xfrm>
            <a:off x="1190668" y="2389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(ZnF₂, AlF₃, LiF)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436005D-A88D-BABF-8B59-64F9D41028B1}"/>
              </a:ext>
            </a:extLst>
          </p:cNvPr>
          <p:cNvSpPr/>
          <p:nvPr/>
        </p:nvSpPr>
        <p:spPr>
          <a:xfrm>
            <a:off x="1100668" y="25696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C0893CC-1AAA-15DC-79C5-DF8E1D6B8BBA}"/>
              </a:ext>
            </a:extLst>
          </p:cNvPr>
          <p:cNvSpPr/>
          <p:nvPr/>
        </p:nvSpPr>
        <p:spPr>
          <a:xfrm>
            <a:off x="1100668" y="25696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528BA99-B718-87A9-C3B3-412A533A1C8B}"/>
              </a:ext>
            </a:extLst>
          </p:cNvPr>
          <p:cNvSpPr txBox="1"/>
          <p:nvPr/>
        </p:nvSpPr>
        <p:spPr>
          <a:xfrm>
            <a:off x="1190668" y="2584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② 박막 구조·화학 조성 분석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8BAE8CE8-FE70-6CC9-99CD-34272DF216A1}"/>
              </a:ext>
            </a:extLst>
          </p:cNvPr>
          <p:cNvSpPr txBox="1"/>
          <p:nvPr/>
        </p:nvSpPr>
        <p:spPr>
          <a:xfrm>
            <a:off x="1190668" y="2735232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(XRD / XPS / TEM / ToF-SIMS)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5892ACD-1478-6E73-BDCE-EBD1B57943ED}"/>
              </a:ext>
            </a:extLst>
          </p:cNvPr>
          <p:cNvSpPr/>
          <p:nvPr/>
        </p:nvSpPr>
        <p:spPr>
          <a:xfrm>
            <a:off x="1100668" y="29152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2497B53-7DAE-0B5D-494E-F17694FFDBB2}"/>
              </a:ext>
            </a:extLst>
          </p:cNvPr>
          <p:cNvSpPr/>
          <p:nvPr/>
        </p:nvSpPr>
        <p:spPr>
          <a:xfrm>
            <a:off x="1100668" y="29152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782AC62-D03A-3A0C-5B56-64CAAC58611E}"/>
              </a:ext>
            </a:extLst>
          </p:cNvPr>
          <p:cNvSpPr txBox="1"/>
          <p:nvPr/>
        </p:nvSpPr>
        <p:spPr>
          <a:xfrm>
            <a:off x="1190668" y="29296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③ EIS · Li⁺ 이온전도도 평가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42294A1-B8C3-04FD-EE81-68618603F38F}"/>
              </a:ext>
            </a:extLst>
          </p:cNvPr>
          <p:cNvSpPr txBox="1"/>
          <p:nvPr/>
        </p:nvSpPr>
        <p:spPr>
          <a:xfrm>
            <a:off x="1190668" y="3080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(pinhole-free 조건 확립)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FF4C663-746F-C66E-F9BE-8005E1B5B7F5}"/>
              </a:ext>
            </a:extLst>
          </p:cNvPr>
          <p:cNvSpPr/>
          <p:nvPr/>
        </p:nvSpPr>
        <p:spPr>
          <a:xfrm>
            <a:off x="1100668" y="32608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AC6882D-67FB-97CD-935A-A36F889C150F}"/>
              </a:ext>
            </a:extLst>
          </p:cNvPr>
          <p:cNvSpPr/>
          <p:nvPr/>
        </p:nvSpPr>
        <p:spPr>
          <a:xfrm>
            <a:off x="1100668" y="32608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DBE1854-04A5-A75E-9743-589ACED2CE48}"/>
              </a:ext>
            </a:extLst>
          </p:cNvPr>
          <p:cNvSpPr txBox="1"/>
          <p:nvPr/>
        </p:nvSpPr>
        <p:spPr>
          <a:xfrm>
            <a:off x="1190668" y="3275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④ Cryo-TEM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핵생성</a:t>
            </a:r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관찰</a:t>
            </a:r>
            <a:endParaRPr sz="780" b="1" dirty="0">
              <a:solidFill>
                <a:srgbClr val="2E7D32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7392CA3-F382-65EA-41D4-2C2E8D88BFF2}"/>
              </a:ext>
            </a:extLst>
          </p:cNvPr>
          <p:cNvSpPr txBox="1"/>
          <p:nvPr/>
        </p:nvSpPr>
        <p:spPr>
          <a:xfrm>
            <a:off x="1190668" y="3426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핵생성 나노구조 실시간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2AB0769-20C6-7CC6-6946-70F1070B3047}"/>
              </a:ext>
            </a:extLst>
          </p:cNvPr>
          <p:cNvSpPr/>
          <p:nvPr/>
        </p:nvSpPr>
        <p:spPr>
          <a:xfrm>
            <a:off x="1100668" y="36064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F858564-7A9A-9669-F637-FA7D34BEE146}"/>
              </a:ext>
            </a:extLst>
          </p:cNvPr>
          <p:cNvSpPr/>
          <p:nvPr/>
        </p:nvSpPr>
        <p:spPr>
          <a:xfrm>
            <a:off x="1100668" y="36064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51E4A4E-3893-D7BB-3582-B617501D11AF}"/>
              </a:ext>
            </a:extLst>
          </p:cNvPr>
          <p:cNvSpPr txBox="1"/>
          <p:nvPr/>
        </p:nvSpPr>
        <p:spPr>
          <a:xfrm>
            <a:off x="1190668" y="36208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⑤ Operando XRD / in-situ SEM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349C5C8-1C53-5C4F-AF52-94D473787FDC}"/>
              </a:ext>
            </a:extLst>
          </p:cNvPr>
          <p:cNvSpPr txBox="1"/>
          <p:nvPr/>
        </p:nvSpPr>
        <p:spPr>
          <a:xfrm>
            <a:off x="1190668" y="37720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증착·용해 거동 모니터링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C4F2B4D-7E91-E183-7CDC-BD9CF16F5631}"/>
              </a:ext>
            </a:extLst>
          </p:cNvPr>
          <p:cNvSpPr/>
          <p:nvPr/>
        </p:nvSpPr>
        <p:spPr>
          <a:xfrm>
            <a:off x="1100668" y="3952032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0E07732D-345D-6499-2561-BB41E0C4AC8B}"/>
              </a:ext>
            </a:extLst>
          </p:cNvPr>
          <p:cNvSpPr/>
          <p:nvPr/>
        </p:nvSpPr>
        <p:spPr>
          <a:xfrm>
            <a:off x="1100668" y="3952032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BDB0FA3-EB15-523D-53E5-4AE02898D23A}"/>
              </a:ext>
            </a:extLst>
          </p:cNvPr>
          <p:cNvSpPr txBox="1"/>
          <p:nvPr/>
        </p:nvSpPr>
        <p:spPr>
          <a:xfrm>
            <a:off x="1190668" y="3966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⑥ DFT 이론 계산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D83242C7-0D63-6125-F10D-A718AE211FD2}"/>
              </a:ext>
            </a:extLst>
          </p:cNvPr>
          <p:cNvSpPr txBox="1"/>
          <p:nvPr/>
        </p:nvSpPr>
        <p:spPr>
          <a:xfrm>
            <a:off x="1190668" y="4117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계면 Li⁺ 확산 에너지 배리어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7B01C5-CB85-94B5-1017-B5352C640543}"/>
              </a:ext>
            </a:extLst>
          </p:cNvPr>
          <p:cNvSpPr/>
          <p:nvPr/>
        </p:nvSpPr>
        <p:spPr>
          <a:xfrm>
            <a:off x="1100668" y="42976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AB50607-CD6B-A897-5E89-079FD3910EAF}"/>
              </a:ext>
            </a:extLst>
          </p:cNvPr>
          <p:cNvSpPr/>
          <p:nvPr/>
        </p:nvSpPr>
        <p:spPr>
          <a:xfrm>
            <a:off x="1100668" y="42976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DE98098-44C3-7ED6-670B-E3A9ED9E53EF}"/>
              </a:ext>
            </a:extLst>
          </p:cNvPr>
          <p:cNvSpPr txBox="1"/>
          <p:nvPr/>
        </p:nvSpPr>
        <p:spPr>
          <a:xfrm>
            <a:off x="1190668" y="4312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⑦ Li||NCM 풀 셀 장기 사이클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9E044C84-5BDF-396B-D8D3-C79510912556}"/>
              </a:ext>
            </a:extLst>
          </p:cNvPr>
          <p:cNvSpPr txBox="1"/>
          <p:nvPr/>
        </p:nvSpPr>
        <p:spPr>
          <a:xfrm>
            <a:off x="1190668" y="44632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&gt;300 사이클, CE &gt;99.5%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48A970D1-E9C7-9A8A-60C9-B9BA449B2719}"/>
              </a:ext>
            </a:extLst>
          </p:cNvPr>
          <p:cNvSpPr/>
          <p:nvPr/>
        </p:nvSpPr>
        <p:spPr>
          <a:xfrm>
            <a:off x="1100668" y="46432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073B1A-7FB7-0FE1-C51B-0D4072830E3A}"/>
              </a:ext>
            </a:extLst>
          </p:cNvPr>
          <p:cNvSpPr/>
          <p:nvPr/>
        </p:nvSpPr>
        <p:spPr>
          <a:xfrm>
            <a:off x="1100668" y="46432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D9130242-FEEC-B5D1-51C9-ED7D9CE0C08E}"/>
              </a:ext>
            </a:extLst>
          </p:cNvPr>
          <p:cNvSpPr txBox="1"/>
          <p:nvPr/>
        </p:nvSpPr>
        <p:spPr>
          <a:xfrm>
            <a:off x="1190668" y="46576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⑧ Post-mortem XPS/TEM 분석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4EFA48A3-8BC7-95C7-0AA6-8734285B4EBD}"/>
              </a:ext>
            </a:extLst>
          </p:cNvPr>
          <p:cNvSpPr txBox="1"/>
          <p:nvPr/>
        </p:nvSpPr>
        <p:spPr>
          <a:xfrm>
            <a:off x="1190668" y="4808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SEI 조성 변화·열화 메커니즘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D1381DF-C27D-17E7-66E0-F358F9BE3CC8}"/>
              </a:ext>
            </a:extLst>
          </p:cNvPr>
          <p:cNvSpPr/>
          <p:nvPr/>
        </p:nvSpPr>
        <p:spPr>
          <a:xfrm>
            <a:off x="1100668" y="49888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B0CDBBB7-5600-2C91-616C-D8E7C87AD5C0}"/>
              </a:ext>
            </a:extLst>
          </p:cNvPr>
          <p:cNvSpPr/>
          <p:nvPr/>
        </p:nvSpPr>
        <p:spPr>
          <a:xfrm>
            <a:off x="1100668" y="49888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441351F-EB0B-9173-5845-A812D3819CB0}"/>
              </a:ext>
            </a:extLst>
          </p:cNvPr>
          <p:cNvSpPr txBox="1"/>
          <p:nvPr/>
        </p:nvSpPr>
        <p:spPr>
          <a:xfrm>
            <a:off x="1190668" y="5003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⑨ ALD 인공 SEI 설계 원칙 도출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4D5BC69-1B0D-D297-492B-306646023BFE}"/>
              </a:ext>
            </a:extLst>
          </p:cNvPr>
          <p:cNvSpPr txBox="1"/>
          <p:nvPr/>
        </p:nvSpPr>
        <p:spPr>
          <a:xfrm>
            <a:off x="1190668" y="5154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ZnF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₂/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AlF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₃/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비교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720" b="0" dirty="0">
              <a:solidFill>
                <a:srgbClr val="E651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7A446D8-1C6F-715A-E753-345581674C62}"/>
              </a:ext>
            </a:extLst>
          </p:cNvPr>
          <p:cNvSpPr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1D64A57-A3B2-4049-7F46-25143C6B6B25}"/>
              </a:ext>
            </a:extLst>
          </p:cNvPr>
          <p:cNvSpPr txBox="1"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D41351-4E2C-1DB6-4D6E-BCF83B650F55}"/>
              </a:ext>
            </a:extLst>
          </p:cNvPr>
          <p:cNvSpPr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208BCA0-A120-ABB1-A9B1-9BE6CF092E07}"/>
              </a:ext>
            </a:extLst>
          </p:cNvPr>
          <p:cNvSpPr txBox="1"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4B9737-C6BD-FFC0-128D-0532AD3BB48B}"/>
              </a:ext>
            </a:extLst>
          </p:cNvPr>
          <p:cNvSpPr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B6CE28-D26B-BC18-728F-5931334F53D2}"/>
              </a:ext>
            </a:extLst>
          </p:cNvPr>
          <p:cNvSpPr txBox="1"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2F04082-0C22-F309-B8CC-F1D3E30FF53E}"/>
              </a:ext>
            </a:extLst>
          </p:cNvPr>
          <p:cNvSpPr/>
          <p:nvPr/>
        </p:nvSpPr>
        <p:spPr>
          <a:xfrm>
            <a:off x="2954668" y="2249233"/>
            <a:ext cx="52198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DCCCFF5-A8D7-C138-11E0-A31919CC9B0C}"/>
              </a:ext>
            </a:extLst>
          </p:cNvPr>
          <p:cNvSpPr txBox="1"/>
          <p:nvPr/>
        </p:nvSpPr>
        <p:spPr>
          <a:xfrm>
            <a:off x="295466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CC3E173-E79C-8660-4AD9-9555540967B9}"/>
              </a:ext>
            </a:extLst>
          </p:cNvPr>
          <p:cNvSpPr txBox="1"/>
          <p:nvPr/>
        </p:nvSpPr>
        <p:spPr>
          <a:xfrm>
            <a:off x="3389660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1778B3-AC96-0699-7B60-04C85CFE70C4}"/>
              </a:ext>
            </a:extLst>
          </p:cNvPr>
          <p:cNvSpPr txBox="1"/>
          <p:nvPr/>
        </p:nvSpPr>
        <p:spPr>
          <a:xfrm>
            <a:off x="382465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668B2D-336D-4E94-924F-87C2E876C759}"/>
              </a:ext>
            </a:extLst>
          </p:cNvPr>
          <p:cNvSpPr txBox="1"/>
          <p:nvPr/>
        </p:nvSpPr>
        <p:spPr>
          <a:xfrm>
            <a:off x="425964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69C5244-9EE4-D6FB-A891-5E45E58EE2C1}"/>
              </a:ext>
            </a:extLst>
          </p:cNvPr>
          <p:cNvSpPr txBox="1"/>
          <p:nvPr/>
        </p:nvSpPr>
        <p:spPr>
          <a:xfrm>
            <a:off x="469463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74C43DA-086D-5AA1-D3D7-1D91B87A5BAF}"/>
              </a:ext>
            </a:extLst>
          </p:cNvPr>
          <p:cNvSpPr txBox="1"/>
          <p:nvPr/>
        </p:nvSpPr>
        <p:spPr>
          <a:xfrm>
            <a:off x="5129626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B25F716-8539-9586-CFC2-BBCCFEF786BD}"/>
              </a:ext>
            </a:extLst>
          </p:cNvPr>
          <p:cNvSpPr txBox="1"/>
          <p:nvPr/>
        </p:nvSpPr>
        <p:spPr>
          <a:xfrm>
            <a:off x="556461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1CD4795-C956-9B9F-17FC-7B8DB5CE54EA}"/>
              </a:ext>
            </a:extLst>
          </p:cNvPr>
          <p:cNvSpPr txBox="1"/>
          <p:nvPr/>
        </p:nvSpPr>
        <p:spPr>
          <a:xfrm>
            <a:off x="5999609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51405B8-EF3A-7228-033E-A0A07E913F81}"/>
              </a:ext>
            </a:extLst>
          </p:cNvPr>
          <p:cNvSpPr txBox="1"/>
          <p:nvPr/>
        </p:nvSpPr>
        <p:spPr>
          <a:xfrm>
            <a:off x="643460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4C6BF81-BB8F-D37D-E545-B0D327BD2497}"/>
              </a:ext>
            </a:extLst>
          </p:cNvPr>
          <p:cNvSpPr txBox="1"/>
          <p:nvPr/>
        </p:nvSpPr>
        <p:spPr>
          <a:xfrm>
            <a:off x="686959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DC6BDB5-F4B3-8B5A-7A17-D63D50A48236}"/>
              </a:ext>
            </a:extLst>
          </p:cNvPr>
          <p:cNvSpPr txBox="1"/>
          <p:nvPr/>
        </p:nvSpPr>
        <p:spPr>
          <a:xfrm>
            <a:off x="7304584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CECFAD2-4167-4531-B923-331E449F76F7}"/>
              </a:ext>
            </a:extLst>
          </p:cNvPr>
          <p:cNvSpPr txBox="1"/>
          <p:nvPr/>
        </p:nvSpPr>
        <p:spPr>
          <a:xfrm>
            <a:off x="773957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131" name="Connector 79">
            <a:extLst>
              <a:ext uri="{FF2B5EF4-FFF2-40B4-BE49-F238E27FC236}">
                <a16:creationId xmlns:a16="http://schemas.microsoft.com/office/drawing/2014/main" id="{757763DB-D1B2-70C4-E6E8-A18C0F2E1E91}"/>
              </a:ext>
            </a:extLst>
          </p:cNvPr>
          <p:cNvCxnSpPr/>
          <p:nvPr/>
        </p:nvCxnSpPr>
        <p:spPr>
          <a:xfrm>
            <a:off x="2954668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80">
            <a:extLst>
              <a:ext uri="{FF2B5EF4-FFF2-40B4-BE49-F238E27FC236}">
                <a16:creationId xmlns:a16="http://schemas.microsoft.com/office/drawing/2014/main" id="{098EC66F-1257-5271-906B-41B750BA6FC8}"/>
              </a:ext>
            </a:extLst>
          </p:cNvPr>
          <p:cNvCxnSpPr/>
          <p:nvPr/>
        </p:nvCxnSpPr>
        <p:spPr>
          <a:xfrm>
            <a:off x="3389660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81">
            <a:extLst>
              <a:ext uri="{FF2B5EF4-FFF2-40B4-BE49-F238E27FC236}">
                <a16:creationId xmlns:a16="http://schemas.microsoft.com/office/drawing/2014/main" id="{2567E60E-DBF3-5D38-DE95-BC03496996F5}"/>
              </a:ext>
            </a:extLst>
          </p:cNvPr>
          <p:cNvCxnSpPr/>
          <p:nvPr/>
        </p:nvCxnSpPr>
        <p:spPr>
          <a:xfrm>
            <a:off x="3824651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82">
            <a:extLst>
              <a:ext uri="{FF2B5EF4-FFF2-40B4-BE49-F238E27FC236}">
                <a16:creationId xmlns:a16="http://schemas.microsoft.com/office/drawing/2014/main" id="{86D17D0B-EA34-F7B7-E554-CDB8B0EA5A75}"/>
              </a:ext>
            </a:extLst>
          </p:cNvPr>
          <p:cNvCxnSpPr/>
          <p:nvPr/>
        </p:nvCxnSpPr>
        <p:spPr>
          <a:xfrm>
            <a:off x="425964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83">
            <a:extLst>
              <a:ext uri="{FF2B5EF4-FFF2-40B4-BE49-F238E27FC236}">
                <a16:creationId xmlns:a16="http://schemas.microsoft.com/office/drawing/2014/main" id="{1F8EA9DF-1E6E-BF97-9619-4203766D95A1}"/>
              </a:ext>
            </a:extLst>
          </p:cNvPr>
          <p:cNvCxnSpPr/>
          <p:nvPr/>
        </p:nvCxnSpPr>
        <p:spPr>
          <a:xfrm>
            <a:off x="4694635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84">
            <a:extLst>
              <a:ext uri="{FF2B5EF4-FFF2-40B4-BE49-F238E27FC236}">
                <a16:creationId xmlns:a16="http://schemas.microsoft.com/office/drawing/2014/main" id="{F19D1068-D027-548C-E3E4-DD4524FA18ED}"/>
              </a:ext>
            </a:extLst>
          </p:cNvPr>
          <p:cNvCxnSpPr/>
          <p:nvPr/>
        </p:nvCxnSpPr>
        <p:spPr>
          <a:xfrm>
            <a:off x="5129626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85">
            <a:extLst>
              <a:ext uri="{FF2B5EF4-FFF2-40B4-BE49-F238E27FC236}">
                <a16:creationId xmlns:a16="http://schemas.microsoft.com/office/drawing/2014/main" id="{C87A9C0E-92F7-8C18-0148-A70BA2C71CDC}"/>
              </a:ext>
            </a:extLst>
          </p:cNvPr>
          <p:cNvCxnSpPr/>
          <p:nvPr/>
        </p:nvCxnSpPr>
        <p:spPr>
          <a:xfrm>
            <a:off x="5564618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86">
            <a:extLst>
              <a:ext uri="{FF2B5EF4-FFF2-40B4-BE49-F238E27FC236}">
                <a16:creationId xmlns:a16="http://schemas.microsoft.com/office/drawing/2014/main" id="{D56A04C9-0E75-31B4-2493-8C8D693B6AEB}"/>
              </a:ext>
            </a:extLst>
          </p:cNvPr>
          <p:cNvCxnSpPr/>
          <p:nvPr/>
        </p:nvCxnSpPr>
        <p:spPr>
          <a:xfrm>
            <a:off x="5999609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87">
            <a:extLst>
              <a:ext uri="{FF2B5EF4-FFF2-40B4-BE49-F238E27FC236}">
                <a16:creationId xmlns:a16="http://schemas.microsoft.com/office/drawing/2014/main" id="{3F16021E-3C29-5C6A-44A2-BA1AFCCE01C8}"/>
              </a:ext>
            </a:extLst>
          </p:cNvPr>
          <p:cNvCxnSpPr/>
          <p:nvPr/>
        </p:nvCxnSpPr>
        <p:spPr>
          <a:xfrm>
            <a:off x="6434601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88">
            <a:extLst>
              <a:ext uri="{FF2B5EF4-FFF2-40B4-BE49-F238E27FC236}">
                <a16:creationId xmlns:a16="http://schemas.microsoft.com/office/drawing/2014/main" id="{DF229B76-FB26-C79A-6BA5-7823BAFBAB39}"/>
              </a:ext>
            </a:extLst>
          </p:cNvPr>
          <p:cNvCxnSpPr/>
          <p:nvPr/>
        </p:nvCxnSpPr>
        <p:spPr>
          <a:xfrm>
            <a:off x="686959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89">
            <a:extLst>
              <a:ext uri="{FF2B5EF4-FFF2-40B4-BE49-F238E27FC236}">
                <a16:creationId xmlns:a16="http://schemas.microsoft.com/office/drawing/2014/main" id="{C12359A7-7732-4DD8-9F5F-D1270EECBAB5}"/>
              </a:ext>
            </a:extLst>
          </p:cNvPr>
          <p:cNvCxnSpPr/>
          <p:nvPr/>
        </p:nvCxnSpPr>
        <p:spPr>
          <a:xfrm>
            <a:off x="7304584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90">
            <a:extLst>
              <a:ext uri="{FF2B5EF4-FFF2-40B4-BE49-F238E27FC236}">
                <a16:creationId xmlns:a16="http://schemas.microsoft.com/office/drawing/2014/main" id="{452F4D21-F144-B312-26B2-D08DC8F141EA}"/>
              </a:ext>
            </a:extLst>
          </p:cNvPr>
          <p:cNvCxnSpPr/>
          <p:nvPr/>
        </p:nvCxnSpPr>
        <p:spPr>
          <a:xfrm>
            <a:off x="7739575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91">
            <a:extLst>
              <a:ext uri="{FF2B5EF4-FFF2-40B4-BE49-F238E27FC236}">
                <a16:creationId xmlns:a16="http://schemas.microsoft.com/office/drawing/2014/main" id="{BFC24B34-DD0D-E422-5C9A-7C72D37328DB}"/>
              </a:ext>
            </a:extLst>
          </p:cNvPr>
          <p:cNvCxnSpPr/>
          <p:nvPr/>
        </p:nvCxnSpPr>
        <p:spPr>
          <a:xfrm>
            <a:off x="8174567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32782F6-1339-CF72-6541-D661CD5EA757}"/>
              </a:ext>
            </a:extLst>
          </p:cNvPr>
          <p:cNvSpPr/>
          <p:nvPr/>
        </p:nvSpPr>
        <p:spPr>
          <a:xfrm>
            <a:off x="2954668" y="22240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9C1B6CE-301E-E80B-534B-52CD4B0B1E9B}"/>
              </a:ext>
            </a:extLst>
          </p:cNvPr>
          <p:cNvSpPr/>
          <p:nvPr/>
        </p:nvSpPr>
        <p:spPr>
          <a:xfrm>
            <a:off x="2965030" y="2303233"/>
            <a:ext cx="1719242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0250A0C-C752-E8F1-CD8E-7333166D1EA0}"/>
              </a:ext>
            </a:extLst>
          </p:cNvPr>
          <p:cNvSpPr txBox="1"/>
          <p:nvPr/>
        </p:nvSpPr>
        <p:spPr>
          <a:xfrm>
            <a:off x="2911318" y="2295033"/>
            <a:ext cx="1789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전구체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최적화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및 ALD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파라미터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탐색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2F9318E-CA32-86BB-BB73-7BBAB04362D7}"/>
              </a:ext>
            </a:extLst>
          </p:cNvPr>
          <p:cNvSpPr/>
          <p:nvPr/>
        </p:nvSpPr>
        <p:spPr>
          <a:xfrm>
            <a:off x="2954668" y="25696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FA7D43D-C162-8535-267B-029240BB1A04}"/>
              </a:ext>
            </a:extLst>
          </p:cNvPr>
          <p:cNvSpPr/>
          <p:nvPr/>
        </p:nvSpPr>
        <p:spPr>
          <a:xfrm>
            <a:off x="3400022" y="2648832"/>
            <a:ext cx="2154233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B70FA59A-EEF0-BD7A-030B-077D1D7E0717}"/>
              </a:ext>
            </a:extLst>
          </p:cNvPr>
          <p:cNvSpPr txBox="1"/>
          <p:nvPr/>
        </p:nvSpPr>
        <p:spPr>
          <a:xfrm>
            <a:off x="3400022" y="26488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XRD / XPS / TEM-EDS / ToF-SIMS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471CE5D1-E068-5535-48A0-3DA2655D16FD}"/>
              </a:ext>
            </a:extLst>
          </p:cNvPr>
          <p:cNvSpPr/>
          <p:nvPr/>
        </p:nvSpPr>
        <p:spPr>
          <a:xfrm>
            <a:off x="2954668" y="29152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FC7B023-3416-5CF9-AEAE-8EADC78A9299}"/>
              </a:ext>
            </a:extLst>
          </p:cNvPr>
          <p:cNvSpPr/>
          <p:nvPr/>
        </p:nvSpPr>
        <p:spPr>
          <a:xfrm>
            <a:off x="3617415" y="2994433"/>
            <a:ext cx="1066856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84DE01C-9BE0-9A0F-A2D1-CF2236F05B34}"/>
              </a:ext>
            </a:extLst>
          </p:cNvPr>
          <p:cNvSpPr txBox="1"/>
          <p:nvPr/>
        </p:nvSpPr>
        <p:spPr>
          <a:xfrm>
            <a:off x="3594184" y="2990453"/>
            <a:ext cx="114968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EIS · Li⁺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이온전도도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2193BCD-B4AB-9989-695D-E50EFD4CBB2A}"/>
              </a:ext>
            </a:extLst>
          </p:cNvPr>
          <p:cNvSpPr/>
          <p:nvPr/>
        </p:nvSpPr>
        <p:spPr>
          <a:xfrm>
            <a:off x="2954668" y="32608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7A632D6-D0EF-4098-FA43-FEBB216A22C1}"/>
              </a:ext>
            </a:extLst>
          </p:cNvPr>
          <p:cNvSpPr/>
          <p:nvPr/>
        </p:nvSpPr>
        <p:spPr>
          <a:xfrm>
            <a:off x="3835013" y="3340033"/>
            <a:ext cx="2589225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E393352-50DB-6D06-2014-F92B0EF30C84}"/>
              </a:ext>
            </a:extLst>
          </p:cNvPr>
          <p:cNvSpPr txBox="1"/>
          <p:nvPr/>
        </p:nvSpPr>
        <p:spPr>
          <a:xfrm>
            <a:off x="3835013" y="33400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Cryo-TEM Li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핵생성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나노구조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관찰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F2F58E69-6B4A-3993-04B4-A6C495EB29D6}"/>
              </a:ext>
            </a:extLst>
          </p:cNvPr>
          <p:cNvSpPr/>
          <p:nvPr/>
        </p:nvSpPr>
        <p:spPr>
          <a:xfrm>
            <a:off x="2954668" y="36064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F0EAD0D8-B0C0-EE0C-5516-71D7A7C7A372}"/>
              </a:ext>
            </a:extLst>
          </p:cNvPr>
          <p:cNvSpPr/>
          <p:nvPr/>
        </p:nvSpPr>
        <p:spPr>
          <a:xfrm>
            <a:off x="4270004" y="3685633"/>
            <a:ext cx="2154233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B228ABA5-2415-1F59-DC7D-2AFCADA28CAB}"/>
              </a:ext>
            </a:extLst>
          </p:cNvPr>
          <p:cNvSpPr txBox="1"/>
          <p:nvPr/>
        </p:nvSpPr>
        <p:spPr>
          <a:xfrm>
            <a:off x="4270004" y="3685633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Operando XRD / in-situ SEM 모니터링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2FDAAB6-F178-5C68-C544-7541EB7F2193}"/>
              </a:ext>
            </a:extLst>
          </p:cNvPr>
          <p:cNvSpPr/>
          <p:nvPr/>
        </p:nvSpPr>
        <p:spPr>
          <a:xfrm>
            <a:off x="2954668" y="3952032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AF677B8-EE66-D3D6-8C5C-BA526A1CAF46}"/>
              </a:ext>
            </a:extLst>
          </p:cNvPr>
          <p:cNvSpPr/>
          <p:nvPr/>
        </p:nvSpPr>
        <p:spPr>
          <a:xfrm>
            <a:off x="4270004" y="4031232"/>
            <a:ext cx="2154233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F6B294A-4754-6FD2-D8D4-14219D2CB8CA}"/>
              </a:ext>
            </a:extLst>
          </p:cNvPr>
          <p:cNvSpPr txBox="1"/>
          <p:nvPr/>
        </p:nvSpPr>
        <p:spPr>
          <a:xfrm>
            <a:off x="4270004" y="40312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DFT: 불화물/Li 계면 Li⁺ 확산 에너지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E710C44-8B28-8FA1-2F86-0C10883F5259}"/>
              </a:ext>
            </a:extLst>
          </p:cNvPr>
          <p:cNvSpPr/>
          <p:nvPr/>
        </p:nvSpPr>
        <p:spPr>
          <a:xfrm>
            <a:off x="2954668" y="42976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CD4141BB-5CA0-0006-D16A-D8D6AA52ABE2}"/>
              </a:ext>
            </a:extLst>
          </p:cNvPr>
          <p:cNvSpPr/>
          <p:nvPr/>
        </p:nvSpPr>
        <p:spPr>
          <a:xfrm>
            <a:off x="5574980" y="4376833"/>
            <a:ext cx="2589225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BAAF75E-BF49-818B-593E-21D9730509CB}"/>
              </a:ext>
            </a:extLst>
          </p:cNvPr>
          <p:cNvSpPr txBox="1"/>
          <p:nvPr/>
        </p:nvSpPr>
        <p:spPr>
          <a:xfrm>
            <a:off x="5574980" y="43768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Li||NCM Full Cell 장기 사이클링 (&gt;300 cycles)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3EF0248-7C0F-9241-57EF-365C7FBE1762}"/>
              </a:ext>
            </a:extLst>
          </p:cNvPr>
          <p:cNvSpPr/>
          <p:nvPr/>
        </p:nvSpPr>
        <p:spPr>
          <a:xfrm>
            <a:off x="2954668" y="46432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44ED841-E4E0-7E9B-DB37-B994FF483C18}"/>
              </a:ext>
            </a:extLst>
          </p:cNvPr>
          <p:cNvSpPr/>
          <p:nvPr/>
        </p:nvSpPr>
        <p:spPr>
          <a:xfrm>
            <a:off x="6444963" y="4722432"/>
            <a:ext cx="1719242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0F24B811-EAAF-AC1D-7CA2-4D914D2910C8}"/>
              </a:ext>
            </a:extLst>
          </p:cNvPr>
          <p:cNvSpPr txBox="1"/>
          <p:nvPr/>
        </p:nvSpPr>
        <p:spPr>
          <a:xfrm>
            <a:off x="6444963" y="4722432"/>
            <a:ext cx="17192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Post-mortem XPS / TEM 분석</a:t>
            </a: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9D3EE103-B7F5-0958-6459-229795E0FF8C}"/>
              </a:ext>
            </a:extLst>
          </p:cNvPr>
          <p:cNvSpPr/>
          <p:nvPr/>
        </p:nvSpPr>
        <p:spPr>
          <a:xfrm>
            <a:off x="2954668" y="49888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18CD2B0E-38E1-964A-022C-AC5875361863}"/>
              </a:ext>
            </a:extLst>
          </p:cNvPr>
          <p:cNvSpPr/>
          <p:nvPr/>
        </p:nvSpPr>
        <p:spPr>
          <a:xfrm>
            <a:off x="6741138" y="5068033"/>
            <a:ext cx="1423066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6B0CF69-AEDC-ECD2-DE99-E06A9B1065ED}"/>
              </a:ext>
            </a:extLst>
          </p:cNvPr>
          <p:cNvSpPr txBox="1"/>
          <p:nvPr/>
        </p:nvSpPr>
        <p:spPr>
          <a:xfrm>
            <a:off x="6741138" y="5060083"/>
            <a:ext cx="149476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범용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ALD-SEI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설계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원칙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cxnSp>
        <p:nvCxnSpPr>
          <p:cNvPr id="216" name="Connector 164">
            <a:extLst>
              <a:ext uri="{FF2B5EF4-FFF2-40B4-BE49-F238E27FC236}">
                <a16:creationId xmlns:a16="http://schemas.microsoft.com/office/drawing/2014/main" id="{28B9EAD6-21D6-89E9-F633-9AE885B4A7EB}"/>
              </a:ext>
            </a:extLst>
          </p:cNvPr>
          <p:cNvCxnSpPr/>
          <p:nvPr/>
        </p:nvCxnSpPr>
        <p:spPr>
          <a:xfrm>
            <a:off x="2954668" y="2224032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39346E2-7AD3-8CF9-3CF0-729A941BF577}"/>
              </a:ext>
            </a:extLst>
          </p:cNvPr>
          <p:cNvGrpSpPr/>
          <p:nvPr/>
        </p:nvGrpSpPr>
        <p:grpSpPr>
          <a:xfrm>
            <a:off x="1092468" y="2569632"/>
            <a:ext cx="7085923" cy="2793601"/>
            <a:chOff x="-133366" y="1932432"/>
            <a:chExt cx="9159545" cy="2793601"/>
          </a:xfrm>
        </p:grpSpPr>
        <p:cxnSp>
          <p:nvCxnSpPr>
            <p:cNvPr id="151" name="Connector 99">
              <a:extLst>
                <a:ext uri="{FF2B5EF4-FFF2-40B4-BE49-F238E27FC236}">
                  <a16:creationId xmlns:a16="http://schemas.microsoft.com/office/drawing/2014/main" id="{E2797AD0-54EA-9A46-3AD4-8C8A579226FD}"/>
                </a:ext>
              </a:extLst>
            </p:cNvPr>
            <p:cNvCxnSpPr/>
            <p:nvPr/>
          </p:nvCxnSpPr>
          <p:spPr>
            <a:xfrm>
              <a:off x="-122766" y="19324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 107">
              <a:extLst>
                <a:ext uri="{FF2B5EF4-FFF2-40B4-BE49-F238E27FC236}">
                  <a16:creationId xmlns:a16="http://schemas.microsoft.com/office/drawing/2014/main" id="{95C3023A-0A1A-401E-E2F4-985EB628C9E9}"/>
                </a:ext>
              </a:extLst>
            </p:cNvPr>
            <p:cNvCxnSpPr/>
            <p:nvPr/>
          </p:nvCxnSpPr>
          <p:spPr>
            <a:xfrm>
              <a:off x="-122766" y="22780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15">
              <a:extLst>
                <a:ext uri="{FF2B5EF4-FFF2-40B4-BE49-F238E27FC236}">
                  <a16:creationId xmlns:a16="http://schemas.microsoft.com/office/drawing/2014/main" id="{B8654474-C37A-6732-0206-CBDBE8E6821E}"/>
                </a:ext>
              </a:extLst>
            </p:cNvPr>
            <p:cNvCxnSpPr/>
            <p:nvPr/>
          </p:nvCxnSpPr>
          <p:spPr>
            <a:xfrm>
              <a:off x="-122766" y="26236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23">
              <a:extLst>
                <a:ext uri="{FF2B5EF4-FFF2-40B4-BE49-F238E27FC236}">
                  <a16:creationId xmlns:a16="http://schemas.microsoft.com/office/drawing/2014/main" id="{6207829D-65CA-4D20-5E4E-3C6BA78B2D8A}"/>
                </a:ext>
              </a:extLst>
            </p:cNvPr>
            <p:cNvCxnSpPr/>
            <p:nvPr/>
          </p:nvCxnSpPr>
          <p:spPr>
            <a:xfrm>
              <a:off x="-122766" y="2969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31">
              <a:extLst>
                <a:ext uri="{FF2B5EF4-FFF2-40B4-BE49-F238E27FC236}">
                  <a16:creationId xmlns:a16="http://schemas.microsoft.com/office/drawing/2014/main" id="{C36B9063-D760-6E9B-E56A-DB3AC64D43B0}"/>
                </a:ext>
              </a:extLst>
            </p:cNvPr>
            <p:cNvCxnSpPr/>
            <p:nvPr/>
          </p:nvCxnSpPr>
          <p:spPr>
            <a:xfrm>
              <a:off x="-122766" y="33148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39">
              <a:extLst>
                <a:ext uri="{FF2B5EF4-FFF2-40B4-BE49-F238E27FC236}">
                  <a16:creationId xmlns:a16="http://schemas.microsoft.com/office/drawing/2014/main" id="{0E1A01BF-BE0E-FE91-2A88-B7E3103AD123}"/>
                </a:ext>
              </a:extLst>
            </p:cNvPr>
            <p:cNvCxnSpPr/>
            <p:nvPr/>
          </p:nvCxnSpPr>
          <p:spPr>
            <a:xfrm>
              <a:off x="-122766" y="36604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47">
              <a:extLst>
                <a:ext uri="{FF2B5EF4-FFF2-40B4-BE49-F238E27FC236}">
                  <a16:creationId xmlns:a16="http://schemas.microsoft.com/office/drawing/2014/main" id="{38541502-E9B2-6114-1ECE-2F2C7C9AB549}"/>
                </a:ext>
              </a:extLst>
            </p:cNvPr>
            <p:cNvCxnSpPr/>
            <p:nvPr/>
          </p:nvCxnSpPr>
          <p:spPr>
            <a:xfrm>
              <a:off x="-122766" y="40060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155">
              <a:extLst>
                <a:ext uri="{FF2B5EF4-FFF2-40B4-BE49-F238E27FC236}">
                  <a16:creationId xmlns:a16="http://schemas.microsoft.com/office/drawing/2014/main" id="{1289DC5B-9E46-9E3D-D707-B780DE9338F7}"/>
                </a:ext>
              </a:extLst>
            </p:cNvPr>
            <p:cNvCxnSpPr/>
            <p:nvPr/>
          </p:nvCxnSpPr>
          <p:spPr>
            <a:xfrm>
              <a:off x="-122766" y="43516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163">
              <a:extLst>
                <a:ext uri="{FF2B5EF4-FFF2-40B4-BE49-F238E27FC236}">
                  <a16:creationId xmlns:a16="http://schemas.microsoft.com/office/drawing/2014/main" id="{61AA2879-B0DA-6F41-9D58-DD91145F8316}"/>
                </a:ext>
              </a:extLst>
            </p:cNvPr>
            <p:cNvCxnSpPr/>
            <p:nvPr/>
          </p:nvCxnSpPr>
          <p:spPr>
            <a:xfrm>
              <a:off x="-133366" y="4697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6BA035E6-8E2B-F2B9-D81B-166283BC7D91}"/>
                </a:ext>
              </a:extLst>
            </p:cNvPr>
            <p:cNvSpPr/>
            <p:nvPr/>
          </p:nvSpPr>
          <p:spPr>
            <a:xfrm>
              <a:off x="-117822" y="4697233"/>
              <a:ext cx="9144001" cy="288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6327DF5-EAB5-9DEA-1FFD-78917F86B510}"/>
              </a:ext>
            </a:extLst>
          </p:cNvPr>
          <p:cNvSpPr/>
          <p:nvPr/>
        </p:nvSpPr>
        <p:spPr>
          <a:xfrm>
            <a:off x="301368" y="2011632"/>
            <a:ext cx="7883373" cy="33459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A7FB96B-0DC2-589C-E311-5A05A63DB823}"/>
              </a:ext>
            </a:extLst>
          </p:cNvPr>
          <p:cNvSpPr/>
          <p:nvPr/>
        </p:nvSpPr>
        <p:spPr>
          <a:xfrm>
            <a:off x="301368" y="2229966"/>
            <a:ext cx="794276" cy="10224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1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1CF39448-0FAF-024A-EEDD-AC37C1FD6605}"/>
              </a:ext>
            </a:extLst>
          </p:cNvPr>
          <p:cNvSpPr/>
          <p:nvPr/>
        </p:nvSpPr>
        <p:spPr>
          <a:xfrm>
            <a:off x="301368" y="3264117"/>
            <a:ext cx="794276" cy="1022401"/>
          </a:xfrm>
          <a:prstGeom prst="rect">
            <a:avLst/>
          </a:prstGeom>
          <a:gradFill>
            <a:gsLst>
              <a:gs pos="0">
                <a:srgbClr val="00B050"/>
              </a:gs>
              <a:gs pos="100000">
                <a:schemeClr val="accent3">
                  <a:lumMod val="60000"/>
                  <a:lumOff val="4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323F7E1E-9B73-328D-B4D5-EB7626D79884}"/>
              </a:ext>
            </a:extLst>
          </p:cNvPr>
          <p:cNvSpPr/>
          <p:nvPr/>
        </p:nvSpPr>
        <p:spPr>
          <a:xfrm>
            <a:off x="301368" y="4303515"/>
            <a:ext cx="794276" cy="1030918"/>
          </a:xfrm>
          <a:prstGeom prst="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3</a:t>
            </a:r>
          </a:p>
        </p:txBody>
      </p:sp>
    </p:spTree>
    <p:extLst>
      <p:ext uri="{BB962C8B-B14F-4D97-AF65-F5344CB8AC3E}">
        <p14:creationId xmlns:p14="http://schemas.microsoft.com/office/powerpoint/2010/main" val="371315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50DD9DC-847D-29A0-8A11-8ECAB600D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903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E10864-A4BA-1E19-39D6-FB40BFF72EE0}"/>
              </a:ext>
            </a:extLst>
          </p:cNvPr>
          <p:cNvGrpSpPr/>
          <p:nvPr/>
        </p:nvGrpSpPr>
        <p:grpSpPr>
          <a:xfrm>
            <a:off x="320684" y="2011632"/>
            <a:ext cx="7915217" cy="3345934"/>
            <a:chOff x="320684" y="2011632"/>
            <a:chExt cx="7915217" cy="3345934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03881FD-E899-0FE3-7A97-6AD16115C2C0}"/>
                </a:ext>
              </a:extLst>
            </p:cNvPr>
            <p:cNvSpPr/>
            <p:nvPr/>
          </p:nvSpPr>
          <p:spPr>
            <a:xfrm>
              <a:off x="1100668" y="22240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D869DAAF-2B9A-6103-C452-C6C1EF27FEEF}"/>
                </a:ext>
              </a:extLst>
            </p:cNvPr>
            <p:cNvSpPr/>
            <p:nvPr/>
          </p:nvSpPr>
          <p:spPr>
            <a:xfrm>
              <a:off x="1100668" y="22240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7212D52-F7FF-D74B-8BD7-9260C5BEB11A}"/>
                </a:ext>
              </a:extLst>
            </p:cNvPr>
            <p:cNvSpPr txBox="1"/>
            <p:nvPr/>
          </p:nvSpPr>
          <p:spPr>
            <a:xfrm>
              <a:off x="1190668" y="2238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① ALD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증착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조건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최적화</a:t>
              </a:r>
              <a:endPara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0F92BC18-E963-B9B7-0676-B9B844D69AD8}"/>
                </a:ext>
              </a:extLst>
            </p:cNvPr>
            <p:cNvSpPr txBox="1"/>
            <p:nvPr/>
          </p:nvSpPr>
          <p:spPr>
            <a:xfrm>
              <a:off x="1190668" y="2389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(ZnF₂, AlF₃, LiF)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7436005D-A88D-BABF-8B59-64F9D41028B1}"/>
                </a:ext>
              </a:extLst>
            </p:cNvPr>
            <p:cNvSpPr/>
            <p:nvPr/>
          </p:nvSpPr>
          <p:spPr>
            <a:xfrm>
              <a:off x="1100668" y="25696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EC0893CC-1AAA-15DC-79C5-DF8E1D6B8BBA}"/>
                </a:ext>
              </a:extLst>
            </p:cNvPr>
            <p:cNvSpPr/>
            <p:nvPr/>
          </p:nvSpPr>
          <p:spPr>
            <a:xfrm>
              <a:off x="1100668" y="25696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528BA99-B718-87A9-C3B3-412A533A1C8B}"/>
                </a:ext>
              </a:extLst>
            </p:cNvPr>
            <p:cNvSpPr txBox="1"/>
            <p:nvPr/>
          </p:nvSpPr>
          <p:spPr>
            <a:xfrm>
              <a:off x="1190668" y="2584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② 박막 구조·화학 조성 분석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BAE8CE8-FE70-6CC9-99CD-34272DF216A1}"/>
                </a:ext>
              </a:extLst>
            </p:cNvPr>
            <p:cNvSpPr txBox="1"/>
            <p:nvPr/>
          </p:nvSpPr>
          <p:spPr>
            <a:xfrm>
              <a:off x="1190668" y="2735232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(XRD / XPS / TEM / ToF-SIMS)</a:t>
              </a: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D5892ACD-1478-6E73-BDCE-EBD1B57943ED}"/>
                </a:ext>
              </a:extLst>
            </p:cNvPr>
            <p:cNvSpPr/>
            <p:nvPr/>
          </p:nvSpPr>
          <p:spPr>
            <a:xfrm>
              <a:off x="1100668" y="29152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2497B53-7DAE-0B5D-494E-F17694FFDBB2}"/>
                </a:ext>
              </a:extLst>
            </p:cNvPr>
            <p:cNvSpPr/>
            <p:nvPr/>
          </p:nvSpPr>
          <p:spPr>
            <a:xfrm>
              <a:off x="1100668" y="29152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8782AC62-D03A-3A0C-5B56-64CAAC58611E}"/>
                </a:ext>
              </a:extLst>
            </p:cNvPr>
            <p:cNvSpPr txBox="1"/>
            <p:nvPr/>
          </p:nvSpPr>
          <p:spPr>
            <a:xfrm>
              <a:off x="1190668" y="29296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③ EIS · Li⁺ 이온전도도 평가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42294A1-B8C3-04FD-EE81-68618603F38F}"/>
                </a:ext>
              </a:extLst>
            </p:cNvPr>
            <p:cNvSpPr txBox="1"/>
            <p:nvPr/>
          </p:nvSpPr>
          <p:spPr>
            <a:xfrm>
              <a:off x="1190668" y="3080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(pinhole-free 조건 확립)</a:t>
              </a: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FF4C663-746F-C66E-F9BE-8005E1B5B7F5}"/>
                </a:ext>
              </a:extLst>
            </p:cNvPr>
            <p:cNvSpPr/>
            <p:nvPr/>
          </p:nvSpPr>
          <p:spPr>
            <a:xfrm>
              <a:off x="1100668" y="32608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5AC6882D-67FB-97CD-935A-A36F889C150F}"/>
                </a:ext>
              </a:extLst>
            </p:cNvPr>
            <p:cNvSpPr/>
            <p:nvPr/>
          </p:nvSpPr>
          <p:spPr>
            <a:xfrm>
              <a:off x="1100668" y="32608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DBE1854-04A5-A75E-9743-589ACED2CE48}"/>
                </a:ext>
              </a:extLst>
            </p:cNvPr>
            <p:cNvSpPr txBox="1"/>
            <p:nvPr/>
          </p:nvSpPr>
          <p:spPr>
            <a:xfrm>
              <a:off x="1190668" y="3275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④ Cryo-TEM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핵생성</a:t>
              </a:r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관찰</a:t>
              </a:r>
              <a:endPara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7392CA3-F382-65EA-41D4-2C2E8D88BFF2}"/>
                </a:ext>
              </a:extLst>
            </p:cNvPr>
            <p:cNvSpPr txBox="1"/>
            <p:nvPr/>
          </p:nvSpPr>
          <p:spPr>
            <a:xfrm>
              <a:off x="1190668" y="3426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핵생성 나노구조 실시간</a:t>
              </a:r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52AB0769-20C6-7CC6-6946-70F1070B3047}"/>
                </a:ext>
              </a:extLst>
            </p:cNvPr>
            <p:cNvSpPr/>
            <p:nvPr/>
          </p:nvSpPr>
          <p:spPr>
            <a:xfrm>
              <a:off x="1100668" y="36064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F858564-7A9A-9669-F637-FA7D34BEE146}"/>
                </a:ext>
              </a:extLst>
            </p:cNvPr>
            <p:cNvSpPr/>
            <p:nvPr/>
          </p:nvSpPr>
          <p:spPr>
            <a:xfrm>
              <a:off x="1100668" y="36064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51E4A4E-3893-D7BB-3582-B617501D11AF}"/>
                </a:ext>
              </a:extLst>
            </p:cNvPr>
            <p:cNvSpPr txBox="1"/>
            <p:nvPr/>
          </p:nvSpPr>
          <p:spPr>
            <a:xfrm>
              <a:off x="1190668" y="36208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⑤ Operando XRD / in-situ SEM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3349C5C8-1C53-5C4F-AF52-94D473787FDC}"/>
                </a:ext>
              </a:extLst>
            </p:cNvPr>
            <p:cNvSpPr txBox="1"/>
            <p:nvPr/>
          </p:nvSpPr>
          <p:spPr>
            <a:xfrm>
              <a:off x="1190668" y="37720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증착·용해 거동 모니터링</a:t>
              </a:r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BC4F2B4D-7E91-E183-7CDC-BD9CF16F5631}"/>
                </a:ext>
              </a:extLst>
            </p:cNvPr>
            <p:cNvSpPr/>
            <p:nvPr/>
          </p:nvSpPr>
          <p:spPr>
            <a:xfrm>
              <a:off x="1100668" y="3952032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0E07732D-345D-6499-2561-BB41E0C4AC8B}"/>
                </a:ext>
              </a:extLst>
            </p:cNvPr>
            <p:cNvSpPr/>
            <p:nvPr/>
          </p:nvSpPr>
          <p:spPr>
            <a:xfrm>
              <a:off x="1100668" y="3952032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BDB0FA3-EB15-523D-53E5-4AE02898D23A}"/>
                </a:ext>
              </a:extLst>
            </p:cNvPr>
            <p:cNvSpPr txBox="1"/>
            <p:nvPr/>
          </p:nvSpPr>
          <p:spPr>
            <a:xfrm>
              <a:off x="1190668" y="3966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⑥ DFT 이론 계산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D83242C7-0D63-6125-F10D-A718AE211FD2}"/>
                </a:ext>
              </a:extLst>
            </p:cNvPr>
            <p:cNvSpPr txBox="1"/>
            <p:nvPr/>
          </p:nvSpPr>
          <p:spPr>
            <a:xfrm>
              <a:off x="1190668" y="4117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계면 Li⁺ 확산 에너지 배리어</a:t>
              </a:r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407B01C5-CB85-94B5-1017-B5352C640543}"/>
                </a:ext>
              </a:extLst>
            </p:cNvPr>
            <p:cNvSpPr/>
            <p:nvPr/>
          </p:nvSpPr>
          <p:spPr>
            <a:xfrm>
              <a:off x="1100668" y="42976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1AB50607-CD6B-A897-5E89-079FD3910EAF}"/>
                </a:ext>
              </a:extLst>
            </p:cNvPr>
            <p:cNvSpPr/>
            <p:nvPr/>
          </p:nvSpPr>
          <p:spPr>
            <a:xfrm>
              <a:off x="1100668" y="42976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DE98098-44C3-7ED6-670B-E3A9ED9E53EF}"/>
                </a:ext>
              </a:extLst>
            </p:cNvPr>
            <p:cNvSpPr txBox="1"/>
            <p:nvPr/>
          </p:nvSpPr>
          <p:spPr>
            <a:xfrm>
              <a:off x="1190668" y="4312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⑦ Li||NCM 풀 셀 장기 사이클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E044C84-5BDF-396B-D8D3-C79510912556}"/>
                </a:ext>
              </a:extLst>
            </p:cNvPr>
            <p:cNvSpPr txBox="1"/>
            <p:nvPr/>
          </p:nvSpPr>
          <p:spPr>
            <a:xfrm>
              <a:off x="1190668" y="44632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&gt;300 사이클, CE &gt;99.5%</a:t>
              </a:r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48A970D1-E9C7-9A8A-60C9-B9BA449B2719}"/>
                </a:ext>
              </a:extLst>
            </p:cNvPr>
            <p:cNvSpPr/>
            <p:nvPr/>
          </p:nvSpPr>
          <p:spPr>
            <a:xfrm>
              <a:off x="1100668" y="46432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7073B1A-7FB7-0FE1-C51B-0D4072830E3A}"/>
                </a:ext>
              </a:extLst>
            </p:cNvPr>
            <p:cNvSpPr/>
            <p:nvPr/>
          </p:nvSpPr>
          <p:spPr>
            <a:xfrm>
              <a:off x="1100668" y="46432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D9130242-FEEC-B5D1-51C9-ED7D9CE0C08E}"/>
                </a:ext>
              </a:extLst>
            </p:cNvPr>
            <p:cNvSpPr txBox="1"/>
            <p:nvPr/>
          </p:nvSpPr>
          <p:spPr>
            <a:xfrm>
              <a:off x="1190668" y="46576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⑧ Post-mortem XPS/TEM 분석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4EFA48A3-8BC7-95C7-0AA6-8734285B4EBD}"/>
                </a:ext>
              </a:extLst>
            </p:cNvPr>
            <p:cNvSpPr txBox="1"/>
            <p:nvPr/>
          </p:nvSpPr>
          <p:spPr>
            <a:xfrm>
              <a:off x="1190668" y="4808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SEI 조성 변화·열화 메커니즘</a:t>
              </a: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3D1381DF-C27D-17E7-66E0-F358F9BE3CC8}"/>
                </a:ext>
              </a:extLst>
            </p:cNvPr>
            <p:cNvSpPr/>
            <p:nvPr/>
          </p:nvSpPr>
          <p:spPr>
            <a:xfrm>
              <a:off x="1100668" y="49888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B0CDBBB7-5600-2C91-616C-D8E7C87AD5C0}"/>
                </a:ext>
              </a:extLst>
            </p:cNvPr>
            <p:cNvSpPr/>
            <p:nvPr/>
          </p:nvSpPr>
          <p:spPr>
            <a:xfrm>
              <a:off x="1100668" y="49888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441351F-EB0B-9173-5845-A812D3819CB0}"/>
                </a:ext>
              </a:extLst>
            </p:cNvPr>
            <p:cNvSpPr txBox="1"/>
            <p:nvPr/>
          </p:nvSpPr>
          <p:spPr>
            <a:xfrm>
              <a:off x="1190668" y="5003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⑨ ALD 인공 SEI 설계 원칙 도출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F4D5BC69-1B0D-D297-492B-306646023BFE}"/>
                </a:ext>
              </a:extLst>
            </p:cNvPr>
            <p:cNvSpPr txBox="1"/>
            <p:nvPr/>
          </p:nvSpPr>
          <p:spPr>
            <a:xfrm>
              <a:off x="1190668" y="5154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ZnF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₂/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AlF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₃/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비교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D7A446D8-1C6F-715A-E753-345581674C62}"/>
                </a:ext>
              </a:extLst>
            </p:cNvPr>
            <p:cNvSpPr/>
            <p:nvPr/>
          </p:nvSpPr>
          <p:spPr>
            <a:xfrm>
              <a:off x="2954668" y="2011632"/>
              <a:ext cx="1739966" cy="237600"/>
            </a:xfrm>
            <a:prstGeom prst="rect">
              <a:avLst/>
            </a:prstGeom>
            <a:solidFill>
              <a:srgbClr val="C5CA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1D64A57-A3B2-4049-7F46-25143C6B6B25}"/>
                </a:ext>
              </a:extLst>
            </p:cNvPr>
            <p:cNvSpPr txBox="1"/>
            <p:nvPr/>
          </p:nvSpPr>
          <p:spPr>
            <a:xfrm>
              <a:off x="2954668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 dirty="0">
                  <a:solidFill>
                    <a:srgbClr val="1A237E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1년차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3D41351-4E2C-1DB6-4D6E-BCF83B650F55}"/>
                </a:ext>
              </a:extLst>
            </p:cNvPr>
            <p:cNvSpPr/>
            <p:nvPr/>
          </p:nvSpPr>
          <p:spPr>
            <a:xfrm>
              <a:off x="4694635" y="2011632"/>
              <a:ext cx="1739966" cy="237600"/>
            </a:xfrm>
            <a:prstGeom prst="rect">
              <a:avLst/>
            </a:prstGeom>
            <a:solidFill>
              <a:srgbClr val="BBDE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208BCA0-A120-ABB1-A9B1-9BE6CF092E07}"/>
                </a:ext>
              </a:extLst>
            </p:cNvPr>
            <p:cNvSpPr txBox="1"/>
            <p:nvPr/>
          </p:nvSpPr>
          <p:spPr>
            <a:xfrm>
              <a:off x="4694635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D47A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2년차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34B9737-C6BD-FFC0-128D-0532AD3BB48B}"/>
                </a:ext>
              </a:extLst>
            </p:cNvPr>
            <p:cNvSpPr/>
            <p:nvPr/>
          </p:nvSpPr>
          <p:spPr>
            <a:xfrm>
              <a:off x="6434601" y="2011632"/>
              <a:ext cx="1739966" cy="237600"/>
            </a:xfrm>
            <a:prstGeom prst="rect">
              <a:avLst/>
            </a:prstGeom>
            <a:solidFill>
              <a:srgbClr val="B3E5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42B6CE28-D26B-BC18-728F-5931334F53D2}"/>
                </a:ext>
              </a:extLst>
            </p:cNvPr>
            <p:cNvSpPr txBox="1"/>
            <p:nvPr/>
          </p:nvSpPr>
          <p:spPr>
            <a:xfrm>
              <a:off x="6434601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1579B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3년차</a:t>
              </a: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B2F04082-0C22-F309-B8CC-F1D3E30FF53E}"/>
                </a:ext>
              </a:extLst>
            </p:cNvPr>
            <p:cNvSpPr/>
            <p:nvPr/>
          </p:nvSpPr>
          <p:spPr>
            <a:xfrm>
              <a:off x="2954668" y="2249233"/>
              <a:ext cx="5219899" cy="162000"/>
            </a:xfrm>
            <a:prstGeom prst="rect">
              <a:avLst/>
            </a:prstGeom>
            <a:solidFill>
              <a:srgbClr val="EDE7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DCCCFF5-A8D7-C138-11E0-A31919CC9B0C}"/>
                </a:ext>
              </a:extLst>
            </p:cNvPr>
            <p:cNvSpPr txBox="1"/>
            <p:nvPr/>
          </p:nvSpPr>
          <p:spPr>
            <a:xfrm>
              <a:off x="295466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1CC3E173-E79C-8660-4AD9-9555540967B9}"/>
                </a:ext>
              </a:extLst>
            </p:cNvPr>
            <p:cNvSpPr txBox="1"/>
            <p:nvPr/>
          </p:nvSpPr>
          <p:spPr>
            <a:xfrm>
              <a:off x="3389660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A1778B3-AC96-0699-7B60-04C85CFE70C4}"/>
                </a:ext>
              </a:extLst>
            </p:cNvPr>
            <p:cNvSpPr txBox="1"/>
            <p:nvPr/>
          </p:nvSpPr>
          <p:spPr>
            <a:xfrm>
              <a:off x="382465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9A668B2D-336D-4E94-924F-87C2E876C759}"/>
                </a:ext>
              </a:extLst>
            </p:cNvPr>
            <p:cNvSpPr txBox="1"/>
            <p:nvPr/>
          </p:nvSpPr>
          <p:spPr>
            <a:xfrm>
              <a:off x="425964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69C5244-9EE4-D6FB-A891-5E45E58EE2C1}"/>
                </a:ext>
              </a:extLst>
            </p:cNvPr>
            <p:cNvSpPr txBox="1"/>
            <p:nvPr/>
          </p:nvSpPr>
          <p:spPr>
            <a:xfrm>
              <a:off x="469463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874C43DA-086D-5AA1-D3D7-1D91B87A5BAF}"/>
                </a:ext>
              </a:extLst>
            </p:cNvPr>
            <p:cNvSpPr txBox="1"/>
            <p:nvPr/>
          </p:nvSpPr>
          <p:spPr>
            <a:xfrm>
              <a:off x="5129626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B25F716-8539-9586-CFC2-BBCCFEF786BD}"/>
                </a:ext>
              </a:extLst>
            </p:cNvPr>
            <p:cNvSpPr txBox="1"/>
            <p:nvPr/>
          </p:nvSpPr>
          <p:spPr>
            <a:xfrm>
              <a:off x="556461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91CD4795-C956-9B9F-17FC-7B8DB5CE54EA}"/>
                </a:ext>
              </a:extLst>
            </p:cNvPr>
            <p:cNvSpPr txBox="1"/>
            <p:nvPr/>
          </p:nvSpPr>
          <p:spPr>
            <a:xfrm>
              <a:off x="5999609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051405B8-EF3A-7228-033E-A0A07E913F81}"/>
                </a:ext>
              </a:extLst>
            </p:cNvPr>
            <p:cNvSpPr txBox="1"/>
            <p:nvPr/>
          </p:nvSpPr>
          <p:spPr>
            <a:xfrm>
              <a:off x="643460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D4C6BF81-BB8F-D37D-E545-B0D327BD2497}"/>
                </a:ext>
              </a:extLst>
            </p:cNvPr>
            <p:cNvSpPr txBox="1"/>
            <p:nvPr/>
          </p:nvSpPr>
          <p:spPr>
            <a:xfrm>
              <a:off x="686959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DC6BDB5-F4B3-8B5A-7A17-D63D50A48236}"/>
                </a:ext>
              </a:extLst>
            </p:cNvPr>
            <p:cNvSpPr txBox="1"/>
            <p:nvPr/>
          </p:nvSpPr>
          <p:spPr>
            <a:xfrm>
              <a:off x="7304584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0CECFAD2-4167-4531-B923-331E449F76F7}"/>
                </a:ext>
              </a:extLst>
            </p:cNvPr>
            <p:cNvSpPr txBox="1"/>
            <p:nvPr/>
          </p:nvSpPr>
          <p:spPr>
            <a:xfrm>
              <a:off x="773957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cxnSp>
          <p:nvCxnSpPr>
            <p:cNvPr id="131" name="Connector 79">
              <a:extLst>
                <a:ext uri="{FF2B5EF4-FFF2-40B4-BE49-F238E27FC236}">
                  <a16:creationId xmlns:a16="http://schemas.microsoft.com/office/drawing/2014/main" id="{757763DB-D1B2-70C4-E6E8-A18C0F2E1E91}"/>
                </a:ext>
              </a:extLst>
            </p:cNvPr>
            <p:cNvCxnSpPr/>
            <p:nvPr/>
          </p:nvCxnSpPr>
          <p:spPr>
            <a:xfrm>
              <a:off x="2954668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80">
              <a:extLst>
                <a:ext uri="{FF2B5EF4-FFF2-40B4-BE49-F238E27FC236}">
                  <a16:creationId xmlns:a16="http://schemas.microsoft.com/office/drawing/2014/main" id="{098EC66F-1257-5271-906B-41B750BA6FC8}"/>
                </a:ext>
              </a:extLst>
            </p:cNvPr>
            <p:cNvCxnSpPr/>
            <p:nvPr/>
          </p:nvCxnSpPr>
          <p:spPr>
            <a:xfrm>
              <a:off x="3389660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81">
              <a:extLst>
                <a:ext uri="{FF2B5EF4-FFF2-40B4-BE49-F238E27FC236}">
                  <a16:creationId xmlns:a16="http://schemas.microsoft.com/office/drawing/2014/main" id="{2567E60E-DBF3-5D38-DE95-BC03496996F5}"/>
                </a:ext>
              </a:extLst>
            </p:cNvPr>
            <p:cNvCxnSpPr/>
            <p:nvPr/>
          </p:nvCxnSpPr>
          <p:spPr>
            <a:xfrm>
              <a:off x="3824651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82">
              <a:extLst>
                <a:ext uri="{FF2B5EF4-FFF2-40B4-BE49-F238E27FC236}">
                  <a16:creationId xmlns:a16="http://schemas.microsoft.com/office/drawing/2014/main" id="{86D17D0B-EA34-F7B7-E554-CDB8B0EA5A75}"/>
                </a:ext>
              </a:extLst>
            </p:cNvPr>
            <p:cNvCxnSpPr/>
            <p:nvPr/>
          </p:nvCxnSpPr>
          <p:spPr>
            <a:xfrm>
              <a:off x="425964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83">
              <a:extLst>
                <a:ext uri="{FF2B5EF4-FFF2-40B4-BE49-F238E27FC236}">
                  <a16:creationId xmlns:a16="http://schemas.microsoft.com/office/drawing/2014/main" id="{1F8EA9DF-1E6E-BF97-9619-4203766D95A1}"/>
                </a:ext>
              </a:extLst>
            </p:cNvPr>
            <p:cNvCxnSpPr/>
            <p:nvPr/>
          </p:nvCxnSpPr>
          <p:spPr>
            <a:xfrm>
              <a:off x="4694635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84">
              <a:extLst>
                <a:ext uri="{FF2B5EF4-FFF2-40B4-BE49-F238E27FC236}">
                  <a16:creationId xmlns:a16="http://schemas.microsoft.com/office/drawing/2014/main" id="{F19D1068-D027-548C-E3E4-DD4524FA18ED}"/>
                </a:ext>
              </a:extLst>
            </p:cNvPr>
            <p:cNvCxnSpPr/>
            <p:nvPr/>
          </p:nvCxnSpPr>
          <p:spPr>
            <a:xfrm>
              <a:off x="5129626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85">
              <a:extLst>
                <a:ext uri="{FF2B5EF4-FFF2-40B4-BE49-F238E27FC236}">
                  <a16:creationId xmlns:a16="http://schemas.microsoft.com/office/drawing/2014/main" id="{C87A9C0E-92F7-8C18-0148-A70BA2C71CDC}"/>
                </a:ext>
              </a:extLst>
            </p:cNvPr>
            <p:cNvCxnSpPr/>
            <p:nvPr/>
          </p:nvCxnSpPr>
          <p:spPr>
            <a:xfrm>
              <a:off x="5564618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nector 86">
              <a:extLst>
                <a:ext uri="{FF2B5EF4-FFF2-40B4-BE49-F238E27FC236}">
                  <a16:creationId xmlns:a16="http://schemas.microsoft.com/office/drawing/2014/main" id="{D56A04C9-0E75-31B4-2493-8C8D693B6AEB}"/>
                </a:ext>
              </a:extLst>
            </p:cNvPr>
            <p:cNvCxnSpPr/>
            <p:nvPr/>
          </p:nvCxnSpPr>
          <p:spPr>
            <a:xfrm>
              <a:off x="5999609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87">
              <a:extLst>
                <a:ext uri="{FF2B5EF4-FFF2-40B4-BE49-F238E27FC236}">
                  <a16:creationId xmlns:a16="http://schemas.microsoft.com/office/drawing/2014/main" id="{3F16021E-3C29-5C6A-44A2-BA1AFCCE01C8}"/>
                </a:ext>
              </a:extLst>
            </p:cNvPr>
            <p:cNvCxnSpPr/>
            <p:nvPr/>
          </p:nvCxnSpPr>
          <p:spPr>
            <a:xfrm>
              <a:off x="6434601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ctor 88">
              <a:extLst>
                <a:ext uri="{FF2B5EF4-FFF2-40B4-BE49-F238E27FC236}">
                  <a16:creationId xmlns:a16="http://schemas.microsoft.com/office/drawing/2014/main" id="{DF229B76-FB26-C79A-6BA5-7823BAFBAB39}"/>
                </a:ext>
              </a:extLst>
            </p:cNvPr>
            <p:cNvCxnSpPr/>
            <p:nvPr/>
          </p:nvCxnSpPr>
          <p:spPr>
            <a:xfrm>
              <a:off x="686959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 89">
              <a:extLst>
                <a:ext uri="{FF2B5EF4-FFF2-40B4-BE49-F238E27FC236}">
                  <a16:creationId xmlns:a16="http://schemas.microsoft.com/office/drawing/2014/main" id="{C12359A7-7732-4DD8-9F5F-D1270EECBAB5}"/>
                </a:ext>
              </a:extLst>
            </p:cNvPr>
            <p:cNvCxnSpPr/>
            <p:nvPr/>
          </p:nvCxnSpPr>
          <p:spPr>
            <a:xfrm>
              <a:off x="7304584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nector 90">
              <a:extLst>
                <a:ext uri="{FF2B5EF4-FFF2-40B4-BE49-F238E27FC236}">
                  <a16:creationId xmlns:a16="http://schemas.microsoft.com/office/drawing/2014/main" id="{452F4D21-F144-B312-26B2-D08DC8F141EA}"/>
                </a:ext>
              </a:extLst>
            </p:cNvPr>
            <p:cNvCxnSpPr/>
            <p:nvPr/>
          </p:nvCxnSpPr>
          <p:spPr>
            <a:xfrm>
              <a:off x="7739575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91">
              <a:extLst>
                <a:ext uri="{FF2B5EF4-FFF2-40B4-BE49-F238E27FC236}">
                  <a16:creationId xmlns:a16="http://schemas.microsoft.com/office/drawing/2014/main" id="{BFC24B34-DD0D-E422-5C9A-7C72D37328DB}"/>
                </a:ext>
              </a:extLst>
            </p:cNvPr>
            <p:cNvCxnSpPr/>
            <p:nvPr/>
          </p:nvCxnSpPr>
          <p:spPr>
            <a:xfrm>
              <a:off x="8174567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E32782F6-1339-CF72-6541-D661CD5EA757}"/>
                </a:ext>
              </a:extLst>
            </p:cNvPr>
            <p:cNvSpPr/>
            <p:nvPr/>
          </p:nvSpPr>
          <p:spPr>
            <a:xfrm>
              <a:off x="2954668" y="22240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C9C1B6CE-301E-E80B-534B-52CD4B0B1E9B}"/>
                </a:ext>
              </a:extLst>
            </p:cNvPr>
            <p:cNvSpPr/>
            <p:nvPr/>
          </p:nvSpPr>
          <p:spPr>
            <a:xfrm>
              <a:off x="2965030" y="2303233"/>
              <a:ext cx="1719242" cy="1872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30250A0C-C752-E8F1-CD8E-7333166D1EA0}"/>
                </a:ext>
              </a:extLst>
            </p:cNvPr>
            <p:cNvSpPr txBox="1"/>
            <p:nvPr/>
          </p:nvSpPr>
          <p:spPr>
            <a:xfrm>
              <a:off x="2911318" y="2295033"/>
              <a:ext cx="178935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전구체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최적화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및 ALD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파라미터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탐색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52F9318E-CA32-86BB-BB73-7BBAB04362D7}"/>
                </a:ext>
              </a:extLst>
            </p:cNvPr>
            <p:cNvSpPr/>
            <p:nvPr/>
          </p:nvSpPr>
          <p:spPr>
            <a:xfrm>
              <a:off x="2954668" y="25696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FA7D43D-C162-8535-267B-029240BB1A04}"/>
                </a:ext>
              </a:extLst>
            </p:cNvPr>
            <p:cNvSpPr/>
            <p:nvPr/>
          </p:nvSpPr>
          <p:spPr>
            <a:xfrm>
              <a:off x="3400022" y="2648832"/>
              <a:ext cx="2154233" cy="187200"/>
            </a:xfrm>
            <a:prstGeom prst="rect">
              <a:avLst/>
            </a:prstGeom>
            <a:solidFill>
              <a:srgbClr val="1976D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70FA59A-EEF0-BD7A-030B-077D1D7E0717}"/>
                </a:ext>
              </a:extLst>
            </p:cNvPr>
            <p:cNvSpPr txBox="1"/>
            <p:nvPr/>
          </p:nvSpPr>
          <p:spPr>
            <a:xfrm>
              <a:off x="3400022" y="26488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XRD / XPS / TEM-EDS / ToF-SIMS</a:t>
              </a: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471CE5D1-E068-5535-48A0-3DA2655D16FD}"/>
                </a:ext>
              </a:extLst>
            </p:cNvPr>
            <p:cNvSpPr/>
            <p:nvPr/>
          </p:nvSpPr>
          <p:spPr>
            <a:xfrm>
              <a:off x="2954668" y="29152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8FC7B023-3416-5CF9-AEAE-8EADC78A9299}"/>
                </a:ext>
              </a:extLst>
            </p:cNvPr>
            <p:cNvSpPr/>
            <p:nvPr/>
          </p:nvSpPr>
          <p:spPr>
            <a:xfrm>
              <a:off x="3617415" y="2994433"/>
              <a:ext cx="1066856" cy="1872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984DE01C-9BE0-9A0F-A2D1-CF2236F05B34}"/>
                </a:ext>
              </a:extLst>
            </p:cNvPr>
            <p:cNvSpPr txBox="1"/>
            <p:nvPr/>
          </p:nvSpPr>
          <p:spPr>
            <a:xfrm>
              <a:off x="3594184" y="2990453"/>
              <a:ext cx="114968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EIS · Li⁺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이온전도도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32193BCD-B4AB-9989-695D-E50EFD4CBB2A}"/>
                </a:ext>
              </a:extLst>
            </p:cNvPr>
            <p:cNvSpPr/>
            <p:nvPr/>
          </p:nvSpPr>
          <p:spPr>
            <a:xfrm>
              <a:off x="2954668" y="32608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57A632D6-D0EF-4098-FA43-FEBB216A22C1}"/>
                </a:ext>
              </a:extLst>
            </p:cNvPr>
            <p:cNvSpPr/>
            <p:nvPr/>
          </p:nvSpPr>
          <p:spPr>
            <a:xfrm>
              <a:off x="3835013" y="3340033"/>
              <a:ext cx="2589225" cy="1872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4E393352-50DB-6D06-2014-F92B0EF30C84}"/>
                </a:ext>
              </a:extLst>
            </p:cNvPr>
            <p:cNvSpPr txBox="1"/>
            <p:nvPr/>
          </p:nvSpPr>
          <p:spPr>
            <a:xfrm>
              <a:off x="3835013" y="33400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Cryo-TEM Li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핵생성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나노구조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관찰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F2F58E69-6B4A-3993-04B4-A6C495EB29D6}"/>
                </a:ext>
              </a:extLst>
            </p:cNvPr>
            <p:cNvSpPr/>
            <p:nvPr/>
          </p:nvSpPr>
          <p:spPr>
            <a:xfrm>
              <a:off x="2954668" y="36064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0EAD0D8-B0C0-EE0C-5516-71D7A7C7A372}"/>
                </a:ext>
              </a:extLst>
            </p:cNvPr>
            <p:cNvSpPr/>
            <p:nvPr/>
          </p:nvSpPr>
          <p:spPr>
            <a:xfrm>
              <a:off x="4270004" y="3685633"/>
              <a:ext cx="2154233" cy="187200"/>
            </a:xfrm>
            <a:prstGeom prst="rect">
              <a:avLst/>
            </a:prstGeom>
            <a:solidFill>
              <a:srgbClr val="388E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B228ABA5-2415-1F59-DC7D-2AFCADA28CAB}"/>
                </a:ext>
              </a:extLst>
            </p:cNvPr>
            <p:cNvSpPr txBox="1"/>
            <p:nvPr/>
          </p:nvSpPr>
          <p:spPr>
            <a:xfrm>
              <a:off x="4270004" y="3685633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Operando XRD / in-situ SEM 모니터링</a:t>
              </a: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02FDAAB6-F178-5C68-C544-7541EB7F2193}"/>
                </a:ext>
              </a:extLst>
            </p:cNvPr>
            <p:cNvSpPr/>
            <p:nvPr/>
          </p:nvSpPr>
          <p:spPr>
            <a:xfrm>
              <a:off x="2954668" y="3952032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5AF677B8-EE66-D3D6-8C5C-BA526A1CAF46}"/>
                </a:ext>
              </a:extLst>
            </p:cNvPr>
            <p:cNvSpPr/>
            <p:nvPr/>
          </p:nvSpPr>
          <p:spPr>
            <a:xfrm>
              <a:off x="4270004" y="4031232"/>
              <a:ext cx="2154233" cy="187200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BF6B294A-4754-6FD2-D8D4-14219D2CB8CA}"/>
                </a:ext>
              </a:extLst>
            </p:cNvPr>
            <p:cNvSpPr txBox="1"/>
            <p:nvPr/>
          </p:nvSpPr>
          <p:spPr>
            <a:xfrm>
              <a:off x="4270004" y="40312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DFT: 불화물/Li 계면 Li⁺ 확산 에너지</a:t>
              </a: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E710C44-8B28-8FA1-2F86-0C10883F5259}"/>
                </a:ext>
              </a:extLst>
            </p:cNvPr>
            <p:cNvSpPr/>
            <p:nvPr/>
          </p:nvSpPr>
          <p:spPr>
            <a:xfrm>
              <a:off x="2954668" y="42976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D4141BB-5CA0-0006-D16A-D8D6AA52ABE2}"/>
                </a:ext>
              </a:extLst>
            </p:cNvPr>
            <p:cNvSpPr/>
            <p:nvPr/>
          </p:nvSpPr>
          <p:spPr>
            <a:xfrm>
              <a:off x="5574980" y="4376833"/>
              <a:ext cx="2589225" cy="1872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9BAAF75E-BF49-818B-593E-21D9730509CB}"/>
                </a:ext>
              </a:extLst>
            </p:cNvPr>
            <p:cNvSpPr txBox="1"/>
            <p:nvPr/>
          </p:nvSpPr>
          <p:spPr>
            <a:xfrm>
              <a:off x="5574980" y="43768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Li||NCM Full Cell 장기 사이클링 (&gt;300 cycles)</a:t>
              </a: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D3EF0248-7C0F-9241-57EF-365C7FBE1762}"/>
                </a:ext>
              </a:extLst>
            </p:cNvPr>
            <p:cNvSpPr/>
            <p:nvPr/>
          </p:nvSpPr>
          <p:spPr>
            <a:xfrm>
              <a:off x="2954668" y="46432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B44ED841-E4E0-7E9B-DB37-B994FF483C18}"/>
                </a:ext>
              </a:extLst>
            </p:cNvPr>
            <p:cNvSpPr/>
            <p:nvPr/>
          </p:nvSpPr>
          <p:spPr>
            <a:xfrm>
              <a:off x="6444963" y="4722432"/>
              <a:ext cx="1719242" cy="187200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0F24B811-EAAF-AC1D-7CA2-4D914D2910C8}"/>
                </a:ext>
              </a:extLst>
            </p:cNvPr>
            <p:cNvSpPr txBox="1"/>
            <p:nvPr/>
          </p:nvSpPr>
          <p:spPr>
            <a:xfrm>
              <a:off x="6444963" y="4722432"/>
              <a:ext cx="171924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Post-mortem XPS / TEM 분석</a:t>
              </a: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9D3EE103-B7F5-0958-6459-229795E0FF8C}"/>
                </a:ext>
              </a:extLst>
            </p:cNvPr>
            <p:cNvSpPr/>
            <p:nvPr/>
          </p:nvSpPr>
          <p:spPr>
            <a:xfrm>
              <a:off x="2954668" y="49888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18CD2B0E-38E1-964A-022C-AC5875361863}"/>
                </a:ext>
              </a:extLst>
            </p:cNvPr>
            <p:cNvSpPr/>
            <p:nvPr/>
          </p:nvSpPr>
          <p:spPr>
            <a:xfrm>
              <a:off x="6741138" y="5068033"/>
              <a:ext cx="1423066" cy="187200"/>
            </a:xfrm>
            <a:prstGeom prst="rect">
              <a:avLst/>
            </a:prstGeom>
            <a:solidFill>
              <a:srgbClr val="BF36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6B0CF69-AEDC-ECD2-DE99-E06A9B1065ED}"/>
                </a:ext>
              </a:extLst>
            </p:cNvPr>
            <p:cNvSpPr txBox="1"/>
            <p:nvPr/>
          </p:nvSpPr>
          <p:spPr>
            <a:xfrm>
              <a:off x="6741138" y="5060083"/>
              <a:ext cx="149476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범용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ALD-SEI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설계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원칙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grpSp>
          <p:nvGrpSpPr>
            <p:cNvPr id="219" name="Group 218">
              <a:extLst>
                <a:ext uri="{FF2B5EF4-FFF2-40B4-BE49-F238E27FC236}">
                  <a16:creationId xmlns:a16="http://schemas.microsoft.com/office/drawing/2014/main" id="{339346E2-7AD3-8CF9-3CF0-729A941BF577}"/>
                </a:ext>
              </a:extLst>
            </p:cNvPr>
            <p:cNvGrpSpPr/>
            <p:nvPr/>
          </p:nvGrpSpPr>
          <p:grpSpPr>
            <a:xfrm>
              <a:off x="320684" y="2569632"/>
              <a:ext cx="7853881" cy="2764801"/>
              <a:chOff x="-1131005" y="1932432"/>
              <a:chExt cx="10152239" cy="2764801"/>
            </a:xfrm>
          </p:grpSpPr>
          <p:cxnSp>
            <p:nvCxnSpPr>
              <p:cNvPr id="151" name="Connector 99">
                <a:extLst>
                  <a:ext uri="{FF2B5EF4-FFF2-40B4-BE49-F238E27FC236}">
                    <a16:creationId xmlns:a16="http://schemas.microsoft.com/office/drawing/2014/main" id="{E2797AD0-54EA-9A46-3AD4-8C8A579226FD}"/>
                  </a:ext>
                </a:extLst>
              </p:cNvPr>
              <p:cNvCxnSpPr/>
              <p:nvPr/>
            </p:nvCxnSpPr>
            <p:spPr>
              <a:xfrm>
                <a:off x="-122766" y="19324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nector 107">
                <a:extLst>
                  <a:ext uri="{FF2B5EF4-FFF2-40B4-BE49-F238E27FC236}">
                    <a16:creationId xmlns:a16="http://schemas.microsoft.com/office/drawing/2014/main" id="{95C3023A-0A1A-401E-E2F4-985EB628C9E9}"/>
                  </a:ext>
                </a:extLst>
              </p:cNvPr>
              <p:cNvCxnSpPr/>
              <p:nvPr/>
            </p:nvCxnSpPr>
            <p:spPr>
              <a:xfrm>
                <a:off x="-122766" y="22780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Connector 115">
                <a:extLst>
                  <a:ext uri="{FF2B5EF4-FFF2-40B4-BE49-F238E27FC236}">
                    <a16:creationId xmlns:a16="http://schemas.microsoft.com/office/drawing/2014/main" id="{B8654474-C37A-6732-0206-CBDBE8E682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26236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Connector 123">
                <a:extLst>
                  <a:ext uri="{FF2B5EF4-FFF2-40B4-BE49-F238E27FC236}">
                    <a16:creationId xmlns:a16="http://schemas.microsoft.com/office/drawing/2014/main" id="{6207829D-65CA-4D20-5E4E-3C6BA78B2D8A}"/>
                  </a:ext>
                </a:extLst>
              </p:cNvPr>
              <p:cNvCxnSpPr/>
              <p:nvPr/>
            </p:nvCxnSpPr>
            <p:spPr>
              <a:xfrm>
                <a:off x="-122766" y="2969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Connector 131">
                <a:extLst>
                  <a:ext uri="{FF2B5EF4-FFF2-40B4-BE49-F238E27FC236}">
                    <a16:creationId xmlns:a16="http://schemas.microsoft.com/office/drawing/2014/main" id="{C36B9063-D760-6E9B-E56A-DB3AC64D43B0}"/>
                  </a:ext>
                </a:extLst>
              </p:cNvPr>
              <p:cNvCxnSpPr/>
              <p:nvPr/>
            </p:nvCxnSpPr>
            <p:spPr>
              <a:xfrm>
                <a:off x="-122766" y="33148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Connector 139">
                <a:extLst>
                  <a:ext uri="{FF2B5EF4-FFF2-40B4-BE49-F238E27FC236}">
                    <a16:creationId xmlns:a16="http://schemas.microsoft.com/office/drawing/2014/main" id="{0E1A01BF-BE0E-FE91-2A88-B7E3103AD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36604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Connector 147">
                <a:extLst>
                  <a:ext uri="{FF2B5EF4-FFF2-40B4-BE49-F238E27FC236}">
                    <a16:creationId xmlns:a16="http://schemas.microsoft.com/office/drawing/2014/main" id="{38541502-E9B2-6114-1ECE-2F2C7C9AB549}"/>
                  </a:ext>
                </a:extLst>
              </p:cNvPr>
              <p:cNvCxnSpPr/>
              <p:nvPr/>
            </p:nvCxnSpPr>
            <p:spPr>
              <a:xfrm>
                <a:off x="-122766" y="40060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Connector 155">
                <a:extLst>
                  <a:ext uri="{FF2B5EF4-FFF2-40B4-BE49-F238E27FC236}">
                    <a16:creationId xmlns:a16="http://schemas.microsoft.com/office/drawing/2014/main" id="{1289DC5B-9E46-9E3D-D707-B780DE9338F7}"/>
                  </a:ext>
                </a:extLst>
              </p:cNvPr>
              <p:cNvCxnSpPr/>
              <p:nvPr/>
            </p:nvCxnSpPr>
            <p:spPr>
              <a:xfrm>
                <a:off x="-122766" y="43516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Connector 163">
                <a:extLst>
                  <a:ext uri="{FF2B5EF4-FFF2-40B4-BE49-F238E27FC236}">
                    <a16:creationId xmlns:a16="http://schemas.microsoft.com/office/drawing/2014/main" id="{61AA2879-B0DA-6F41-9D58-DD91145F8316}"/>
                  </a:ext>
                </a:extLst>
              </p:cNvPr>
              <p:cNvCxnSpPr/>
              <p:nvPr/>
            </p:nvCxnSpPr>
            <p:spPr>
              <a:xfrm>
                <a:off x="-133366" y="4697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5A7FB96B-0DC2-589C-E311-5A05A63DB823}"/>
                </a:ext>
              </a:extLst>
            </p:cNvPr>
            <p:cNvSpPr/>
            <p:nvPr/>
          </p:nvSpPr>
          <p:spPr>
            <a:xfrm>
              <a:off x="320684" y="2229966"/>
              <a:ext cx="774960" cy="102240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1</a:t>
              </a: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1CF39448-0FAF-024A-EEDD-AC37C1FD6605}"/>
                </a:ext>
              </a:extLst>
            </p:cNvPr>
            <p:cNvSpPr/>
            <p:nvPr/>
          </p:nvSpPr>
          <p:spPr>
            <a:xfrm>
              <a:off x="320684" y="3264117"/>
              <a:ext cx="774960" cy="1022401"/>
            </a:xfrm>
            <a:prstGeom prst="rect">
              <a:avLst/>
            </a:prstGeom>
            <a:gradFill>
              <a:gsLst>
                <a:gs pos="0">
                  <a:srgbClr val="00B050"/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2</a:t>
              </a: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23F7E1E-9B73-328D-B4D5-EB7626D79884}"/>
                </a:ext>
              </a:extLst>
            </p:cNvPr>
            <p:cNvSpPr/>
            <p:nvPr/>
          </p:nvSpPr>
          <p:spPr>
            <a:xfrm>
              <a:off x="320684" y="4303515"/>
              <a:ext cx="774960" cy="1030918"/>
            </a:xfrm>
            <a:prstGeom prst="rect">
              <a:avLst/>
            </a:prstGeom>
            <a:gradFill>
              <a:gsLst>
                <a:gs pos="0">
                  <a:schemeClr val="accent6">
                    <a:lumMod val="75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3</a:t>
              </a:r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26327DF5-EAB5-9DEA-1FFD-78917F86B510}"/>
                </a:ext>
              </a:extLst>
            </p:cNvPr>
            <p:cNvSpPr/>
            <p:nvPr/>
          </p:nvSpPr>
          <p:spPr>
            <a:xfrm>
              <a:off x="320684" y="2011632"/>
              <a:ext cx="7864057" cy="33268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59C4DCE-44A5-5FDF-FFA1-77FEF75D866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668" y="2011632"/>
              <a:ext cx="0" cy="3333234"/>
            </a:xfrm>
            <a:prstGeom prst="line">
              <a:avLst/>
            </a:prstGeom>
            <a:ln w="6350">
              <a:solidFill>
                <a:srgbClr val="CDD3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107">
              <a:extLst>
                <a:ext uri="{FF2B5EF4-FFF2-40B4-BE49-F238E27FC236}">
                  <a16:creationId xmlns:a16="http://schemas.microsoft.com/office/drawing/2014/main" id="{2738BB68-372E-242F-F7F0-D1CD895D58B2}"/>
                </a:ext>
              </a:extLst>
            </p:cNvPr>
            <p:cNvCxnSpPr>
              <a:cxnSpLocks/>
            </p:cNvCxnSpPr>
            <p:nvPr/>
          </p:nvCxnSpPr>
          <p:spPr>
            <a:xfrm>
              <a:off x="320684" y="2224032"/>
              <a:ext cx="7864057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9EC8388-7ED0-559A-00F1-94BECB505212}"/>
                </a:ext>
              </a:extLst>
            </p:cNvPr>
            <p:cNvSpPr/>
            <p:nvPr/>
          </p:nvSpPr>
          <p:spPr>
            <a:xfrm>
              <a:off x="332984" y="2017882"/>
              <a:ext cx="779983" cy="20615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B029C5F-A4D6-43CE-BF7A-86B04E2FF5E5}"/>
                </a:ext>
              </a:extLst>
            </p:cNvPr>
            <p:cNvSpPr/>
            <p:nvPr/>
          </p:nvSpPr>
          <p:spPr>
            <a:xfrm>
              <a:off x="1100668" y="2017882"/>
              <a:ext cx="1853997" cy="20615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세부 연구 내용</a:t>
              </a:r>
              <a:endParaRPr 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</p:txBody>
        </p:sp>
        <p:cxnSp>
          <p:nvCxnSpPr>
            <p:cNvPr id="7" name="Connector 164">
              <a:extLst>
                <a:ext uri="{FF2B5EF4-FFF2-40B4-BE49-F238E27FC236}">
                  <a16:creationId xmlns:a16="http://schemas.microsoft.com/office/drawing/2014/main" id="{C3868DA2-7422-2351-30AE-B28ED7F34AD5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61" y="2017882"/>
              <a:ext cx="0" cy="3322801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64">
              <a:extLst>
                <a:ext uri="{FF2B5EF4-FFF2-40B4-BE49-F238E27FC236}">
                  <a16:creationId xmlns:a16="http://schemas.microsoft.com/office/drawing/2014/main" id="{28B9EAD6-21D6-89E9-F633-9AE885B4A7EB}"/>
                </a:ext>
              </a:extLst>
            </p:cNvPr>
            <p:cNvCxnSpPr>
              <a:cxnSpLocks/>
            </p:cNvCxnSpPr>
            <p:nvPr/>
          </p:nvCxnSpPr>
          <p:spPr>
            <a:xfrm>
              <a:off x="2954668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64">
              <a:extLst>
                <a:ext uri="{FF2B5EF4-FFF2-40B4-BE49-F238E27FC236}">
                  <a16:creationId xmlns:a16="http://schemas.microsoft.com/office/drawing/2014/main" id="{C70AFD3F-8C90-76E7-5243-19789B9A819A}"/>
                </a:ext>
              </a:extLst>
            </p:cNvPr>
            <p:cNvCxnSpPr>
              <a:cxnSpLocks/>
            </p:cNvCxnSpPr>
            <p:nvPr/>
          </p:nvCxnSpPr>
          <p:spPr>
            <a:xfrm>
              <a:off x="1101661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" name="Connector 115">
            <a:extLst>
              <a:ext uri="{FF2B5EF4-FFF2-40B4-BE49-F238E27FC236}">
                <a16:creationId xmlns:a16="http://schemas.microsoft.com/office/drawing/2014/main" id="{73BF8BD3-E4E0-6F99-3A69-62DB81DB6ECE}"/>
              </a:ext>
            </a:extLst>
          </p:cNvPr>
          <p:cNvCxnSpPr>
            <a:cxnSpLocks/>
          </p:cNvCxnSpPr>
          <p:nvPr/>
        </p:nvCxnSpPr>
        <p:spPr>
          <a:xfrm>
            <a:off x="320684" y="2224032"/>
            <a:ext cx="786618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745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1376</TotalTime>
  <Words>2123</Words>
  <Application>Microsoft Office PowerPoint</Application>
  <PresentationFormat>Custom</PresentationFormat>
  <Paragraphs>410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3" baseType="lpstr">
      <vt:lpstr>나눔스퀘어 Bold</vt:lpstr>
      <vt:lpstr>나눔스퀘어 네오 Bold</vt:lpstr>
      <vt:lpstr>맑은 고딕</vt:lpstr>
      <vt:lpstr>에스코어 드림 4 Regular</vt:lpstr>
      <vt:lpstr>에스코어 드림 6 Bold</vt:lpstr>
      <vt:lpstr>에스코어 드림 7 ExtraBold</vt:lpstr>
      <vt:lpstr>에스코어 드림 9 Black</vt:lpstr>
      <vt:lpstr>프리젠테이션 7 Bold</vt:lpstr>
      <vt:lpstr>프리젠테이션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Seung-Mo Lee</cp:lastModifiedBy>
  <cp:revision>10</cp:revision>
  <dcterms:created xsi:type="dcterms:W3CDTF">2013-01-27T09:14:16Z</dcterms:created>
  <dcterms:modified xsi:type="dcterms:W3CDTF">2026-04-29T09:11:00Z</dcterms:modified>
  <cp:category/>
</cp:coreProperties>
</file>