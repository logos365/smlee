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58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000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1600"/>
            <a:ext cx="9144000" cy="31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[그림 1]  연구 개념도 — ALD 불화물 인공 SEI 전략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378000"/>
            <a:ext cx="2772000" cy="514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14000" y="378000"/>
            <a:ext cx="2772000" cy="514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38000" y="378000"/>
            <a:ext cx="2916000" cy="514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00" y="378000"/>
            <a:ext cx="2772000" cy="270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14000" y="378000"/>
            <a:ext cx="2772000" cy="270000"/>
          </a:xfrm>
          <a:prstGeom prst="rect">
            <a:avLst/>
          </a:prstGeom>
          <a:solidFill>
            <a:srgbClr val="303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38000" y="378000"/>
            <a:ext cx="2916000" cy="27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00" y="399600"/>
            <a:ext cx="2772000" cy="22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(좌)  문제 : 불균일 Li 핵생성 및 덴드라이트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14000" y="399600"/>
            <a:ext cx="2772000" cy="22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(중)  ALD ZnF₂ 증착 공정 사이클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38000" y="399600"/>
            <a:ext cx="2916000" cy="22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(우)  해결 : 균일 Li 핵생성 및 평탄한 증착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880000" y="2334240"/>
            <a:ext cx="216000" cy="0"/>
          </a:xfrm>
          <a:prstGeom prst="line">
            <a:avLst/>
          </a:prstGeom>
          <a:ln w="38100">
            <a:solidFill>
              <a:srgbClr val="303F9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862000" y="2118240"/>
            <a:ext cx="251999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303F9F"/>
                </a:solidFill>
                <a:latin typeface="맑은 고딕"/>
              </a:rPr>
              <a:t>ALD
코팅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04000" y="2334240"/>
            <a:ext cx="216000" cy="0"/>
          </a:xfrm>
          <a:prstGeom prst="line">
            <a:avLst/>
          </a:prstGeom>
          <a:ln w="38100">
            <a:solidFill>
              <a:srgbClr val="2E7D32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886000" y="2118240"/>
            <a:ext cx="251999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2E7D32"/>
                </a:solidFill>
                <a:latin typeface="맑은 고딕"/>
              </a:rPr>
              <a:t>→ 해결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8000" y="666000"/>
            <a:ext cx="2736000" cy="2142000"/>
          </a:xfrm>
          <a:prstGeom prst="rect">
            <a:avLst/>
          </a:prstGeom>
          <a:solidFill>
            <a:srgbClr val="E1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000" y="694800"/>
            <a:ext cx="273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1579B"/>
                </a:solidFill>
                <a:latin typeface="맑은 고딕"/>
              </a:rPr>
              <a:t>전해질 (Electrolyte)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8000" y="2790000"/>
            <a:ext cx="2736000" cy="306000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000" y="2861999"/>
            <a:ext cx="273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Cu 집전체</a:t>
            </a:r>
          </a:p>
        </p:txBody>
      </p:sp>
      <p:sp>
        <p:nvSpPr>
          <p:cNvPr id="21" name="Isosceles Triangle 20"/>
          <p:cNvSpPr/>
          <p:nvPr/>
        </p:nvSpPr>
        <p:spPr>
          <a:xfrm>
            <a:off x="156599" y="1494000"/>
            <a:ext cx="118800" cy="1296000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>
            <a:off x="324000" y="1962000"/>
            <a:ext cx="108000" cy="827999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sosceles Triangle 22"/>
          <p:cNvSpPr/>
          <p:nvPr/>
        </p:nvSpPr>
        <p:spPr>
          <a:xfrm>
            <a:off x="464400" y="1205999"/>
            <a:ext cx="151200" cy="1584000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>
            <a:off x="673200" y="2142000"/>
            <a:ext cx="93600" cy="648000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>
            <a:off x="826200" y="1710000"/>
            <a:ext cx="111600" cy="1080000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sosceles Triangle 25"/>
          <p:cNvSpPr/>
          <p:nvPr/>
        </p:nvSpPr>
        <p:spPr>
          <a:xfrm>
            <a:off x="981000" y="1062000"/>
            <a:ext cx="162000" cy="1728000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sosceles Triangle 26"/>
          <p:cNvSpPr/>
          <p:nvPr/>
        </p:nvSpPr>
        <p:spPr>
          <a:xfrm>
            <a:off x="1191600" y="2034000"/>
            <a:ext cx="100800" cy="756000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sosceles Triangle 27"/>
          <p:cNvSpPr/>
          <p:nvPr/>
        </p:nvSpPr>
        <p:spPr>
          <a:xfrm>
            <a:off x="1357200" y="1458000"/>
            <a:ext cx="129600" cy="1332000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>
            <a:off x="1558800" y="2214000"/>
            <a:ext cx="86400" cy="576000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sosceles Triangle 29"/>
          <p:cNvSpPr/>
          <p:nvPr/>
        </p:nvSpPr>
        <p:spPr>
          <a:xfrm>
            <a:off x="1710000" y="1314000"/>
            <a:ext cx="144000" cy="1475999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sosceles Triangle 30"/>
          <p:cNvSpPr/>
          <p:nvPr/>
        </p:nvSpPr>
        <p:spPr>
          <a:xfrm>
            <a:off x="1904400" y="1818000"/>
            <a:ext cx="115200" cy="972000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>
            <a:off x="2080800" y="1602000"/>
            <a:ext cx="122400" cy="1188000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>
            <a:off x="2244600" y="1170000"/>
            <a:ext cx="154800" cy="1620000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>
            <a:off x="2453400" y="2070000"/>
            <a:ext cx="97200" cy="720000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25999" y="2725200"/>
            <a:ext cx="180000" cy="72000"/>
          </a:xfrm>
          <a:prstGeom prst="roundRect">
            <a:avLst/>
          </a:prstGeom>
          <a:solidFill>
            <a:srgbClr val="FF5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60000" y="2725200"/>
            <a:ext cx="198000" cy="72000"/>
          </a:xfrm>
          <a:prstGeom prst="roundRect">
            <a:avLst/>
          </a:prstGeom>
          <a:solidFill>
            <a:srgbClr val="FF5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30000" y="2725200"/>
            <a:ext cx="172800" cy="72000"/>
          </a:xfrm>
          <a:prstGeom prst="roundRect">
            <a:avLst/>
          </a:prstGeom>
          <a:solidFill>
            <a:srgbClr val="FF5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00000" y="2725200"/>
            <a:ext cx="187200" cy="72000"/>
          </a:xfrm>
          <a:prstGeom prst="roundRect">
            <a:avLst/>
          </a:prstGeom>
          <a:solidFill>
            <a:srgbClr val="FF5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188000" y="2725200"/>
            <a:ext cx="180000" cy="72000"/>
          </a:xfrm>
          <a:prstGeom prst="roundRect">
            <a:avLst/>
          </a:prstGeom>
          <a:solidFill>
            <a:srgbClr val="FF5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458000" y="2725200"/>
            <a:ext cx="198000" cy="72000"/>
          </a:xfrm>
          <a:prstGeom prst="roundRect">
            <a:avLst/>
          </a:prstGeom>
          <a:solidFill>
            <a:srgbClr val="FF5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728000" y="2725200"/>
            <a:ext cx="172800" cy="72000"/>
          </a:xfrm>
          <a:prstGeom prst="roundRect">
            <a:avLst/>
          </a:prstGeom>
          <a:solidFill>
            <a:srgbClr val="FF5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998000" y="2725200"/>
            <a:ext cx="187200" cy="72000"/>
          </a:xfrm>
          <a:prstGeom prst="roundRect">
            <a:avLst/>
          </a:prstGeom>
          <a:solidFill>
            <a:srgbClr val="FF5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2268000" y="2725200"/>
            <a:ext cx="180000" cy="72000"/>
          </a:xfrm>
          <a:prstGeom prst="roundRect">
            <a:avLst/>
          </a:prstGeom>
          <a:solidFill>
            <a:srgbClr val="FF5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520000" y="2725200"/>
            <a:ext cx="151200" cy="72000"/>
          </a:xfrm>
          <a:prstGeom prst="roundRect">
            <a:avLst/>
          </a:prstGeom>
          <a:solidFill>
            <a:srgbClr val="FF5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78000" y="864000"/>
            <a:ext cx="13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62828"/>
                </a:solidFill>
                <a:latin typeface="맑은 고딕"/>
              </a:rPr>
              <a:t>Li 덴드라이트 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58000" y="2527200"/>
            <a:ext cx="115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F360C"/>
                </a:solidFill>
                <a:latin typeface="맑은 고딕"/>
              </a:rPr>
              <a:t>불균일·파단 SEI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8000" y="3150000"/>
            <a:ext cx="2736000" cy="846000"/>
          </a:xfrm>
          <a:prstGeom prst="rect">
            <a:avLst/>
          </a:prstGeom>
          <a:solidFill>
            <a:srgbClr val="FFEBEE"/>
          </a:solidFill>
          <a:ln w="63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44000" y="3186000"/>
            <a:ext cx="2646000" cy="804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850">
                <a:solidFill>
                  <a:srgbClr val="B71C1C"/>
                </a:solidFill>
                <a:latin typeface="맑은 고딕"/>
              </a:rPr>
              <a:t>• Cu 집전체 위 ALD 코팅 없이 Li 전착 시</a:t>
            </a:r>
          </a:p>
          <a:p>
            <a:pPr algn="l">
              <a:lnSpc>
                <a:spcPts val="1300"/>
              </a:lnSpc>
            </a:pPr>
            <a:r>
              <a:rPr sz="850">
                <a:solidFill>
                  <a:srgbClr val="B71C1C"/>
                </a:solidFill>
                <a:latin typeface="맑은 고딕"/>
              </a:rPr>
              <a:t>• 핵생성 과전압 불균일 → 덴드라이트 성장</a:t>
            </a:r>
          </a:p>
          <a:p>
            <a:pPr algn="l">
              <a:lnSpc>
                <a:spcPts val="1300"/>
              </a:lnSpc>
            </a:pPr>
            <a:r>
              <a:rPr sz="850">
                <a:solidFill>
                  <a:srgbClr val="B71C1C"/>
                </a:solidFill>
                <a:latin typeface="맑은 고딕"/>
              </a:rPr>
              <a:t>• 두껍고 불균일한 SEI 형성 반복</a:t>
            </a:r>
          </a:p>
          <a:p>
            <a:pPr algn="l">
              <a:lnSpc>
                <a:spcPts val="1300"/>
              </a:lnSpc>
            </a:pPr>
            <a:r>
              <a:rPr sz="850">
                <a:solidFill>
                  <a:srgbClr val="B71C1C"/>
                </a:solidFill>
                <a:latin typeface="맑은 고딕"/>
              </a:rPr>
              <a:t>• 쿨롱 효율 저하 및 내부 단락(short) 위험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8000" y="4050000"/>
            <a:ext cx="2736000" cy="1432800"/>
          </a:xfrm>
          <a:prstGeom prst="rect">
            <a:avLst/>
          </a:prstGeom>
          <a:solidFill>
            <a:srgbClr val="EEEEEE"/>
          </a:solidFill>
          <a:ln w="9525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108000" y="4050000"/>
            <a:ext cx="2736000" cy="1432800"/>
          </a:xfrm>
          <a:prstGeom prst="line">
            <a:avLst/>
          </a:prstGeom>
          <a:ln w="635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108000" y="4050000"/>
            <a:ext cx="2736000" cy="1432800"/>
          </a:xfrm>
          <a:prstGeom prst="line">
            <a:avLst/>
          </a:prstGeom>
          <a:ln w="635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08000" y="4640400"/>
            <a:ext cx="273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57575"/>
                </a:solidFill>
                <a:latin typeface="맑은 고딕"/>
              </a:rPr>
              <a:t>SEM 이미지 공간
(Li 덴드라이트 / 불균일 증착)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132000" y="691200"/>
            <a:ext cx="2736000" cy="2015999"/>
          </a:xfrm>
          <a:prstGeom prst="rect">
            <a:avLst/>
          </a:prstGeom>
          <a:solidFill>
            <a:srgbClr val="F3E5F5"/>
          </a:solidFill>
          <a:ln w="63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132000" y="716400"/>
            <a:ext cx="273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6A1B9A"/>
                </a:solidFill>
                <a:latin typeface="맑은 고딕"/>
              </a:rPr>
              <a:t>ALD 증착 사이클 (1 cycle)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360000" y="1243200"/>
            <a:ext cx="1026000" cy="378000"/>
          </a:xfrm>
          <a:prstGeom prst="roundRect">
            <a:avLst/>
          </a:prstGeom>
          <a:solidFill>
            <a:srgbClr val="1976D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360000" y="1279200"/>
            <a:ext cx="102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① 전구체 노출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60000" y="1452000"/>
            <a:ext cx="102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맑은 고딕"/>
              </a:rPr>
              <a:t>(DEZ 펄스)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614000" y="1243200"/>
            <a:ext cx="1026000" cy="378000"/>
          </a:xfrm>
          <a:prstGeom prst="roundRect">
            <a:avLst/>
          </a:prstGeom>
          <a:solidFill>
            <a:srgbClr val="F9A82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14000" y="1279200"/>
            <a:ext cx="102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② 퍼지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14000" y="1452000"/>
            <a:ext cx="102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맑은 고딕"/>
              </a:rPr>
              <a:t>(N₂ 가스)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614000" y="1975200"/>
            <a:ext cx="1026000" cy="378000"/>
          </a:xfrm>
          <a:prstGeom prst="roundRect">
            <a:avLst/>
          </a:prstGeom>
          <a:solidFill>
            <a:srgbClr val="43A04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614000" y="2011199"/>
            <a:ext cx="102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③ 반응물 노출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14000" y="2184000"/>
            <a:ext cx="102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맑은 고딕"/>
              </a:rPr>
              <a:t>(HF·py 펄스)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360000" y="1975200"/>
            <a:ext cx="1026000" cy="378000"/>
          </a:xfrm>
          <a:prstGeom prst="roundRect">
            <a:avLst/>
          </a:prstGeom>
          <a:solidFill>
            <a:srgbClr val="EF535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360000" y="2011199"/>
            <a:ext cx="102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④ 퍼지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60000" y="2184000"/>
            <a:ext cx="102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맑은 고딕"/>
              </a:rPr>
              <a:t>(N₂ 가스)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4386000" y="1432200"/>
            <a:ext cx="228000" cy="0"/>
          </a:xfrm>
          <a:prstGeom prst="line">
            <a:avLst/>
          </a:prstGeom>
          <a:ln w="25400">
            <a:solidFill>
              <a:srgbClr val="37474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5127000" y="1621199"/>
            <a:ext cx="0" cy="354001"/>
          </a:xfrm>
          <a:prstGeom prst="line">
            <a:avLst/>
          </a:prstGeom>
          <a:ln w="25400">
            <a:solidFill>
              <a:srgbClr val="37474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>
            <a:off x="4386000" y="2164200"/>
            <a:ext cx="228000" cy="0"/>
          </a:xfrm>
          <a:prstGeom prst="line">
            <a:avLst/>
          </a:prstGeom>
          <a:ln w="25400">
            <a:solidFill>
              <a:srgbClr val="37474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3873000" y="1621199"/>
            <a:ext cx="0" cy="354001"/>
          </a:xfrm>
          <a:prstGeom prst="line">
            <a:avLst/>
          </a:prstGeom>
          <a:ln w="25400">
            <a:solidFill>
              <a:srgbClr val="37474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4104000" y="1690199"/>
            <a:ext cx="792000" cy="21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104000" y="1690199"/>
            <a:ext cx="7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6A1B9A"/>
                </a:solidFill>
                <a:latin typeface="맑은 고딕"/>
              </a:rPr>
              <a:t>ALD 1 사이클 반복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132000" y="2761200"/>
            <a:ext cx="2736000" cy="666000"/>
          </a:xfrm>
          <a:prstGeom prst="rect">
            <a:avLst/>
          </a:prstGeom>
          <a:solidFill>
            <a:srgbClr val="E8EAF6"/>
          </a:solidFill>
          <a:ln w="6350">
            <a:solidFill>
              <a:srgbClr val="7B8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132000" y="2782800"/>
            <a:ext cx="273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03F9F"/>
                </a:solidFill>
                <a:latin typeface="맑은 고딕"/>
              </a:rPr>
              <a:t>박막 형성 단면 모식도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222000" y="3211200"/>
            <a:ext cx="2556000" cy="151200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222000" y="3232800"/>
            <a:ext cx="255600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Cu 기판 / Li 금속 음극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222000" y="3110400"/>
            <a:ext cx="2556000" cy="100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222000" y="3117600"/>
            <a:ext cx="25560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ZnF₂ ALD 박막  (두께: 5~100 nm)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222000" y="2973600"/>
            <a:ext cx="2556000" cy="11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3949AB"/>
                </a:solidFill>
                <a:latin typeface="맑은 고딕"/>
              </a:rPr>
              <a:t>← n 사이클 반복으로 두께 제어 →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132000" y="3463199"/>
            <a:ext cx="2736000" cy="846000"/>
          </a:xfrm>
          <a:prstGeom prst="rect">
            <a:avLst/>
          </a:prstGeom>
          <a:solidFill>
            <a:srgbClr val="EEEEFF"/>
          </a:solidFill>
          <a:ln w="635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175200" y="3499199"/>
            <a:ext cx="2664000" cy="804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850">
                <a:solidFill>
                  <a:srgbClr val="1A237E"/>
                </a:solidFill>
                <a:latin typeface="맑은 고딕"/>
              </a:rPr>
              <a:t>• ZnF₂ ALD: DEZ + HF·py 전구체 조합</a:t>
            </a:r>
          </a:p>
          <a:p>
            <a:pPr algn="l">
              <a:lnSpc>
                <a:spcPts val="1300"/>
              </a:lnSpc>
            </a:pPr>
            <a:r>
              <a:rPr sz="850">
                <a:solidFill>
                  <a:srgbClr val="1A237E"/>
                </a:solidFill>
                <a:latin typeface="맑은 고딕"/>
              </a:rPr>
              <a:t>• 자기제한적(self-limiting) 표면 반응</a:t>
            </a:r>
          </a:p>
          <a:p>
            <a:pPr algn="l">
              <a:lnSpc>
                <a:spcPts val="1300"/>
              </a:lnSpc>
            </a:pPr>
            <a:r>
              <a:rPr sz="850">
                <a:solidFill>
                  <a:srgbClr val="1A237E"/>
                </a:solidFill>
                <a:latin typeface="맑은 고딕"/>
              </a:rPr>
              <a:t>• 기판 온도 50~200°C, Å 수준 두께 제어</a:t>
            </a:r>
          </a:p>
          <a:p>
            <a:pPr algn="l">
              <a:lnSpc>
                <a:spcPts val="1300"/>
              </a:lnSpc>
            </a:pPr>
            <a:r>
              <a:rPr sz="850">
                <a:solidFill>
                  <a:srgbClr val="1A237E"/>
                </a:solidFill>
                <a:latin typeface="맑은 고딕"/>
              </a:rPr>
              <a:t>• 결과: 균일·공형(conformal) 불화물 박막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132000" y="4363200"/>
            <a:ext cx="2736000" cy="1119600"/>
          </a:xfrm>
          <a:prstGeom prst="rect">
            <a:avLst/>
          </a:prstGeom>
          <a:solidFill>
            <a:srgbClr val="EEEEEE"/>
          </a:solidFill>
          <a:ln w="9525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>
            <a:off x="3132000" y="4363200"/>
            <a:ext cx="2736000" cy="1119600"/>
          </a:xfrm>
          <a:prstGeom prst="line">
            <a:avLst/>
          </a:prstGeom>
          <a:ln w="635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>
            <a:off x="3132000" y="4363200"/>
            <a:ext cx="2736000" cy="1119600"/>
          </a:xfrm>
          <a:prstGeom prst="line">
            <a:avLst/>
          </a:prstGeom>
          <a:ln w="635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3132000" y="4797000"/>
            <a:ext cx="273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57575"/>
                </a:solidFill>
                <a:latin typeface="맑은 고딕"/>
              </a:rPr>
              <a:t>TEM / SAED 이미지 공간
(ALD ZnF₂ 박막 단면)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56000" y="666000"/>
            <a:ext cx="2880000" cy="2142000"/>
          </a:xfrm>
          <a:prstGeom prst="rect">
            <a:avLst/>
          </a:prstGeom>
          <a:solidFill>
            <a:srgbClr val="E1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92000" y="694800"/>
            <a:ext cx="280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1579B"/>
                </a:solidFill>
                <a:latin typeface="맑은 고딕"/>
              </a:rPr>
              <a:t>전해질 (Electrolyte)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156000" y="2790000"/>
            <a:ext cx="2880000" cy="306000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156000" y="2861999"/>
            <a:ext cx="288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Cu 집전체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56000" y="2689200"/>
            <a:ext cx="2880000" cy="100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56000" y="2696399"/>
            <a:ext cx="28800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ALD 불화물 인공 SEI  (ZnF₂ / AlF₃ / LiF)</a:t>
            </a:r>
          </a:p>
        </p:txBody>
      </p:sp>
      <p:sp>
        <p:nvSpPr>
          <p:cNvPr id="92" name="Oval 91"/>
          <p:cNvSpPr/>
          <p:nvPr/>
        </p:nvSpPr>
        <p:spPr>
          <a:xfrm>
            <a:off x="6246000" y="2574000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447600" y="2574000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6649200" y="2574000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6850800" y="2574000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7052400" y="2574000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7254000" y="2574000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7455600" y="2574000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7657200" y="2574000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7858800" y="2574000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8060400" y="2574000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8262000" y="2574000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8463600" y="2574000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8665200" y="2574000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8866800" y="2574000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156000" y="2106000"/>
            <a:ext cx="2880000" cy="468000"/>
          </a:xfrm>
          <a:prstGeom prst="rect">
            <a:avLst/>
          </a:prstGeom>
          <a:solidFill>
            <a:srgbClr val="909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56000" y="2257200"/>
            <a:ext cx="288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균일하고 평탄한 Li 증착층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578000" y="2429999"/>
            <a:ext cx="136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E7D32"/>
                </a:solidFill>
                <a:latin typeface="맑은 고딕"/>
              </a:rPr>
              <a:t>✓ 균일 Li 핵생성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578000" y="2538000"/>
            <a:ext cx="1368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695C"/>
                </a:solidFill>
                <a:latin typeface="맑은 고딕"/>
              </a:rPr>
              <a:t>인공 SEI (ALD 불화물)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156000" y="3150000"/>
            <a:ext cx="2880000" cy="846000"/>
          </a:xfrm>
          <a:prstGeom prst="rect">
            <a:avLst/>
          </a:prstGeom>
          <a:solidFill>
            <a:srgbClr val="E8F5E9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192000" y="3186000"/>
            <a:ext cx="2790000" cy="804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850">
                <a:solidFill>
                  <a:srgbClr val="1B5E20"/>
                </a:solidFill>
                <a:latin typeface="맑은 고딕"/>
              </a:rPr>
              <a:t>• ALD 불화물 인공 SEI 형성 후 Li 전착</a:t>
            </a:r>
          </a:p>
          <a:p>
            <a:pPr algn="l">
              <a:lnSpc>
                <a:spcPts val="1300"/>
              </a:lnSpc>
            </a:pPr>
            <a:r>
              <a:rPr sz="850">
                <a:solidFill>
                  <a:srgbClr val="1B5E20"/>
                </a:solidFill>
                <a:latin typeface="맑은 고딕"/>
              </a:rPr>
              <a:t>• 균일 핵생성 → 조밀·평탄한 Li 증착</a:t>
            </a:r>
          </a:p>
          <a:p>
            <a:pPr algn="l">
              <a:lnSpc>
                <a:spcPts val="1300"/>
              </a:lnSpc>
            </a:pPr>
            <a:r>
              <a:rPr sz="850">
                <a:solidFill>
                  <a:srgbClr val="1B5E20"/>
                </a:solidFill>
                <a:latin typeface="맑은 고딕"/>
              </a:rPr>
              <a:t>• 덴드라이트 억제, SEI 두께·조성 정밀 제어</a:t>
            </a:r>
          </a:p>
          <a:p>
            <a:pPr algn="l">
              <a:lnSpc>
                <a:spcPts val="1300"/>
              </a:lnSpc>
            </a:pPr>
            <a:r>
              <a:rPr sz="850">
                <a:solidFill>
                  <a:srgbClr val="1B5E20"/>
                </a:solidFill>
                <a:latin typeface="맑은 고딕"/>
              </a:rPr>
              <a:t>• 목표: CE &gt;99.5%, 용량유지율 &gt;80% (300 cy.)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56000" y="4050000"/>
            <a:ext cx="2880000" cy="1432800"/>
          </a:xfrm>
          <a:prstGeom prst="rect">
            <a:avLst/>
          </a:prstGeom>
          <a:solidFill>
            <a:srgbClr val="EEEEEE"/>
          </a:solidFill>
          <a:ln w="9525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" name="Connector 112"/>
          <p:cNvCxnSpPr/>
          <p:nvPr/>
        </p:nvCxnSpPr>
        <p:spPr>
          <a:xfrm>
            <a:off x="6156000" y="4050000"/>
            <a:ext cx="2880000" cy="1432800"/>
          </a:xfrm>
          <a:prstGeom prst="line">
            <a:avLst/>
          </a:prstGeom>
          <a:ln w="635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H="1">
            <a:off x="6156000" y="4050000"/>
            <a:ext cx="2880000" cy="1432800"/>
          </a:xfrm>
          <a:prstGeom prst="line">
            <a:avLst/>
          </a:prstGeom>
          <a:ln w="635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6156000" y="46404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57575"/>
                </a:solidFill>
                <a:latin typeface="맑은 고딕"/>
              </a:rPr>
              <a:t>SEM 이미지 공간
(균일 Li 증착 / 평탄 표면)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0" y="5551200"/>
            <a:ext cx="9144000" cy="2880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