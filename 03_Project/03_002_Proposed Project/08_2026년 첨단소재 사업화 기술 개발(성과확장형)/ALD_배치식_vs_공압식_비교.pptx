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2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9994392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914400"/>
            <a:ext cx="4992624" cy="457200"/>
          </a:xfrm>
          <a:prstGeom prst="rect">
            <a:avLst/>
          </a:prstGeom>
          <a:solidFill>
            <a:srgbClr val="1F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9048" y="914400"/>
            <a:ext cx="4443984" cy="457200"/>
          </a:xfrm>
          <a:prstGeom prst="rect">
            <a:avLst/>
          </a:prstGeom>
          <a:solidFill>
            <a:srgbClr val="D45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914400"/>
            <a:ext cx="4992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배치식  ALD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8" y="914400"/>
            <a:ext cx="4443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공압식(연속식)  ALD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3288" y="777240"/>
            <a:ext cx="713232" cy="713232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33288" y="822960"/>
            <a:ext cx="7132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  <a:latin typeface="맑은 고딕"/>
              </a:rP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554480"/>
            <a:ext cx="9784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3A6B"/>
                </a:solidFill>
                <a:latin typeface="맑은 고딕"/>
              </a:rPr>
              <a:t>배치식 ALD vs 공압식(연속식) ALD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317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맑은 고딕"/>
              </a:rPr>
              <a:t>원리·구조·장단점 비교 — 심사위원을 위한 쉬운 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880360"/>
            <a:ext cx="6702552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45920" y="3017520"/>
            <a:ext cx="2743200" cy="146304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090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  <a:latin typeface="맑은 고딕"/>
              </a:rPr>
              <a:t>🔬  기술 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49300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맑은 고딕"/>
              </a:rPr>
              <a:t>자기제한 반응 기반 원자층 증착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3017520"/>
            <a:ext cx="2743200" cy="146304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090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  <a:latin typeface="맑은 고딕"/>
              </a:rPr>
              <a:t>⚙️  공정 방식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49300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맑은 고딕"/>
              </a:rPr>
              <a:t>배치(정지) vs 연속(비행) 반응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017520"/>
            <a:ext cx="2743200" cy="146304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090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  <a:latin typeface="맑은 고딕"/>
              </a:rPr>
              <a:t>🏭  양산 전략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49300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맑은 고딕"/>
              </a:rPr>
              <a:t>레시피 개발 → 연속식 이전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55778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DD"/>
                </a:solidFill>
                <a:latin typeface="맑은 고딕"/>
              </a:rPr>
              <a:t>2026년 첨단소재 사업화 기술 개발(성과확장형)   |   2세부: 한국기계연구원 × 대성기계공업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목  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맑은 고딕"/>
              </a:rPr>
              <a:t>배치식 ALD와 공압식 ALD, 어떻게 다를까요?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577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02920" cy="1463040"/>
          </a:xfrm>
          <a:prstGeom prst="rect">
            <a:avLst/>
          </a:prstGeom>
          <a:solidFill>
            <a:srgbClr val="1F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02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맑은 고딕"/>
              </a:rPr>
              <a:t>ALD란 무엇인가?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원자층 증착의 기본 원리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34440"/>
            <a:ext cx="5577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234440"/>
            <a:ext cx="502920" cy="1463040"/>
          </a:xfrm>
          <a:prstGeom prst="rect">
            <a:avLst/>
          </a:prstGeom>
          <a:solidFill>
            <a:srgbClr val="1F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34440"/>
            <a:ext cx="502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맑은 고딕"/>
              </a:rPr>
              <a:t>배치식 ALD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구조·원리·특징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5577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502920" cy="1463040"/>
          </a:xfrm>
          <a:prstGeom prst="rect">
            <a:avLst/>
          </a:prstGeom>
          <a:solidFill>
            <a:srgbClr val="D45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26080"/>
            <a:ext cx="502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63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맑은 고딕"/>
              </a:rPr>
              <a:t>공압식(연속식) ALD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20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구조·원리·특징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926080"/>
            <a:ext cx="5577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926080"/>
            <a:ext cx="502920" cy="1463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926080"/>
            <a:ext cx="502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063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맑은 고딕"/>
              </a:rPr>
              <a:t>한눈에 보는 비교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520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핵심 차이점 요약표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17720"/>
            <a:ext cx="5577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617720"/>
            <a:ext cx="502920" cy="1463040"/>
          </a:xfrm>
          <a:prstGeom prst="rect">
            <a:avLst/>
          </a:prstGeom>
          <a:solidFill>
            <a:srgbClr val="218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617720"/>
            <a:ext cx="502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맑은 고딕"/>
              </a:rPr>
              <a:t>장단점 상세 비교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212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각 방식의 강점과 한계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4617720"/>
            <a:ext cx="5577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4617720"/>
            <a:ext cx="502920" cy="1463040"/>
          </a:xfrm>
          <a:prstGeom prst="rect">
            <a:avLst/>
          </a:prstGeom>
          <a:solidFill>
            <a:srgbClr val="D45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617720"/>
            <a:ext cx="502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맑은 고딕"/>
              </a:rPr>
              <a:t>본 과제에서의 역할 분담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212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기계연(배치식) × 대성기계(공압식)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01   ALD란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맑은 고딕"/>
              </a:rPr>
              <a:t>Atomic Layer Deposition — 원자층 증착 기술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11457432" cy="960120"/>
          </a:xfrm>
          <a:prstGeom prst="roundRect">
            <a:avLst/>
          </a:prstGeom>
          <a:solidFill>
            <a:srgbClr val="D6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09728" cy="960120"/>
          </a:xfrm>
          <a:prstGeom prst="rect">
            <a:avLst/>
          </a:prstGeom>
          <a:solidFill>
            <a:srgbClr val="1F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6B"/>
                </a:solidFill>
                <a:latin typeface="맑은 고딕"/>
              </a:rPr>
              <a:t>ALD는 기체 전구체(Precursor)를 한 종류씩 순서대로 공급하여, 표면에서 '자기제한 반응(Self-limiting)'으로 원자 한 층씩 정밀하게 박막을 쌓는 증착 기술입니다.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2468880" cy="1280160"/>
          </a:xfrm>
          <a:prstGeom prst="roundRect">
            <a:avLst/>
          </a:prstGeom>
          <a:solidFill>
            <a:srgbClr val="1F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Step 1
전구체 A
공급 (Pulse)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맑은 고딕"/>
              </a:rPr>
              <a:t>전구체 A 분자가
표면에 흡착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286000"/>
            <a:ext cx="2468880" cy="128016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286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Step 2
불활성 기체
퍼지 (Purge)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657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맑은 고딕"/>
              </a:rPr>
              <a:t>미반응 전구체 A
제거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286000"/>
            <a:ext cx="2468880" cy="1280160"/>
          </a:xfrm>
          <a:prstGeom prst="roundRect">
            <a:avLst/>
          </a:prstGeom>
          <a:solidFill>
            <a:srgbClr val="D45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286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Step 3
반응제 B
공급 (H₂O)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3657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맑은 고딕"/>
              </a:rPr>
              <a:t>A와 B가 반응 →
박막 1층 형성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59" y="2286000"/>
            <a:ext cx="2468880" cy="128016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59" y="2286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Step 4
불활성 기체
퍼지 (Purge)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3657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맑은 고딕"/>
              </a:rPr>
              <a:t>부산물 및 잉여
반응제 제거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  <a:latin typeface="맑은 고딕"/>
              </a:rPr>
              <a:t>⟳  1 사이클 반복 → 원자 1층 증착  (GPC = 0.1 ~ 2.0 Å/cycle)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46320"/>
            <a:ext cx="36576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846320"/>
            <a:ext cx="365760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📐 Å 수준 정밀 제어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285232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맑은 고딕"/>
              </a:rPr>
              <a:t>1 사이클 = 정확히 0.1~2.0 Å
두께를 사이클 수로 결정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46320"/>
            <a:ext cx="36576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846320"/>
            <a:ext cx="365760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4846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🔄 자기제한 반응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285232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맑은 고딕"/>
              </a:rPr>
              <a:t>과잉 전구체 자동 제거
→ 항상 균일한 1층 형성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4846320"/>
            <a:ext cx="36576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4846320"/>
            <a:ext cx="365760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846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🔗 완전 균일 피복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285232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맑은 고딕"/>
              </a:rPr>
              <a:t>복잡한 형상·분말 입자
표면까지 100% 균일 코팅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02   배치식 ALD (Batch ALD)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맑은 고딕"/>
              </a:rPr>
              <a:t>분말이 반응기 안에서 '정지' 상태로 반응 — 한국기계연구원 보유 장비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39496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6FBB"/>
                </a:solidFill>
                <a:latin typeface="맑은 고딕"/>
              </a:rPr>
              <a:t>배치식 ALD 반응기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783080"/>
            <a:ext cx="3840480" cy="2834640"/>
          </a:xfrm>
          <a:prstGeom prst="roundRect">
            <a:avLst/>
          </a:prstGeom>
          <a:solidFill>
            <a:srgbClr val="E8F2FC"/>
          </a:solidFill>
          <a:ln w="25400">
            <a:solidFill>
              <a:srgbClr val="1F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6FBB"/>
                </a:solidFill>
                <a:latin typeface="맑은 고딕"/>
              </a:rPr>
              <a:t>반응기 (Reactor)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423160"/>
            <a:ext cx="2651760" cy="1554480"/>
          </a:xfrm>
          <a:prstGeom prst="roundRect">
            <a:avLst/>
          </a:prstGeom>
          <a:solidFill>
            <a:srgbClr val="B3D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4688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맑은 고딕"/>
              </a:rPr>
              <a:t>● ● ● ● ●
분말 입자
(정지 상태)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↓ 전구체 A / 반응제 B / 퍼지 가스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050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↑ 배기 (진공펌프)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B"/>
                </a:solidFill>
                <a:latin typeface="맑은 고딕"/>
              </a:rPr>
              <a:t>공정 순서 (Time-Domain ALD)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023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6FBB"/>
                </a:solidFill>
                <a:latin typeface="맑은 고딕"/>
              </a:rPr>
              <a:t>① 전구체 A Pulse → 분말 표면 흡착 (정지 상태)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0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② 퍼지 → 미반응 A 제거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79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6FBB"/>
                </a:solidFill>
                <a:latin typeface="맑은 고딕"/>
              </a:rPr>
              <a:t>③ 반응제 B(H₂O) Pulse → 분말 표면 반응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173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④ 퍼지 → 부산물 제거  ⟳  반복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188720"/>
            <a:ext cx="5943600" cy="534924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1261872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6FBB"/>
                </a:solidFill>
                <a:latin typeface="맑은 고딕"/>
              </a:rPr>
              <a:t>배치식 ALD 핵심 특징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737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B"/>
                </a:solidFill>
                <a:latin typeface="맑은 고딕"/>
              </a:rPr>
              <a:t>🔹 처리 방식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057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분말이 반응기 내부에 정지
전구체가 분말 주위를 채움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514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B"/>
                </a:solidFill>
                <a:latin typeface="맑은 고딕"/>
              </a:rPr>
              <a:t>🔹 두께 제어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8346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Pulse 시간 = 전구체 노출 시간
→ 직접적이고 정밀한 제어 가능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2918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B"/>
                </a:solidFill>
                <a:latin typeface="맑은 고딕"/>
              </a:rPr>
              <a:t>🔹 공정 개발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61187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레시피 개발이 매우 용이
★★★★★ (최고 수준)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06907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B"/>
                </a:solidFill>
                <a:latin typeface="맑은 고딕"/>
              </a:rPr>
              <a:t>🔹 처리 용량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438911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소량 ~ 중량 (g ~ kg 수준)
주로 R&amp;D 및 파일럿 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846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B"/>
                </a:solidFill>
                <a:latin typeface="맑은 고딕"/>
              </a:rPr>
              <a:t>🔹 운전 환경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516635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진공 조건 필요
배치 단위로 시작/종료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5623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B"/>
                </a:solidFill>
                <a:latin typeface="맑은 고딕"/>
              </a:rPr>
              <a:t>🔹 본 과제 역할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59436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TiO₂, Al₂O₃, V₂O₅, ZnO
4종 ALD 레시피 개발 소스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97880" y="5971032"/>
            <a:ext cx="5943600" cy="502920"/>
          </a:xfrm>
          <a:prstGeom prst="roundRect">
            <a:avLst/>
          </a:prstGeom>
          <a:solidFill>
            <a:srgbClr val="D6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600760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B"/>
                </a:solidFill>
                <a:latin typeface="맑은 고딕"/>
              </a:rPr>
              <a:t>🏛  한국기계연구원(KIMM) — 배치식 ALD 장비 2대 보유 · 운용 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45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03   공압식(연속식) ALD (Pneumatic Continuous ALD)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맑은 고딕"/>
              </a:rPr>
              <a:t>분말이 기류(공압)를 타고 '비행'하며 반응 — 대성기계 OPERIO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39496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5F0E"/>
                </a:solidFill>
                <a:latin typeface="맑은 고딕"/>
              </a:rPr>
              <a:t>공압식 ALD 반응기 구조 (구간 분리형)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1143000" cy="914400"/>
          </a:xfrm>
          <a:prstGeom prst="rect">
            <a:avLst/>
          </a:prstGeom>
          <a:solidFill>
            <a:srgbClr val="1F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전구체 A
구간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맑은 고딕"/>
              </a:rPr>
              <a:t>분말 ↔ A 반응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7432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46504" y="2468880"/>
            <a:ext cx="1143000" cy="9144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46504" y="2468880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퍼지
구간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6504" y="342900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맑은 고딕"/>
              </a:rPr>
              <a:t>A 제거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7432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0088" y="2468880"/>
            <a:ext cx="1143000" cy="914400"/>
          </a:xfrm>
          <a:prstGeom prst="rect">
            <a:avLst/>
          </a:prstGeom>
          <a:solidFill>
            <a:srgbClr val="D45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0088" y="2468880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반응제 B
구간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42900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맑은 고딕"/>
              </a:rPr>
              <a:t>분말 ↔ B 반응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27432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3672" y="2468880"/>
            <a:ext cx="1143000" cy="9144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3672" y="2468880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퍼지
구간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3672" y="342900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맑은 고딕"/>
              </a:rPr>
              <a:t>부산물 제거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10312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5F0E"/>
                </a:solidFill>
                <a:latin typeface="맑은 고딕"/>
              </a:rPr>
              <a:t>← 공압(Air Pressure) 이송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20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3A6B"/>
                </a:solidFill>
                <a:latin typeface="맑은 고딕"/>
              </a:rPr>
              <a:t>분말 입자가 기류를 타고 각 반응 구간을 '비행'하며 통과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416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F0E"/>
                </a:solidFill>
                <a:latin typeface="맑은 고딕"/>
              </a:rPr>
              <a:t>3단계 스케일업 로드맵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62272"/>
            <a:ext cx="1600200" cy="1371600"/>
          </a:xfrm>
          <a:prstGeom prst="roundRect">
            <a:avLst/>
          </a:prstGeom>
          <a:solidFill>
            <a:srgbClr val="FD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49884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5F0E"/>
                </a:solidFill>
                <a:latin typeface="맑은 고딕"/>
              </a:rPr>
              <a:t>1차년도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646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3A6B"/>
                </a:solidFill>
                <a:latin typeface="맑은 고딕"/>
              </a:rPr>
              <a:t>R&amp;D FBR (소량)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3218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8C4F"/>
                </a:solidFill>
                <a:latin typeface="맑은 고딕"/>
              </a:rPr>
              <a:t>두께 편차 ≤10%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9834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5F0E"/>
                </a:solidFill>
                <a:latin typeface="맑은 고딕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21991" y="4462272"/>
            <a:ext cx="1600200" cy="1371600"/>
          </a:xfrm>
          <a:prstGeom prst="roundRect">
            <a:avLst/>
          </a:prstGeom>
          <a:solidFill>
            <a:srgbClr val="FD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21991" y="449884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5F0E"/>
                </a:solidFill>
                <a:latin typeface="맑은 고딕"/>
              </a:rPr>
              <a:t>2차년도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21991" y="48646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3A6B"/>
                </a:solidFill>
                <a:latin typeface="맑은 고딕"/>
              </a:rPr>
              <a:t>OPERIO 10 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21991" y="53218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8C4F"/>
                </a:solidFill>
                <a:latin typeface="맑은 고딕"/>
              </a:rPr>
              <a:t>두께 편차 ≤7%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79" y="49834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5F0E"/>
                </a:solidFill>
                <a:latin typeface="맑은 고딕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41063" y="4462272"/>
            <a:ext cx="1600200" cy="1371600"/>
          </a:xfrm>
          <a:prstGeom prst="roundRect">
            <a:avLst/>
          </a:prstGeom>
          <a:solidFill>
            <a:srgbClr val="FD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41063" y="449884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5F0E"/>
                </a:solidFill>
                <a:latin typeface="맑은 고딕"/>
              </a:rPr>
              <a:t>3차년도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1063" y="48646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3A6B"/>
                </a:solidFill>
                <a:latin typeface="맑은 고딕"/>
              </a:rPr>
              <a:t>양산  10 kg/h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41063" y="53218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8C4F"/>
                </a:solidFill>
                <a:latin typeface="맑은 고딕"/>
              </a:rPr>
              <a:t>두께 편차 ≤5%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97880" y="1188720"/>
            <a:ext cx="5943600" cy="5349240"/>
          </a:xfrm>
          <a:prstGeom prst="rect">
            <a:avLst/>
          </a:prstGeom>
          <a:solidFill>
            <a:srgbClr val="FF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1261872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5F0E"/>
                </a:solidFill>
                <a:latin typeface="맑은 고딕"/>
              </a:rPr>
              <a:t>공압식 ALD 핵심 특징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1737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F0E"/>
                </a:solidFill>
                <a:latin typeface="맑은 고딕"/>
              </a:rPr>
              <a:t>🔸 처리 방식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2057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분말이 공압(기류)을 타고 이동
각 반응 구간을 '비행'하며 코팅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2514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F0E"/>
                </a:solidFill>
                <a:latin typeface="맑은 고딕"/>
              </a:rPr>
              <a:t>🔸 두께 제어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28346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RTD(체류시간 분포) 기반 간접 제어
Pulse 시간 ≠ 노출 시간 → 변환 필요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32918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F0E"/>
                </a:solidFill>
                <a:latin typeface="맑은 고딕"/>
              </a:rPr>
              <a:t>🔸 공정 개발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361187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레시피 개발 난이도 높음
★★☆☆☆ (배치식 레시피 이전 필요)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9320" y="406907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F0E"/>
                </a:solidFill>
                <a:latin typeface="맑은 고딕"/>
              </a:rPr>
              <a:t>🔸 처리 용량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9320" y="438911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연속 운전 → 10 kg/h 이상
산업 양산 직접 적용 가능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4846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F0E"/>
                </a:solidFill>
                <a:latin typeface="맑은 고딕"/>
              </a:rPr>
              <a:t>🔸 운전 환경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516635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상압(대기압) 연속 운전 가능
24시간 연속 운전 실증 목표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5623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F0E"/>
                </a:solidFill>
                <a:latin typeface="맑은 고딕"/>
              </a:rPr>
              <a:t>🔸 본 과제 역할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59436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기계연 레시피를 RTD 변환 후 적용
10 kg/h 양산 플랫폼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97880" y="5971032"/>
            <a:ext cx="5943600" cy="502920"/>
          </a:xfrm>
          <a:prstGeom prst="roundRect">
            <a:avLst/>
          </a:prstGeom>
          <a:solidFill>
            <a:srgbClr val="FD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600760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F0E"/>
                </a:solidFill>
                <a:latin typeface="맑은 고딕"/>
              </a:rPr>
              <a:t>🏭  대성기계공업 OPERIO 10 — 국내 유일 연속식 분말 ALD 장비 보유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04   한눈에 보는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맑은 고딕"/>
              </a:rPr>
              <a:t>배치식 vs 공압식(연속식) ALD 핵심 차이점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47472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비교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234440"/>
            <a:ext cx="3931920" cy="502920"/>
          </a:xfrm>
          <a:prstGeom prst="rect">
            <a:avLst/>
          </a:prstGeom>
          <a:solidFill>
            <a:srgbClr val="1F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2344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🔵  배치식 ALD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234440"/>
            <a:ext cx="3931920" cy="502920"/>
          </a:xfrm>
          <a:prstGeom prst="rect">
            <a:avLst/>
          </a:prstGeom>
          <a:solidFill>
            <a:srgbClr val="D45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2344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🟠  공압식(연속식) ALD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37360"/>
            <a:ext cx="3474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1737360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737360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83080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맑은 고딕"/>
              </a:rPr>
              <a:t>분말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783080"/>
            <a:ext cx="37947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6FBB"/>
                </a:solidFill>
                <a:latin typeface="맑은 고딕"/>
              </a:rPr>
              <a:t>정지(Static)
반응기 내 고정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783080"/>
            <a:ext cx="37947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5F0E"/>
                </a:solidFill>
                <a:latin typeface="맑은 고딕"/>
              </a:rPr>
              <a:t>비행(In-flight)
기류에 의해 이송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95728"/>
            <a:ext cx="3474720" cy="658368"/>
          </a:xfrm>
          <a:prstGeom prst="rect">
            <a:avLst/>
          </a:prstGeom>
          <a:solidFill>
            <a:srgbClr val="F5F5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2395728"/>
            <a:ext cx="3931920" cy="658368"/>
          </a:xfrm>
          <a:prstGeom prst="rect">
            <a:avLst/>
          </a:prstGeom>
          <a:solidFill>
            <a:srgbClr val="F5F5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2395728"/>
            <a:ext cx="3931920" cy="658368"/>
          </a:xfrm>
          <a:prstGeom prst="rect">
            <a:avLst/>
          </a:prstGeom>
          <a:solidFill>
            <a:srgbClr val="F5F5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44144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맑은 고딕"/>
              </a:rPr>
              <a:t>반응 방식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441448"/>
            <a:ext cx="37947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6FBB"/>
                </a:solidFill>
                <a:latin typeface="맑은 고딕"/>
              </a:rPr>
              <a:t>시간 분리형(Time-domain)
A → 퍼지 → B → 퍼지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441448"/>
            <a:ext cx="37947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5F0E"/>
                </a:solidFill>
                <a:latin typeface="맑은 고딕"/>
              </a:rPr>
              <a:t>공간 분리형(Spatial)
구간별 A·B·퍼지 분리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54096"/>
            <a:ext cx="3474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0" y="3054096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18120" y="3054096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099815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맑은 고딕"/>
              </a:rPr>
              <a:t>두께 제어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099815"/>
            <a:ext cx="37947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6FBB"/>
                </a:solidFill>
                <a:latin typeface="맑은 고딕"/>
              </a:rPr>
              <a:t>직접 제어
Pulse 시간 = 노출 시간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099815"/>
            <a:ext cx="37947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5F0E"/>
                </a:solidFill>
                <a:latin typeface="맑은 고딕"/>
              </a:rPr>
              <a:t>RTD 기반 간접 제어
(μ - 2σ ≥ t_pulse)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12464"/>
            <a:ext cx="3474720" cy="658368"/>
          </a:xfrm>
          <a:prstGeom prst="rect">
            <a:avLst/>
          </a:prstGeom>
          <a:solidFill>
            <a:srgbClr val="F5F5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0" y="3712464"/>
            <a:ext cx="3931920" cy="658368"/>
          </a:xfrm>
          <a:prstGeom prst="rect">
            <a:avLst/>
          </a:prstGeom>
          <a:solidFill>
            <a:srgbClr val="F5F5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18120" y="3712464"/>
            <a:ext cx="3931920" cy="658368"/>
          </a:xfrm>
          <a:prstGeom prst="rect">
            <a:avLst/>
          </a:prstGeom>
          <a:solidFill>
            <a:srgbClr val="F5F5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3758184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맑은 고딕"/>
              </a:rPr>
              <a:t>레시피 개발 난이도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758184"/>
            <a:ext cx="37947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6FBB"/>
                </a:solidFill>
                <a:latin typeface="맑은 고딕"/>
              </a:rPr>
              <a:t>★★★★★  매우 용이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3758184"/>
            <a:ext cx="37947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5F0E"/>
                </a:solidFill>
                <a:latin typeface="맑은 고딕"/>
              </a:rPr>
              <a:t>★★☆☆☆  어려움
(배치 레시피 이전 필요)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370831"/>
            <a:ext cx="3474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0" y="4370831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8120" y="4370831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4416551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맑은 고딕"/>
              </a:rPr>
              <a:t>처리량(Throughput)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4416551"/>
            <a:ext cx="37947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6FBB"/>
                </a:solidFill>
                <a:latin typeface="맑은 고딕"/>
              </a:rPr>
              <a:t>소~중량 (g~kg)
R&amp;D 최적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4416551"/>
            <a:ext cx="37947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5F0E"/>
                </a:solidFill>
                <a:latin typeface="맑은 고딕"/>
              </a:rPr>
              <a:t>대량 (10 kg/h 이상)
양산 직접 적용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029200"/>
            <a:ext cx="3474720" cy="658368"/>
          </a:xfrm>
          <a:prstGeom prst="rect">
            <a:avLst/>
          </a:prstGeom>
          <a:solidFill>
            <a:srgbClr val="F5F5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40480" y="5029200"/>
            <a:ext cx="3931920" cy="658368"/>
          </a:xfrm>
          <a:prstGeom prst="rect">
            <a:avLst/>
          </a:prstGeom>
          <a:solidFill>
            <a:srgbClr val="F5F5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18120" y="5029200"/>
            <a:ext cx="3931920" cy="658368"/>
          </a:xfrm>
          <a:prstGeom prst="rect">
            <a:avLst/>
          </a:prstGeom>
          <a:solidFill>
            <a:srgbClr val="F5F5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5074920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맑은 고딕"/>
              </a:rPr>
              <a:t>운전 환경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5074920"/>
            <a:ext cx="37947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6FBB"/>
                </a:solidFill>
                <a:latin typeface="맑은 고딕"/>
              </a:rPr>
              <a:t>진공 조건 필요
배치 단위 시작/종료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5074920"/>
            <a:ext cx="37947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5F0E"/>
                </a:solidFill>
                <a:latin typeface="맑은 고딕"/>
              </a:rPr>
              <a:t>상압 연속 운전
24시간 연속 가능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687568"/>
            <a:ext cx="3474720" cy="658368"/>
          </a:xfrm>
          <a:prstGeom prst="rect">
            <a:avLst/>
          </a:prstGeom>
          <a:solidFill>
            <a:srgbClr val="D6E8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40480" y="5687568"/>
            <a:ext cx="3931920" cy="658368"/>
          </a:xfrm>
          <a:prstGeom prst="rect">
            <a:avLst/>
          </a:prstGeom>
          <a:solidFill>
            <a:srgbClr val="D6E8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18120" y="5687568"/>
            <a:ext cx="3931920" cy="658368"/>
          </a:xfrm>
          <a:prstGeom prst="rect">
            <a:avLst/>
          </a:prstGeom>
          <a:solidFill>
            <a:srgbClr val="D6E8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573328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맑은 고딕"/>
              </a:rPr>
              <a:t>본 과제 역할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0" y="5733288"/>
            <a:ext cx="37947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  <a:latin typeface="맑은 고딕"/>
              </a:rPr>
              <a:t>레시피 소스 (기계연)
TiO₂·Al₂O₃·V₂O₅·ZnO 4종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5733288"/>
            <a:ext cx="37947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  <a:latin typeface="맑은 고딕"/>
              </a:rPr>
              <a:t>양산 플랫폼 (대성기계)
10 kg/h 실증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687568"/>
            <a:ext cx="11750039" cy="658368"/>
          </a:xfrm>
          <a:prstGeom prst="rect">
            <a:avLst/>
          </a:prstGeom>
          <a:noFill/>
          <a:ln w="254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05   장단점 상세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맑은 고딕"/>
              </a:rPr>
              <a:t>각 방식의 강점과 한계 — 왜 두 방식을 함께 사용하는가?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5532120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532120" cy="457200"/>
          </a:xfrm>
          <a:prstGeom prst="rect">
            <a:avLst/>
          </a:prstGeom>
          <a:solidFill>
            <a:srgbClr val="1F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🔵  배치식 ALD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10512"/>
            <a:ext cx="5257800" cy="347472"/>
          </a:xfrm>
          <a:prstGeom prst="roundRect">
            <a:avLst/>
          </a:prstGeom>
          <a:solidFill>
            <a:srgbClr val="218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✅  장점 (Strengths)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2199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8C4F"/>
                </a:solidFill>
                <a:latin typeface="맑은 고딕"/>
              </a:rPr>
              <a:t>  ◆  레시피 개발이 매우 용이하고 재현성 높음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946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8C4F"/>
                </a:solidFill>
                <a:latin typeface="맑은 고딕"/>
              </a:rPr>
              <a:t>  ◆  Å 수준 두께 정밀 제어 가능 (직접 측정)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1693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8C4F"/>
                </a:solidFill>
                <a:latin typeface="맑은 고딕"/>
              </a:rPr>
              <a:t>  ◆  공정 조건 최적화 후 연속식으로 이전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64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8C4F"/>
                </a:solidFill>
                <a:latin typeface="맑은 고딕"/>
              </a:rPr>
              <a:t>  ◆  다양한 소재(TiO₂·Al₂O₃·V₂O₅·ZnO) 레시피 병렬 개발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8C4F"/>
                </a:solidFill>
                <a:latin typeface="맑은 고딕"/>
              </a:rPr>
              <a:t>  ◆  HR-TEM/XPS 등 분석과 바로 연계 가능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5257800" cy="34747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❌  단점 (Limitations)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  <a:latin typeface="맑은 고딕"/>
              </a:rPr>
              <a:t>  ▲  처리량 제한 — 소·중량(g~kg), 양산 직접 적용 불가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1888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  <a:latin typeface="맑은 고딕"/>
              </a:rPr>
              <a:t>  ▲  배치 단위 운전 → 대량 생산 시 비효율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02936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  <a:latin typeface="맑은 고딕"/>
              </a:rPr>
              <a:t>  ▲  진공 장비 필요 → 초기 투자 비용 높음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234440"/>
            <a:ext cx="583387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234440"/>
            <a:ext cx="5833872" cy="457200"/>
          </a:xfrm>
          <a:prstGeom prst="rect">
            <a:avLst/>
          </a:prstGeom>
          <a:solidFill>
            <a:srgbClr val="D45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1234440"/>
            <a:ext cx="5833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🟠  공압식(연속식) ALD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810512"/>
            <a:ext cx="5559552" cy="347472"/>
          </a:xfrm>
          <a:prstGeom prst="roundRect">
            <a:avLst/>
          </a:prstGeom>
          <a:solidFill>
            <a:srgbClr val="218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8105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✅  장점 (Strengths)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221992"/>
            <a:ext cx="5559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8C4F"/>
                </a:solidFill>
                <a:latin typeface="맑은 고딕"/>
              </a:rPr>
              <a:t>  ◆  대량 연속 처리 — 10 kg/h 이상 양산 가능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569464"/>
            <a:ext cx="5559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8C4F"/>
                </a:solidFill>
                <a:latin typeface="맑은 고딕"/>
              </a:rPr>
              <a:t>  ◆  상압 연속 운전 → 24시간 연속 생산 실현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916936"/>
            <a:ext cx="5559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8C4F"/>
                </a:solidFill>
                <a:latin typeface="맑은 고딕"/>
              </a:rPr>
              <a:t>  ◆  공압 이송으로 분말 뭉침 방지, 균일 분산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264408"/>
            <a:ext cx="5559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8C4F"/>
                </a:solidFill>
                <a:latin typeface="맑은 고딕"/>
              </a:rPr>
              <a:t>  ◆  구간 분리형 구조 → 전구체 교차 오염 방지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611880"/>
            <a:ext cx="5559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8C4F"/>
                </a:solidFill>
                <a:latin typeface="맑은 고딕"/>
              </a:rPr>
              <a:t>  ◆  스케일업 용이 — R&amp;D → Pilot → 양산 단계적 확장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023360"/>
            <a:ext cx="5559552" cy="34747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0233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❌  단점 (Limitations)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434840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  <a:latin typeface="맑은 고딕"/>
              </a:rPr>
              <a:t>  ▲  레시피 개발 어려움 — 비행 중 노출시간 직접 측정 불가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818888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  <a:latin typeface="맑은 고딕"/>
              </a:rPr>
              <a:t>  ▲  RTD 변환 알고리즘 필요 (배치 레시피 그대로 적용 불가)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5202936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  <a:latin typeface="맑은 고딕"/>
              </a:rPr>
              <a:t>  ▲  초기 두께 편차 관리 복잡 (RTD 분포 관리 필요)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6035040"/>
            <a:ext cx="11548872" cy="621792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107"/>
                </a:solidFill>
                <a:latin typeface="맑은 고딕"/>
              </a:rPr>
              <a:t>💡  두 방식의 상호 보완:  기계연 배치식(레시피 개발)  →  RTD 기반 변환  →  대성기계 공압식(양산 적용)  — 이것이 본 과제의 핵심 파이프라인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06   본 과제에서의 역할 분담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맑은 고딕"/>
              </a:rPr>
              <a:t>배치식(기계연) × 공압식(대성기계) — RTD 기반 레시피 이전 파이프라인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5029200" cy="4754880"/>
          </a:xfrm>
          <a:prstGeom prst="roundRect">
            <a:avLst/>
          </a:prstGeom>
          <a:solidFill>
            <a:srgbClr val="D6E8F9"/>
          </a:solidFill>
          <a:ln w="25400">
            <a:solidFill>
              <a:srgbClr val="1F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029200" cy="475488"/>
          </a:xfrm>
          <a:prstGeom prst="rect">
            <a:avLst/>
          </a:prstGeom>
          <a:solidFill>
            <a:srgbClr val="1F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🏛  한국기계연구원 (KIMM)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4709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11095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B"/>
                </a:solidFill>
                <a:latin typeface="맑은 고딕"/>
              </a:rPr>
              <a:t>▶ 배치식 ALD 장비 2대 운용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2199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    TiO₂·Al₂O₃·V₂O₅·ZnO 4종 레시피 개발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4709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8833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B"/>
                </a:solidFill>
                <a:latin typeface="맑은 고딕"/>
              </a:rPr>
              <a:t>▶ Self-limiting 반응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992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    GPC vs Pulse 시간 포화 곡선 측정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29000"/>
            <a:ext cx="4709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655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B"/>
                </a:solidFill>
                <a:latin typeface="맑은 고딕"/>
              </a:rPr>
              <a:t>▶ 독창 구조 최초 개발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764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    V₂O₅(내층)/TiO₂(외층) ALD 이중층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06240"/>
            <a:ext cx="4709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2428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B"/>
                </a:solidFill>
                <a:latin typeface="맑은 고딕"/>
              </a:rPr>
              <a:t>▶ 종합 분석 인프라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537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    HR-TEM·EELS·XPS·Raman·FTIR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83479"/>
            <a:ext cx="4709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020055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B"/>
                </a:solidFill>
                <a:latin typeface="맑은 고딕"/>
              </a:rPr>
              <a:t>▶ 레시피 이전 방법론 확립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3095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    배치→연속식 RTD 정량 변환 알고리즘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194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017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840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6634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5440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49240" y="1234440"/>
            <a:ext cx="1463040" cy="4754880"/>
          </a:xfrm>
          <a:prstGeom prst="roundRect">
            <a:avLst/>
          </a:prstGeom>
          <a:solidFill>
            <a:srgbClr val="FDF6DC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13258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  <a:latin typeface="맑은 고딕"/>
              </a:rPr>
              <a:t>RTD
변환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Arial"/>
              </a:rPr>
              <a:t>μ - 2σ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2788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Arial"/>
              </a:rPr>
              <a:t>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Arial"/>
              </a:rPr>
              <a:t>t_pulse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9319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체류시간
분포(RTD)
기반 변환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1234440"/>
            <a:ext cx="4983480" cy="4754880"/>
          </a:xfrm>
          <a:prstGeom prst="roundRect">
            <a:avLst/>
          </a:prstGeom>
          <a:solidFill>
            <a:srgbClr val="FDE8D5"/>
          </a:solidFill>
          <a:ln w="25400">
            <a:solidFill>
              <a:srgbClr val="D45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0" y="1234440"/>
            <a:ext cx="4983480" cy="475488"/>
          </a:xfrm>
          <a:prstGeom prst="rect">
            <a:avLst/>
          </a:prstGeom>
          <a:solidFill>
            <a:srgbClr val="D45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1234440"/>
            <a:ext cx="4983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🏭  대성기계공업 (OPERIO 10)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95160" y="1874519"/>
            <a:ext cx="4709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14032" y="1911095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F0E"/>
                </a:solidFill>
                <a:latin typeface="맑은 고딕"/>
              </a:rPr>
              <a:t>▶ 공압 이송 연속식 ALD 운용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2" y="222199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    분말이 기류 타고 비행하며 코팅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95160" y="2651760"/>
            <a:ext cx="4709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4032" y="268833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F0E"/>
                </a:solidFill>
                <a:latin typeface="맑은 고딕"/>
              </a:rPr>
              <a:t>▶ RTD 기반 레시피 적용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2" y="29992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    기계연 레시피 → 연속식 변환 적용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95160" y="3429000"/>
            <a:ext cx="4709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14032" y="34655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F0E"/>
                </a:solidFill>
                <a:latin typeface="맑은 고딕"/>
              </a:rPr>
              <a:t>▶ 구간 분리형 반응기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4032" y="37764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    전구체 A/퍼지/반응제 B 물리적 분리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95160" y="4206240"/>
            <a:ext cx="4709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14032" y="42428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F0E"/>
                </a:solidFill>
                <a:latin typeface="맑은 고딕"/>
              </a:rPr>
              <a:t>▶ 10 kg/h 양산 실증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4032" y="45537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    24시간 연속 운전, 두께 편차 ≤5%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95160" y="4983479"/>
            <a:ext cx="4709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14032" y="5020055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F0E"/>
                </a:solidFill>
                <a:latin typeface="맑은 고딕"/>
              </a:rPr>
              <a:t>▶ Turn-key 공급 역량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4032" y="533095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    레시피 + 장비 + SOP 패키지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0040" y="6080760"/>
            <a:ext cx="11548872" cy="658368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107"/>
                </a:solidFill>
                <a:latin typeface="맑은 고딕"/>
              </a:rPr>
              <a:t>✅ 기계연(배치식) = 레시피 개발·분석 전문   |   대성기계(공압식) = 양산 스케일업 전문   →   두 기관의 결합으로 세계 최초 배치→연속 이전 방법론 확립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핵심 기술 난제 &amp;  해결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맑은 고딕"/>
              </a:rPr>
              <a:t>배치식 → 공압식 이전의 3대 기술 장벽과 본 컨소시엄의 해결책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261872"/>
            <a:ext cx="3749039" cy="2103120"/>
          </a:xfrm>
          <a:prstGeom prst="roundRect">
            <a:avLst/>
          </a:prstGeom>
          <a:solidFill>
            <a:srgbClr val="FAE0D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261872"/>
            <a:ext cx="3749039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6187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난제 ①
배치→연속 공정 이전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64792"/>
            <a:ext cx="35295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배치식: 분말 정지 → Pulse 시간 = 노출 시간
연속식: 분말 비행 → Pulse 시간 ≠ 노출 시간
→ 기존 레시피 그대로 적용 시 두께 편차 &gt;30%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340156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  <a:latin typeface="맑은 고딕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3822191"/>
            <a:ext cx="3749039" cy="2057400"/>
          </a:xfrm>
          <a:prstGeom prst="roundRect">
            <a:avLst/>
          </a:prstGeom>
          <a:solidFill>
            <a:srgbClr val="D5F0E0"/>
          </a:solidFill>
          <a:ln w="19050">
            <a:solidFill>
              <a:srgbClr val="218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3822191"/>
            <a:ext cx="3749039" cy="438912"/>
          </a:xfrm>
          <a:prstGeom prst="rect">
            <a:avLst/>
          </a:prstGeom>
          <a:solidFill>
            <a:srgbClr val="218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3822191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✅ 해결 방안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15968"/>
            <a:ext cx="3529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RTD 정량 변환 알고리즘
최소 체류시간(μ-2σ) ≥ t_pulse
세계 최초 배치→연속 정량 이전 방법론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681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맑은 고딕"/>
              </a:rPr>
              <a:t>담당: 기계연 + 대성기계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5468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8C4F"/>
                </a:solidFill>
                <a:latin typeface="맑은 고딕"/>
              </a:rPr>
              <a:t>목표: GPC 재현성 ≤5%
(3차년도)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61872"/>
            <a:ext cx="3749039" cy="2103120"/>
          </a:xfrm>
          <a:prstGeom prst="roundRect">
            <a:avLst/>
          </a:prstGeom>
          <a:solidFill>
            <a:srgbClr val="FAE0D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261872"/>
            <a:ext cx="3749039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26187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난제 ②
V₂O₅ 전기화학 활성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1764792"/>
            <a:ext cx="35295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V₂O₅ 작동전압(2.0~3.5V)이
SIB 양극 운전전압과 중복
→ 두꺼울수록 독립 전극으로 반응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40156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  <a:latin typeface="맑은 고딕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22191"/>
            <a:ext cx="3749039" cy="2057400"/>
          </a:xfrm>
          <a:prstGeom prst="roundRect">
            <a:avLst/>
          </a:prstGeom>
          <a:solidFill>
            <a:srgbClr val="D5F0E0"/>
          </a:solidFill>
          <a:ln w="19050">
            <a:solidFill>
              <a:srgbClr val="218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822191"/>
            <a:ext cx="3749039" cy="438912"/>
          </a:xfrm>
          <a:prstGeom prst="rect">
            <a:avLst/>
          </a:prstGeom>
          <a:solidFill>
            <a:srgbClr val="218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822191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✅ 해결 방안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4315968"/>
            <a:ext cx="3529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ALD 두께 1~2 nm 정밀 제어
비정질(amorphous) VOₓ 선호
V₂O₅/TiO₂ 이중층으로 TiO₂ 외층이 차단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54681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맑은 고딕"/>
              </a:rPr>
              <a:t>담당: 기계연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468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8C4F"/>
                </a:solidFill>
                <a:latin typeface="맑은 고딕"/>
              </a:rPr>
              <a:t>목표: 계면저항 ≤50 Ω·cm²
(3차년도)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1261872"/>
            <a:ext cx="3749039" cy="2103120"/>
          </a:xfrm>
          <a:prstGeom prst="roundRect">
            <a:avLst/>
          </a:prstGeom>
          <a:solidFill>
            <a:srgbClr val="FAE0D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7888" y="1261872"/>
            <a:ext cx="3749039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126187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난제 ③
양산 균일도 확보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1764792"/>
            <a:ext cx="35295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g 수준 → 10 kg/h : 처리량 3,000배 증가
분말 뭉침·정체구간 발생
전구체 가스 불균일 분포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340156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  <a:latin typeface="맑은 고딕"/>
              </a:rPr>
              <a:t>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7888" y="3822191"/>
            <a:ext cx="3749039" cy="2057400"/>
          </a:xfrm>
          <a:prstGeom prst="roundRect">
            <a:avLst/>
          </a:prstGeom>
          <a:solidFill>
            <a:srgbClr val="D5F0E0"/>
          </a:solidFill>
          <a:ln w="19050">
            <a:solidFill>
              <a:srgbClr val="218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47888" y="3822191"/>
            <a:ext cx="3749039" cy="438912"/>
          </a:xfrm>
          <a:prstGeom prst="rect">
            <a:avLst/>
          </a:prstGeom>
          <a:solidFill>
            <a:srgbClr val="218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3822191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✅ 해결 방안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4315968"/>
            <a:ext cx="3529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공압 이송으로 항상 분산 유지
구간 분리형 반응기 구조
RTD 기반 실시간 드리프트 보정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54681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맑은 고딕"/>
              </a:rPr>
              <a:t>담당: 대성기계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8128" y="5468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8C4F"/>
                </a:solidFill>
                <a:latin typeface="맑은 고딕"/>
              </a:rPr>
              <a:t>목표: 두께 편차 ≤5%
@ 10 kg/h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2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2004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결  론  및  요  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88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  <a:latin typeface="맑은 고딕"/>
              </a:rPr>
              <a:t>배치식 ALD + 공압식 ALD — 상호 보완으로 완성하는 양산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657600" cy="3931920"/>
          </a:xfrm>
          <a:prstGeom prst="roundRect">
            <a:avLst/>
          </a:prstGeom>
          <a:solidFill>
            <a:srgbClr val="D6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657600" cy="594360"/>
          </a:xfrm>
          <a:prstGeom prst="rect">
            <a:avLst/>
          </a:prstGeom>
          <a:solidFill>
            <a:srgbClr val="1F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🔵  배치식 ALD
(한국기계연구원)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• 분말 정지 상태 → 정밀 레시피 개발
• Å 수준 두께 직접 제어
• 4종 산화물 레시피 체계 확립
• HR-TEM/XPS 원자 단위 분석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3931920"/>
          </a:xfrm>
          <a:prstGeom prst="roundRect">
            <a:avLst/>
          </a:prstGeom>
          <a:solidFill>
            <a:srgbClr val="FDF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3657600" cy="594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087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⟶  RTD 변환 브릿지  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9456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• 배치식 t_pulse
  → 연속식 μ-2σ 매핑
• 세계 최초
  정량적 이전 방법론
• 두께 편차 ≤5% 목표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508760"/>
            <a:ext cx="3657600" cy="3931920"/>
          </a:xfrm>
          <a:prstGeom prst="roundRect">
            <a:avLst/>
          </a:prstGeom>
          <a:solidFill>
            <a:srgbClr val="FD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508760"/>
            <a:ext cx="3657600" cy="594360"/>
          </a:xfrm>
          <a:prstGeom prst="rect">
            <a:avLst/>
          </a:prstGeom>
          <a:solidFill>
            <a:srgbClr val="D45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087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🟠  공압식 ALD
(대성기계 OPERIO 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9456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• 분말 비행 이송 → 연속 코팅
• 10 kg/h 양산 처리량
• 24시간 연속 운전 실증
• 두께 편차 ≤5% 달성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577840"/>
            <a:ext cx="2743200" cy="868680"/>
          </a:xfrm>
          <a:prstGeom prst="roundRect">
            <a:avLst/>
          </a:prstGeom>
          <a:solidFill>
            <a:srgbClr val="1F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6235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  <a:latin typeface="맑은 고딕"/>
              </a:rPr>
              <a:t>ALD 코팅 균일도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97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  <a:latin typeface="맑은 고딕"/>
              </a:rPr>
              <a:t>두께 편차 ≤5%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453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CC"/>
                </a:solidFill>
                <a:latin typeface="맑은 고딕"/>
              </a:rPr>
              <a:t>10 kg/h 연속 운전 기준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5577840"/>
            <a:ext cx="2743200" cy="868680"/>
          </a:xfrm>
          <a:prstGeom prst="roundRect">
            <a:avLst/>
          </a:prstGeom>
          <a:solidFill>
            <a:srgbClr val="1F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56235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  <a:latin typeface="맑은 고딕"/>
              </a:rPr>
              <a:t>GPC 재현성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897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  <a:latin typeface="맑은 고딕"/>
              </a:rPr>
              <a:t>≤5%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62453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CC"/>
                </a:solidFill>
                <a:latin typeface="맑은 고딕"/>
              </a:rPr>
              <a:t>24시간 연속 운전 기준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577840"/>
            <a:ext cx="2743200" cy="868680"/>
          </a:xfrm>
          <a:prstGeom prst="roundRect">
            <a:avLst/>
          </a:prstGeom>
          <a:solidFill>
            <a:srgbClr val="1F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56235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  <a:latin typeface="맑은 고딕"/>
              </a:rPr>
              <a:t>계면저항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897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  <a:latin typeface="맑은 고딕"/>
              </a:rPr>
              <a:t>≤50 Ω·cm²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62453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CC"/>
                </a:solidFill>
                <a:latin typeface="맑은 고딕"/>
              </a:rPr>
              <a:t>EIS 평가, 사이클 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5577840"/>
            <a:ext cx="2743200" cy="868680"/>
          </a:xfrm>
          <a:prstGeom prst="roundRect">
            <a:avLst/>
          </a:prstGeom>
          <a:solidFill>
            <a:srgbClr val="1F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56235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  <a:latin typeface="맑은 고딕"/>
              </a:rPr>
              <a:t>초기 쿨롱 효율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5897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  <a:latin typeface="맑은 고딕"/>
              </a:rPr>
              <a:t>≥85%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62453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CC"/>
                </a:solidFill>
                <a:latin typeface="맑은 고딕"/>
              </a:rPr>
              <a:t>1Ah 파우치셀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77AA"/>
                </a:solidFill>
                <a:latin typeface="맑은 고딕"/>
              </a:rPr>
              <a:t>2026년 첨단소재 사업화 기술 개발(성과확장형)  |  2세부: 기계연 × 대성기계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