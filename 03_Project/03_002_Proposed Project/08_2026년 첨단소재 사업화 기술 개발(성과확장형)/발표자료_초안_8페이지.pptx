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ALD(원자층 증착) 기반 양극재 계면 안정화 기술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SIB 고-Ni 양극재 코팅 소재 선정 근거 및 독창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342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ALD 공정 원리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1152000"/>
            <a:ext cx="342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전구체 A Pulse → Purge → 반응제(H₂O) Pulse → Purge  반복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자기제한 반응(Self-limiting): GPC = 0.1~2.0 Å/cycle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→ Å 수준 두께 제어 + 완전 균일 피복(conformal coating)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2340000"/>
            <a:ext cx="342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V₂O₅/TiO₂ 이중층 구조 모식도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2556000"/>
            <a:ext cx="3420000" cy="306000"/>
          </a:xfrm>
          <a:prstGeom prst="rect">
            <a:avLst/>
          </a:prstGeom>
          <a:solidFill>
            <a:srgbClr val="F4F6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0">
                <a:solidFill>
                  <a:srgbClr val="444455"/>
                </a:solidFill>
                <a:latin typeface="맑은 고딕"/>
              </a:rPr>
              <a:t>전해질 (HF 접촉 차단됨)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2861999"/>
            <a:ext cx="3420000" cy="306000"/>
          </a:xfrm>
          <a:prstGeom prst="rect">
            <a:avLst/>
          </a:prstGeom>
          <a:solidFill>
            <a:srgbClr val="CFE2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2E5FA3"/>
                </a:solidFill>
                <a:latin typeface="맑은 고딕"/>
              </a:rPr>
              <a:t>TiO₂  ~1–2 nm  (외층)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" y="3167999"/>
            <a:ext cx="3420000" cy="360000"/>
          </a:xfrm>
          <a:prstGeom prst="rect">
            <a:avLst/>
          </a:prstGeom>
          <a:solidFill>
            <a:srgbClr val="FFECE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C8102E"/>
                </a:solidFill>
                <a:latin typeface="맑은 고딕"/>
              </a:rPr>
              <a:t>✦ 이종접합 계면 → Rct 1/3 감소 (202 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3527999"/>
            <a:ext cx="3420000" cy="306000"/>
          </a:xfrm>
          <a:prstGeom prst="rect">
            <a:avLst/>
          </a:prstGeom>
          <a:solidFill>
            <a:srgbClr val="FFF0C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8B6A00"/>
                </a:solidFill>
                <a:latin typeface="맑은 고딕"/>
              </a:rPr>
              <a:t>V₂O₅  ~1 nm  (내층)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3833999"/>
            <a:ext cx="3420000" cy="46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SIB 고-Ni 양극재  NaNi₀.₈Mn₀.₁Co₀.₁O₂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1999" y="936000"/>
            <a:ext cx="522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코팅 소재별 역할 비교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71999" y="1152000"/>
          <a:ext cx="52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000"/>
                <a:gridCol w="1305000"/>
                <a:gridCol w="1305000"/>
                <a:gridCol w="1305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소재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주 기능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두께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본 과제 적용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Al₂O₃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HF 차단, AlF₃ 보호층 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1–3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TiO₂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상전이 억제, 이온 전도성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1–3 nm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★Al₂O₃/TiO₂ 이중층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HF 차단 + 상전이 억제 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3–5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1·2차년도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V₂O₅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Na 잔류물 제거, 이온·전자 전도성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1–2 nm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2차년도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★V₂O₅/TiO₂ 이중층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Na 잔류물 제거 + Rct 최소화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2–3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3차년도 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000000" y="936000"/>
            <a:ext cx="306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문헌 기반 성능 근거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0" y="1152000"/>
            <a:ext cx="3060000" cy="1007999"/>
          </a:xfrm>
          <a:prstGeom prst="rect">
            <a:avLst/>
          </a:prstGeom>
          <a:solidFill>
            <a:srgbClr val="E8F4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Al₂O₃/TiO₂ 이중층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100사이클 후  90.4%  용량 유지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Chen et al., ACS AMI,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0000" y="2232000"/>
            <a:ext cx="3060000" cy="1116000"/>
          </a:xfrm>
          <a:prstGeom prst="rect">
            <a:avLst/>
          </a:prstGeom>
          <a:solidFill>
            <a:srgbClr val="FFEEE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C8102E"/>
                </a:solidFill>
                <a:latin typeface="맑은 고딕"/>
              </a:rPr>
              <a:t>★ V₂O₅/TiO₂ 이중층  (본 과제)</a:t>
            </a:r>
          </a:p>
          <a:p>
            <a:pPr algn="l"/>
            <a:r>
              <a:rPr sz="1000" b="1">
                <a:solidFill>
                  <a:srgbClr val="C8102E"/>
                </a:solidFill>
                <a:latin typeface="맑은 고딕"/>
              </a:rPr>
              <a:t>계면저항  202 Ω</a:t>
            </a:r>
          </a:p>
          <a:p>
            <a:pPr algn="l"/>
            <a:r>
              <a:rPr sz="1000" b="1">
                <a:solidFill>
                  <a:srgbClr val="C8102E"/>
                </a:solidFill>
                <a:latin typeface="맑은 고딕"/>
              </a:rPr>
              <a:t>(단독 V₂O₅ 688 Ω 대비  1/3)</a:t>
            </a:r>
          </a:p>
          <a:p>
            <a:pPr algn="l"/>
            <a:r>
              <a:rPr sz="1000" b="1">
                <a:solidFill>
                  <a:srgbClr val="C8102E"/>
                </a:solidFill>
                <a:latin typeface="맑은 고딕"/>
              </a:rPr>
              <a:t>Kim et al., ACS AMI,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4000" y="6120000"/>
            <a:ext cx="11880000" cy="612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SIB 양극재에 V₂O₅/TiO₂ ALD 이중층을 적용한 문헌 선례 없음 → 세계 최초 시도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Al₂O₃·TiO₂가 해결 못하는 Na 잔류물 제거 + Rct 최소화를 동시에 달성하는 독창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2세부 핵심 기관 역량 — 기계연 × 대성기계의 분업 체계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배치식 ALD 레시피 개발(기계연) ↔ 연속식 양산 스케일업(대성기계)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5688000" cy="251999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한국기계연구원 (KIMM)  —  배치식 ALD 레시피 개발 + 코팅층 종합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1188000"/>
            <a:ext cx="5688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배치식 ALD 장비 2대 동시 운용 — TiO₂, Al₂O₃, V₂O₅, ZnO 병렬 레시피 개발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HR-TEM, EELS, XPS, Raman, FTIR, XRD 등 원자 단위 분석 인프라 완비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ALD 분야 SCI 논문 다수 (Science 2009 포함, 누적 피인용 2,000+ 회)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ZnF₂ ALD 배터리 계면 안정화 논문·특허 보유 (Adv. Sci.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2808000"/>
          <a:ext cx="56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00"/>
                <a:gridCol w="2844000"/>
              </a:tblGrid>
              <a:tr h="27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연차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한국기계연구원 주요 수행 내용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TiO₂·Al₂O₃ ALD 레시피 개발 및 FBR 이전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2차년도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V₂O₅·ZnO ALD 레시피 확장 및 OPERIO 10 이전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3차년도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최종 레시피 DB 완성 + Post-mortem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56000" y="936000"/>
            <a:ext cx="5868000" cy="251999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대성기계공업㈜  —  연속식 분말 ALD 운용 + 10 kg/h 양산 실증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000" y="1188000"/>
            <a:ext cx="5868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공압 이송 기반 연속식 분말 ALD 장비 OPERIO 10 보유 (국내 유일)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RTD(체류시간 분포) 기반 공정 정밀 제어 기술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분말 정량 피딩 및 가스 분산 기술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• ALD 장비 Turn-key 상용화 공급 경험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56000" y="2808000"/>
          <a:ext cx="586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4000"/>
                <a:gridCol w="2934000"/>
              </a:tblGrid>
              <a:tr h="27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연차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대성기계공업 주요 수행 내용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R&amp;D용 FBR 구축 + 기계연 TiO₂/Al₂O₃ 레시피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2차년도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OPERIO 10에 4종 레시피 적용·안정화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3차년도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10 kg/h 연속 운전 실증 (두께 편차 ≤5%)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44000" y="3960000"/>
            <a:ext cx="11880000" cy="21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■ 기관 연계 구조 (폐루프 피드백 파이프라인)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4194000"/>
            <a:ext cx="1655999" cy="900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기계연 배치식 ALD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레시피 개발·확립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6000" y="4194000"/>
            <a:ext cx="1655999" cy="900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0">
                <a:solidFill>
                  <a:srgbClr val="F0A500"/>
                </a:solidFill>
                <a:latin typeface="맑은 고딕"/>
              </a:rPr>
              <a:t>레시피 패키지 이전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8000" y="4194000"/>
            <a:ext cx="1655999" cy="90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대성기계 연속식 ALD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RTD 환산 적용·코팅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0000" y="4194000"/>
            <a:ext cx="1655999" cy="900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0">
                <a:solidFill>
                  <a:srgbClr val="F0A500"/>
                </a:solidFill>
                <a:latin typeface="맑은 고딕"/>
              </a:rPr>
              <a:t>← 코팅 시료 제공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000" y="4194000"/>
            <a:ext cx="1655999" cy="900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기계연 분석 검증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TEM/XPS/EELS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04000" y="4194000"/>
            <a:ext cx="1655999" cy="900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0">
                <a:solidFill>
                  <a:srgbClr val="F0A500"/>
                </a:solidFill>
                <a:latin typeface="맑은 고딕"/>
              </a:rPr>
              <a:t>← 분석 결과 피드백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96000" y="4194000"/>
            <a:ext cx="1655999" cy="900000"/>
          </a:xfrm>
          <a:prstGeom prst="rect">
            <a:avLst/>
          </a:prstGeom>
          <a:solidFill>
            <a:srgbClr val="FFF0C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444455"/>
                </a:solidFill>
                <a:latin typeface="맑은 고딕"/>
              </a:rPr>
              <a:t>레시피 미세 조정·재이전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" y="5148000"/>
            <a:ext cx="11880000" cy="396000"/>
          </a:xfrm>
          <a:prstGeom prst="rect">
            <a:avLst/>
          </a:prstGeom>
          <a:solidFill>
            <a:srgbClr val="FFF0CC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200" b="1">
                <a:solidFill>
                  <a:srgbClr val="1B3A6B"/>
                </a:solidFill>
                <a:latin typeface="맑은 고딕"/>
              </a:rPr>
              <a:t>RTD 기반 배치→연속식 변환 방법론 최초 확립  |  국내 유일 배치식↔연속식 분말 ALD 협력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3개년 연구추진 체계 및 연차별 일정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기관별 역할 체계도 + 간트차트 +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1188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■ 기관별 역할 체계도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1999" y="1152000"/>
            <a:ext cx="3780000" cy="39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전북대학교 (1세부 주관)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총괄 조정 / 전기화학 평가 / KPI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800000"/>
            <a:ext cx="3240000" cy="540000"/>
          </a:xfrm>
          <a:prstGeom prst="rect">
            <a:avLst/>
          </a:prstGeom>
          <a:solidFill>
            <a:srgbClr val="2E5FA3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한국기계연구원 (2세부)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배치식 ALD 레시피 개발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코팅층 종합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0" y="1800000"/>
            <a:ext cx="3240000" cy="54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대성기계공업 (2세부)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연속식 분말 ALD 스케일업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10 kg/h 양산 실증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2448000"/>
            <a:ext cx="1620000" cy="396000"/>
          </a:xfrm>
          <a:prstGeom prst="rect">
            <a:avLst/>
          </a:prstGeom>
          <a:solidFill>
            <a:srgbClr val="2E86C1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에버인더스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SIB 양극재 공급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448000"/>
            <a:ext cx="1620000" cy="396000"/>
          </a:xfrm>
          <a:prstGeom prst="rect">
            <a:avLst/>
          </a:prstGeom>
          <a:solidFill>
            <a:srgbClr val="2E86C1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씨오알엔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1Ah 파우치셀 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3096000"/>
            <a:ext cx="1188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■ 연차별 추진 일정 (간트차트)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4000" y="3294000"/>
          <a:ext cx="1188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000"/>
                <a:gridCol w="2970000"/>
                <a:gridCol w="2970000"/>
                <a:gridCol w="2970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과제 내용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2차년도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3차년도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[기계연] TiO₂·Al₂O₃ ALD 레시피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[기계연] V₂O₅·ZnO ALD 레시피 개발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[기계연] 코팅층 종합 분석 (HRTEM/EELS/XPS)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[기계연] 레시피 이전 검증 및 피드백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[대성기계] FBR 구축 + TiO₂/Al₂O₃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[대성기계] OPERIO 10 연속 공정 안정화 (4종)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[대성기계] 10 kg/h 양산 운전 실증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●●●●●●●●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전기화학 평가 (Coin→Pouch)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●●●●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44000" y="5903999"/>
            <a:ext cx="3888000" cy="684000"/>
          </a:xfrm>
          <a:prstGeom prst="rect">
            <a:avLst/>
          </a:prstGeom>
          <a:solidFill>
            <a:srgbClr val="FFF0CC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M1  1차년도 말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TiO₂/Al₂O₃ 레시피 패키지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→ 대성기계 FBR 이전 완료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0000" y="5903999"/>
            <a:ext cx="3780000" cy="684000"/>
          </a:xfrm>
          <a:prstGeom prst="rect">
            <a:avLst/>
          </a:prstGeom>
          <a:solidFill>
            <a:srgbClr val="FFF0CC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M2  2차년도 말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4종 레시피 OPERIO 10 이전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배치식 vs. 연속식 품질 동등성 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000" y="5903999"/>
            <a:ext cx="3996000" cy="684000"/>
          </a:xfrm>
          <a:prstGeom prst="rect">
            <a:avLst/>
          </a:prstGeom>
          <a:solidFill>
            <a:srgbClr val="FFF0CC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M3  3차년도 말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10 kg/h 24시간 연속 운전 실증</a:t>
            </a:r>
          </a:p>
          <a:p>
            <a:pPr algn="ctr"/>
            <a:r>
              <a:rPr sz="900" b="1">
                <a:solidFill>
                  <a:srgbClr val="1B3A6B"/>
                </a:solidFill>
                <a:latin typeface="맑은 고딕"/>
              </a:rPr>
              <a:t>+ 1Ah 파우치셀 최종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연속식 분말 ALD 공정 개발 — 배치식 레시피 → 양산 이전 파이프라인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RTD 기반 정량 변환 알고리즘 + 3단계 스케일업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55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배치식 vs. 연속식 ALD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000" y="1152000"/>
          <a:ext cx="558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배치식 FBR (기계연)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연속식 공압 이송 (대성기계)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레시피 개발 용이성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★★★★★ 매우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★★☆☆☆ 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처리량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소량~중간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8102E"/>
                          </a:solidFill>
                          <a:latin typeface="맑은 고딕"/>
                        </a:rPr>
                        <a:t>10 kg/h 이상 ★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두께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정밀 (직접 측정)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RTD 기반 간접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본 과제 역할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레시피 소스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양산 적용 플랫폼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4000" y="2880000"/>
            <a:ext cx="55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핵심 기술: RTD 기반 레시피 이전 방법론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3096000"/>
            <a:ext cx="558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문제: 배치식(정지 반응) → 연속식(비행 반응) 간 공정 환경 근본적 차이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해결: Pulse 시간을 체류시간 분포(RTD) 최솟값으로 변환하는 정량적 알고리즘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3996000"/>
            <a:ext cx="5580000" cy="50399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최소 체류시간:  μ - 2σ  ≥  t_pulse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4000" y="4536000"/>
          <a:ext cx="558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000"/>
                <a:gridCol w="2790000"/>
              </a:tblGrid>
              <a:tr h="252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배치식 변수 (기계연)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연속식 변수 (대성기계)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반응 온도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반응 구간 온도 설정값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Precursor pulse 시간 (s)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분말 최소 체류시간 (RTD)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Purge 시간 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퍼지 구간 길이 및 가스 유량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GPC (Å/cycle)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코팅 두께 예측값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공정 윈도우 (온도 범위)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연속 공정 허용 온도 편차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32000" y="936000"/>
            <a:ext cx="6192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3단계 스케일업 로드맵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152000"/>
            <a:ext cx="6192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STAGE 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1차년도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1368000"/>
            <a:ext cx="6192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배치식 FBR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기계연 R&amp;D 장비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소량(g) · ≤10% · TiO₂·Al₂O₃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Self-limiting · GPC 포화 곡선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32000" y="414721440000"/>
            <a:ext cx="6192000" cy="216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STAGE 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2차년도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2000" y="414721656000"/>
            <a:ext cx="6192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OPERIO 10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대성기계 파일럿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kg급 · ≤7% · 4종 이전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RTD 공정 매핑 · 연속 안정화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품질 동등성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2000" y="907201727999"/>
            <a:ext cx="6192000" cy="216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STAGE 3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3차년도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2000" y="907201944000"/>
            <a:ext cx="6192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양산형 연속식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대성기계 양산 장비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10 kg/h ★ · ≤5% ★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24h 연속 운전 실증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1Ah 파우치셀 검증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Scale-up 가이드 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2000" y="5976000"/>
            <a:ext cx="6192000" cy="648000"/>
          </a:xfrm>
          <a:prstGeom prst="rect">
            <a:avLst/>
          </a:prstGeom>
          <a:solidFill>
            <a:srgbClr val="FFF0CC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1B3A6B"/>
                </a:solidFill>
                <a:latin typeface="맑은 고딕"/>
              </a:rPr>
              <a:t>핵심 기술 — RTD 정량 변환</a:t>
            </a:r>
          </a:p>
          <a:p>
            <a:pPr algn="ctr"/>
            <a:r>
              <a:rPr sz="1000" b="1">
                <a:solidFill>
                  <a:srgbClr val="1B3A6B"/>
                </a:solidFill>
                <a:latin typeface="맑은 고딕"/>
              </a:rPr>
              <a:t>최소 체류시간: μ - 2σ ≥ t_pulse</a:t>
            </a:r>
          </a:p>
          <a:p>
            <a:pPr algn="ctr"/>
            <a:r>
              <a:rPr sz="1000" b="1">
                <a:solidFill>
                  <a:srgbClr val="1B3A6B"/>
                </a:solidFill>
                <a:latin typeface="맑은 고딕"/>
              </a:rPr>
              <a:t>→ 기술 이전 재현성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연구개발 목표 — 소재 항목 평가지표 (KPI)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연차별 목표값 및 측정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" y="1007999"/>
          <a:ext cx="118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376000"/>
                <a:gridCol w="2376000"/>
                <a:gridCol w="2376000"/>
                <a:gridCol w="2376000"/>
              </a:tblGrid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평가항목 (가중치)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1차년도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2차년도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3차년도 (최종)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측정 기준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ALD 코팅 균일도
두께 편차 (%)  [30%]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8102E"/>
                          </a:solidFill>
                          <a:latin typeface="맑은 고딕"/>
                        </a:rPr>
                        <a:t>≤5%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1차: 배치식 / 2·3차: 10 kg/h 연속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초기 쿨롱 효율 (%)  [20%]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≥80%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≥83%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8102E"/>
                          </a:solidFill>
                          <a:latin typeface="맑은 고딕"/>
                        </a:rPr>
                        <a:t>≥85% ★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1차: coin cell / 3차: 1Ah pouch cell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계면저항 (Ω·cm²)  [20%]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8102E"/>
                          </a:solidFill>
                          <a:latin typeface="맑은 고딕"/>
                        </a:rPr>
                        <a:t>≤50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EIS 평가, 사이클 후 25°C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코팅층 피복률 (%)  [15%]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≥85%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≥90%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8102E"/>
                          </a:solidFill>
                          <a:latin typeface="맑은 고딕"/>
                        </a:rPr>
                        <a:t>≥95% ★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TEM/XPS 분석 기준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GPC 재현성 (%)  [15%]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≤10%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8102E"/>
                          </a:solidFill>
                          <a:latin typeface="맑은 고딕"/>
                        </a:rPr>
                        <a:t>≤5%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44455"/>
                          </a:solidFill>
                          <a:latin typeface="맑은 고딕"/>
                        </a:rPr>
                        <a:t>1차: batch / 3차: 24시간 연속 운전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4000" y="3888000"/>
            <a:ext cx="576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두께 편차  최종 ≤5%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4086000"/>
            <a:ext cx="576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배치식·Pilot·양산 단계별로 엄격해지는 구조 —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단계별 측정 조건 명시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0" y="3888000"/>
            <a:ext cx="576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초기 쿨롱 효율  최종 ≥85%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000" y="4086000"/>
            <a:ext cx="576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coin cell(1차) → pouch cell(3차) 측정 기준 변화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명확히 표기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" y="5184000"/>
            <a:ext cx="576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계면저항 단위  Ω·cm²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5382000"/>
            <a:ext cx="576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단순 Ω와 혼동 주의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슬라이드 표기 통일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5184000"/>
            <a:ext cx="5760000" cy="198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용량유지율 포함 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5382000"/>
            <a:ext cx="576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200사이클 후 ≥80%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(3차년도 coin cell 기준)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한국기계연구원 연구목표 및 수행 내용 (2세부 공동기관)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4개 항목 — 레시피개발 / 코팅층분석 / 레시피이전 / 전기화학평가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118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① ALD 공정 레시피 개발 (4종 산화물)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1152000"/>
            <a:ext cx="5760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목표: 배치식 ALD 장비 2대를 활용한 H₂O 기반 산화물 ALD 공정 레시피 체계적 확립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배치식 ALD #1/#2 병렬 운용: TiO₂/Al₂O₃(1차), V₂O₅/ZnO(2차)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Self-limiting 반응 조건 정량 확인 — GPC vs. pulse 시간 포화 곡선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독창 구조 개발: V₂O₅(내층)/TiO₂(외층) ALD 이중층 레시피 최초 확립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48000" y="1152000"/>
          <a:ext cx="5976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200"/>
                <a:gridCol w="1195200"/>
                <a:gridCol w="1195200"/>
                <a:gridCol w="1195200"/>
                <a:gridCol w="11952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코팅 물질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전구체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반응제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탐색 온도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목표 GPC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TiO₂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H₂O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200–250°C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0.5–0.8 Å/cyc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Al₂O₃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TMA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H₂O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150–200°C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0.8–1.2 Å/cyc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V₂O₅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VTIP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H₂O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150–250°C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0.3–0.6 Å/cyc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ZnO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DEZn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H₂O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100–200°C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1.5–2.0 Å/cyc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44000" y="3888000"/>
            <a:ext cx="118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② 코팅층 원자 단위 종합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4104000"/>
            <a:ext cx="5760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목표: HR-TEM/EELS/XPS 기반 ALD 코팅층 구조·조성·두께 정밀 분석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HR-TEM/EELS: 코팅층 두께 0.1 nm 해상도 + 원소 분포 nm 수준 매핑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XPS: 코팅층 조성 및 화학 결합 상태 (Ti 2p, Al 2p, V 2p, Zn 2p)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배치식 vs. 연속식 코팅 품질 동등성 HRTEM 직접 비교 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48000" y="4104000"/>
          <a:ext cx="5976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000"/>
                <a:gridCol w="2988000"/>
              </a:tblGrid>
              <a:tr h="24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분석 장비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분석 목적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HR-TEM (FIB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코팅층 두께·계면 원자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EELS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원소 분포 고분해능 매핑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XPS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표면 조성·화학 결합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SEM-EDX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입자 형상·원소 면분석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Raman / FTIR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구조 변화·잔류 전구체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44000" y="5472000"/>
            <a:ext cx="576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③ 레시피 이전 및 연속식 공정 피드백 지원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5688000"/>
            <a:ext cx="5760000" cy="100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레시피 패키지 작성 — 온도·pulse/purge 시간·GPC·공정 윈도우 문서화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단계별 이전: FBR(1차) → OPERIO 10(2차) → 10 kg/h 양산(3차)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RTD 기반 배치→연속식 변환 방법론 최초 확립 (정량적 매핑 알고리즘)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5472000"/>
            <a:ext cx="576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④ 코팅 양극재 전기화학 성능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5688000"/>
            <a:ext cx="5760000" cy="100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Half-cell 기반 4종 코팅재·두께별 비교 평가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200사이클 후 Post-mortem 분석 — TEM/XPS 기반 코팅층 안정성 규명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1Ah 파우치셀 해체 분석 (씨오알엔 협력)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한국기계연구원 연구역량 — ALD 분야 논문·특허 실적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20년+ ALD 연구 이력 | Science 포함 SCI 100편+ | 피인용 2,000회+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118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핵심 논문 실적 (ALD·배터리 계면 관련 5선)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000" y="1152000"/>
          <a:ext cx="118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376000"/>
                <a:gridCol w="2376000"/>
                <a:gridCol w="2376000"/>
                <a:gridCol w="2376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논문 제목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저널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피인용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맑은 고딕"/>
                        </a:rPr>
                        <a:t>본 과제 연관성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Greatly increased toughness of infiltrated spider silk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ALD 원천기술 — 기상 전구체 침투·코팅 이론적 기원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Accelerated Sulfur Evolution by TiS₂/TiO₂@MXene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Adv. Funct. Mater.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TiO₂ ALD 전극 계면 제어 → 본 과제 TiO₂ 레시피 선행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Porous carbon with VC/V₂O₃₋ₓ for Li–S batteries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Energy Storage Mater.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V 산화물 코팅 계면 화학 → V₂O₅ ALD 레시피 선행 지식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Taming Li Nucleation by ZnF₂ ALD Layer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Advanced Science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신규(2025)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ZnF₂ ALD 배터리 계면 안정화 직접 실증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Ultrathin 90 nm ZnF₂ Layer for Zn Anode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ACS Energy Lett.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신규(2025)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444455"/>
                          </a:solidFill>
                          <a:latin typeface="맑은 고딕"/>
                        </a:rPr>
                        <a:t>ALD 초박막 음극 보호 — 두께 제어 기술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4000" y="3240000"/>
            <a:ext cx="118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ALD 연구 이력 타임라인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3474000"/>
            <a:ext cx="2880000" cy="25199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2006–2009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3726000"/>
            <a:ext cx="288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독일 Max Planck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연구소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" y="3924000"/>
            <a:ext cx="288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ALD 원천기술 확립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Science 2009 (피인용 503회)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ZnO, TiO₂ ALD on biological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8000" y="3474000"/>
            <a:ext cx="2880000" cy="25199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2010–2015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8000" y="3726000"/>
            <a:ext cx="288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한국기계연구원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8000" y="3924000"/>
            <a:ext cx="288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ALD 나노구조 및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전극 소재 응용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graphene CVD 기반 나노 복합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3474000"/>
            <a:ext cx="2880000" cy="25199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2020–2023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3726000"/>
            <a:ext cx="288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배터리 전극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ALD 코팅 응용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3924000"/>
            <a:ext cx="288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TiO₂/TiS₂ 계면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V₂O₃₋ₓ 표면 코팅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Li-S 전지 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6000" y="3474000"/>
            <a:ext cx="2880000" cy="25199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2024–2025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16000" y="3726000"/>
            <a:ext cx="288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ALD 배터리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계면 특화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6000" y="3924000"/>
            <a:ext cx="288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ZnF₂ ALD Li/Zn 음극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(Adv. Sci., ACS Energy Lett.)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SIB 양극재 ALD 착수 → 본 과제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000" y="5256000"/>
            <a:ext cx="11880000" cy="216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■ 핵심 역량 요약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000" y="5490000"/>
            <a:ext cx="3888000" cy="21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ALD 연구 경력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" y="5706000"/>
            <a:ext cx="3888000" cy="1007999"/>
          </a:xfrm>
          <a:prstGeom prst="rect">
            <a:avLst/>
          </a:prstGeom>
          <a:solidFill>
            <a:srgbClr val="E8F4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20년+ / Science 포함 SCI 논문 100편+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누적 피인용 2,000회+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6000" y="5490000"/>
            <a:ext cx="3888000" cy="21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장비 역량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6000" y="5706000"/>
            <a:ext cx="3888000" cy="1007999"/>
          </a:xfrm>
          <a:prstGeom prst="rect">
            <a:avLst/>
          </a:prstGeom>
          <a:solidFill>
            <a:srgbClr val="E8F4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배치식 ALD 장비 2대 보유 및 실운용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4종 산화물 공정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7999" y="5490000"/>
            <a:ext cx="3888000" cy="21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분석 역량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7999" y="5706000"/>
            <a:ext cx="3888000" cy="1007999"/>
          </a:xfrm>
          <a:prstGeom prst="rect">
            <a:avLst/>
          </a:prstGeom>
          <a:solidFill>
            <a:srgbClr val="E8F4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HRTEM/EELS 기반 원자 단위</a:t>
            </a:r>
          </a:p>
          <a:p>
            <a:pPr algn="l"/>
            <a:r>
              <a:rPr sz="1000" b="0">
                <a:solidFill>
                  <a:srgbClr val="444455"/>
                </a:solidFill>
                <a:latin typeface="맑은 고딕"/>
              </a:rPr>
              <a:t>ALD 코팅층 구조 분석 기술 내재화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tIns="108000"/>
          <a:lstStyle/>
          <a:p>
            <a:pPr algn="l"/>
            <a:r>
              <a:rPr b="1" sz="2000">
                <a:solidFill>
                  <a:srgbClr val="FFFFFF"/>
                </a:solidFill>
                <a:latin typeface="맑은 고딕"/>
              </a:rPr>
              <a:t>기관별 핵심 보유 기술 — 2세부 컨소시엄 핵심 강점</a:t>
            </a:r>
          </a:p>
          <a:p>
            <a:pPr algn="l"/>
            <a:r>
              <a:rPr sz="1100">
                <a:solidFill>
                  <a:srgbClr val="CCDDFF"/>
                </a:solidFill>
                <a:latin typeface="맑은 고딕"/>
              </a:rPr>
              <a:t>한국기계연구원 (공정기술·분석역량) × 대성기계공업㈜ (장비기술·양산역량)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0" y="6660000"/>
            <a:ext cx="5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BB"/>
                </a:solidFill>
                <a:latin typeface="맑은 고딕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936000"/>
            <a:ext cx="5760000" cy="234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한국기계연구원 (KIMM)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1170000"/>
            <a:ext cx="576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① ALD 공정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1368000"/>
            <a:ext cx="576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배치식 ALD 장비 2대: TMA/TTIP/VTIP/DEZn 전구체 취급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Self-limiting 반응 정밀 측정 기술 (GPC vs. pulse 포화 곡선)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독창 구조: V₂O₅(내층)/TiO₂(외층) 이중층 ALD 레시피 개발 추진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2502000"/>
            <a:ext cx="576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② 나노 분석 인프라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2700000"/>
            <a:ext cx="576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HR-TEM / EELS: 코팅층 두께 0.1 nm 해상도 + 원소 분포 매핑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XPS: 표면 조성·화학 결합 상태 정밀 분석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SEM-EDX / Raman / FTIR / Potentiostat 완비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" y="3834000"/>
            <a:ext cx="5760000" cy="198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③ 배터리 계면 연구 실적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4032000"/>
            <a:ext cx="576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ZnF₂ ALD → 배터리 계면 안정화 (Adv. Sci. 2025)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TiO₂/TiS₂ 전극 계면 제어 (Adv. Funct. Mater. 2023, 피인용 135)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바나듐 산화물 표면 코팅 (Energy Storage Mater. 2022, 피인용 65)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936000"/>
            <a:ext cx="5903999" cy="234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대성기계공업㈜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70000"/>
            <a:ext cx="5903999" cy="198000"/>
          </a:xfrm>
          <a:prstGeom prst="rect">
            <a:avLst/>
          </a:prstGeom>
          <a:solidFill>
            <a:srgbClr val="1E8B5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① 연속식 분말 ALD 장비 (OPERIO 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368000"/>
            <a:ext cx="5903999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공압 이송 기반 상압 연속 공정 — 국내 유일 독자 개발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분말 체류시간(RTD) 정밀 제어 능력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구간 분리형 반응기 구조 (전구체 교차 오염 방지)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2502000"/>
            <a:ext cx="5903999" cy="198000"/>
          </a:xfrm>
          <a:prstGeom prst="rect">
            <a:avLst/>
          </a:prstGeom>
          <a:solidFill>
            <a:srgbClr val="1E8B5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② 스케일업 실증 역량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2700000"/>
            <a:ext cx="5903999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R&amp;D FBR: 소량 / 두께 편차 ≤10%  (1차년도)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OPERIO 10 (Pilot): kg급 / 두께 편차 ≤7%  (2차년도)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양산형 연속식: 10 kg/h ★ / 두께 편차 ≤5% ★  (3차년도)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0000" y="3834000"/>
            <a:ext cx="5903999" cy="198000"/>
          </a:xfrm>
          <a:prstGeom prst="rect">
            <a:avLst/>
          </a:prstGeom>
          <a:solidFill>
            <a:srgbClr val="1E8B5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③ Turn-key 공급 역량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4032000"/>
            <a:ext cx="5903999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ALD 장비 Turn-key 패키지 (레시피+장비+SOP) 상용화 경험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국내 공압 이송 기반 연속식 분말 ALD 양산 장비 국내 선도</a:t>
            </a:r>
          </a:p>
          <a:p>
            <a:pPr algn="l"/>
            <a:r>
              <a:rPr sz="900" b="0">
                <a:solidFill>
                  <a:srgbClr val="444455"/>
                </a:solidFill>
                <a:latin typeface="맑은 고딕"/>
              </a:rPr>
              <a:t>• 배터리 소재 ALD 코팅 공정 국산화 → 해외 의존도 저감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" y="6156000"/>
            <a:ext cx="11880000" cy="612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RTD 기반 배치→연속식 변환 방법론 최초 확립  |  국내 유일 배치식↔연속식 분말 ALD 협력 모델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SIB 양극재 V₂O₅/TiO₂ ALD 이중층 적용 — 세계 최초 시도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