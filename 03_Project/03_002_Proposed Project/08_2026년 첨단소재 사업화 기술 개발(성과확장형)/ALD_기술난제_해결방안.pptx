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552" y="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20000" y="3291840"/>
            <a:ext cx="10748952" cy="21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748952" cy="10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연속식 분말 ALD 코팅의</a:t>
            </a:r>
          </a:p>
          <a:p>
            <a:pPr algn="ctr"/>
            <a:r>
              <a:rPr sz="3600" b="1" i="0">
                <a:solidFill>
                  <a:srgbClr val="FFFFFF"/>
                </a:solidFill>
              </a:rPr>
              <a:t>3대 기술적 난제와 해결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168000"/>
            <a:ext cx="10748952" cy="43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한국기계연구원 (KIMM)  ×  대성기계공업㈜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8952" y="5598000"/>
            <a:ext cx="4860000" cy="10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1100" b="0" i="0">
                <a:solidFill>
                  <a:srgbClr val="6090C0"/>
                </a:solidFill>
              </a:rPr>
              <a:t>Batch-to-Continuous Recipe Transfer</a:t>
            </a:r>
          </a:p>
          <a:p>
            <a:pPr algn="r"/>
            <a:r>
              <a:rPr sz="1100" b="0" i="0">
                <a:solidFill>
                  <a:srgbClr val="6090C0"/>
                </a:solidFill>
              </a:rPr>
              <a:t>V₂O₅/TiO₂ Bilayer ALD  ·  RTD Algorithm</a:t>
            </a:r>
          </a:p>
          <a:p>
            <a:pPr algn="r"/>
            <a:r>
              <a:rPr sz="1100" b="0" i="0">
                <a:solidFill>
                  <a:srgbClr val="6090C0"/>
                </a:solidFill>
              </a:rPr>
              <a:t>10 kg/h Continuous Powder ALD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62000"/>
            <a:ext cx="12188952" cy="396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0000" y="6516000"/>
            <a:ext cx="11828952" cy="30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2026년 첨단소재 원천기술 성장지원사업 (2026-나노소재-6차)  |  2세부 선정평가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ALD 코팅 기술 — 왜 양산이 어려운가?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산업화의 3대 핵심 장벽 및 본 과제의 해결 접근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666000"/>
            <a:ext cx="11900952" cy="39600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6000" y="702000"/>
            <a:ext cx="11756952" cy="30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1F4E79"/>
                </a:solidFill>
              </a:rPr>
              <a:t>ALD(원자층 증착)는 Å 수준 두께 제어와 완전 균일 피복(conformal coating)으로 SIB 양극재 계면 안정화에 이상적인 기술이다.</a:t>
            </a:r>
          </a:p>
          <a:p>
            <a:pPr algn="l"/>
            <a:r>
              <a:rPr sz="1000" b="0" i="0">
                <a:solidFill>
                  <a:srgbClr val="1F4E79"/>
                </a:solidFill>
              </a:rPr>
              <a:t>그러나 배치식→양산 이전 불가 · 코팅 활성 제어 곤란 · 대량 균일 코팅 부재 — 3가지 난제가 상용화의 핵심 장벽이다.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" y="1170000"/>
            <a:ext cx="3846984" cy="16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1324800"/>
            <a:ext cx="3846984" cy="172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배치식 → 연속식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공정 이전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4000" y="1584000"/>
            <a:ext cx="3738984" cy="10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배치식(정지반응) vs 연속식(비행반응)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공정 환경의 근본적 차이로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레시피 직접 이전 불가능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두께 편차 &gt;30% 발생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8984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98984" y="1170000"/>
            <a:ext cx="3846984" cy="16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8984" y="1324800"/>
            <a:ext cx="3846984" cy="172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V₂O₅ 코팅층의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전기화학적 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984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52984" y="1584000"/>
            <a:ext cx="3738984" cy="10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V₂O₅ 작동전압(2.0–3.5V)이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SIB 운전전압(2.0–4.2V)과 중복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두꺼운 코팅 시 성능 저하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Å 수준 두께 제어 필수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7968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7968" y="1170000"/>
            <a:ext cx="3846984" cy="16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7968" y="1324800"/>
            <a:ext cx="3846984" cy="172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대량 양산 시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코팅 균일도 미확보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7968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71967" y="1584000"/>
            <a:ext cx="3738984" cy="10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분말 뭉침(Agglomeration)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정체구간(Dead Zone) 발생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전구체 노출 불균일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g수준→10 kg/h: 3,000배↑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000" y="6390000"/>
            <a:ext cx="11900952" cy="342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6000" y="6408000"/>
            <a:ext cx="11756952" cy="28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 i="0">
                <a:solidFill>
                  <a:srgbClr val="FFC000"/>
                </a:solidFill>
              </a:rPr>
              <a:t>→  이 3가지 난제를 동시에 해결하기 위해, 본 과제는 기계연(ALD 레시피) × 대성기계(연속 장비)의 전문화된 협력 체계를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3대 기술적 난제 및 해결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기계연(레시피·분석) × 대성기계(연속장비·양산) 협력 모델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2EEEAA8-2072-4D45-995F-D885FC573957}"/>
              </a:ext>
            </a:extLst>
          </p:cNvPr>
          <p:cNvGrpSpPr/>
          <p:nvPr/>
        </p:nvGrpSpPr>
        <p:grpSpPr>
          <a:xfrm>
            <a:off x="180000" y="683999"/>
            <a:ext cx="11684952" cy="5572867"/>
            <a:chOff x="180000" y="684000"/>
            <a:chExt cx="11684952" cy="3294000"/>
          </a:xfrm>
        </p:grpSpPr>
        <p:sp>
          <p:nvSpPr>
            <p:cNvPr id="7" name="Rectangle 6"/>
            <p:cNvSpPr/>
            <p:nvPr/>
          </p:nvSpPr>
          <p:spPr>
            <a:xfrm>
              <a:off x="180000" y="684000"/>
              <a:ext cx="3846984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8000" y="694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 dirty="0" err="1">
                  <a:solidFill>
                    <a:srgbClr val="FFFFFF"/>
                  </a:solidFill>
                </a:rPr>
                <a:t>난제</a:t>
              </a:r>
              <a:r>
                <a:rPr sz="1000" b="1" i="0" dirty="0">
                  <a:solidFill>
                    <a:srgbClr val="FFFFFF"/>
                  </a:solidFill>
                </a:rPr>
                <a:t> ①</a:t>
              </a:r>
            </a:p>
            <a:p>
              <a:pPr algn="ctr"/>
              <a:r>
                <a:rPr sz="1000" b="1" i="0" dirty="0" err="1">
                  <a:solidFill>
                    <a:srgbClr val="FFFFFF"/>
                  </a:solidFill>
                </a:rPr>
                <a:t>배치</a:t>
              </a:r>
              <a:r>
                <a:rPr sz="1000" b="1" i="0" dirty="0">
                  <a:solidFill>
                    <a:srgbClr val="FFFFFF"/>
                  </a:solidFill>
                </a:rPr>
                <a:t> → </a:t>
              </a:r>
              <a:r>
                <a:rPr sz="1000" b="1" i="0" dirty="0" err="1">
                  <a:solidFill>
                    <a:srgbClr val="FFFFFF"/>
                  </a:solidFill>
                </a:rPr>
                <a:t>연속</a:t>
              </a:r>
              <a:r>
                <a:rPr sz="1000" b="1" i="0" dirty="0">
                  <a:solidFill>
                    <a:srgbClr val="FFFFFF"/>
                  </a:solidFill>
                </a:rPr>
                <a:t> </a:t>
              </a:r>
              <a:r>
                <a:rPr sz="1000" b="1" i="0" dirty="0" err="1">
                  <a:solidFill>
                    <a:srgbClr val="FFFFFF"/>
                  </a:solidFill>
                </a:rPr>
                <a:t>이전</a:t>
              </a:r>
              <a:r>
                <a:rPr sz="1000" b="1" i="0" dirty="0">
                  <a:solidFill>
                    <a:srgbClr val="FFFFFF"/>
                  </a:solidFill>
                </a:rPr>
                <a:t> </a:t>
              </a:r>
              <a:r>
                <a:rPr sz="1000" b="1" i="0" dirty="0" err="1">
                  <a:solidFill>
                    <a:srgbClr val="FFFFFF"/>
                  </a:solidFill>
                </a:rPr>
                <a:t>불가</a:t>
              </a:r>
              <a:endParaRPr sz="10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0000" y="928800"/>
              <a:ext cx="3846984" cy="1044000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000" y="954000"/>
              <a:ext cx="3774984" cy="1007999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배치식: 분말 정지 → Pulse시간 = 노출시간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연속식: 분말 비행 중 → Pulse시간 ≠ 노출시간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직접 이전 시 두께 편차 &gt;30%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재현성 확보 불가</a:t>
              </a:r>
            </a:p>
          </p:txBody>
        </p:sp>
        <p:sp>
          <p:nvSpPr>
            <p:cNvPr id="11" name="Can 10"/>
            <p:cNvSpPr/>
            <p:nvPr/>
          </p:nvSpPr>
          <p:spPr>
            <a:xfrm>
              <a:off x="2004492" y="1998000"/>
              <a:ext cx="198000" cy="252000"/>
            </a:xfrm>
            <a:prstGeom prst="can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00" y="2268000"/>
              <a:ext cx="3846984" cy="234000"/>
            </a:xfrm>
            <a:prstGeom prst="rect">
              <a:avLst/>
            </a:prstGeom>
            <a:solidFill>
              <a:srgbClr val="375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8000" y="2278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해결 ①</a:t>
              </a:r>
            </a:p>
            <a:p>
              <a:pPr algn="ctr"/>
              <a:r>
                <a:rPr sz="1000" b="1" i="0">
                  <a:solidFill>
                    <a:srgbClr val="FFFFFF"/>
                  </a:solidFill>
                </a:rPr>
                <a:t>RTD 기반 정량 변환 알고리즘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0000" y="2520000"/>
              <a:ext cx="3846984" cy="1260000"/>
            </a:xfrm>
            <a:prstGeom prst="rect">
              <a:avLst/>
            </a:prstGeom>
            <a:solidFill>
              <a:srgbClr val="E2EFDA"/>
            </a:solidFill>
            <a:ln w="6350">
              <a:solidFill>
                <a:srgbClr val="375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6000" y="2556000"/>
              <a:ext cx="3774984" cy="12060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체류시간 분포(RTD) 측정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최소 체류시간: μ - 2σ ≥ t_pulse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배치식 변수 → 연속식 변수 1:1 매핑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기계연 레시피 → 대성기계 이전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★ 세계 최초 정량적 이전 방법론 확립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98984" y="684000"/>
              <a:ext cx="3846984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16984" y="694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난제 ②</a:t>
              </a:r>
            </a:p>
            <a:p>
              <a:pPr algn="ctr"/>
              <a:r>
                <a:rPr sz="1000" b="1" i="0">
                  <a:solidFill>
                    <a:srgbClr val="FFFFFF"/>
                  </a:solidFill>
                </a:rPr>
                <a:t>V₂O₅ 전기화학적 활성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98984" y="928800"/>
              <a:ext cx="3846984" cy="1044000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34983" y="954000"/>
              <a:ext cx="3774984" cy="1007999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V₂O₅ 운전전압: 2.0–3.5V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SIB 양극 운전전압: 2.0–4.2V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전압범위 중복 → 두꺼우면 독립 전극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전압 프로파일 교란 → 성능 저하</a:t>
              </a:r>
            </a:p>
          </p:txBody>
        </p:sp>
        <p:sp>
          <p:nvSpPr>
            <p:cNvPr id="20" name="Can 19"/>
            <p:cNvSpPr/>
            <p:nvPr/>
          </p:nvSpPr>
          <p:spPr>
            <a:xfrm>
              <a:off x="5923476" y="1998000"/>
              <a:ext cx="198000" cy="252000"/>
            </a:xfrm>
            <a:prstGeom prst="can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98984" y="2268000"/>
              <a:ext cx="3846984" cy="234000"/>
            </a:xfrm>
            <a:prstGeom prst="rect">
              <a:avLst/>
            </a:prstGeom>
            <a:solidFill>
              <a:srgbClr val="375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16984" y="2278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해결 ②</a:t>
              </a:r>
            </a:p>
            <a:p>
              <a:pPr algn="ctr"/>
              <a:r>
                <a:rPr sz="1000" b="1" i="0">
                  <a:solidFill>
                    <a:srgbClr val="FFFFFF"/>
                  </a:solidFill>
                </a:rPr>
                <a:t>ALD 이중층 설계로 활성 차단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098984" y="2520000"/>
              <a:ext cx="3846984" cy="1260000"/>
            </a:xfrm>
            <a:prstGeom prst="rect">
              <a:avLst/>
            </a:prstGeom>
            <a:solidFill>
              <a:srgbClr val="E2EFDA"/>
            </a:solidFill>
            <a:ln w="6350">
              <a:solidFill>
                <a:srgbClr val="375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34983" y="2556000"/>
              <a:ext cx="3774984" cy="12060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ALD 자기제한: 1사이클 ≈ 0.5Å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1–2 nm (5–10사이클) 정밀 제어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비정질(amorphous) VOₓ 선호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V₂O₅(내층)/TiO₂(외층) 이중층: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TiO₂ 외층이 전해질 직접 접촉 차단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Rct: 688 Ω → 202 Ω (1/3 수준)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017968" y="684000"/>
              <a:ext cx="3846984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35968" y="694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난제 ③</a:t>
              </a:r>
            </a:p>
            <a:p>
              <a:pPr algn="ctr"/>
              <a:r>
                <a:rPr sz="1000" b="1" i="0">
                  <a:solidFill>
                    <a:srgbClr val="FFFFFF"/>
                  </a:solidFill>
                </a:rPr>
                <a:t>양산 시 균일도 미확보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017968" y="928800"/>
              <a:ext cx="3846984" cy="1044000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53968" y="954000"/>
              <a:ext cx="3774984" cy="1007999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처리량: g 수준 → 10 kg/h (×3,000배)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분말 뭉침 → 미코팅 입자 발생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정체구간(Dead Zone) → 과코팅 혼재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GPC 편차 증가 → 품질 저하</a:t>
              </a:r>
            </a:p>
          </p:txBody>
        </p:sp>
        <p:sp>
          <p:nvSpPr>
            <p:cNvPr id="29" name="Can 28"/>
            <p:cNvSpPr/>
            <p:nvPr/>
          </p:nvSpPr>
          <p:spPr>
            <a:xfrm>
              <a:off x="9842460" y="1998000"/>
              <a:ext cx="198000" cy="252000"/>
            </a:xfrm>
            <a:prstGeom prst="can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017968" y="2268000"/>
              <a:ext cx="3846984" cy="234000"/>
            </a:xfrm>
            <a:prstGeom prst="rect">
              <a:avLst/>
            </a:prstGeom>
            <a:solidFill>
              <a:srgbClr val="375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5968" y="2278800"/>
              <a:ext cx="3810984" cy="2232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해결 ③</a:t>
              </a:r>
            </a:p>
            <a:p>
              <a:pPr algn="ctr"/>
              <a:r>
                <a:rPr sz="1000" b="1" i="0">
                  <a:solidFill>
                    <a:srgbClr val="FFFFFF"/>
                  </a:solidFill>
                </a:rPr>
                <a:t>3단계 스케일업 + 공압 이송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017968" y="2520000"/>
              <a:ext cx="3846984" cy="1260000"/>
            </a:xfrm>
            <a:prstGeom prst="rect">
              <a:avLst/>
            </a:prstGeom>
            <a:solidFill>
              <a:srgbClr val="E2EFDA"/>
            </a:solidFill>
            <a:ln w="6350">
              <a:solidFill>
                <a:srgbClr val="375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053968" y="2556000"/>
              <a:ext cx="3774984" cy="12060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l"/>
              <a:r>
                <a:rPr sz="950" b="0" i="0">
                  <a:solidFill>
                    <a:srgbClr val="404040"/>
                  </a:solidFill>
                </a:rPr>
                <a:t>• 공압 이송: 기류로 분말 상시 분산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뭉침 방지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구간 분리형 반응기: 교차 오염 방지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• 3단계 스케일업: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FBR(≤10%) → OPERIO 10(≤7%)</a:t>
              </a:r>
            </a:p>
            <a:p>
              <a:pPr algn="l"/>
              <a:r>
                <a:rPr sz="950" b="0" i="0">
                  <a:solidFill>
                    <a:srgbClr val="404040"/>
                  </a:solidFill>
                </a:rPr>
                <a:t>  → 양산(≤5% @ 10 kg/h)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80000" y="3798000"/>
              <a:ext cx="1905492" cy="1800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7200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기계연 + 대성기계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21492" y="3798000"/>
              <a:ext cx="1905492" cy="1800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28692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GPC 재현성 ≤5%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098984" y="3798000"/>
              <a:ext cx="1905492" cy="1800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06183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기계연 (KIMM)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040476" y="3798000"/>
              <a:ext cx="1905492" cy="1800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47676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계면저항 ≤50 Ω·cm²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017968" y="3798000"/>
              <a:ext cx="1905492" cy="1800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25168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대성기계 (OPERIO 10)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959460" y="3798000"/>
              <a:ext cx="1905492" cy="1800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966660" y="3805200"/>
              <a:ext cx="1887492" cy="16560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</a:rPr>
                <a:t>두께 편차 ≤5%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난제 ② 해결: V₂O₅/TiO₂ 이중층 ALD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Rct 계면저항 1/3 감소 — 전기화학적 활성 차단 + 이종접합 시너지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5220000" cy="378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000" y="648000"/>
            <a:ext cx="6300000" cy="43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390000"/>
            <a:ext cx="11900952" cy="3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6000" y="6408000"/>
            <a:ext cx="11756952" cy="30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</a:rPr>
              <a:t>★ SIB 양극재에 V₂O₅/TiO₂ ALD 이중층 적용 — 문헌 선례 없음 (세계 최초 시도)  |  ALD Å 수준 제어로 1–2 nm 유지 → 전기화학적 활성 위험 완전 차단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난제 ①③ 해결: RTD 알고리즘 &amp; 3단계 스케일업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배치→연속 레시피 이전 방법론 (세계 최초) + 두께 편차 단계별 감소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5760000" cy="414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720000"/>
            <a:ext cx="5580000" cy="41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030000"/>
            <a:ext cx="11900952" cy="68400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999" y="6066000"/>
            <a:ext cx="11684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RTD 변환 알고리즘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6318000"/>
            <a:ext cx="11684952" cy="46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 i="0">
                <a:solidFill>
                  <a:srgbClr val="1F4E79"/>
                </a:solidFill>
              </a:rPr>
              <a:t>배치식 변수  →  연속식 적용:  반응온도(°C) · Precursor Pulse (s) · Purge (s) · GPC (Å/cyc)  ⟹  최소 체류시간 μ-2σ, 구간 온도, 퍼지 길이/유량, 두께 예측값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문헌 기반 코팅 소재별 성능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V₂O₅/TiO₂ 이중층의 독창성 — 문헌 선례 없음 (연구 공백 = 특허 선점 기회)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5760000" cy="414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720000"/>
            <a:ext cx="5580000" cy="43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354000"/>
            <a:ext cx="11900952" cy="39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6000" y="6382800"/>
            <a:ext cx="11756952" cy="34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</a:rPr>
              <a:t>★ V₂O₅/TiO₂ 이중층 ALD의 SIB 양극재 적용 — 선행 연구 없음  |  V₂O₅의 'Na 잔류물 제거 + MIEC' 기능을 ALD 두께 제어로 안전하게 활용하는 최초 시도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3대 난제 × 해결방안 요약 및 본 컨소시엄의 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기계연 + 대성기계만이 이 3가지 난제를 동시에 해결할 수 있는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666000"/>
            <a:ext cx="472885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000" y="684000"/>
            <a:ext cx="436885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6885" y="666000"/>
            <a:ext cx="2167391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885" y="684000"/>
            <a:ext cx="2131391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난제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4277" y="666000"/>
            <a:ext cx="2364427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2277" y="684000"/>
            <a:ext cx="2328427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핵심 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8704" y="666000"/>
            <a:ext cx="3152570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704" y="684000"/>
            <a:ext cx="3116570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기술적 해결책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1275" y="666000"/>
            <a:ext cx="1773320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9275" y="684000"/>
            <a:ext cx="1737320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담당 기관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74595" y="666000"/>
            <a:ext cx="1970356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92595" y="684000"/>
            <a:ext cx="1934356" cy="198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검증 지표(3차)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000" y="900000"/>
            <a:ext cx="472885" cy="576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000" y="917999"/>
            <a:ext cx="436885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85" y="900000"/>
            <a:ext cx="2167391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885" y="917999"/>
            <a:ext cx="2131391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배치→연속 이전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4277" y="900000"/>
            <a:ext cx="2364427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2277" y="917999"/>
            <a:ext cx="2328427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공정 환경 근본 차이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(정지↔비행반응)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704" y="900000"/>
            <a:ext cx="3152570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704" y="917999"/>
            <a:ext cx="3116570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RTD 정량 변환 알고리즘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μ-2σ ≥ t_pulse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1275" y="900000"/>
            <a:ext cx="1773320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19275" y="917999"/>
            <a:ext cx="1737320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기계연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대성기계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4595" y="900000"/>
            <a:ext cx="1970356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92595" y="917999"/>
            <a:ext cx="1934356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GPC 재현성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" y="1475999"/>
            <a:ext cx="472885" cy="648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2000" y="1493999"/>
            <a:ext cx="436885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885" y="1475999"/>
            <a:ext cx="2167391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885" y="1493999"/>
            <a:ext cx="2131391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V₂O₅ 전기화학 활성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4277" y="1475999"/>
            <a:ext cx="2364427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2277" y="1493999"/>
            <a:ext cx="2328427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전압 범위 중복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(2.0–3.5V / 2.0–4.2V)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8704" y="1475999"/>
            <a:ext cx="3152570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704" y="1493999"/>
            <a:ext cx="3116570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ALD 두께 1–2 nm 제어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비정질 VOₓ + TiO₂ 외층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1275" y="1475999"/>
            <a:ext cx="1773320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19275" y="1493999"/>
            <a:ext cx="1737320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기계연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(KIMM)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74595" y="1475999"/>
            <a:ext cx="1970356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92595" y="1493999"/>
            <a:ext cx="1934356" cy="61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계면저항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≤50 Ω·cm²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4000" y="2124000"/>
            <a:ext cx="472885" cy="576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2000" y="2141999"/>
            <a:ext cx="436885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885" y="2124000"/>
            <a:ext cx="2167391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4885" y="2141999"/>
            <a:ext cx="2131391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양산 균일도 미확보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4277" y="2124000"/>
            <a:ext cx="2364427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2277" y="2141999"/>
            <a:ext cx="2328427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분말 뭉침·정체구간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(처리량 ×3,000배)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48704" y="2124000"/>
            <a:ext cx="3152570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66704" y="2141999"/>
            <a:ext cx="3116570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공압이송 분산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구간분리 반응기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1275" y="2124000"/>
            <a:ext cx="1773320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19275" y="2141999"/>
            <a:ext cx="1737320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대성기계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(OPERIO 10)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74595" y="2124000"/>
            <a:ext cx="1970356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92595" y="2141999"/>
            <a:ext cx="1934356" cy="54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두께 편차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≤5% @10kg/h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000" y="2826000"/>
            <a:ext cx="3894984" cy="2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62000" y="2844000"/>
            <a:ext cx="3858984" cy="20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기계연 (KIMM)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20년+ ALD 연구 역량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4000" y="3070800"/>
            <a:ext cx="3894984" cy="1007999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80000" y="3106799"/>
            <a:ext cx="3822984" cy="93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Science 2009 (피인용 503회)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ZnF₂ ALD 배터리 적용 (2025)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Å 수준 두께 제어 기술 내재화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배치식 ALD 장비 2대 운용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6984" y="2826000"/>
            <a:ext cx="3894984" cy="234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64984" y="2844000"/>
            <a:ext cx="3858984" cy="20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대성기계 OPERIO 10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국내 유일 연속식 분말 ALD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6984" y="3070800"/>
            <a:ext cx="3894984" cy="1007999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82984" y="3106799"/>
            <a:ext cx="3822984" cy="93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공압 이송 기반 상압 연속 공정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RTD 정밀 제어 (국내 선도)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Turn-key ALD 장비 공급 경험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10 kg/h 양산 장비 보유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49968" y="2826000"/>
            <a:ext cx="3894984" cy="23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67968" y="2844000"/>
            <a:ext cx="3858984" cy="20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협력 모델 (세계 최초)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배치↔연속 RTD 이전 방법론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9968" y="3070800"/>
            <a:ext cx="3894984" cy="1007999"/>
          </a:xfrm>
          <a:prstGeom prst="rect">
            <a:avLst/>
          </a:prstGeom>
          <a:solidFill>
            <a:srgbClr val="FFF4CC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85968" y="3106799"/>
            <a:ext cx="3822984" cy="93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기계연 레시피 → 대성기계 이전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3단계 스케일업 리스크 분산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코팅 시료 ↔ 분석 피드백 루프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SIB 양극재 V₂O₅/TiO₂ 독창성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4000" y="6498000"/>
            <a:ext cx="11900952" cy="27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16000" y="6516000"/>
            <a:ext cx="11756952" cy="23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50" b="1" i="0">
                <a:solidFill>
                  <a:srgbClr val="FFC000"/>
                </a:solidFill>
              </a:rPr>
              <a:t>★ 본 컨소시엄(기계연 + 대성기계)만이 ALD 레시피 정밀 개발 + 연속식 10 kg/h 양산 이전을 동시에 구현할 수 있는 국내 유일 협력 모델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ALD 파트 연차별 KPI 및 달성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3가지 핵심 검증 지표 — 단계별 엄격화 구조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11828952" cy="45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4000" y="6318000"/>
            <a:ext cx="11900952" cy="4320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000" y="6336000"/>
            <a:ext cx="11756952" cy="396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측정 기준:</a:t>
            </a:r>
          </a:p>
          <a:p>
            <a:pPr algn="l"/>
            <a:r>
              <a:rPr sz="900" b="0" i="0">
                <a:solidFill>
                  <a:srgbClr val="1F4E79"/>
                </a:solidFill>
              </a:rPr>
              <a:t>• 두께 편차: 1차=배치식 FBR / 2·3차=10 kg/h 연속 운전 기준  • 쿨롱 효율: 1차=coin cell / 3차=1Ah pouch cell  • 계면저항: EIS 평가, 200사이클 후 25°C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1148</Words>
  <Application>Microsoft Office PowerPoint</Application>
  <PresentationFormat>사용자 지정</PresentationFormat>
  <Paragraphs>152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Seung-Mo Lee</cp:lastModifiedBy>
  <cp:revision>3</cp:revision>
  <dcterms:created xsi:type="dcterms:W3CDTF">2013-01-27T09:14:16Z</dcterms:created>
  <dcterms:modified xsi:type="dcterms:W3CDTF">2026-06-11T10:44:28Z</dcterms:modified>
  <cp:category/>
</cp:coreProperties>
</file>