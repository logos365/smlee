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2"/>
    <p:sldId id="261" r:id="rId3"/>
    <p:sldId id="265" r:id="rId4"/>
    <p:sldId id="269" r:id="rId5"/>
    <p:sldId id="270" r:id="rId6"/>
    <p:sldId id="263" r:id="rId7"/>
    <p:sldId id="266" r:id="rId8"/>
    <p:sldId id="267" r:id="rId9"/>
    <p:sldId id="268" r:id="rId10"/>
    <p:sldId id="264" r:id="rId11"/>
    <p:sldId id="256" r:id="rId12"/>
    <p:sldId id="259" r:id="rId13"/>
    <p:sldId id="258" r:id="rId14"/>
    <p:sldId id="257" r:id="rId15"/>
    <p:sldId id="260" r:id="rId16"/>
  </p:sldIdLst>
  <p:sldSz cx="9144000" cy="6400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2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7D32"/>
    <a:srgbClr val="303F9F"/>
    <a:srgbClr val="43A047"/>
    <a:srgbClr val="EF5350"/>
    <a:srgbClr val="F9A825"/>
    <a:srgbClr val="1976D2"/>
    <a:srgbClr val="F3E5F5"/>
    <a:srgbClr val="FF00FF"/>
    <a:srgbClr val="CDD3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25" d="100"/>
          <a:sy n="125" d="100"/>
        </p:scale>
        <p:origin x="2028" y="684"/>
      </p:cViewPr>
      <p:guideLst>
        <p:guide orient="horz" pos="2152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hdphoto" Target="../media/hdphoto1.wdp"/><Relationship Id="rId7" Type="http://schemas.openxmlformats.org/officeDocument/2006/relationships/image" Target="../media/image4.png"/><Relationship Id="rId12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image" Target="../media/image2.png"/><Relationship Id="rId10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17" Type="http://schemas.microsoft.com/office/2007/relationships/hdphoto" Target="../media/hdphoto2.wdp"/><Relationship Id="rId2" Type="http://schemas.openxmlformats.org/officeDocument/2006/relationships/image" Target="../media/image1.png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microsoft.com/office/2007/relationships/hdphoto" Target="../media/hdphoto1.wdp"/><Relationship Id="rId5" Type="http://schemas.openxmlformats.org/officeDocument/2006/relationships/image" Target="../media/image4.png"/><Relationship Id="rId15" Type="http://schemas.openxmlformats.org/officeDocument/2006/relationships/image" Target="../media/image13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7" Type="http://schemas.openxmlformats.org/officeDocument/2006/relationships/image" Target="../media/image1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jpe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microsoft.com/office/2007/relationships/hdphoto" Target="../media/hdphoto3.wdp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jpeg"/><Relationship Id="rId5" Type="http://schemas.microsoft.com/office/2007/relationships/hdphoto" Target="../media/hdphoto3.wdp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microsoft.com/office/2007/relationships/hdphoto" Target="../media/hdphoto3.wdp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0734268-319E-FD40-E428-9F8AEB81061A}"/>
              </a:ext>
            </a:extLst>
          </p:cNvPr>
          <p:cNvSpPr/>
          <p:nvPr/>
        </p:nvSpPr>
        <p:spPr>
          <a:xfrm>
            <a:off x="0" y="0"/>
            <a:ext cx="9144000" cy="36000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9B3F93-F434-F31E-E02E-6670D19388B5}"/>
              </a:ext>
            </a:extLst>
          </p:cNvPr>
          <p:cNvSpPr txBox="1"/>
          <p:nvPr/>
        </p:nvSpPr>
        <p:spPr>
          <a:xfrm>
            <a:off x="0" y="21600"/>
            <a:ext cx="9144000" cy="31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[그림 1]  연구 개념도 — ALD 불화물 인공 SEI 전략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B14EA5-28C2-F64B-8D3E-7E2663FFF920}"/>
              </a:ext>
            </a:extLst>
          </p:cNvPr>
          <p:cNvSpPr/>
          <p:nvPr/>
        </p:nvSpPr>
        <p:spPr>
          <a:xfrm>
            <a:off x="90000" y="378000"/>
            <a:ext cx="2772000" cy="514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D27A8A-C48F-0092-EF30-76E45D1C433D}"/>
              </a:ext>
            </a:extLst>
          </p:cNvPr>
          <p:cNvSpPr/>
          <p:nvPr/>
        </p:nvSpPr>
        <p:spPr>
          <a:xfrm>
            <a:off x="3114000" y="378000"/>
            <a:ext cx="2772000" cy="514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303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672A46-346F-168E-2859-8D80D6FCB866}"/>
              </a:ext>
            </a:extLst>
          </p:cNvPr>
          <p:cNvSpPr/>
          <p:nvPr/>
        </p:nvSpPr>
        <p:spPr>
          <a:xfrm>
            <a:off x="6138000" y="378000"/>
            <a:ext cx="2916000" cy="514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3DD875-7527-0306-D9BC-90C9C2547F89}"/>
              </a:ext>
            </a:extLst>
          </p:cNvPr>
          <p:cNvSpPr/>
          <p:nvPr/>
        </p:nvSpPr>
        <p:spPr>
          <a:xfrm>
            <a:off x="90000" y="378000"/>
            <a:ext cx="2772000" cy="270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6B53DF-7116-53F0-0D7E-BF565EABCF9F}"/>
              </a:ext>
            </a:extLst>
          </p:cNvPr>
          <p:cNvSpPr/>
          <p:nvPr/>
        </p:nvSpPr>
        <p:spPr>
          <a:xfrm>
            <a:off x="3114000" y="378000"/>
            <a:ext cx="2772000" cy="270000"/>
          </a:xfrm>
          <a:prstGeom prst="rect">
            <a:avLst/>
          </a:prstGeom>
          <a:solidFill>
            <a:srgbClr val="303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C723DE-8D7D-B300-D923-EA26785D3F14}"/>
              </a:ext>
            </a:extLst>
          </p:cNvPr>
          <p:cNvSpPr/>
          <p:nvPr/>
        </p:nvSpPr>
        <p:spPr>
          <a:xfrm>
            <a:off x="6138000" y="378000"/>
            <a:ext cx="2916000" cy="27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2EE22C-E811-A7B6-B2CD-7B538F078AF3}"/>
              </a:ext>
            </a:extLst>
          </p:cNvPr>
          <p:cNvSpPr txBox="1"/>
          <p:nvPr/>
        </p:nvSpPr>
        <p:spPr>
          <a:xfrm>
            <a:off x="90000" y="399600"/>
            <a:ext cx="2772000" cy="22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(좌)  문제 : 불균일 Li 핵생성 및 덴드라이트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1F7481-032E-24FE-1807-ECEE0C5FE9AE}"/>
              </a:ext>
            </a:extLst>
          </p:cNvPr>
          <p:cNvSpPr txBox="1"/>
          <p:nvPr/>
        </p:nvSpPr>
        <p:spPr>
          <a:xfrm>
            <a:off x="3114000" y="399600"/>
            <a:ext cx="2772000" cy="22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(중)  ALD ZnF₂ 증착 공정 사이클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B36F57-4621-74E5-4334-B56B02B05473}"/>
              </a:ext>
            </a:extLst>
          </p:cNvPr>
          <p:cNvSpPr txBox="1"/>
          <p:nvPr/>
        </p:nvSpPr>
        <p:spPr>
          <a:xfrm>
            <a:off x="6138000" y="399600"/>
            <a:ext cx="2916000" cy="22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(우)  해결 : 균일 Li 핵생성 및 평탄한 증착</a:t>
            </a:r>
          </a:p>
        </p:txBody>
      </p:sp>
      <p:cxnSp>
        <p:nvCxnSpPr>
          <p:cNvPr id="13" name="Connector 12">
            <a:extLst>
              <a:ext uri="{FF2B5EF4-FFF2-40B4-BE49-F238E27FC236}">
                <a16:creationId xmlns:a16="http://schemas.microsoft.com/office/drawing/2014/main" id="{219BAFAF-5925-4B15-F597-157D591132AF}"/>
              </a:ext>
            </a:extLst>
          </p:cNvPr>
          <p:cNvCxnSpPr/>
          <p:nvPr/>
        </p:nvCxnSpPr>
        <p:spPr>
          <a:xfrm>
            <a:off x="2880000" y="2334240"/>
            <a:ext cx="216000" cy="0"/>
          </a:xfrm>
          <a:prstGeom prst="line">
            <a:avLst/>
          </a:prstGeom>
          <a:ln w="38100">
            <a:solidFill>
              <a:srgbClr val="303F9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98199B8-2261-A814-AD96-5251B1874552}"/>
              </a:ext>
            </a:extLst>
          </p:cNvPr>
          <p:cNvSpPr txBox="1"/>
          <p:nvPr/>
        </p:nvSpPr>
        <p:spPr>
          <a:xfrm>
            <a:off x="2862000" y="2118240"/>
            <a:ext cx="251999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303F9F"/>
                </a:solidFill>
                <a:latin typeface="맑은 고딕"/>
              </a:rPr>
              <a:t>ALD
코팅</a:t>
            </a:r>
          </a:p>
        </p:txBody>
      </p:sp>
      <p:cxnSp>
        <p:nvCxnSpPr>
          <p:cNvPr id="15" name="Connector 14">
            <a:extLst>
              <a:ext uri="{FF2B5EF4-FFF2-40B4-BE49-F238E27FC236}">
                <a16:creationId xmlns:a16="http://schemas.microsoft.com/office/drawing/2014/main" id="{1865C4F8-4460-DB3E-3449-A080C4A71AEA}"/>
              </a:ext>
            </a:extLst>
          </p:cNvPr>
          <p:cNvCxnSpPr/>
          <p:nvPr/>
        </p:nvCxnSpPr>
        <p:spPr>
          <a:xfrm>
            <a:off x="5904000" y="2334240"/>
            <a:ext cx="216000" cy="0"/>
          </a:xfrm>
          <a:prstGeom prst="line">
            <a:avLst/>
          </a:prstGeom>
          <a:ln w="38100">
            <a:solidFill>
              <a:srgbClr val="2E7D32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9D5BFE1-2427-AA15-8EA2-5914EACD4F03}"/>
              </a:ext>
            </a:extLst>
          </p:cNvPr>
          <p:cNvSpPr txBox="1"/>
          <p:nvPr/>
        </p:nvSpPr>
        <p:spPr>
          <a:xfrm>
            <a:off x="5886000" y="2118240"/>
            <a:ext cx="251999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2E7D32"/>
                </a:solidFill>
                <a:latin typeface="맑은 고딕"/>
              </a:rPr>
              <a:t>→ 해결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C44DEFC-D4DB-2724-75A9-E029086B102E}"/>
              </a:ext>
            </a:extLst>
          </p:cNvPr>
          <p:cNvSpPr/>
          <p:nvPr/>
        </p:nvSpPr>
        <p:spPr>
          <a:xfrm>
            <a:off x="108000" y="666000"/>
            <a:ext cx="2736000" cy="2142000"/>
          </a:xfrm>
          <a:prstGeom prst="rect">
            <a:avLst/>
          </a:prstGeom>
          <a:solidFill>
            <a:srgbClr val="E1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1A922A-30E3-7358-6208-1D06B2D7B7D0}"/>
              </a:ext>
            </a:extLst>
          </p:cNvPr>
          <p:cNvSpPr txBox="1"/>
          <p:nvPr/>
        </p:nvSpPr>
        <p:spPr>
          <a:xfrm>
            <a:off x="144000" y="694800"/>
            <a:ext cx="2736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1579B"/>
                </a:solidFill>
                <a:latin typeface="맑은 고딕"/>
              </a:rPr>
              <a:t>전해질 (Electrolyte)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71FE22C-E4C6-3FA4-D16F-426F283C936B}"/>
              </a:ext>
            </a:extLst>
          </p:cNvPr>
          <p:cNvSpPr/>
          <p:nvPr/>
        </p:nvSpPr>
        <p:spPr>
          <a:xfrm>
            <a:off x="108000" y="2790000"/>
            <a:ext cx="2736000" cy="306000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A63EF58-93F3-048D-FD7E-24C9FD0C0A32}"/>
              </a:ext>
            </a:extLst>
          </p:cNvPr>
          <p:cNvSpPr txBox="1"/>
          <p:nvPr/>
        </p:nvSpPr>
        <p:spPr>
          <a:xfrm>
            <a:off x="108000" y="2861999"/>
            <a:ext cx="273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Cu 집전체</a:t>
            </a:r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EB6660D6-104F-107D-5AAB-6A2385AB4375}"/>
              </a:ext>
            </a:extLst>
          </p:cNvPr>
          <p:cNvSpPr/>
          <p:nvPr/>
        </p:nvSpPr>
        <p:spPr>
          <a:xfrm>
            <a:off x="156599" y="1494000"/>
            <a:ext cx="118800" cy="1296000"/>
          </a:xfrm>
          <a:prstGeom prst="triangl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946A4645-FF47-F1C8-39AD-9AA93D0C7976}"/>
              </a:ext>
            </a:extLst>
          </p:cNvPr>
          <p:cNvSpPr/>
          <p:nvPr/>
        </p:nvSpPr>
        <p:spPr>
          <a:xfrm>
            <a:off x="324000" y="1962000"/>
            <a:ext cx="108000" cy="827999"/>
          </a:xfrm>
          <a:prstGeom prst="triangl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BCAE2BFC-1EEA-8DAF-13C0-C106DE2B4AA9}"/>
              </a:ext>
            </a:extLst>
          </p:cNvPr>
          <p:cNvSpPr/>
          <p:nvPr/>
        </p:nvSpPr>
        <p:spPr>
          <a:xfrm>
            <a:off x="464400" y="1205999"/>
            <a:ext cx="151200" cy="1584000"/>
          </a:xfrm>
          <a:prstGeom prst="triangl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D23B0636-35C2-F36B-BA27-FF07B9F8D51D}"/>
              </a:ext>
            </a:extLst>
          </p:cNvPr>
          <p:cNvSpPr/>
          <p:nvPr/>
        </p:nvSpPr>
        <p:spPr>
          <a:xfrm>
            <a:off x="673200" y="2142000"/>
            <a:ext cx="93600" cy="648000"/>
          </a:xfrm>
          <a:prstGeom prst="triangl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E089FE07-438B-597E-EFE5-CA682A82822D}"/>
              </a:ext>
            </a:extLst>
          </p:cNvPr>
          <p:cNvSpPr/>
          <p:nvPr/>
        </p:nvSpPr>
        <p:spPr>
          <a:xfrm>
            <a:off x="826200" y="1710000"/>
            <a:ext cx="111600" cy="1080000"/>
          </a:xfrm>
          <a:prstGeom prst="triangl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FEF5A2FB-6174-1A71-4921-AFC559F3777E}"/>
              </a:ext>
            </a:extLst>
          </p:cNvPr>
          <p:cNvSpPr/>
          <p:nvPr/>
        </p:nvSpPr>
        <p:spPr>
          <a:xfrm>
            <a:off x="981000" y="1062000"/>
            <a:ext cx="162000" cy="1728000"/>
          </a:xfrm>
          <a:prstGeom prst="triangl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8801C842-1193-DBD8-DB88-E3AB8170C168}"/>
              </a:ext>
            </a:extLst>
          </p:cNvPr>
          <p:cNvSpPr/>
          <p:nvPr/>
        </p:nvSpPr>
        <p:spPr>
          <a:xfrm>
            <a:off x="1191600" y="2034000"/>
            <a:ext cx="100800" cy="756000"/>
          </a:xfrm>
          <a:prstGeom prst="triangl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56A45589-A32E-778A-E4D8-3560D30FBB55}"/>
              </a:ext>
            </a:extLst>
          </p:cNvPr>
          <p:cNvSpPr/>
          <p:nvPr/>
        </p:nvSpPr>
        <p:spPr>
          <a:xfrm>
            <a:off x="1357200" y="1458000"/>
            <a:ext cx="129600" cy="1332000"/>
          </a:xfrm>
          <a:prstGeom prst="triangl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E9DCE7F0-852C-15CC-9AAD-6E84CD93FA31}"/>
              </a:ext>
            </a:extLst>
          </p:cNvPr>
          <p:cNvSpPr/>
          <p:nvPr/>
        </p:nvSpPr>
        <p:spPr>
          <a:xfrm>
            <a:off x="1558800" y="2214000"/>
            <a:ext cx="86400" cy="576000"/>
          </a:xfrm>
          <a:prstGeom prst="triangl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B9373819-23C4-BC33-8F5E-B0EFC11855DD}"/>
              </a:ext>
            </a:extLst>
          </p:cNvPr>
          <p:cNvSpPr/>
          <p:nvPr/>
        </p:nvSpPr>
        <p:spPr>
          <a:xfrm>
            <a:off x="1710000" y="1314000"/>
            <a:ext cx="144000" cy="1475999"/>
          </a:xfrm>
          <a:prstGeom prst="triangl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8A24B95A-357E-4CD0-43CC-F23DBB65D2F7}"/>
              </a:ext>
            </a:extLst>
          </p:cNvPr>
          <p:cNvSpPr/>
          <p:nvPr/>
        </p:nvSpPr>
        <p:spPr>
          <a:xfrm>
            <a:off x="1904400" y="1818000"/>
            <a:ext cx="115200" cy="972000"/>
          </a:xfrm>
          <a:prstGeom prst="triangl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6D8BF9D4-3913-F431-8FE2-419A16B476D8}"/>
              </a:ext>
            </a:extLst>
          </p:cNvPr>
          <p:cNvSpPr/>
          <p:nvPr/>
        </p:nvSpPr>
        <p:spPr>
          <a:xfrm>
            <a:off x="2080800" y="1602000"/>
            <a:ext cx="122400" cy="1188000"/>
          </a:xfrm>
          <a:prstGeom prst="triangl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C3C0A71F-0844-5397-BC1E-6BDA0158D5E0}"/>
              </a:ext>
            </a:extLst>
          </p:cNvPr>
          <p:cNvSpPr/>
          <p:nvPr/>
        </p:nvSpPr>
        <p:spPr>
          <a:xfrm>
            <a:off x="2244600" y="1170000"/>
            <a:ext cx="154800" cy="1620000"/>
          </a:xfrm>
          <a:prstGeom prst="triangl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327E8A58-BFEB-91F7-511B-401E73295877}"/>
              </a:ext>
            </a:extLst>
          </p:cNvPr>
          <p:cNvSpPr/>
          <p:nvPr/>
        </p:nvSpPr>
        <p:spPr>
          <a:xfrm>
            <a:off x="2453400" y="2070000"/>
            <a:ext cx="97200" cy="720000"/>
          </a:xfrm>
          <a:prstGeom prst="triangl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9CEF2B33-D11F-0907-D6A7-DEB138AA584F}"/>
              </a:ext>
            </a:extLst>
          </p:cNvPr>
          <p:cNvSpPr/>
          <p:nvPr/>
        </p:nvSpPr>
        <p:spPr>
          <a:xfrm>
            <a:off x="125999" y="2725200"/>
            <a:ext cx="180000" cy="72000"/>
          </a:xfrm>
          <a:prstGeom prst="roundRect">
            <a:avLst/>
          </a:prstGeom>
          <a:solidFill>
            <a:srgbClr val="FF5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C4D67C63-B97B-E702-F68C-AD2E6CFC0728}"/>
              </a:ext>
            </a:extLst>
          </p:cNvPr>
          <p:cNvSpPr/>
          <p:nvPr/>
        </p:nvSpPr>
        <p:spPr>
          <a:xfrm>
            <a:off x="360000" y="2725200"/>
            <a:ext cx="198000" cy="72000"/>
          </a:xfrm>
          <a:prstGeom prst="roundRect">
            <a:avLst/>
          </a:prstGeom>
          <a:solidFill>
            <a:srgbClr val="FF5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A2FFF64F-80DA-2CCF-7A08-13F202A1E9A3}"/>
              </a:ext>
            </a:extLst>
          </p:cNvPr>
          <p:cNvSpPr/>
          <p:nvPr/>
        </p:nvSpPr>
        <p:spPr>
          <a:xfrm>
            <a:off x="630000" y="2725200"/>
            <a:ext cx="172800" cy="72000"/>
          </a:xfrm>
          <a:prstGeom prst="roundRect">
            <a:avLst/>
          </a:prstGeom>
          <a:solidFill>
            <a:srgbClr val="FF5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DD547AE8-7D55-69A5-B748-97824FC45425}"/>
              </a:ext>
            </a:extLst>
          </p:cNvPr>
          <p:cNvSpPr/>
          <p:nvPr/>
        </p:nvSpPr>
        <p:spPr>
          <a:xfrm>
            <a:off x="900000" y="2725200"/>
            <a:ext cx="187200" cy="72000"/>
          </a:xfrm>
          <a:prstGeom prst="roundRect">
            <a:avLst/>
          </a:prstGeom>
          <a:solidFill>
            <a:srgbClr val="FF5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64FD16A6-2070-9C0A-FE0D-180A3057D4B0}"/>
              </a:ext>
            </a:extLst>
          </p:cNvPr>
          <p:cNvSpPr/>
          <p:nvPr/>
        </p:nvSpPr>
        <p:spPr>
          <a:xfrm>
            <a:off x="1188000" y="2725200"/>
            <a:ext cx="180000" cy="72000"/>
          </a:xfrm>
          <a:prstGeom prst="roundRect">
            <a:avLst/>
          </a:prstGeom>
          <a:solidFill>
            <a:srgbClr val="FF5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6D8CED9B-4AC0-8B1F-ABEF-D6B6EAAE972A}"/>
              </a:ext>
            </a:extLst>
          </p:cNvPr>
          <p:cNvSpPr/>
          <p:nvPr/>
        </p:nvSpPr>
        <p:spPr>
          <a:xfrm>
            <a:off x="1458000" y="2725200"/>
            <a:ext cx="198000" cy="72000"/>
          </a:xfrm>
          <a:prstGeom prst="roundRect">
            <a:avLst/>
          </a:prstGeom>
          <a:solidFill>
            <a:srgbClr val="FF5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C58D6C84-1F27-8D31-1BA4-207F8379A902}"/>
              </a:ext>
            </a:extLst>
          </p:cNvPr>
          <p:cNvSpPr/>
          <p:nvPr/>
        </p:nvSpPr>
        <p:spPr>
          <a:xfrm>
            <a:off x="1728000" y="2725200"/>
            <a:ext cx="172800" cy="72000"/>
          </a:xfrm>
          <a:prstGeom prst="roundRect">
            <a:avLst/>
          </a:prstGeom>
          <a:solidFill>
            <a:srgbClr val="FF5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43A383B8-5BAE-7D6B-B719-90206D706020}"/>
              </a:ext>
            </a:extLst>
          </p:cNvPr>
          <p:cNvSpPr/>
          <p:nvPr/>
        </p:nvSpPr>
        <p:spPr>
          <a:xfrm>
            <a:off x="1998000" y="2725200"/>
            <a:ext cx="187200" cy="72000"/>
          </a:xfrm>
          <a:prstGeom prst="roundRect">
            <a:avLst/>
          </a:prstGeom>
          <a:solidFill>
            <a:srgbClr val="FF5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E81AD1E4-2090-1ACA-5CA7-01BF643FC215}"/>
              </a:ext>
            </a:extLst>
          </p:cNvPr>
          <p:cNvSpPr/>
          <p:nvPr/>
        </p:nvSpPr>
        <p:spPr>
          <a:xfrm>
            <a:off x="2268000" y="2725200"/>
            <a:ext cx="180000" cy="72000"/>
          </a:xfrm>
          <a:prstGeom prst="roundRect">
            <a:avLst/>
          </a:prstGeom>
          <a:solidFill>
            <a:srgbClr val="FF5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C5EE0959-0070-31EA-FB9F-2B134DEB5C76}"/>
              </a:ext>
            </a:extLst>
          </p:cNvPr>
          <p:cNvSpPr/>
          <p:nvPr/>
        </p:nvSpPr>
        <p:spPr>
          <a:xfrm>
            <a:off x="2520000" y="2725200"/>
            <a:ext cx="151200" cy="72000"/>
          </a:xfrm>
          <a:prstGeom prst="roundRect">
            <a:avLst/>
          </a:prstGeom>
          <a:solidFill>
            <a:srgbClr val="FF5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3C61EC7-99FA-C1F9-DAE2-3ADD96D17E83}"/>
              </a:ext>
            </a:extLst>
          </p:cNvPr>
          <p:cNvSpPr txBox="1"/>
          <p:nvPr/>
        </p:nvSpPr>
        <p:spPr>
          <a:xfrm>
            <a:off x="1278000" y="864000"/>
            <a:ext cx="136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62828"/>
                </a:solidFill>
                <a:latin typeface="맑은 고딕"/>
              </a:rPr>
              <a:t>Li 덴드라이트 ⚠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2FC5712-BA6E-37BF-1C95-BE930A79A43D}"/>
              </a:ext>
            </a:extLst>
          </p:cNvPr>
          <p:cNvSpPr txBox="1"/>
          <p:nvPr/>
        </p:nvSpPr>
        <p:spPr>
          <a:xfrm>
            <a:off x="1458000" y="2527200"/>
            <a:ext cx="1152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dirty="0" err="1">
                <a:solidFill>
                  <a:srgbClr val="BF360C"/>
                </a:solidFill>
                <a:latin typeface="맑은 고딕"/>
              </a:rPr>
              <a:t>불균일·파단</a:t>
            </a:r>
            <a:r>
              <a:rPr sz="850" b="0" dirty="0">
                <a:solidFill>
                  <a:srgbClr val="BF360C"/>
                </a:solidFill>
                <a:latin typeface="맑은 고딕"/>
              </a:rPr>
              <a:t> SEI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E511E51-0A78-581F-14E8-51629645CC74}"/>
              </a:ext>
            </a:extLst>
          </p:cNvPr>
          <p:cNvSpPr/>
          <p:nvPr/>
        </p:nvSpPr>
        <p:spPr>
          <a:xfrm>
            <a:off x="108000" y="3150000"/>
            <a:ext cx="2736000" cy="846000"/>
          </a:xfrm>
          <a:prstGeom prst="rect">
            <a:avLst/>
          </a:prstGeom>
          <a:solidFill>
            <a:srgbClr val="FFEBEE"/>
          </a:solidFill>
          <a:ln w="63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90345C3-E927-C39B-3188-0419CB80C8AA}"/>
              </a:ext>
            </a:extLst>
          </p:cNvPr>
          <p:cNvSpPr txBox="1"/>
          <p:nvPr/>
        </p:nvSpPr>
        <p:spPr>
          <a:xfrm>
            <a:off x="144000" y="3186000"/>
            <a:ext cx="2646000" cy="804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850">
                <a:solidFill>
                  <a:srgbClr val="B71C1C"/>
                </a:solidFill>
                <a:latin typeface="맑은 고딕"/>
              </a:rPr>
              <a:t>• Cu 집전체 위 ALD 코팅 없이 Li 전착 시</a:t>
            </a:r>
          </a:p>
          <a:p>
            <a:pPr algn="l">
              <a:lnSpc>
                <a:spcPts val="1300"/>
              </a:lnSpc>
            </a:pPr>
            <a:r>
              <a:rPr sz="850">
                <a:solidFill>
                  <a:srgbClr val="B71C1C"/>
                </a:solidFill>
                <a:latin typeface="맑은 고딕"/>
              </a:rPr>
              <a:t>• 핵생성 과전압 불균일 → 덴드라이트 성장</a:t>
            </a:r>
          </a:p>
          <a:p>
            <a:pPr algn="l">
              <a:lnSpc>
                <a:spcPts val="1300"/>
              </a:lnSpc>
            </a:pPr>
            <a:r>
              <a:rPr sz="850">
                <a:solidFill>
                  <a:srgbClr val="B71C1C"/>
                </a:solidFill>
                <a:latin typeface="맑은 고딕"/>
              </a:rPr>
              <a:t>• 두껍고 불균일한 SEI 형성 반복</a:t>
            </a:r>
          </a:p>
          <a:p>
            <a:pPr algn="l">
              <a:lnSpc>
                <a:spcPts val="1300"/>
              </a:lnSpc>
            </a:pPr>
            <a:r>
              <a:rPr sz="850">
                <a:solidFill>
                  <a:srgbClr val="B71C1C"/>
                </a:solidFill>
                <a:latin typeface="맑은 고딕"/>
              </a:rPr>
              <a:t>• 쿨롱 효율 저하 및 내부 단락(short) 위험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FD433BC-6841-385B-1C1A-45F93112FA20}"/>
              </a:ext>
            </a:extLst>
          </p:cNvPr>
          <p:cNvSpPr/>
          <p:nvPr/>
        </p:nvSpPr>
        <p:spPr>
          <a:xfrm>
            <a:off x="108000" y="4050000"/>
            <a:ext cx="2736000" cy="1432800"/>
          </a:xfrm>
          <a:prstGeom prst="rect">
            <a:avLst/>
          </a:prstGeom>
          <a:solidFill>
            <a:srgbClr val="EEEEEE"/>
          </a:solidFill>
          <a:ln w="9525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0" name="Connector 49">
            <a:extLst>
              <a:ext uri="{FF2B5EF4-FFF2-40B4-BE49-F238E27FC236}">
                <a16:creationId xmlns:a16="http://schemas.microsoft.com/office/drawing/2014/main" id="{E4FC6E31-2EED-BBE3-B1C8-1BFA11FD547C}"/>
              </a:ext>
            </a:extLst>
          </p:cNvPr>
          <p:cNvCxnSpPr/>
          <p:nvPr/>
        </p:nvCxnSpPr>
        <p:spPr>
          <a:xfrm>
            <a:off x="108000" y="4050000"/>
            <a:ext cx="2736000" cy="1432800"/>
          </a:xfrm>
          <a:prstGeom prst="line">
            <a:avLst/>
          </a:prstGeom>
          <a:ln w="635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>
            <a:extLst>
              <a:ext uri="{FF2B5EF4-FFF2-40B4-BE49-F238E27FC236}">
                <a16:creationId xmlns:a16="http://schemas.microsoft.com/office/drawing/2014/main" id="{9BE420B1-96FC-F17C-61E0-9FAD71A59CCE}"/>
              </a:ext>
            </a:extLst>
          </p:cNvPr>
          <p:cNvCxnSpPr/>
          <p:nvPr/>
        </p:nvCxnSpPr>
        <p:spPr>
          <a:xfrm flipH="1">
            <a:off x="108000" y="4050000"/>
            <a:ext cx="2736000" cy="1432800"/>
          </a:xfrm>
          <a:prstGeom prst="line">
            <a:avLst/>
          </a:prstGeom>
          <a:ln w="635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155B35AE-7356-393E-DF5B-538C84B001A3}"/>
              </a:ext>
            </a:extLst>
          </p:cNvPr>
          <p:cNvSpPr txBox="1"/>
          <p:nvPr/>
        </p:nvSpPr>
        <p:spPr>
          <a:xfrm>
            <a:off x="108000" y="4640400"/>
            <a:ext cx="273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757575"/>
                </a:solidFill>
                <a:latin typeface="맑은 고딕"/>
              </a:rPr>
              <a:t>SEM 이미지 공간
(Li 덴드라이트 / 불균일 증착)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A539994-4041-C7BD-9BA5-DE71D09C5F80}"/>
              </a:ext>
            </a:extLst>
          </p:cNvPr>
          <p:cNvSpPr/>
          <p:nvPr/>
        </p:nvSpPr>
        <p:spPr>
          <a:xfrm>
            <a:off x="3132000" y="691200"/>
            <a:ext cx="2736000" cy="2015999"/>
          </a:xfrm>
          <a:prstGeom prst="rect">
            <a:avLst/>
          </a:prstGeom>
          <a:solidFill>
            <a:srgbClr val="F3E5F5"/>
          </a:solidFill>
          <a:ln w="635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28F65ED-27B0-7769-A0B0-AF12AEA33551}"/>
              </a:ext>
            </a:extLst>
          </p:cNvPr>
          <p:cNvSpPr txBox="1"/>
          <p:nvPr/>
        </p:nvSpPr>
        <p:spPr>
          <a:xfrm>
            <a:off x="3132000" y="716400"/>
            <a:ext cx="2736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6A1B9A"/>
                </a:solidFill>
                <a:latin typeface="맑은 고딕"/>
              </a:rPr>
              <a:t>ALD 증착 사이클 (1 cycle)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DA4C2CE4-EB15-139C-C3E3-F3EF19466A00}"/>
              </a:ext>
            </a:extLst>
          </p:cNvPr>
          <p:cNvSpPr/>
          <p:nvPr/>
        </p:nvSpPr>
        <p:spPr>
          <a:xfrm>
            <a:off x="3360000" y="1243200"/>
            <a:ext cx="1026000" cy="378000"/>
          </a:xfrm>
          <a:prstGeom prst="roundRect">
            <a:avLst/>
          </a:prstGeom>
          <a:solidFill>
            <a:srgbClr val="1976D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1461E34-7402-FD05-717B-D7279ABBD6A7}"/>
              </a:ext>
            </a:extLst>
          </p:cNvPr>
          <p:cNvSpPr txBox="1"/>
          <p:nvPr/>
        </p:nvSpPr>
        <p:spPr>
          <a:xfrm>
            <a:off x="3360000" y="1279200"/>
            <a:ext cx="102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① 전구체 노출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A3C6D23-C272-6C2C-5C99-781D0ADCF2A2}"/>
              </a:ext>
            </a:extLst>
          </p:cNvPr>
          <p:cNvSpPr txBox="1"/>
          <p:nvPr/>
        </p:nvSpPr>
        <p:spPr>
          <a:xfrm>
            <a:off x="3360000" y="1452000"/>
            <a:ext cx="1026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dirty="0">
                <a:solidFill>
                  <a:srgbClr val="FFFFFF"/>
                </a:solidFill>
                <a:latin typeface="맑은 고딕"/>
              </a:rPr>
              <a:t>(DEZ </a:t>
            </a:r>
            <a:r>
              <a:rPr sz="800" b="0" dirty="0" err="1">
                <a:solidFill>
                  <a:srgbClr val="FFFFFF"/>
                </a:solidFill>
                <a:latin typeface="맑은 고딕"/>
              </a:rPr>
              <a:t>펄스</a:t>
            </a:r>
            <a:r>
              <a:rPr sz="800" b="0" dirty="0">
                <a:solidFill>
                  <a:srgbClr val="FFFFFF"/>
                </a:solidFill>
                <a:latin typeface="맑은 고딕"/>
              </a:rPr>
              <a:t>)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90F34F89-8969-B1E7-4ADC-D5AD3203AAEB}"/>
              </a:ext>
            </a:extLst>
          </p:cNvPr>
          <p:cNvSpPr/>
          <p:nvPr/>
        </p:nvSpPr>
        <p:spPr>
          <a:xfrm>
            <a:off x="4614000" y="1243200"/>
            <a:ext cx="1026000" cy="378000"/>
          </a:xfrm>
          <a:prstGeom prst="roundRect">
            <a:avLst/>
          </a:prstGeom>
          <a:solidFill>
            <a:srgbClr val="F9A82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852036B-0E30-D269-AB50-F65F9A0EA69F}"/>
              </a:ext>
            </a:extLst>
          </p:cNvPr>
          <p:cNvSpPr txBox="1"/>
          <p:nvPr/>
        </p:nvSpPr>
        <p:spPr>
          <a:xfrm>
            <a:off x="4614000" y="1279200"/>
            <a:ext cx="102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② 퍼지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90FA1D1-BB9A-A888-5399-C344B97BF8BA}"/>
              </a:ext>
            </a:extLst>
          </p:cNvPr>
          <p:cNvSpPr txBox="1"/>
          <p:nvPr/>
        </p:nvSpPr>
        <p:spPr>
          <a:xfrm>
            <a:off x="4614000" y="1452000"/>
            <a:ext cx="1026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맑은 고딕"/>
              </a:rPr>
              <a:t>(N₂ 가스)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E5367DCC-C256-CDB9-0B27-46BF68D731F0}"/>
              </a:ext>
            </a:extLst>
          </p:cNvPr>
          <p:cNvSpPr/>
          <p:nvPr/>
        </p:nvSpPr>
        <p:spPr>
          <a:xfrm>
            <a:off x="4614000" y="1975200"/>
            <a:ext cx="1026000" cy="378000"/>
          </a:xfrm>
          <a:prstGeom prst="roundRect">
            <a:avLst/>
          </a:prstGeom>
          <a:solidFill>
            <a:srgbClr val="43A04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7DFB140-6A09-9F49-6AA6-3A34FD7E5644}"/>
              </a:ext>
            </a:extLst>
          </p:cNvPr>
          <p:cNvSpPr txBox="1"/>
          <p:nvPr/>
        </p:nvSpPr>
        <p:spPr>
          <a:xfrm>
            <a:off x="4614000" y="2011199"/>
            <a:ext cx="102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③ 반응물 노출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3E323C0-EAFE-9DC6-60EE-A10104204389}"/>
              </a:ext>
            </a:extLst>
          </p:cNvPr>
          <p:cNvSpPr txBox="1"/>
          <p:nvPr/>
        </p:nvSpPr>
        <p:spPr>
          <a:xfrm>
            <a:off x="4614000" y="2184000"/>
            <a:ext cx="1026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맑은 고딕"/>
              </a:rPr>
              <a:t>(HF·py 펄스)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0F9D90CC-F4BB-A0E3-E6DF-563D2AE24495}"/>
              </a:ext>
            </a:extLst>
          </p:cNvPr>
          <p:cNvSpPr/>
          <p:nvPr/>
        </p:nvSpPr>
        <p:spPr>
          <a:xfrm>
            <a:off x="3360000" y="1975200"/>
            <a:ext cx="1026000" cy="378000"/>
          </a:xfrm>
          <a:prstGeom prst="roundRect">
            <a:avLst/>
          </a:prstGeom>
          <a:solidFill>
            <a:srgbClr val="EF535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DC5F0B1-17A6-6647-D8D7-9974FAC2DF14}"/>
              </a:ext>
            </a:extLst>
          </p:cNvPr>
          <p:cNvSpPr txBox="1"/>
          <p:nvPr/>
        </p:nvSpPr>
        <p:spPr>
          <a:xfrm>
            <a:off x="3360000" y="2011199"/>
            <a:ext cx="102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④ 퍼지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3A13F4E-4F32-CA4A-7BEC-A57FF4119AE7}"/>
              </a:ext>
            </a:extLst>
          </p:cNvPr>
          <p:cNvSpPr txBox="1"/>
          <p:nvPr/>
        </p:nvSpPr>
        <p:spPr>
          <a:xfrm>
            <a:off x="3360000" y="2184000"/>
            <a:ext cx="1026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맑은 고딕"/>
              </a:rPr>
              <a:t>(N₂ 가스)</a:t>
            </a:r>
          </a:p>
        </p:txBody>
      </p:sp>
      <p:cxnSp>
        <p:nvCxnSpPr>
          <p:cNvPr id="67" name="Connector 66">
            <a:extLst>
              <a:ext uri="{FF2B5EF4-FFF2-40B4-BE49-F238E27FC236}">
                <a16:creationId xmlns:a16="http://schemas.microsoft.com/office/drawing/2014/main" id="{F404C6FD-14DD-AEF4-AFD6-38CDC55D476D}"/>
              </a:ext>
            </a:extLst>
          </p:cNvPr>
          <p:cNvCxnSpPr/>
          <p:nvPr/>
        </p:nvCxnSpPr>
        <p:spPr>
          <a:xfrm>
            <a:off x="4386000" y="1432200"/>
            <a:ext cx="228000" cy="0"/>
          </a:xfrm>
          <a:prstGeom prst="line">
            <a:avLst/>
          </a:prstGeom>
          <a:ln w="25400">
            <a:solidFill>
              <a:srgbClr val="37474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>
            <a:extLst>
              <a:ext uri="{FF2B5EF4-FFF2-40B4-BE49-F238E27FC236}">
                <a16:creationId xmlns:a16="http://schemas.microsoft.com/office/drawing/2014/main" id="{52174CCA-50A1-4E92-E550-8C009B555ED0}"/>
              </a:ext>
            </a:extLst>
          </p:cNvPr>
          <p:cNvCxnSpPr/>
          <p:nvPr/>
        </p:nvCxnSpPr>
        <p:spPr>
          <a:xfrm>
            <a:off x="5127000" y="1621199"/>
            <a:ext cx="0" cy="354001"/>
          </a:xfrm>
          <a:prstGeom prst="line">
            <a:avLst/>
          </a:prstGeom>
          <a:ln w="25400">
            <a:solidFill>
              <a:srgbClr val="37474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>
            <a:extLst>
              <a:ext uri="{FF2B5EF4-FFF2-40B4-BE49-F238E27FC236}">
                <a16:creationId xmlns:a16="http://schemas.microsoft.com/office/drawing/2014/main" id="{6992CAF6-C985-CD2B-A91E-9E8F876F0D99}"/>
              </a:ext>
            </a:extLst>
          </p:cNvPr>
          <p:cNvCxnSpPr/>
          <p:nvPr/>
        </p:nvCxnSpPr>
        <p:spPr>
          <a:xfrm flipH="1">
            <a:off x="4386000" y="2164200"/>
            <a:ext cx="228000" cy="0"/>
          </a:xfrm>
          <a:prstGeom prst="line">
            <a:avLst/>
          </a:prstGeom>
          <a:ln w="25400">
            <a:solidFill>
              <a:srgbClr val="37474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>
            <a:extLst>
              <a:ext uri="{FF2B5EF4-FFF2-40B4-BE49-F238E27FC236}">
                <a16:creationId xmlns:a16="http://schemas.microsoft.com/office/drawing/2014/main" id="{913E3119-EA82-0B36-09AA-9C588C5AB5CE}"/>
              </a:ext>
            </a:extLst>
          </p:cNvPr>
          <p:cNvCxnSpPr/>
          <p:nvPr/>
        </p:nvCxnSpPr>
        <p:spPr>
          <a:xfrm flipV="1">
            <a:off x="3873000" y="1621199"/>
            <a:ext cx="0" cy="354001"/>
          </a:xfrm>
          <a:prstGeom prst="line">
            <a:avLst/>
          </a:prstGeom>
          <a:ln w="25400">
            <a:solidFill>
              <a:srgbClr val="37474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5EF9F0A9-FD51-55CB-8C2B-6DA42C4ECC90}"/>
              </a:ext>
            </a:extLst>
          </p:cNvPr>
          <p:cNvSpPr/>
          <p:nvPr/>
        </p:nvSpPr>
        <p:spPr>
          <a:xfrm>
            <a:off x="4104000" y="1690199"/>
            <a:ext cx="792000" cy="21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7C24B4B-B683-58CC-1CF0-B75B416CF61F}"/>
              </a:ext>
            </a:extLst>
          </p:cNvPr>
          <p:cNvSpPr txBox="1"/>
          <p:nvPr/>
        </p:nvSpPr>
        <p:spPr>
          <a:xfrm>
            <a:off x="4104000" y="1690199"/>
            <a:ext cx="79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6A1B9A"/>
                </a:solidFill>
                <a:latin typeface="맑은 고딕"/>
              </a:rPr>
              <a:t>ALD 1 사이클 반복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FAF671E7-6E43-24F5-83CF-2E18848A9E58}"/>
              </a:ext>
            </a:extLst>
          </p:cNvPr>
          <p:cNvSpPr/>
          <p:nvPr/>
        </p:nvSpPr>
        <p:spPr>
          <a:xfrm>
            <a:off x="3132000" y="2761200"/>
            <a:ext cx="2736000" cy="666000"/>
          </a:xfrm>
          <a:prstGeom prst="rect">
            <a:avLst/>
          </a:prstGeom>
          <a:solidFill>
            <a:srgbClr val="E8EAF6"/>
          </a:solidFill>
          <a:ln w="6350">
            <a:solidFill>
              <a:srgbClr val="7B8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F20A20D-8275-A761-B2D5-488E58D0BDEE}"/>
              </a:ext>
            </a:extLst>
          </p:cNvPr>
          <p:cNvSpPr txBox="1"/>
          <p:nvPr/>
        </p:nvSpPr>
        <p:spPr>
          <a:xfrm>
            <a:off x="3132000" y="2782800"/>
            <a:ext cx="2736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03F9F"/>
                </a:solidFill>
                <a:latin typeface="맑은 고딕"/>
              </a:rPr>
              <a:t>박막 형성 단면 모식도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445DB71E-1A27-A97B-18A1-A4EE458BEB79}"/>
              </a:ext>
            </a:extLst>
          </p:cNvPr>
          <p:cNvSpPr/>
          <p:nvPr/>
        </p:nvSpPr>
        <p:spPr>
          <a:xfrm>
            <a:off x="3222000" y="3211200"/>
            <a:ext cx="2556000" cy="151200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0F27563-DA0D-8F98-663B-018525DD1555}"/>
              </a:ext>
            </a:extLst>
          </p:cNvPr>
          <p:cNvSpPr txBox="1"/>
          <p:nvPr/>
        </p:nvSpPr>
        <p:spPr>
          <a:xfrm>
            <a:off x="3222000" y="3232800"/>
            <a:ext cx="2556000" cy="1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Cu 기판 / Li 금속 음극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5C650431-EF44-39D3-148A-0F00FF3CBB61}"/>
              </a:ext>
            </a:extLst>
          </p:cNvPr>
          <p:cNvSpPr/>
          <p:nvPr/>
        </p:nvSpPr>
        <p:spPr>
          <a:xfrm>
            <a:off x="3222000" y="3110400"/>
            <a:ext cx="2556000" cy="1008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0130373-D6DE-F8F3-4D36-340429B04C99}"/>
              </a:ext>
            </a:extLst>
          </p:cNvPr>
          <p:cNvSpPr txBox="1"/>
          <p:nvPr/>
        </p:nvSpPr>
        <p:spPr>
          <a:xfrm>
            <a:off x="3222000" y="3117600"/>
            <a:ext cx="25560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</a:rPr>
              <a:t>ZnF₂ ALD 박막  (두께: 5~100 nm)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37903B0-9F4E-E54E-6E84-7302A483A2BD}"/>
              </a:ext>
            </a:extLst>
          </p:cNvPr>
          <p:cNvSpPr txBox="1"/>
          <p:nvPr/>
        </p:nvSpPr>
        <p:spPr>
          <a:xfrm>
            <a:off x="3222000" y="2973600"/>
            <a:ext cx="2556000" cy="11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3949AB"/>
                </a:solidFill>
                <a:latin typeface="맑은 고딕"/>
              </a:rPr>
              <a:t>← n 사이클 반복으로 두께 제어 →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6830DA35-E0D4-99E0-5C1E-82D8D4CEB4EF}"/>
              </a:ext>
            </a:extLst>
          </p:cNvPr>
          <p:cNvSpPr/>
          <p:nvPr/>
        </p:nvSpPr>
        <p:spPr>
          <a:xfrm>
            <a:off x="3132000" y="3463199"/>
            <a:ext cx="2736000" cy="846000"/>
          </a:xfrm>
          <a:prstGeom prst="rect">
            <a:avLst/>
          </a:prstGeom>
          <a:solidFill>
            <a:srgbClr val="EEEEFF"/>
          </a:solidFill>
          <a:ln w="6350">
            <a:solidFill>
              <a:srgbClr val="303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AB5E873-A5F3-4C0E-57F9-B8EDC27E7376}"/>
              </a:ext>
            </a:extLst>
          </p:cNvPr>
          <p:cNvSpPr txBox="1"/>
          <p:nvPr/>
        </p:nvSpPr>
        <p:spPr>
          <a:xfrm>
            <a:off x="3175200" y="3499199"/>
            <a:ext cx="2664000" cy="804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850">
                <a:solidFill>
                  <a:srgbClr val="1A237E"/>
                </a:solidFill>
                <a:latin typeface="맑은 고딕"/>
              </a:rPr>
              <a:t>• ZnF₂ ALD: DEZ + HF·py 전구체 조합</a:t>
            </a:r>
          </a:p>
          <a:p>
            <a:pPr algn="l">
              <a:lnSpc>
                <a:spcPts val="1300"/>
              </a:lnSpc>
            </a:pPr>
            <a:r>
              <a:rPr sz="850">
                <a:solidFill>
                  <a:srgbClr val="1A237E"/>
                </a:solidFill>
                <a:latin typeface="맑은 고딕"/>
              </a:rPr>
              <a:t>• 자기제한적(self-limiting) 표면 반응</a:t>
            </a:r>
          </a:p>
          <a:p>
            <a:pPr algn="l">
              <a:lnSpc>
                <a:spcPts val="1300"/>
              </a:lnSpc>
            </a:pPr>
            <a:r>
              <a:rPr sz="850">
                <a:solidFill>
                  <a:srgbClr val="1A237E"/>
                </a:solidFill>
                <a:latin typeface="맑은 고딕"/>
              </a:rPr>
              <a:t>• 기판 온도 50~200°C, Å 수준 두께 제어</a:t>
            </a:r>
          </a:p>
          <a:p>
            <a:pPr algn="l">
              <a:lnSpc>
                <a:spcPts val="1300"/>
              </a:lnSpc>
            </a:pPr>
            <a:r>
              <a:rPr sz="850">
                <a:solidFill>
                  <a:srgbClr val="1A237E"/>
                </a:solidFill>
                <a:latin typeface="맑은 고딕"/>
              </a:rPr>
              <a:t>• 결과: 균일·공형(conformal) 불화물 박막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C4EB99DF-B154-DBC1-CB99-6CB136632C74}"/>
              </a:ext>
            </a:extLst>
          </p:cNvPr>
          <p:cNvSpPr/>
          <p:nvPr/>
        </p:nvSpPr>
        <p:spPr>
          <a:xfrm>
            <a:off x="3132000" y="4363200"/>
            <a:ext cx="2736000" cy="1119600"/>
          </a:xfrm>
          <a:prstGeom prst="rect">
            <a:avLst/>
          </a:prstGeom>
          <a:solidFill>
            <a:srgbClr val="EEEEEE"/>
          </a:solidFill>
          <a:ln w="9525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3" name="Connector 82">
            <a:extLst>
              <a:ext uri="{FF2B5EF4-FFF2-40B4-BE49-F238E27FC236}">
                <a16:creationId xmlns:a16="http://schemas.microsoft.com/office/drawing/2014/main" id="{7CCBC7A6-C370-5D84-F9EC-315094668F62}"/>
              </a:ext>
            </a:extLst>
          </p:cNvPr>
          <p:cNvCxnSpPr/>
          <p:nvPr/>
        </p:nvCxnSpPr>
        <p:spPr>
          <a:xfrm>
            <a:off x="3132000" y="4363200"/>
            <a:ext cx="2736000" cy="1119600"/>
          </a:xfrm>
          <a:prstGeom prst="line">
            <a:avLst/>
          </a:prstGeom>
          <a:ln w="635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>
            <a:extLst>
              <a:ext uri="{FF2B5EF4-FFF2-40B4-BE49-F238E27FC236}">
                <a16:creationId xmlns:a16="http://schemas.microsoft.com/office/drawing/2014/main" id="{E570F419-0BC7-7CA8-FF19-8DB90A48008E}"/>
              </a:ext>
            </a:extLst>
          </p:cNvPr>
          <p:cNvCxnSpPr/>
          <p:nvPr/>
        </p:nvCxnSpPr>
        <p:spPr>
          <a:xfrm flipH="1">
            <a:off x="3132000" y="4363200"/>
            <a:ext cx="2736000" cy="1119600"/>
          </a:xfrm>
          <a:prstGeom prst="line">
            <a:avLst/>
          </a:prstGeom>
          <a:ln w="635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A87A00FE-AA7D-BAC7-1359-7C39F750E686}"/>
              </a:ext>
            </a:extLst>
          </p:cNvPr>
          <p:cNvSpPr txBox="1"/>
          <p:nvPr/>
        </p:nvSpPr>
        <p:spPr>
          <a:xfrm>
            <a:off x="3132000" y="4797000"/>
            <a:ext cx="273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757575"/>
                </a:solidFill>
                <a:latin typeface="맑은 고딕"/>
              </a:rPr>
              <a:t>TEM / SAED 이미지 공간
(ALD ZnF₂ 박막 단면)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460524A8-4CBE-E564-1F99-79902CA714DF}"/>
              </a:ext>
            </a:extLst>
          </p:cNvPr>
          <p:cNvSpPr/>
          <p:nvPr/>
        </p:nvSpPr>
        <p:spPr>
          <a:xfrm>
            <a:off x="6156000" y="666000"/>
            <a:ext cx="2880000" cy="2142000"/>
          </a:xfrm>
          <a:prstGeom prst="rect">
            <a:avLst/>
          </a:prstGeom>
          <a:solidFill>
            <a:srgbClr val="E1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3BF4023-3D9A-7154-E04D-7C53436C780B}"/>
              </a:ext>
            </a:extLst>
          </p:cNvPr>
          <p:cNvSpPr txBox="1"/>
          <p:nvPr/>
        </p:nvSpPr>
        <p:spPr>
          <a:xfrm>
            <a:off x="6192000" y="694800"/>
            <a:ext cx="2808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1579B"/>
                </a:solidFill>
                <a:latin typeface="맑은 고딕"/>
              </a:rPr>
              <a:t>전해질 (Electrolyte)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F3FC66C0-7D5B-E0CA-CBE2-C83B3EB5A4F2}"/>
              </a:ext>
            </a:extLst>
          </p:cNvPr>
          <p:cNvSpPr/>
          <p:nvPr/>
        </p:nvSpPr>
        <p:spPr>
          <a:xfrm>
            <a:off x="6156000" y="2790000"/>
            <a:ext cx="2880000" cy="306000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AC1984C-2275-D906-DF68-7391EC429280}"/>
              </a:ext>
            </a:extLst>
          </p:cNvPr>
          <p:cNvSpPr txBox="1"/>
          <p:nvPr/>
        </p:nvSpPr>
        <p:spPr>
          <a:xfrm>
            <a:off x="6156000" y="2861999"/>
            <a:ext cx="288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Cu 집전체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5A2E2B6E-2AE8-5AF9-F13E-E0128C377566}"/>
              </a:ext>
            </a:extLst>
          </p:cNvPr>
          <p:cNvSpPr/>
          <p:nvPr/>
        </p:nvSpPr>
        <p:spPr>
          <a:xfrm>
            <a:off x="6156000" y="2689200"/>
            <a:ext cx="2880000" cy="1008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6BE8DDA-E680-32C3-E6F3-D5FBABB6DE7B}"/>
              </a:ext>
            </a:extLst>
          </p:cNvPr>
          <p:cNvSpPr txBox="1"/>
          <p:nvPr/>
        </p:nvSpPr>
        <p:spPr>
          <a:xfrm>
            <a:off x="6156000" y="2696399"/>
            <a:ext cx="28800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</a:rPr>
              <a:t>ALD 불화물 인공 SEI  (ZnF₂ / AlF₃ / LiF)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7C4D1A2E-C5C0-355B-D35A-8C2AD33B4B99}"/>
              </a:ext>
            </a:extLst>
          </p:cNvPr>
          <p:cNvSpPr/>
          <p:nvPr/>
        </p:nvSpPr>
        <p:spPr>
          <a:xfrm>
            <a:off x="6246000" y="2574000"/>
            <a:ext cx="108000" cy="108000"/>
          </a:xfrm>
          <a:prstGeom prst="ellips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E0AA6CDA-F56B-0A5E-EC34-5E2BEB1C114C}"/>
              </a:ext>
            </a:extLst>
          </p:cNvPr>
          <p:cNvSpPr/>
          <p:nvPr/>
        </p:nvSpPr>
        <p:spPr>
          <a:xfrm>
            <a:off x="6447600" y="2574000"/>
            <a:ext cx="108000" cy="108000"/>
          </a:xfrm>
          <a:prstGeom prst="ellips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896D908B-1A1B-A5B0-3906-1D92CD47D34C}"/>
              </a:ext>
            </a:extLst>
          </p:cNvPr>
          <p:cNvSpPr/>
          <p:nvPr/>
        </p:nvSpPr>
        <p:spPr>
          <a:xfrm>
            <a:off x="6649200" y="2574000"/>
            <a:ext cx="108000" cy="108000"/>
          </a:xfrm>
          <a:prstGeom prst="ellips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4FFE5D1A-D7DA-1A83-EA4F-E71D18419F71}"/>
              </a:ext>
            </a:extLst>
          </p:cNvPr>
          <p:cNvSpPr/>
          <p:nvPr/>
        </p:nvSpPr>
        <p:spPr>
          <a:xfrm>
            <a:off x="6850800" y="2574000"/>
            <a:ext cx="108000" cy="108000"/>
          </a:xfrm>
          <a:prstGeom prst="ellips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9E15D5A0-2BAC-3CE9-23C1-0CCDB33E77BE}"/>
              </a:ext>
            </a:extLst>
          </p:cNvPr>
          <p:cNvSpPr/>
          <p:nvPr/>
        </p:nvSpPr>
        <p:spPr>
          <a:xfrm>
            <a:off x="7052400" y="2574000"/>
            <a:ext cx="108000" cy="108000"/>
          </a:xfrm>
          <a:prstGeom prst="ellips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C664A03E-6A31-5EA8-3812-BFE9AFFA4E1D}"/>
              </a:ext>
            </a:extLst>
          </p:cNvPr>
          <p:cNvSpPr/>
          <p:nvPr/>
        </p:nvSpPr>
        <p:spPr>
          <a:xfrm>
            <a:off x="7254000" y="2574000"/>
            <a:ext cx="108000" cy="108000"/>
          </a:xfrm>
          <a:prstGeom prst="ellips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ABE004F1-7B48-FFC8-454A-908957FE07FF}"/>
              </a:ext>
            </a:extLst>
          </p:cNvPr>
          <p:cNvSpPr/>
          <p:nvPr/>
        </p:nvSpPr>
        <p:spPr>
          <a:xfrm>
            <a:off x="7455600" y="2574000"/>
            <a:ext cx="108000" cy="108000"/>
          </a:xfrm>
          <a:prstGeom prst="ellips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614407BC-C817-0AEC-5640-050D3072F4CE}"/>
              </a:ext>
            </a:extLst>
          </p:cNvPr>
          <p:cNvSpPr/>
          <p:nvPr/>
        </p:nvSpPr>
        <p:spPr>
          <a:xfrm>
            <a:off x="7657200" y="2574000"/>
            <a:ext cx="108000" cy="108000"/>
          </a:xfrm>
          <a:prstGeom prst="ellips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40B031C6-1AC3-2EE8-1CC2-7F91E95F92FA}"/>
              </a:ext>
            </a:extLst>
          </p:cNvPr>
          <p:cNvSpPr/>
          <p:nvPr/>
        </p:nvSpPr>
        <p:spPr>
          <a:xfrm>
            <a:off x="7858800" y="2574000"/>
            <a:ext cx="108000" cy="108000"/>
          </a:xfrm>
          <a:prstGeom prst="ellips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EC92C075-B937-102E-D32C-C64C08394246}"/>
              </a:ext>
            </a:extLst>
          </p:cNvPr>
          <p:cNvSpPr/>
          <p:nvPr/>
        </p:nvSpPr>
        <p:spPr>
          <a:xfrm>
            <a:off x="8060400" y="2574000"/>
            <a:ext cx="108000" cy="108000"/>
          </a:xfrm>
          <a:prstGeom prst="ellips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973BBBDF-E3E7-964C-0226-DCE5C4BED94B}"/>
              </a:ext>
            </a:extLst>
          </p:cNvPr>
          <p:cNvSpPr/>
          <p:nvPr/>
        </p:nvSpPr>
        <p:spPr>
          <a:xfrm>
            <a:off x="8262000" y="2574000"/>
            <a:ext cx="108000" cy="108000"/>
          </a:xfrm>
          <a:prstGeom prst="ellips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75CEC7BD-F844-6F02-A504-2E0C975DCD97}"/>
              </a:ext>
            </a:extLst>
          </p:cNvPr>
          <p:cNvSpPr/>
          <p:nvPr/>
        </p:nvSpPr>
        <p:spPr>
          <a:xfrm>
            <a:off x="8463600" y="2574000"/>
            <a:ext cx="108000" cy="108000"/>
          </a:xfrm>
          <a:prstGeom prst="ellips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5F3116AB-46D3-ADB0-14DB-43F660F8FEBA}"/>
              </a:ext>
            </a:extLst>
          </p:cNvPr>
          <p:cNvSpPr/>
          <p:nvPr/>
        </p:nvSpPr>
        <p:spPr>
          <a:xfrm>
            <a:off x="8665200" y="2574000"/>
            <a:ext cx="108000" cy="108000"/>
          </a:xfrm>
          <a:prstGeom prst="ellips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6B7ADF24-B496-A6CB-8203-6A43636E29E9}"/>
              </a:ext>
            </a:extLst>
          </p:cNvPr>
          <p:cNvSpPr/>
          <p:nvPr/>
        </p:nvSpPr>
        <p:spPr>
          <a:xfrm>
            <a:off x="8866800" y="2574000"/>
            <a:ext cx="108000" cy="108000"/>
          </a:xfrm>
          <a:prstGeom prst="ellips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42600A87-AD9D-7D2B-3CAF-618A1D04D3A3}"/>
              </a:ext>
            </a:extLst>
          </p:cNvPr>
          <p:cNvSpPr/>
          <p:nvPr/>
        </p:nvSpPr>
        <p:spPr>
          <a:xfrm>
            <a:off x="6156000" y="2106000"/>
            <a:ext cx="2880000" cy="468000"/>
          </a:xfrm>
          <a:prstGeom prst="rect">
            <a:avLst/>
          </a:prstGeom>
          <a:solidFill>
            <a:srgbClr val="909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152D741B-0C91-77F8-6596-29B4E3279236}"/>
              </a:ext>
            </a:extLst>
          </p:cNvPr>
          <p:cNvSpPr txBox="1"/>
          <p:nvPr/>
        </p:nvSpPr>
        <p:spPr>
          <a:xfrm>
            <a:off x="6156000" y="2257200"/>
            <a:ext cx="288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dirty="0" err="1">
                <a:solidFill>
                  <a:srgbClr val="FFFFFF"/>
                </a:solidFill>
                <a:latin typeface="맑은 고딕"/>
              </a:rPr>
              <a:t>균일하고</a:t>
            </a:r>
            <a:r>
              <a:rPr sz="9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900" b="1" dirty="0" err="1">
                <a:solidFill>
                  <a:srgbClr val="FFFFFF"/>
                </a:solidFill>
                <a:latin typeface="맑은 고딕"/>
              </a:rPr>
              <a:t>평탄한</a:t>
            </a:r>
            <a:r>
              <a:rPr sz="900" b="1" dirty="0">
                <a:solidFill>
                  <a:srgbClr val="FFFFFF"/>
                </a:solidFill>
                <a:latin typeface="맑은 고딕"/>
              </a:rPr>
              <a:t> Li </a:t>
            </a:r>
            <a:r>
              <a:rPr sz="900" b="1" dirty="0" err="1">
                <a:solidFill>
                  <a:srgbClr val="FFFFFF"/>
                </a:solidFill>
                <a:latin typeface="맑은 고딕"/>
              </a:rPr>
              <a:t>증착층</a:t>
            </a:r>
            <a:endParaRPr sz="900" b="1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5BBBF47A-7163-7AC7-BBC1-F4A0CB3418D4}"/>
              </a:ext>
            </a:extLst>
          </p:cNvPr>
          <p:cNvSpPr txBox="1"/>
          <p:nvPr/>
        </p:nvSpPr>
        <p:spPr>
          <a:xfrm>
            <a:off x="7578000" y="2429999"/>
            <a:ext cx="136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E7D32"/>
                </a:solidFill>
                <a:latin typeface="맑은 고딕"/>
              </a:rPr>
              <a:t>✓ 균일 Li 핵생성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8249F7D2-C92D-90F4-007A-A929C295296F}"/>
              </a:ext>
            </a:extLst>
          </p:cNvPr>
          <p:cNvSpPr txBox="1"/>
          <p:nvPr/>
        </p:nvSpPr>
        <p:spPr>
          <a:xfrm>
            <a:off x="7578000" y="2538000"/>
            <a:ext cx="1368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0695C"/>
                </a:solidFill>
                <a:latin typeface="맑은 고딕"/>
              </a:rPr>
              <a:t>인공 SEI (ALD 불화물)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5A68D4A1-ADE2-D870-4F01-76499FD370E8}"/>
              </a:ext>
            </a:extLst>
          </p:cNvPr>
          <p:cNvSpPr/>
          <p:nvPr/>
        </p:nvSpPr>
        <p:spPr>
          <a:xfrm>
            <a:off x="6156000" y="3150000"/>
            <a:ext cx="2880000" cy="846000"/>
          </a:xfrm>
          <a:prstGeom prst="rect">
            <a:avLst/>
          </a:prstGeom>
          <a:solidFill>
            <a:srgbClr val="E8F5E9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88514410-D0B3-9CEB-7B93-2ADBE61E4A03}"/>
              </a:ext>
            </a:extLst>
          </p:cNvPr>
          <p:cNvSpPr txBox="1"/>
          <p:nvPr/>
        </p:nvSpPr>
        <p:spPr>
          <a:xfrm>
            <a:off x="6192000" y="3186000"/>
            <a:ext cx="2790000" cy="804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850">
                <a:solidFill>
                  <a:srgbClr val="1B5E20"/>
                </a:solidFill>
                <a:latin typeface="맑은 고딕"/>
              </a:rPr>
              <a:t>• ALD 불화물 인공 SEI 형성 후 Li 전착</a:t>
            </a:r>
          </a:p>
          <a:p>
            <a:pPr algn="l">
              <a:lnSpc>
                <a:spcPts val="1300"/>
              </a:lnSpc>
            </a:pPr>
            <a:r>
              <a:rPr sz="850">
                <a:solidFill>
                  <a:srgbClr val="1B5E20"/>
                </a:solidFill>
                <a:latin typeface="맑은 고딕"/>
              </a:rPr>
              <a:t>• 균일 핵생성 → 조밀·평탄한 Li 증착</a:t>
            </a:r>
          </a:p>
          <a:p>
            <a:pPr algn="l">
              <a:lnSpc>
                <a:spcPts val="1300"/>
              </a:lnSpc>
            </a:pPr>
            <a:r>
              <a:rPr sz="850">
                <a:solidFill>
                  <a:srgbClr val="1B5E20"/>
                </a:solidFill>
                <a:latin typeface="맑은 고딕"/>
              </a:rPr>
              <a:t>• 덴드라이트 억제, SEI 두께·조성 정밀 제어</a:t>
            </a:r>
          </a:p>
          <a:p>
            <a:pPr algn="l">
              <a:lnSpc>
                <a:spcPts val="1300"/>
              </a:lnSpc>
            </a:pPr>
            <a:r>
              <a:rPr sz="850">
                <a:solidFill>
                  <a:srgbClr val="1B5E20"/>
                </a:solidFill>
                <a:latin typeface="맑은 고딕"/>
              </a:rPr>
              <a:t>• 목표: CE &gt;99.5%, 용량유지율 &gt;80% (300 cy.)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EE40053D-A911-CB8F-7F9A-453CF49CB1CB}"/>
              </a:ext>
            </a:extLst>
          </p:cNvPr>
          <p:cNvSpPr/>
          <p:nvPr/>
        </p:nvSpPr>
        <p:spPr>
          <a:xfrm>
            <a:off x="6156000" y="4050000"/>
            <a:ext cx="2880000" cy="1432800"/>
          </a:xfrm>
          <a:prstGeom prst="rect">
            <a:avLst/>
          </a:prstGeom>
          <a:solidFill>
            <a:srgbClr val="EEEEEE"/>
          </a:solidFill>
          <a:ln w="9525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3" name="Connector 112">
            <a:extLst>
              <a:ext uri="{FF2B5EF4-FFF2-40B4-BE49-F238E27FC236}">
                <a16:creationId xmlns:a16="http://schemas.microsoft.com/office/drawing/2014/main" id="{6DDF4DE0-DC89-B62C-0865-637FD87FA946}"/>
              </a:ext>
            </a:extLst>
          </p:cNvPr>
          <p:cNvCxnSpPr/>
          <p:nvPr/>
        </p:nvCxnSpPr>
        <p:spPr>
          <a:xfrm>
            <a:off x="6156000" y="4050000"/>
            <a:ext cx="2880000" cy="1432800"/>
          </a:xfrm>
          <a:prstGeom prst="line">
            <a:avLst/>
          </a:prstGeom>
          <a:ln w="635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>
            <a:extLst>
              <a:ext uri="{FF2B5EF4-FFF2-40B4-BE49-F238E27FC236}">
                <a16:creationId xmlns:a16="http://schemas.microsoft.com/office/drawing/2014/main" id="{7BB94D60-70A0-CA26-83CE-263EF6F568CF}"/>
              </a:ext>
            </a:extLst>
          </p:cNvPr>
          <p:cNvCxnSpPr/>
          <p:nvPr/>
        </p:nvCxnSpPr>
        <p:spPr>
          <a:xfrm flipH="1">
            <a:off x="6156000" y="4050000"/>
            <a:ext cx="2880000" cy="1432800"/>
          </a:xfrm>
          <a:prstGeom prst="line">
            <a:avLst/>
          </a:prstGeom>
          <a:ln w="635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DB8899F7-2107-C609-92E9-B60E5A37653D}"/>
              </a:ext>
            </a:extLst>
          </p:cNvPr>
          <p:cNvSpPr txBox="1"/>
          <p:nvPr/>
        </p:nvSpPr>
        <p:spPr>
          <a:xfrm>
            <a:off x="6156000" y="46404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757575"/>
                </a:solidFill>
                <a:latin typeface="맑은 고딕"/>
              </a:rPr>
              <a:t>SEM 이미지 공간
(균일 Li 증착 / 평탄 표면)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62DCFC4A-9AB1-1D14-1F30-60FD633E21A9}"/>
              </a:ext>
            </a:extLst>
          </p:cNvPr>
          <p:cNvSpPr/>
          <p:nvPr/>
        </p:nvSpPr>
        <p:spPr>
          <a:xfrm>
            <a:off x="0" y="5551200"/>
            <a:ext cx="9144000" cy="2880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129740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BD4D39E-E3D6-2AE0-2D2C-ED41279674B7}"/>
              </a:ext>
            </a:extLst>
          </p:cNvPr>
          <p:cNvSpPr/>
          <p:nvPr/>
        </p:nvSpPr>
        <p:spPr>
          <a:xfrm>
            <a:off x="90000" y="378000"/>
            <a:ext cx="2772000" cy="514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CA2E6E-4107-F9CD-9C9B-42EE6CF15797}"/>
              </a:ext>
            </a:extLst>
          </p:cNvPr>
          <p:cNvSpPr/>
          <p:nvPr/>
        </p:nvSpPr>
        <p:spPr>
          <a:xfrm>
            <a:off x="3114000" y="378000"/>
            <a:ext cx="2772000" cy="514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303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A6B895-D012-03EB-FAF5-F42C238DC9BD}"/>
              </a:ext>
            </a:extLst>
          </p:cNvPr>
          <p:cNvSpPr/>
          <p:nvPr/>
        </p:nvSpPr>
        <p:spPr>
          <a:xfrm>
            <a:off x="6138000" y="378000"/>
            <a:ext cx="2916000" cy="514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A115C1-A606-6EA3-FD70-50C1F72D075B}"/>
              </a:ext>
            </a:extLst>
          </p:cNvPr>
          <p:cNvSpPr/>
          <p:nvPr/>
        </p:nvSpPr>
        <p:spPr>
          <a:xfrm>
            <a:off x="90000" y="378000"/>
            <a:ext cx="2772000" cy="270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E7876D-BD67-166A-5125-E873885E8450}"/>
              </a:ext>
            </a:extLst>
          </p:cNvPr>
          <p:cNvSpPr/>
          <p:nvPr/>
        </p:nvSpPr>
        <p:spPr>
          <a:xfrm>
            <a:off x="3114000" y="378000"/>
            <a:ext cx="2772000" cy="270000"/>
          </a:xfrm>
          <a:prstGeom prst="rect">
            <a:avLst/>
          </a:prstGeom>
          <a:solidFill>
            <a:srgbClr val="303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2A5D2B-A5CC-8941-B848-DAFC25E05D9A}"/>
              </a:ext>
            </a:extLst>
          </p:cNvPr>
          <p:cNvSpPr/>
          <p:nvPr/>
        </p:nvSpPr>
        <p:spPr>
          <a:xfrm>
            <a:off x="6138000" y="378000"/>
            <a:ext cx="2916000" cy="27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0D814B-86E1-244C-AB3B-B9993C05AEEC}"/>
              </a:ext>
            </a:extLst>
          </p:cNvPr>
          <p:cNvSpPr txBox="1"/>
          <p:nvPr/>
        </p:nvSpPr>
        <p:spPr>
          <a:xfrm>
            <a:off x="90000" y="399600"/>
            <a:ext cx="2772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dirty="0" err="1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문제</a:t>
            </a:r>
            <a:r>
              <a:rPr sz="900" b="1" dirty="0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 : </a:t>
            </a:r>
            <a:r>
              <a:rPr sz="900" b="1" dirty="0" err="1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불균일</a:t>
            </a:r>
            <a:r>
              <a:rPr sz="900" b="1" dirty="0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 Li </a:t>
            </a:r>
            <a:r>
              <a:rPr sz="900" b="1" dirty="0" err="1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핵생성</a:t>
            </a:r>
            <a:r>
              <a:rPr sz="900" b="1" dirty="0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 및 </a:t>
            </a:r>
            <a:r>
              <a:rPr sz="900" b="1" dirty="0" err="1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덴드라이트</a:t>
            </a:r>
            <a:endParaRPr sz="900" b="1" dirty="0">
              <a:solidFill>
                <a:srgbClr val="FFFFFF"/>
              </a:solidFill>
              <a:latin typeface="에스코어 드림 7 ExtraBold" panose="020B0803030302020204" pitchFamily="34" charset="-127"/>
              <a:ea typeface="에스코어 드림 7 ExtraBold" panose="020B0803030302020204" pitchFamily="34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51C129-3F40-68D2-2965-2D7666001C74}"/>
              </a:ext>
            </a:extLst>
          </p:cNvPr>
          <p:cNvSpPr txBox="1"/>
          <p:nvPr/>
        </p:nvSpPr>
        <p:spPr>
          <a:xfrm>
            <a:off x="3114000" y="399600"/>
            <a:ext cx="2772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Metal</a:t>
            </a:r>
            <a:r>
              <a:rPr lang="ko-KR" altLang="en-US" sz="900" b="1" dirty="0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 </a:t>
            </a:r>
            <a:r>
              <a:rPr lang="en-US" altLang="ko-KR" sz="900" b="1" dirty="0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Fluoride</a:t>
            </a:r>
            <a:r>
              <a:rPr lang="ko-KR" altLang="en-US" sz="900" b="1" dirty="0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 </a:t>
            </a:r>
            <a:r>
              <a:rPr sz="900" b="1" dirty="0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ALD </a:t>
            </a:r>
            <a:r>
              <a:rPr sz="900" b="1" dirty="0" err="1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증착</a:t>
            </a:r>
            <a:endParaRPr sz="900" b="1" dirty="0">
              <a:solidFill>
                <a:srgbClr val="FFFFFF"/>
              </a:solidFill>
              <a:latin typeface="에스코어 드림 7 ExtraBold" panose="020B0803030302020204" pitchFamily="34" charset="-127"/>
              <a:ea typeface="에스코어 드림 7 ExtraBold" panose="020B0803030302020204" pitchFamily="34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9B2EA1-B191-F604-30D2-2EB2C601EF06}"/>
              </a:ext>
            </a:extLst>
          </p:cNvPr>
          <p:cNvSpPr txBox="1"/>
          <p:nvPr/>
        </p:nvSpPr>
        <p:spPr>
          <a:xfrm>
            <a:off x="6138000" y="399600"/>
            <a:ext cx="2916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dirty="0" err="1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해결</a:t>
            </a:r>
            <a:r>
              <a:rPr sz="900" b="1" dirty="0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 : </a:t>
            </a:r>
            <a:r>
              <a:rPr sz="900" b="1" dirty="0" err="1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균일</a:t>
            </a:r>
            <a:r>
              <a:rPr sz="900" b="1" dirty="0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 Li </a:t>
            </a:r>
            <a:r>
              <a:rPr sz="900" b="1" dirty="0" err="1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핵생성</a:t>
            </a:r>
            <a:r>
              <a:rPr sz="900" b="1" dirty="0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 및 </a:t>
            </a:r>
            <a:r>
              <a:rPr sz="900" b="1" dirty="0" err="1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평탄한</a:t>
            </a:r>
            <a:r>
              <a:rPr sz="900" b="1" dirty="0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 </a:t>
            </a:r>
            <a:r>
              <a:rPr sz="900" b="1" dirty="0" err="1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증착</a:t>
            </a:r>
            <a:endParaRPr sz="900" b="1" dirty="0">
              <a:solidFill>
                <a:srgbClr val="FFFFFF"/>
              </a:solidFill>
              <a:latin typeface="에스코어 드림 7 ExtraBold" panose="020B0803030302020204" pitchFamily="34" charset="-127"/>
              <a:ea typeface="에스코어 드림 7 ExtraBold" panose="020B0803030302020204" pitchFamily="34" charset="-127"/>
            </a:endParaRPr>
          </a:p>
        </p:txBody>
      </p:sp>
      <p:cxnSp>
        <p:nvCxnSpPr>
          <p:cNvPr id="13" name="Connector 12">
            <a:extLst>
              <a:ext uri="{FF2B5EF4-FFF2-40B4-BE49-F238E27FC236}">
                <a16:creationId xmlns:a16="http://schemas.microsoft.com/office/drawing/2014/main" id="{1F4C3C94-B6F8-075A-D3DC-BB516D32B6F0}"/>
              </a:ext>
            </a:extLst>
          </p:cNvPr>
          <p:cNvCxnSpPr/>
          <p:nvPr/>
        </p:nvCxnSpPr>
        <p:spPr>
          <a:xfrm>
            <a:off x="2880000" y="2334240"/>
            <a:ext cx="216000" cy="0"/>
          </a:xfrm>
          <a:prstGeom prst="line">
            <a:avLst/>
          </a:prstGeom>
          <a:ln w="38100">
            <a:solidFill>
              <a:srgbClr val="303F9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>
            <a:extLst>
              <a:ext uri="{FF2B5EF4-FFF2-40B4-BE49-F238E27FC236}">
                <a16:creationId xmlns:a16="http://schemas.microsoft.com/office/drawing/2014/main" id="{3BB49A8A-FB05-214E-2B16-FB1C30F5A7D0}"/>
              </a:ext>
            </a:extLst>
          </p:cNvPr>
          <p:cNvCxnSpPr/>
          <p:nvPr/>
        </p:nvCxnSpPr>
        <p:spPr>
          <a:xfrm>
            <a:off x="5904000" y="2334240"/>
            <a:ext cx="216000" cy="0"/>
          </a:xfrm>
          <a:prstGeom prst="line">
            <a:avLst/>
          </a:prstGeom>
          <a:ln w="38100">
            <a:solidFill>
              <a:srgbClr val="2E7D32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891AD70F-72EE-3768-AED7-69FA9CF0AD04}"/>
              </a:ext>
            </a:extLst>
          </p:cNvPr>
          <p:cNvSpPr/>
          <p:nvPr/>
        </p:nvSpPr>
        <p:spPr>
          <a:xfrm>
            <a:off x="108000" y="666000"/>
            <a:ext cx="2736000" cy="2142000"/>
          </a:xfrm>
          <a:prstGeom prst="rect">
            <a:avLst/>
          </a:prstGeom>
          <a:solidFill>
            <a:srgbClr val="E1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F463CB-6DB7-FF81-CBAD-D3CB6AE37E8D}"/>
              </a:ext>
            </a:extLst>
          </p:cNvPr>
          <p:cNvSpPr txBox="1"/>
          <p:nvPr/>
        </p:nvSpPr>
        <p:spPr>
          <a:xfrm>
            <a:off x="144000" y="694800"/>
            <a:ext cx="2736000" cy="230832"/>
          </a:xfrm>
          <a:prstGeom prst="rect">
            <a:avLst/>
          </a:prstGeom>
          <a:noFill/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r>
              <a:rPr sz="900" b="1" dirty="0" err="1"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전해질</a:t>
            </a:r>
            <a:r>
              <a:rPr sz="900" b="1" dirty="0"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 (Electrolyte)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1EE2FC0-B1FF-A68A-6FD6-F4E69EB45D1C}"/>
              </a:ext>
            </a:extLst>
          </p:cNvPr>
          <p:cNvSpPr/>
          <p:nvPr/>
        </p:nvSpPr>
        <p:spPr>
          <a:xfrm>
            <a:off x="108000" y="2790000"/>
            <a:ext cx="2736000" cy="306000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D42603-E3F2-2E7C-78AA-DF2A51B84BD6}"/>
              </a:ext>
            </a:extLst>
          </p:cNvPr>
          <p:cNvSpPr txBox="1"/>
          <p:nvPr/>
        </p:nvSpPr>
        <p:spPr>
          <a:xfrm>
            <a:off x="108000" y="2861999"/>
            <a:ext cx="2736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dirty="0">
                <a:solidFill>
                  <a:srgbClr val="FFFFFF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Cu </a:t>
            </a:r>
            <a:r>
              <a:rPr sz="900" dirty="0" err="1">
                <a:solidFill>
                  <a:srgbClr val="FFFFFF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집전체</a:t>
            </a:r>
            <a:endParaRPr sz="900" dirty="0">
              <a:solidFill>
                <a:srgbClr val="FFFFFF"/>
              </a:solidFill>
              <a:effectLst>
                <a:glow rad="139700">
                  <a:schemeClr val="accent2">
                    <a:satMod val="175000"/>
                    <a:alpha val="40000"/>
                  </a:schemeClr>
                </a:glow>
              </a:effectLst>
              <a:latin typeface="에스코어 드림 7 ExtraBold" panose="020B0803030302020204" pitchFamily="34" charset="-127"/>
              <a:ea typeface="에스코어 드림 7 ExtraBold" panose="020B0803030302020204" pitchFamily="34" charset="-127"/>
            </a:endParaRPr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D4723233-A871-0B85-BB39-D40CF2CDCDBF}"/>
              </a:ext>
            </a:extLst>
          </p:cNvPr>
          <p:cNvSpPr/>
          <p:nvPr/>
        </p:nvSpPr>
        <p:spPr>
          <a:xfrm>
            <a:off x="156599" y="1494000"/>
            <a:ext cx="118800" cy="1296000"/>
          </a:xfrm>
          <a:prstGeom prst="triangl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FC68EDF7-0170-3C03-9285-9812986A68F6}"/>
              </a:ext>
            </a:extLst>
          </p:cNvPr>
          <p:cNvSpPr/>
          <p:nvPr/>
        </p:nvSpPr>
        <p:spPr>
          <a:xfrm>
            <a:off x="324000" y="1962000"/>
            <a:ext cx="108000" cy="827999"/>
          </a:xfrm>
          <a:prstGeom prst="triangl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45967E81-6DF6-7BED-89B9-AD3D30E5F8AC}"/>
              </a:ext>
            </a:extLst>
          </p:cNvPr>
          <p:cNvSpPr/>
          <p:nvPr/>
        </p:nvSpPr>
        <p:spPr>
          <a:xfrm>
            <a:off x="464400" y="1205999"/>
            <a:ext cx="151200" cy="1584000"/>
          </a:xfrm>
          <a:prstGeom prst="triangl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756EB8D1-3D17-F267-CFEF-3AD9865B410B}"/>
              </a:ext>
            </a:extLst>
          </p:cNvPr>
          <p:cNvSpPr/>
          <p:nvPr/>
        </p:nvSpPr>
        <p:spPr>
          <a:xfrm>
            <a:off x="673200" y="2142000"/>
            <a:ext cx="93600" cy="648000"/>
          </a:xfrm>
          <a:prstGeom prst="triangl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BB270242-86B5-378A-F1A2-0FB64DBCCAE2}"/>
              </a:ext>
            </a:extLst>
          </p:cNvPr>
          <p:cNvSpPr/>
          <p:nvPr/>
        </p:nvSpPr>
        <p:spPr>
          <a:xfrm>
            <a:off x="826200" y="1710000"/>
            <a:ext cx="111600" cy="1080000"/>
          </a:xfrm>
          <a:prstGeom prst="triangl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37971D90-AFC1-4F6D-1F85-D127CC971B07}"/>
              </a:ext>
            </a:extLst>
          </p:cNvPr>
          <p:cNvSpPr/>
          <p:nvPr/>
        </p:nvSpPr>
        <p:spPr>
          <a:xfrm>
            <a:off x="981000" y="1062000"/>
            <a:ext cx="162000" cy="1728000"/>
          </a:xfrm>
          <a:prstGeom prst="triangl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41E40534-4DEE-790C-5908-8803248E726C}"/>
              </a:ext>
            </a:extLst>
          </p:cNvPr>
          <p:cNvSpPr/>
          <p:nvPr/>
        </p:nvSpPr>
        <p:spPr>
          <a:xfrm>
            <a:off x="1191600" y="2034000"/>
            <a:ext cx="100800" cy="756000"/>
          </a:xfrm>
          <a:prstGeom prst="triangl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4F82690C-5996-4DFA-DD3C-850ACFCFA77E}"/>
              </a:ext>
            </a:extLst>
          </p:cNvPr>
          <p:cNvSpPr/>
          <p:nvPr/>
        </p:nvSpPr>
        <p:spPr>
          <a:xfrm>
            <a:off x="1357200" y="1458000"/>
            <a:ext cx="129600" cy="1332000"/>
          </a:xfrm>
          <a:prstGeom prst="triangl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615B1765-9EE7-86AB-042E-50F66989A38A}"/>
              </a:ext>
            </a:extLst>
          </p:cNvPr>
          <p:cNvSpPr/>
          <p:nvPr/>
        </p:nvSpPr>
        <p:spPr>
          <a:xfrm>
            <a:off x="1558800" y="2214000"/>
            <a:ext cx="86400" cy="576000"/>
          </a:xfrm>
          <a:prstGeom prst="triangl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4FB67E1E-1914-EE35-3406-21DB6E8C2C1B}"/>
              </a:ext>
            </a:extLst>
          </p:cNvPr>
          <p:cNvSpPr/>
          <p:nvPr/>
        </p:nvSpPr>
        <p:spPr>
          <a:xfrm>
            <a:off x="1710000" y="1314000"/>
            <a:ext cx="144000" cy="1475999"/>
          </a:xfrm>
          <a:prstGeom prst="triangl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62169E8C-E710-B7F8-A88C-A4A64307DB7B}"/>
              </a:ext>
            </a:extLst>
          </p:cNvPr>
          <p:cNvSpPr/>
          <p:nvPr/>
        </p:nvSpPr>
        <p:spPr>
          <a:xfrm>
            <a:off x="1904400" y="1818000"/>
            <a:ext cx="115200" cy="972000"/>
          </a:xfrm>
          <a:prstGeom prst="triangl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29173F2E-DF7A-9286-7197-A27784536915}"/>
              </a:ext>
            </a:extLst>
          </p:cNvPr>
          <p:cNvSpPr/>
          <p:nvPr/>
        </p:nvSpPr>
        <p:spPr>
          <a:xfrm>
            <a:off x="2080800" y="1602000"/>
            <a:ext cx="122400" cy="1188000"/>
          </a:xfrm>
          <a:prstGeom prst="triangl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3BEB2C92-6DAC-DC8E-26FE-AAD87E6A8FBF}"/>
              </a:ext>
            </a:extLst>
          </p:cNvPr>
          <p:cNvSpPr/>
          <p:nvPr/>
        </p:nvSpPr>
        <p:spPr>
          <a:xfrm>
            <a:off x="2244600" y="1170000"/>
            <a:ext cx="154800" cy="1620000"/>
          </a:xfrm>
          <a:prstGeom prst="triangl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F71ACD68-EC5E-E87E-34B3-47C020B39A1F}"/>
              </a:ext>
            </a:extLst>
          </p:cNvPr>
          <p:cNvSpPr/>
          <p:nvPr/>
        </p:nvSpPr>
        <p:spPr>
          <a:xfrm>
            <a:off x="2453400" y="2070000"/>
            <a:ext cx="97200" cy="720000"/>
          </a:xfrm>
          <a:prstGeom prst="triangl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F73DFF1C-F436-7AA4-F9FF-9E1FFFF00FA1}"/>
              </a:ext>
            </a:extLst>
          </p:cNvPr>
          <p:cNvSpPr/>
          <p:nvPr/>
        </p:nvSpPr>
        <p:spPr>
          <a:xfrm>
            <a:off x="125999" y="2725200"/>
            <a:ext cx="180000" cy="72000"/>
          </a:xfrm>
          <a:prstGeom prst="roundRect">
            <a:avLst/>
          </a:prstGeom>
          <a:solidFill>
            <a:srgbClr val="FF5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9AF9FCE2-B982-E7CC-DCB7-193824E428FB}"/>
              </a:ext>
            </a:extLst>
          </p:cNvPr>
          <p:cNvSpPr/>
          <p:nvPr/>
        </p:nvSpPr>
        <p:spPr>
          <a:xfrm>
            <a:off x="360000" y="2725200"/>
            <a:ext cx="198000" cy="72000"/>
          </a:xfrm>
          <a:prstGeom prst="roundRect">
            <a:avLst/>
          </a:prstGeom>
          <a:solidFill>
            <a:srgbClr val="FF5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D518CF28-B18A-AE31-5F81-5A60B3EA4E9F}"/>
              </a:ext>
            </a:extLst>
          </p:cNvPr>
          <p:cNvSpPr/>
          <p:nvPr/>
        </p:nvSpPr>
        <p:spPr>
          <a:xfrm>
            <a:off x="630000" y="2725200"/>
            <a:ext cx="172800" cy="72000"/>
          </a:xfrm>
          <a:prstGeom prst="roundRect">
            <a:avLst/>
          </a:prstGeom>
          <a:solidFill>
            <a:srgbClr val="FF5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D3C05F61-969B-88AC-F853-316DDC1D8535}"/>
              </a:ext>
            </a:extLst>
          </p:cNvPr>
          <p:cNvSpPr/>
          <p:nvPr/>
        </p:nvSpPr>
        <p:spPr>
          <a:xfrm>
            <a:off x="900000" y="2725200"/>
            <a:ext cx="187200" cy="72000"/>
          </a:xfrm>
          <a:prstGeom prst="roundRect">
            <a:avLst/>
          </a:prstGeom>
          <a:solidFill>
            <a:srgbClr val="FF5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81193E39-0C19-A1E3-6EFE-9198B414D47B}"/>
              </a:ext>
            </a:extLst>
          </p:cNvPr>
          <p:cNvSpPr/>
          <p:nvPr/>
        </p:nvSpPr>
        <p:spPr>
          <a:xfrm>
            <a:off x="1188000" y="2725200"/>
            <a:ext cx="180000" cy="72000"/>
          </a:xfrm>
          <a:prstGeom prst="roundRect">
            <a:avLst/>
          </a:prstGeom>
          <a:solidFill>
            <a:srgbClr val="FF5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3EC5D294-7C89-B7DE-EF0A-ACFAAF4DCCFD}"/>
              </a:ext>
            </a:extLst>
          </p:cNvPr>
          <p:cNvSpPr/>
          <p:nvPr/>
        </p:nvSpPr>
        <p:spPr>
          <a:xfrm>
            <a:off x="1458000" y="2725200"/>
            <a:ext cx="198000" cy="72000"/>
          </a:xfrm>
          <a:prstGeom prst="roundRect">
            <a:avLst/>
          </a:prstGeom>
          <a:solidFill>
            <a:srgbClr val="FF5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F1044AD7-958A-16C7-DA7F-031A3415FF29}"/>
              </a:ext>
            </a:extLst>
          </p:cNvPr>
          <p:cNvSpPr/>
          <p:nvPr/>
        </p:nvSpPr>
        <p:spPr>
          <a:xfrm>
            <a:off x="1728000" y="2725200"/>
            <a:ext cx="172800" cy="72000"/>
          </a:xfrm>
          <a:prstGeom prst="roundRect">
            <a:avLst/>
          </a:prstGeom>
          <a:solidFill>
            <a:srgbClr val="FF5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6D0E595D-6D53-117E-D7B5-8C8B14BB736D}"/>
              </a:ext>
            </a:extLst>
          </p:cNvPr>
          <p:cNvSpPr/>
          <p:nvPr/>
        </p:nvSpPr>
        <p:spPr>
          <a:xfrm>
            <a:off x="1998000" y="2725200"/>
            <a:ext cx="187200" cy="72000"/>
          </a:xfrm>
          <a:prstGeom prst="roundRect">
            <a:avLst/>
          </a:prstGeom>
          <a:solidFill>
            <a:srgbClr val="FF5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8181B867-7EFE-47E5-86E9-EFAB769B5AEE}"/>
              </a:ext>
            </a:extLst>
          </p:cNvPr>
          <p:cNvSpPr/>
          <p:nvPr/>
        </p:nvSpPr>
        <p:spPr>
          <a:xfrm>
            <a:off x="2268000" y="2725200"/>
            <a:ext cx="180000" cy="72000"/>
          </a:xfrm>
          <a:prstGeom prst="roundRect">
            <a:avLst/>
          </a:prstGeom>
          <a:solidFill>
            <a:srgbClr val="FF5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9B6D30E6-689D-DDBF-0770-CFB034703232}"/>
              </a:ext>
            </a:extLst>
          </p:cNvPr>
          <p:cNvSpPr/>
          <p:nvPr/>
        </p:nvSpPr>
        <p:spPr>
          <a:xfrm>
            <a:off x="2520000" y="2725200"/>
            <a:ext cx="151200" cy="72000"/>
          </a:xfrm>
          <a:prstGeom prst="roundRect">
            <a:avLst/>
          </a:prstGeom>
          <a:solidFill>
            <a:srgbClr val="FF5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2995953-E10A-DAF2-4A10-B48E7FA01B76}"/>
              </a:ext>
            </a:extLst>
          </p:cNvPr>
          <p:cNvSpPr txBox="1"/>
          <p:nvPr/>
        </p:nvSpPr>
        <p:spPr>
          <a:xfrm>
            <a:off x="1130400" y="1132516"/>
            <a:ext cx="1368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dirty="0"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Li </a:t>
            </a:r>
            <a:r>
              <a:rPr sz="1050" dirty="0" err="1"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덴드라이트</a:t>
            </a:r>
            <a:endParaRPr sz="1050" dirty="0">
              <a:effectLst>
                <a:glow rad="139700">
                  <a:schemeClr val="accent2">
                    <a:satMod val="175000"/>
                    <a:alpha val="40000"/>
                  </a:schemeClr>
                </a:glow>
              </a:effectLst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A92C0EF-D293-8EDB-F554-0E34298F5FB4}"/>
              </a:ext>
            </a:extLst>
          </p:cNvPr>
          <p:cNvSpPr txBox="1"/>
          <p:nvPr/>
        </p:nvSpPr>
        <p:spPr>
          <a:xfrm>
            <a:off x="849600" y="2371114"/>
            <a:ext cx="115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dirty="0" err="1">
                <a:solidFill>
                  <a:srgbClr val="FFFF00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  <a:latin typeface="맑은 고딕"/>
              </a:rPr>
              <a:t>불균일·파단</a:t>
            </a:r>
            <a:r>
              <a:rPr sz="1000" b="1" dirty="0">
                <a:solidFill>
                  <a:srgbClr val="FFFF00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  <a:latin typeface="맑은 고딕"/>
              </a:rPr>
              <a:t> SEI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EBE649B-3C80-CC33-3C4B-7927AA938B60}"/>
              </a:ext>
            </a:extLst>
          </p:cNvPr>
          <p:cNvSpPr/>
          <p:nvPr/>
        </p:nvSpPr>
        <p:spPr>
          <a:xfrm>
            <a:off x="108000" y="3150000"/>
            <a:ext cx="2736000" cy="846000"/>
          </a:xfrm>
          <a:prstGeom prst="rect">
            <a:avLst/>
          </a:prstGeom>
          <a:solidFill>
            <a:srgbClr val="FFEBEE"/>
          </a:solidFill>
          <a:ln w="63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C4F054E-90A8-1D5B-83BF-07EE9ABE1F67}"/>
              </a:ext>
            </a:extLst>
          </p:cNvPr>
          <p:cNvSpPr txBox="1"/>
          <p:nvPr/>
        </p:nvSpPr>
        <p:spPr>
          <a:xfrm>
            <a:off x="144000" y="3186000"/>
            <a:ext cx="2646000" cy="747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0488" indent="-90488" algn="l">
              <a:lnSpc>
                <a:spcPts val="1300"/>
              </a:lnSpc>
              <a:buFont typeface="Arial" panose="020B0604020202020204" pitchFamily="34" charset="0"/>
              <a:buChar char="•"/>
            </a:pP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Cu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집전체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위 ALD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코팅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없이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Li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전착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시</a:t>
            </a:r>
          </a:p>
          <a:p>
            <a:pPr marL="90488" indent="-90488" algn="l">
              <a:lnSpc>
                <a:spcPts val="1300"/>
              </a:lnSpc>
              <a:buFont typeface="Arial" panose="020B0604020202020204" pitchFamily="34" charset="0"/>
              <a:buChar char="•"/>
            </a:pP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핵생성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과전압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불균일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→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덴드라이트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성장</a:t>
            </a:r>
            <a:endParaRPr sz="850" dirty="0">
              <a:solidFill>
                <a:srgbClr val="B71C1C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90488" indent="-90488" algn="l">
              <a:lnSpc>
                <a:spcPts val="1300"/>
              </a:lnSpc>
              <a:buFont typeface="Arial" panose="020B0604020202020204" pitchFamily="34" charset="0"/>
              <a:buChar char="•"/>
            </a:pP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두껍고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불균일한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SEI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형성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반복</a:t>
            </a:r>
            <a:endParaRPr sz="850" dirty="0">
              <a:solidFill>
                <a:srgbClr val="B71C1C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90488" indent="-90488" algn="l">
              <a:lnSpc>
                <a:spcPts val="1300"/>
              </a:lnSpc>
              <a:buFont typeface="Arial" panose="020B0604020202020204" pitchFamily="34" charset="0"/>
              <a:buChar char="•"/>
            </a:pP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쿨롱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효율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저하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및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내부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단락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(short)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위험</a:t>
            </a:r>
            <a:endParaRPr sz="850" dirty="0">
              <a:solidFill>
                <a:srgbClr val="B71C1C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37AC400-CA50-B284-39FD-0B062B01F2F1}"/>
              </a:ext>
            </a:extLst>
          </p:cNvPr>
          <p:cNvSpPr/>
          <p:nvPr/>
        </p:nvSpPr>
        <p:spPr>
          <a:xfrm>
            <a:off x="108000" y="4050000"/>
            <a:ext cx="2736000" cy="1432800"/>
          </a:xfrm>
          <a:prstGeom prst="rect">
            <a:avLst/>
          </a:prstGeom>
          <a:solidFill>
            <a:srgbClr val="EEEEEE"/>
          </a:solidFill>
          <a:ln w="9525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0" name="Connector 49">
            <a:extLst>
              <a:ext uri="{FF2B5EF4-FFF2-40B4-BE49-F238E27FC236}">
                <a16:creationId xmlns:a16="http://schemas.microsoft.com/office/drawing/2014/main" id="{59386DC7-FC81-C20A-F9D7-F243CFAADC5B}"/>
              </a:ext>
            </a:extLst>
          </p:cNvPr>
          <p:cNvCxnSpPr/>
          <p:nvPr/>
        </p:nvCxnSpPr>
        <p:spPr>
          <a:xfrm>
            <a:off x="108000" y="4050000"/>
            <a:ext cx="2736000" cy="1432800"/>
          </a:xfrm>
          <a:prstGeom prst="line">
            <a:avLst/>
          </a:prstGeom>
          <a:ln w="635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>
            <a:extLst>
              <a:ext uri="{FF2B5EF4-FFF2-40B4-BE49-F238E27FC236}">
                <a16:creationId xmlns:a16="http://schemas.microsoft.com/office/drawing/2014/main" id="{6D721C8F-638C-2489-1B8F-003140565875}"/>
              </a:ext>
            </a:extLst>
          </p:cNvPr>
          <p:cNvCxnSpPr/>
          <p:nvPr/>
        </p:nvCxnSpPr>
        <p:spPr>
          <a:xfrm flipH="1">
            <a:off x="108000" y="4050000"/>
            <a:ext cx="2736000" cy="1432800"/>
          </a:xfrm>
          <a:prstGeom prst="line">
            <a:avLst/>
          </a:prstGeom>
          <a:ln w="635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365727DB-1531-F114-292A-C7533271C857}"/>
              </a:ext>
            </a:extLst>
          </p:cNvPr>
          <p:cNvSpPr txBox="1"/>
          <p:nvPr/>
        </p:nvSpPr>
        <p:spPr>
          <a:xfrm>
            <a:off x="108000" y="4640400"/>
            <a:ext cx="273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757575"/>
                </a:solidFill>
                <a:latin typeface="맑은 고딕"/>
              </a:rPr>
              <a:t>SEM 이미지 공간
(Li 덴드라이트 / 불균일 증착)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EAB40EF-34C4-97B2-3792-E80E76E4BFF3}"/>
              </a:ext>
            </a:extLst>
          </p:cNvPr>
          <p:cNvSpPr/>
          <p:nvPr/>
        </p:nvSpPr>
        <p:spPr>
          <a:xfrm>
            <a:off x="3132000" y="691200"/>
            <a:ext cx="2736000" cy="1907397"/>
          </a:xfrm>
          <a:prstGeom prst="rect">
            <a:avLst/>
          </a:prstGeom>
          <a:solidFill>
            <a:srgbClr val="F3E5F5"/>
          </a:solidFill>
          <a:ln w="635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0EACF5B-787D-78F0-B52E-956C62B39C2B}"/>
              </a:ext>
            </a:extLst>
          </p:cNvPr>
          <p:cNvSpPr txBox="1"/>
          <p:nvPr/>
        </p:nvSpPr>
        <p:spPr>
          <a:xfrm>
            <a:off x="3132000" y="716400"/>
            <a:ext cx="2736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900" dirty="0">
                <a:solidFill>
                  <a:srgbClr val="6A1B9A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ALD </a:t>
            </a:r>
            <a:r>
              <a:rPr lang="ko-KR" altLang="en-US" sz="900" dirty="0">
                <a:solidFill>
                  <a:srgbClr val="6A1B9A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증착 사이클</a:t>
            </a:r>
            <a:endParaRPr sz="900" dirty="0">
              <a:solidFill>
                <a:srgbClr val="6A1B9A"/>
              </a:solidFill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0A4BF24-C596-12F2-14DE-4B04F77DB1D6}"/>
              </a:ext>
            </a:extLst>
          </p:cNvPr>
          <p:cNvSpPr/>
          <p:nvPr/>
        </p:nvSpPr>
        <p:spPr>
          <a:xfrm>
            <a:off x="3132000" y="2617335"/>
            <a:ext cx="2736000" cy="809865"/>
          </a:xfrm>
          <a:prstGeom prst="rect">
            <a:avLst/>
          </a:prstGeom>
          <a:solidFill>
            <a:srgbClr val="E8EAF6"/>
          </a:solidFill>
          <a:ln w="6350">
            <a:solidFill>
              <a:srgbClr val="7B8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9E20D1C-BB22-70AB-8AAB-084F79965890}"/>
              </a:ext>
            </a:extLst>
          </p:cNvPr>
          <p:cNvSpPr txBox="1"/>
          <p:nvPr/>
        </p:nvSpPr>
        <p:spPr>
          <a:xfrm>
            <a:off x="3442845" y="2706669"/>
            <a:ext cx="2092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dirty="0" err="1">
                <a:solidFill>
                  <a:srgbClr val="6A1B9A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박막</a:t>
            </a:r>
            <a:r>
              <a:rPr sz="900" dirty="0">
                <a:solidFill>
                  <a:srgbClr val="6A1B9A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 </a:t>
            </a:r>
            <a:r>
              <a:rPr sz="900" dirty="0" err="1">
                <a:solidFill>
                  <a:srgbClr val="6A1B9A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형성</a:t>
            </a:r>
            <a:r>
              <a:rPr sz="900" dirty="0">
                <a:solidFill>
                  <a:srgbClr val="6A1B9A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 </a:t>
            </a:r>
            <a:r>
              <a:rPr sz="900" dirty="0" err="1">
                <a:solidFill>
                  <a:srgbClr val="6A1B9A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단면</a:t>
            </a:r>
            <a:r>
              <a:rPr sz="900" dirty="0">
                <a:solidFill>
                  <a:srgbClr val="6A1B9A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 </a:t>
            </a:r>
            <a:r>
              <a:rPr sz="900" dirty="0" err="1">
                <a:solidFill>
                  <a:srgbClr val="6A1B9A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모식도</a:t>
            </a:r>
            <a:endParaRPr sz="900" dirty="0">
              <a:solidFill>
                <a:srgbClr val="6A1B9A"/>
              </a:solidFill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B46B0CE-6F6D-FE00-29C2-313B19DA46BD}"/>
              </a:ext>
            </a:extLst>
          </p:cNvPr>
          <p:cNvSpPr/>
          <p:nvPr/>
        </p:nvSpPr>
        <p:spPr>
          <a:xfrm>
            <a:off x="3222000" y="3211200"/>
            <a:ext cx="2556000" cy="197998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2A6F839-79EB-4D21-1967-0595C7BABDFE}"/>
              </a:ext>
            </a:extLst>
          </p:cNvPr>
          <p:cNvSpPr/>
          <p:nvPr/>
        </p:nvSpPr>
        <p:spPr>
          <a:xfrm>
            <a:off x="3222000" y="3010245"/>
            <a:ext cx="2556000" cy="200955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4149C84-1118-CFC7-FE0D-483F5547B2C2}"/>
              </a:ext>
            </a:extLst>
          </p:cNvPr>
          <p:cNvSpPr txBox="1"/>
          <p:nvPr/>
        </p:nvSpPr>
        <p:spPr>
          <a:xfrm>
            <a:off x="3251860" y="3014494"/>
            <a:ext cx="25861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1" dirty="0">
                <a:solidFill>
                  <a:srgbClr val="FFFFFF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  <a:latin typeface="맑은 고딕"/>
              </a:rPr>
              <a:t>Metal Fluoride </a:t>
            </a:r>
            <a:r>
              <a:rPr sz="800" b="1" dirty="0">
                <a:solidFill>
                  <a:srgbClr val="FFFFFF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  <a:latin typeface="맑은 고딕"/>
              </a:rPr>
              <a:t> ALD </a:t>
            </a:r>
            <a:r>
              <a:rPr sz="800" b="1" dirty="0" err="1">
                <a:solidFill>
                  <a:srgbClr val="FFFFFF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  <a:latin typeface="맑은 고딕"/>
              </a:rPr>
              <a:t>박막</a:t>
            </a:r>
            <a:r>
              <a:rPr sz="800" b="1" dirty="0">
                <a:solidFill>
                  <a:srgbClr val="FFFFFF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  <a:latin typeface="맑은 고딕"/>
              </a:rPr>
              <a:t>  (</a:t>
            </a:r>
            <a:r>
              <a:rPr sz="800" b="1" dirty="0" err="1">
                <a:solidFill>
                  <a:srgbClr val="FFFFFF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  <a:latin typeface="맑은 고딕"/>
              </a:rPr>
              <a:t>두께</a:t>
            </a:r>
            <a:r>
              <a:rPr sz="800" b="1" dirty="0">
                <a:solidFill>
                  <a:srgbClr val="FFFFFF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  <a:latin typeface="맑은 고딕"/>
              </a:rPr>
              <a:t>: 5~100 nm)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5E3A4FD-5917-75BE-1D17-03FE4CFCE13E}"/>
              </a:ext>
            </a:extLst>
          </p:cNvPr>
          <p:cNvSpPr txBox="1"/>
          <p:nvPr/>
        </p:nvSpPr>
        <p:spPr>
          <a:xfrm>
            <a:off x="3206992" y="2827318"/>
            <a:ext cx="255600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dirty="0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← n </a:t>
            </a:r>
            <a:r>
              <a:rPr sz="80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사이클</a:t>
            </a:r>
            <a:r>
              <a:rPr sz="800" dirty="0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80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반복으로</a:t>
            </a:r>
            <a:r>
              <a:rPr sz="800" dirty="0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80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두께</a:t>
            </a:r>
            <a:r>
              <a:rPr sz="800" dirty="0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80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제어</a:t>
            </a:r>
            <a:r>
              <a:rPr sz="800" dirty="0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→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FD677B1E-D63C-968B-33F8-6CFC52281619}"/>
              </a:ext>
            </a:extLst>
          </p:cNvPr>
          <p:cNvSpPr/>
          <p:nvPr/>
        </p:nvSpPr>
        <p:spPr>
          <a:xfrm>
            <a:off x="3132000" y="3463199"/>
            <a:ext cx="2736000" cy="846000"/>
          </a:xfrm>
          <a:prstGeom prst="rect">
            <a:avLst/>
          </a:prstGeom>
          <a:solidFill>
            <a:srgbClr val="EEEEFF"/>
          </a:solidFill>
          <a:ln w="6350">
            <a:solidFill>
              <a:srgbClr val="303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1791737-B16C-0B42-F941-0C58A9CEADEB}"/>
              </a:ext>
            </a:extLst>
          </p:cNvPr>
          <p:cNvSpPr txBox="1"/>
          <p:nvPr/>
        </p:nvSpPr>
        <p:spPr>
          <a:xfrm>
            <a:off x="3175200" y="3499199"/>
            <a:ext cx="2664000" cy="747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0488" indent="-90488" algn="l">
              <a:lnSpc>
                <a:spcPts val="1300"/>
              </a:lnSpc>
              <a:buFont typeface="Arial" panose="020B0604020202020204" pitchFamily="34" charset="0"/>
              <a:buChar char="•"/>
            </a:pP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ZnF</a:t>
            </a:r>
            <a:r>
              <a:rPr sz="850" dirty="0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₂ ALD: DEZ + </a:t>
            </a: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HF·py</a:t>
            </a:r>
            <a:r>
              <a:rPr sz="850" dirty="0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전구체</a:t>
            </a:r>
            <a:r>
              <a:rPr sz="850" dirty="0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조합</a:t>
            </a:r>
            <a:endParaRPr sz="850" dirty="0">
              <a:solidFill>
                <a:srgbClr val="1A237E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90488" indent="-90488" algn="l">
              <a:lnSpc>
                <a:spcPts val="1300"/>
              </a:lnSpc>
              <a:buFont typeface="Arial" panose="020B0604020202020204" pitchFamily="34" charset="0"/>
              <a:buChar char="•"/>
            </a:pP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자기제한적</a:t>
            </a:r>
            <a:r>
              <a:rPr sz="850" dirty="0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(self-limiting) </a:t>
            </a: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표면</a:t>
            </a:r>
            <a:r>
              <a:rPr sz="850" dirty="0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반응</a:t>
            </a:r>
            <a:endParaRPr sz="850" dirty="0">
              <a:solidFill>
                <a:srgbClr val="1A237E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90488" indent="-90488" algn="l">
              <a:lnSpc>
                <a:spcPts val="1300"/>
              </a:lnSpc>
              <a:buFont typeface="Arial" panose="020B0604020202020204" pitchFamily="34" charset="0"/>
              <a:buChar char="•"/>
            </a:pP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기판</a:t>
            </a:r>
            <a:r>
              <a:rPr sz="850" dirty="0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온도</a:t>
            </a:r>
            <a:r>
              <a:rPr sz="850" dirty="0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50~200°C, Å </a:t>
            </a: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수준</a:t>
            </a:r>
            <a:r>
              <a:rPr sz="850" dirty="0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두께</a:t>
            </a:r>
            <a:r>
              <a:rPr sz="850" dirty="0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제어</a:t>
            </a:r>
            <a:endParaRPr sz="850" dirty="0">
              <a:solidFill>
                <a:srgbClr val="1A237E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90488" indent="-90488" algn="l">
              <a:lnSpc>
                <a:spcPts val="1300"/>
              </a:lnSpc>
              <a:buFont typeface="Arial" panose="020B0604020202020204" pitchFamily="34" charset="0"/>
              <a:buChar char="•"/>
            </a:pP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결과</a:t>
            </a:r>
            <a:r>
              <a:rPr sz="850" dirty="0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균일·공형</a:t>
            </a:r>
            <a:r>
              <a:rPr sz="850" dirty="0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(conformal) </a:t>
            </a: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불화물</a:t>
            </a:r>
            <a:r>
              <a:rPr sz="850" dirty="0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박막</a:t>
            </a:r>
            <a:endParaRPr sz="850" dirty="0">
              <a:solidFill>
                <a:srgbClr val="1A237E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D0BF1A3C-8DF3-EA38-185A-60DFD4D7EDD7}"/>
              </a:ext>
            </a:extLst>
          </p:cNvPr>
          <p:cNvSpPr/>
          <p:nvPr/>
        </p:nvSpPr>
        <p:spPr>
          <a:xfrm>
            <a:off x="3132000" y="4363200"/>
            <a:ext cx="2736000" cy="1119600"/>
          </a:xfrm>
          <a:prstGeom prst="rect">
            <a:avLst/>
          </a:prstGeom>
          <a:solidFill>
            <a:srgbClr val="EEEEEE"/>
          </a:solidFill>
          <a:ln w="9525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3" name="Connector 82">
            <a:extLst>
              <a:ext uri="{FF2B5EF4-FFF2-40B4-BE49-F238E27FC236}">
                <a16:creationId xmlns:a16="http://schemas.microsoft.com/office/drawing/2014/main" id="{C0C9CC02-9B8A-C658-3BD2-0CDCF09BD8AB}"/>
              </a:ext>
            </a:extLst>
          </p:cNvPr>
          <p:cNvCxnSpPr/>
          <p:nvPr/>
        </p:nvCxnSpPr>
        <p:spPr>
          <a:xfrm>
            <a:off x="3132000" y="4363200"/>
            <a:ext cx="2736000" cy="1119600"/>
          </a:xfrm>
          <a:prstGeom prst="line">
            <a:avLst/>
          </a:prstGeom>
          <a:ln w="635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>
            <a:extLst>
              <a:ext uri="{FF2B5EF4-FFF2-40B4-BE49-F238E27FC236}">
                <a16:creationId xmlns:a16="http://schemas.microsoft.com/office/drawing/2014/main" id="{E85D54A5-7C11-2C10-DD9E-7C3670FB1A43}"/>
              </a:ext>
            </a:extLst>
          </p:cNvPr>
          <p:cNvCxnSpPr/>
          <p:nvPr/>
        </p:nvCxnSpPr>
        <p:spPr>
          <a:xfrm flipH="1">
            <a:off x="3132000" y="4363200"/>
            <a:ext cx="2736000" cy="1119600"/>
          </a:xfrm>
          <a:prstGeom prst="line">
            <a:avLst/>
          </a:prstGeom>
          <a:ln w="635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024A175-BAF9-D4E4-2BBA-608AF867AF1C}"/>
              </a:ext>
            </a:extLst>
          </p:cNvPr>
          <p:cNvSpPr txBox="1"/>
          <p:nvPr/>
        </p:nvSpPr>
        <p:spPr>
          <a:xfrm>
            <a:off x="3132000" y="4797000"/>
            <a:ext cx="273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757575"/>
                </a:solidFill>
                <a:latin typeface="맑은 고딕"/>
              </a:rPr>
              <a:t>TEM / SAED 이미지 공간
(ALD ZnF₂ 박막 단면)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BDCE7FD5-69A3-BDE1-68A6-0C8B7C82BB60}"/>
              </a:ext>
            </a:extLst>
          </p:cNvPr>
          <p:cNvSpPr/>
          <p:nvPr/>
        </p:nvSpPr>
        <p:spPr>
          <a:xfrm>
            <a:off x="6156000" y="666000"/>
            <a:ext cx="2880000" cy="2142000"/>
          </a:xfrm>
          <a:prstGeom prst="rect">
            <a:avLst/>
          </a:prstGeom>
          <a:solidFill>
            <a:srgbClr val="E1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78457BA-53E8-1664-7B79-16574FDE1EE6}"/>
              </a:ext>
            </a:extLst>
          </p:cNvPr>
          <p:cNvSpPr txBox="1"/>
          <p:nvPr/>
        </p:nvSpPr>
        <p:spPr>
          <a:xfrm>
            <a:off x="6192000" y="694800"/>
            <a:ext cx="2808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dirty="0" err="1"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전해질</a:t>
            </a:r>
            <a:r>
              <a:rPr sz="900" b="1" dirty="0"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 (Electrolyte)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1FF09695-F45F-2734-C155-AE08AB58B8FC}"/>
              </a:ext>
            </a:extLst>
          </p:cNvPr>
          <p:cNvSpPr/>
          <p:nvPr/>
        </p:nvSpPr>
        <p:spPr>
          <a:xfrm>
            <a:off x="6156000" y="2790000"/>
            <a:ext cx="2880000" cy="306000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56CD0C7-B78A-E3D5-E3DA-610AAF1CF38E}"/>
              </a:ext>
            </a:extLst>
          </p:cNvPr>
          <p:cNvSpPr txBox="1"/>
          <p:nvPr/>
        </p:nvSpPr>
        <p:spPr>
          <a:xfrm>
            <a:off x="6156000" y="2861999"/>
            <a:ext cx="288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dirty="0">
                <a:solidFill>
                  <a:srgbClr val="FFFFFF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Cu </a:t>
            </a:r>
            <a:r>
              <a:rPr sz="900" dirty="0" err="1">
                <a:solidFill>
                  <a:srgbClr val="FFFFFF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집전체</a:t>
            </a:r>
            <a:endParaRPr sz="900" dirty="0">
              <a:solidFill>
                <a:srgbClr val="FFFFFF"/>
              </a:solidFill>
              <a:effectLst>
                <a:glow rad="139700">
                  <a:schemeClr val="accent2">
                    <a:satMod val="175000"/>
                    <a:alpha val="40000"/>
                  </a:schemeClr>
                </a:glow>
              </a:effectLst>
              <a:latin typeface="에스코어 드림 7 ExtraBold" panose="020B0803030302020204" pitchFamily="34" charset="-127"/>
              <a:ea typeface="에스코어 드림 7 ExtraBold" panose="020B0803030302020204" pitchFamily="34" charset="-127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3F0B13A9-ECAC-3398-5D5C-332E7460E160}"/>
              </a:ext>
            </a:extLst>
          </p:cNvPr>
          <p:cNvSpPr/>
          <p:nvPr/>
        </p:nvSpPr>
        <p:spPr>
          <a:xfrm>
            <a:off x="6156000" y="2573798"/>
            <a:ext cx="2880000" cy="21620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18A8747-8CCF-FEF5-8A8A-398A4C578D75}"/>
              </a:ext>
            </a:extLst>
          </p:cNvPr>
          <p:cNvSpPr txBox="1"/>
          <p:nvPr/>
        </p:nvSpPr>
        <p:spPr>
          <a:xfrm>
            <a:off x="6584545" y="2585195"/>
            <a:ext cx="214531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dirty="0">
                <a:solidFill>
                  <a:srgbClr val="FFFFFF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  <a:latin typeface="맑은 고딕"/>
              </a:rPr>
              <a:t>ALD </a:t>
            </a:r>
            <a:r>
              <a:rPr sz="800" b="1" dirty="0" err="1">
                <a:solidFill>
                  <a:srgbClr val="FFFFFF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  <a:latin typeface="맑은 고딕"/>
              </a:rPr>
              <a:t>불화물</a:t>
            </a:r>
            <a:r>
              <a:rPr sz="800" b="1" dirty="0">
                <a:solidFill>
                  <a:srgbClr val="FFFFFF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  <a:latin typeface="맑은 고딕"/>
              </a:rPr>
              <a:t> </a:t>
            </a:r>
            <a:r>
              <a:rPr sz="800" b="1" dirty="0" err="1">
                <a:solidFill>
                  <a:srgbClr val="FFFFFF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  <a:latin typeface="맑은 고딕"/>
              </a:rPr>
              <a:t>인공</a:t>
            </a:r>
            <a:r>
              <a:rPr sz="800" b="1" dirty="0">
                <a:solidFill>
                  <a:srgbClr val="FFFFFF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  <a:latin typeface="맑은 고딕"/>
              </a:rPr>
              <a:t> SEI  (</a:t>
            </a:r>
            <a:r>
              <a:rPr sz="800" b="1" dirty="0" err="1">
                <a:solidFill>
                  <a:srgbClr val="FFFFFF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  <a:latin typeface="맑은 고딕"/>
              </a:rPr>
              <a:t>ZnF</a:t>
            </a:r>
            <a:r>
              <a:rPr sz="800" b="1" dirty="0">
                <a:solidFill>
                  <a:srgbClr val="FFFFFF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  <a:latin typeface="맑은 고딕"/>
              </a:rPr>
              <a:t>₂ / </a:t>
            </a:r>
            <a:r>
              <a:rPr lang="en-US" sz="800" b="1" dirty="0">
                <a:solidFill>
                  <a:srgbClr val="FFFFFF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  <a:latin typeface="맑은 고딕"/>
              </a:rPr>
              <a:t>Mg</a:t>
            </a:r>
            <a:r>
              <a:rPr sz="800" b="1" dirty="0">
                <a:solidFill>
                  <a:srgbClr val="FFFFFF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  <a:latin typeface="맑은 고딕"/>
              </a:rPr>
              <a:t>F</a:t>
            </a:r>
            <a:r>
              <a:rPr lang="en-US" sz="800" b="1" baseline="-25000" dirty="0">
                <a:solidFill>
                  <a:srgbClr val="FFFFFF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  <a:latin typeface="맑은 고딕"/>
              </a:rPr>
              <a:t>2</a:t>
            </a:r>
            <a:r>
              <a:rPr sz="800" b="1" dirty="0">
                <a:solidFill>
                  <a:srgbClr val="FFFFFF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  <a:latin typeface="맑은 고딕"/>
              </a:rPr>
              <a:t> / </a:t>
            </a:r>
            <a:r>
              <a:rPr sz="800" b="1" dirty="0" err="1">
                <a:solidFill>
                  <a:srgbClr val="FFFFFF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  <a:latin typeface="맑은 고딕"/>
              </a:rPr>
              <a:t>LiF</a:t>
            </a:r>
            <a:r>
              <a:rPr sz="800" b="1" dirty="0">
                <a:solidFill>
                  <a:srgbClr val="FFFFFF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  <a:latin typeface="맑은 고딕"/>
              </a:rPr>
              <a:t>)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14667851-1986-41BE-10B1-9A5F66CF935D}"/>
              </a:ext>
            </a:extLst>
          </p:cNvPr>
          <p:cNvSpPr/>
          <p:nvPr/>
        </p:nvSpPr>
        <p:spPr>
          <a:xfrm>
            <a:off x="6246000" y="2459195"/>
            <a:ext cx="108000" cy="108000"/>
          </a:xfrm>
          <a:prstGeom prst="ellips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1819F860-DB50-1538-37FC-8C51A93CE0C5}"/>
              </a:ext>
            </a:extLst>
          </p:cNvPr>
          <p:cNvSpPr/>
          <p:nvPr/>
        </p:nvSpPr>
        <p:spPr>
          <a:xfrm>
            <a:off x="6447600" y="2459195"/>
            <a:ext cx="108000" cy="108000"/>
          </a:xfrm>
          <a:prstGeom prst="ellips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D5C174A8-B3F7-3F63-7090-D82DD07CB1A9}"/>
              </a:ext>
            </a:extLst>
          </p:cNvPr>
          <p:cNvSpPr/>
          <p:nvPr/>
        </p:nvSpPr>
        <p:spPr>
          <a:xfrm>
            <a:off x="6649200" y="2459195"/>
            <a:ext cx="108000" cy="108000"/>
          </a:xfrm>
          <a:prstGeom prst="ellips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4FC55B3A-C58F-7F71-576B-564080263A8D}"/>
              </a:ext>
            </a:extLst>
          </p:cNvPr>
          <p:cNvSpPr/>
          <p:nvPr/>
        </p:nvSpPr>
        <p:spPr>
          <a:xfrm>
            <a:off x="6850800" y="2459195"/>
            <a:ext cx="108000" cy="108000"/>
          </a:xfrm>
          <a:prstGeom prst="ellips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409A8438-C17C-1C5C-2F21-0A2A1CF6EFB8}"/>
              </a:ext>
            </a:extLst>
          </p:cNvPr>
          <p:cNvSpPr/>
          <p:nvPr/>
        </p:nvSpPr>
        <p:spPr>
          <a:xfrm>
            <a:off x="7052400" y="2459195"/>
            <a:ext cx="108000" cy="108000"/>
          </a:xfrm>
          <a:prstGeom prst="ellips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ED408D4B-DA19-1301-A68C-B124C44B61B1}"/>
              </a:ext>
            </a:extLst>
          </p:cNvPr>
          <p:cNvSpPr/>
          <p:nvPr/>
        </p:nvSpPr>
        <p:spPr>
          <a:xfrm>
            <a:off x="7254000" y="2459195"/>
            <a:ext cx="108000" cy="108000"/>
          </a:xfrm>
          <a:prstGeom prst="ellips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BA434644-E808-1D27-4953-7813A31A3ACE}"/>
              </a:ext>
            </a:extLst>
          </p:cNvPr>
          <p:cNvSpPr/>
          <p:nvPr/>
        </p:nvSpPr>
        <p:spPr>
          <a:xfrm>
            <a:off x="7455600" y="2459195"/>
            <a:ext cx="108000" cy="108000"/>
          </a:xfrm>
          <a:prstGeom prst="ellips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3A318770-E906-6A95-7C2B-D8D4C21FC320}"/>
              </a:ext>
            </a:extLst>
          </p:cNvPr>
          <p:cNvSpPr/>
          <p:nvPr/>
        </p:nvSpPr>
        <p:spPr>
          <a:xfrm>
            <a:off x="7657200" y="2459195"/>
            <a:ext cx="108000" cy="108000"/>
          </a:xfrm>
          <a:prstGeom prst="ellips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3B604FA2-0D3D-ABB3-43EF-7E871C98A338}"/>
              </a:ext>
            </a:extLst>
          </p:cNvPr>
          <p:cNvSpPr/>
          <p:nvPr/>
        </p:nvSpPr>
        <p:spPr>
          <a:xfrm>
            <a:off x="7858800" y="2459195"/>
            <a:ext cx="108000" cy="108000"/>
          </a:xfrm>
          <a:prstGeom prst="ellips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479FDA57-3B4F-FE14-6B13-8C3F9BDAF50F}"/>
              </a:ext>
            </a:extLst>
          </p:cNvPr>
          <p:cNvSpPr/>
          <p:nvPr/>
        </p:nvSpPr>
        <p:spPr>
          <a:xfrm>
            <a:off x="8060400" y="2459195"/>
            <a:ext cx="108000" cy="108000"/>
          </a:xfrm>
          <a:prstGeom prst="ellips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A853A93D-2E5F-C550-69F0-3E91331FA72E}"/>
              </a:ext>
            </a:extLst>
          </p:cNvPr>
          <p:cNvSpPr/>
          <p:nvPr/>
        </p:nvSpPr>
        <p:spPr>
          <a:xfrm>
            <a:off x="8262000" y="2459195"/>
            <a:ext cx="108000" cy="108000"/>
          </a:xfrm>
          <a:prstGeom prst="ellips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5366423F-8E08-4709-5D25-0D2405765E32}"/>
              </a:ext>
            </a:extLst>
          </p:cNvPr>
          <p:cNvSpPr/>
          <p:nvPr/>
        </p:nvSpPr>
        <p:spPr>
          <a:xfrm>
            <a:off x="8463600" y="2459195"/>
            <a:ext cx="108000" cy="108000"/>
          </a:xfrm>
          <a:prstGeom prst="ellips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169BD0AB-1D0E-2EC5-BDCF-0A41EAAB10D2}"/>
              </a:ext>
            </a:extLst>
          </p:cNvPr>
          <p:cNvSpPr/>
          <p:nvPr/>
        </p:nvSpPr>
        <p:spPr>
          <a:xfrm>
            <a:off x="8665200" y="2459195"/>
            <a:ext cx="108000" cy="108000"/>
          </a:xfrm>
          <a:prstGeom prst="ellips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AEF79026-8359-48AE-07F1-4BE7ACA2DF15}"/>
              </a:ext>
            </a:extLst>
          </p:cNvPr>
          <p:cNvSpPr/>
          <p:nvPr/>
        </p:nvSpPr>
        <p:spPr>
          <a:xfrm>
            <a:off x="8866800" y="2459195"/>
            <a:ext cx="108000" cy="108000"/>
          </a:xfrm>
          <a:prstGeom prst="ellips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7840E267-C444-85C8-6309-B86381BF4E44}"/>
              </a:ext>
            </a:extLst>
          </p:cNvPr>
          <p:cNvSpPr/>
          <p:nvPr/>
        </p:nvSpPr>
        <p:spPr>
          <a:xfrm>
            <a:off x="6156000" y="1991195"/>
            <a:ext cx="2880000" cy="468000"/>
          </a:xfrm>
          <a:prstGeom prst="rect">
            <a:avLst/>
          </a:prstGeom>
          <a:solidFill>
            <a:srgbClr val="909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ADF00C40-0058-9326-C506-2007B510DF49}"/>
              </a:ext>
            </a:extLst>
          </p:cNvPr>
          <p:cNvSpPr txBox="1"/>
          <p:nvPr/>
        </p:nvSpPr>
        <p:spPr>
          <a:xfrm>
            <a:off x="7038000" y="1479168"/>
            <a:ext cx="1641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dirty="0" err="1"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균일하고</a:t>
            </a:r>
            <a:r>
              <a:rPr sz="900" dirty="0"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900" dirty="0" err="1"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평탄한</a:t>
            </a:r>
            <a:r>
              <a:rPr sz="900" dirty="0"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Li </a:t>
            </a:r>
            <a:r>
              <a:rPr sz="900" dirty="0" err="1"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증착층</a:t>
            </a:r>
            <a:endParaRPr sz="900" dirty="0">
              <a:effectLst>
                <a:glow rad="63500">
                  <a:schemeClr val="accent4">
                    <a:satMod val="175000"/>
                    <a:alpha val="40000"/>
                  </a:schemeClr>
                </a:glow>
              </a:effectLst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52D4C433-4F87-F356-BDA2-B96DBE402D59}"/>
              </a:ext>
            </a:extLst>
          </p:cNvPr>
          <p:cNvSpPr txBox="1"/>
          <p:nvPr/>
        </p:nvSpPr>
        <p:spPr>
          <a:xfrm>
            <a:off x="7596000" y="2231553"/>
            <a:ext cx="1368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✓ </a:t>
            </a:r>
            <a:r>
              <a:rPr sz="800" dirty="0" err="1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균일</a:t>
            </a:r>
            <a:r>
              <a:rPr sz="8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Li </a:t>
            </a:r>
            <a:r>
              <a:rPr sz="800" dirty="0" err="1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핵생성</a:t>
            </a:r>
            <a:endParaRPr sz="8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44EFA07A-78E2-FD77-CF53-24BBC0FE8BCE}"/>
              </a:ext>
            </a:extLst>
          </p:cNvPr>
          <p:cNvSpPr txBox="1"/>
          <p:nvPr/>
        </p:nvSpPr>
        <p:spPr>
          <a:xfrm>
            <a:off x="6194276" y="2088278"/>
            <a:ext cx="119791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dirty="0" err="1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인공</a:t>
            </a:r>
            <a:r>
              <a:rPr sz="8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SEI (ALD </a:t>
            </a:r>
            <a:r>
              <a:rPr sz="800" dirty="0" err="1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불화물</a:t>
            </a:r>
            <a:r>
              <a:rPr sz="8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D47A79E7-46EB-6A61-276E-83053BE1E607}"/>
              </a:ext>
            </a:extLst>
          </p:cNvPr>
          <p:cNvSpPr/>
          <p:nvPr/>
        </p:nvSpPr>
        <p:spPr>
          <a:xfrm>
            <a:off x="6156000" y="3150000"/>
            <a:ext cx="2880000" cy="846000"/>
          </a:xfrm>
          <a:prstGeom prst="rect">
            <a:avLst/>
          </a:prstGeom>
          <a:solidFill>
            <a:srgbClr val="E8F5E9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64A66C92-8138-30E4-AB7F-FD073B86A6AA}"/>
              </a:ext>
            </a:extLst>
          </p:cNvPr>
          <p:cNvSpPr txBox="1"/>
          <p:nvPr/>
        </p:nvSpPr>
        <p:spPr>
          <a:xfrm>
            <a:off x="6192000" y="3186000"/>
            <a:ext cx="2790000" cy="747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ts val="1300"/>
              </a:lnSpc>
              <a:buFont typeface="Arial" panose="020B0604020202020204" pitchFamily="34" charset="0"/>
              <a:buChar char="•"/>
            </a:pPr>
            <a:r>
              <a:rPr sz="850" dirty="0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ALD </a:t>
            </a:r>
            <a:r>
              <a:rPr sz="850" dirty="0" err="1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불화물</a:t>
            </a:r>
            <a:r>
              <a:rPr sz="850" dirty="0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850" dirty="0" err="1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인공</a:t>
            </a:r>
            <a:r>
              <a:rPr sz="850" dirty="0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SEI </a:t>
            </a:r>
            <a:r>
              <a:rPr sz="850" dirty="0" err="1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형성</a:t>
            </a:r>
            <a:r>
              <a:rPr sz="850" dirty="0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후 Li </a:t>
            </a:r>
            <a:r>
              <a:rPr sz="850" dirty="0" err="1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전착</a:t>
            </a:r>
            <a:endParaRPr sz="850" dirty="0">
              <a:solidFill>
                <a:srgbClr val="1B5E2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171450" indent="-171450" algn="l">
              <a:lnSpc>
                <a:spcPts val="1300"/>
              </a:lnSpc>
              <a:buFont typeface="Arial" panose="020B0604020202020204" pitchFamily="34" charset="0"/>
              <a:buChar char="•"/>
            </a:pPr>
            <a:r>
              <a:rPr sz="850" dirty="0" err="1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균일</a:t>
            </a:r>
            <a:r>
              <a:rPr sz="850" dirty="0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850" dirty="0" err="1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핵생성</a:t>
            </a:r>
            <a:r>
              <a:rPr sz="850" dirty="0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→ </a:t>
            </a:r>
            <a:r>
              <a:rPr sz="850" dirty="0" err="1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조밀·평탄한</a:t>
            </a:r>
            <a:r>
              <a:rPr sz="850" dirty="0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Li </a:t>
            </a:r>
            <a:r>
              <a:rPr sz="850" dirty="0" err="1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증착</a:t>
            </a:r>
            <a:endParaRPr sz="850" dirty="0">
              <a:solidFill>
                <a:srgbClr val="1B5E2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171450" indent="-171450" algn="l">
              <a:lnSpc>
                <a:spcPts val="1300"/>
              </a:lnSpc>
              <a:buFont typeface="Arial" panose="020B0604020202020204" pitchFamily="34" charset="0"/>
              <a:buChar char="•"/>
            </a:pPr>
            <a:r>
              <a:rPr sz="850" dirty="0" err="1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덴드라이트</a:t>
            </a:r>
            <a:r>
              <a:rPr sz="850" dirty="0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850" dirty="0" err="1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억제</a:t>
            </a:r>
            <a:r>
              <a:rPr sz="850" dirty="0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SEI </a:t>
            </a:r>
            <a:r>
              <a:rPr sz="850" dirty="0" err="1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두께·조성</a:t>
            </a:r>
            <a:r>
              <a:rPr sz="850" dirty="0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850" dirty="0" err="1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정밀</a:t>
            </a:r>
            <a:r>
              <a:rPr sz="850" dirty="0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850" dirty="0" err="1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제어</a:t>
            </a:r>
            <a:endParaRPr sz="850" dirty="0">
              <a:solidFill>
                <a:srgbClr val="1B5E2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171450" indent="-171450" algn="l">
              <a:lnSpc>
                <a:spcPts val="1300"/>
              </a:lnSpc>
              <a:buFont typeface="Arial" panose="020B0604020202020204" pitchFamily="34" charset="0"/>
              <a:buChar char="•"/>
            </a:pPr>
            <a:r>
              <a:rPr sz="850" dirty="0" err="1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목표</a:t>
            </a:r>
            <a:r>
              <a:rPr sz="850" dirty="0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CE &gt;99.5%, </a:t>
            </a:r>
            <a:r>
              <a:rPr sz="850" dirty="0" err="1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용량유지율</a:t>
            </a:r>
            <a:r>
              <a:rPr sz="850" dirty="0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&gt;80% (300 cy.)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1265055F-AD2E-CF39-BA29-FD5DFD63BE4C}"/>
              </a:ext>
            </a:extLst>
          </p:cNvPr>
          <p:cNvSpPr/>
          <p:nvPr/>
        </p:nvSpPr>
        <p:spPr>
          <a:xfrm>
            <a:off x="6156000" y="4050000"/>
            <a:ext cx="2880000" cy="1432800"/>
          </a:xfrm>
          <a:prstGeom prst="rect">
            <a:avLst/>
          </a:prstGeom>
          <a:solidFill>
            <a:srgbClr val="EEEEEE"/>
          </a:solidFill>
          <a:ln w="9525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3" name="Connector 112">
            <a:extLst>
              <a:ext uri="{FF2B5EF4-FFF2-40B4-BE49-F238E27FC236}">
                <a16:creationId xmlns:a16="http://schemas.microsoft.com/office/drawing/2014/main" id="{42AD35D5-0DE9-C82E-5386-3C8303303B48}"/>
              </a:ext>
            </a:extLst>
          </p:cNvPr>
          <p:cNvCxnSpPr/>
          <p:nvPr/>
        </p:nvCxnSpPr>
        <p:spPr>
          <a:xfrm>
            <a:off x="6156000" y="4050000"/>
            <a:ext cx="2880000" cy="1432800"/>
          </a:xfrm>
          <a:prstGeom prst="line">
            <a:avLst/>
          </a:prstGeom>
          <a:ln w="635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>
            <a:extLst>
              <a:ext uri="{FF2B5EF4-FFF2-40B4-BE49-F238E27FC236}">
                <a16:creationId xmlns:a16="http://schemas.microsoft.com/office/drawing/2014/main" id="{017FB558-D481-9DF7-50C5-1CE25CD53AC2}"/>
              </a:ext>
            </a:extLst>
          </p:cNvPr>
          <p:cNvCxnSpPr/>
          <p:nvPr/>
        </p:nvCxnSpPr>
        <p:spPr>
          <a:xfrm flipH="1">
            <a:off x="6156000" y="4050000"/>
            <a:ext cx="2880000" cy="1432800"/>
          </a:xfrm>
          <a:prstGeom prst="line">
            <a:avLst/>
          </a:prstGeom>
          <a:ln w="635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15F12439-BA16-08C6-AA28-F0C9879131D7}"/>
              </a:ext>
            </a:extLst>
          </p:cNvPr>
          <p:cNvSpPr txBox="1"/>
          <p:nvPr/>
        </p:nvSpPr>
        <p:spPr>
          <a:xfrm>
            <a:off x="6156000" y="46404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757575"/>
                </a:solidFill>
                <a:latin typeface="맑은 고딕"/>
              </a:rPr>
              <a:t>SEM 이미지 공간
(균일 Li 증착 / 평탄 표면)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CC06427F-FC70-0E32-4DBC-BDF94F90528E}"/>
              </a:ext>
            </a:extLst>
          </p:cNvPr>
          <p:cNvSpPr/>
          <p:nvPr/>
        </p:nvSpPr>
        <p:spPr>
          <a:xfrm>
            <a:off x="0" y="5551200"/>
            <a:ext cx="9144000" cy="2880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607E2B4C-EA3D-5B34-AC13-5B85F0581380}"/>
              </a:ext>
            </a:extLst>
          </p:cNvPr>
          <p:cNvSpPr txBox="1"/>
          <p:nvPr/>
        </p:nvSpPr>
        <p:spPr>
          <a:xfrm>
            <a:off x="3540417" y="3216457"/>
            <a:ext cx="187930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900" dirty="0">
                <a:solidFill>
                  <a:srgbClr val="FFFFFF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Cu </a:t>
            </a:r>
            <a:r>
              <a:rPr lang="ko-KR" altLang="en-US" sz="900" dirty="0">
                <a:solidFill>
                  <a:srgbClr val="FFFFFF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집전체</a:t>
            </a:r>
          </a:p>
        </p:txBody>
      </p:sp>
    </p:spTree>
    <p:extLst>
      <p:ext uri="{BB962C8B-B14F-4D97-AF65-F5344CB8AC3E}">
        <p14:creationId xmlns:p14="http://schemas.microsoft.com/office/powerpoint/2010/main" val="695017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BD4D39E-E3D6-2AE0-2D2C-ED41279674B7}"/>
              </a:ext>
            </a:extLst>
          </p:cNvPr>
          <p:cNvSpPr/>
          <p:nvPr/>
        </p:nvSpPr>
        <p:spPr>
          <a:xfrm>
            <a:off x="90000" y="378000"/>
            <a:ext cx="2772000" cy="514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D4B490A6-7650-5FAA-5D2A-DE450D536BC6}"/>
              </a:ext>
            </a:extLst>
          </p:cNvPr>
          <p:cNvSpPr/>
          <p:nvPr/>
        </p:nvSpPr>
        <p:spPr>
          <a:xfrm>
            <a:off x="108000" y="666001"/>
            <a:ext cx="2736000" cy="1929600"/>
          </a:xfrm>
          <a:prstGeom prst="rect">
            <a:avLst/>
          </a:prstGeom>
          <a:solidFill>
            <a:srgbClr val="E1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CA2E6E-4107-F9CD-9C9B-42EE6CF15797}"/>
              </a:ext>
            </a:extLst>
          </p:cNvPr>
          <p:cNvSpPr/>
          <p:nvPr/>
        </p:nvSpPr>
        <p:spPr>
          <a:xfrm>
            <a:off x="3114000" y="378000"/>
            <a:ext cx="2772000" cy="514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303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A6B895-D012-03EB-FAF5-F42C238DC9BD}"/>
              </a:ext>
            </a:extLst>
          </p:cNvPr>
          <p:cNvSpPr/>
          <p:nvPr/>
        </p:nvSpPr>
        <p:spPr>
          <a:xfrm>
            <a:off x="6138000" y="378000"/>
            <a:ext cx="2916000" cy="514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A115C1-A606-6EA3-FD70-50C1F72D075B}"/>
              </a:ext>
            </a:extLst>
          </p:cNvPr>
          <p:cNvSpPr/>
          <p:nvPr/>
        </p:nvSpPr>
        <p:spPr>
          <a:xfrm>
            <a:off x="90000" y="378000"/>
            <a:ext cx="2772000" cy="270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E7876D-BD67-166A-5125-E873885E8450}"/>
              </a:ext>
            </a:extLst>
          </p:cNvPr>
          <p:cNvSpPr/>
          <p:nvPr/>
        </p:nvSpPr>
        <p:spPr>
          <a:xfrm>
            <a:off x="3114000" y="378000"/>
            <a:ext cx="2772000" cy="270000"/>
          </a:xfrm>
          <a:prstGeom prst="rect">
            <a:avLst/>
          </a:prstGeom>
          <a:solidFill>
            <a:srgbClr val="303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2A5D2B-A5CC-8941-B848-DAFC25E05D9A}"/>
              </a:ext>
            </a:extLst>
          </p:cNvPr>
          <p:cNvSpPr/>
          <p:nvPr/>
        </p:nvSpPr>
        <p:spPr>
          <a:xfrm>
            <a:off x="6138000" y="378000"/>
            <a:ext cx="2916000" cy="27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0D814B-86E1-244C-AB3B-B9993C05AEEC}"/>
              </a:ext>
            </a:extLst>
          </p:cNvPr>
          <p:cNvSpPr txBox="1"/>
          <p:nvPr/>
        </p:nvSpPr>
        <p:spPr>
          <a:xfrm>
            <a:off x="90000" y="399600"/>
            <a:ext cx="2772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dirty="0" err="1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문제</a:t>
            </a:r>
            <a:r>
              <a:rPr sz="900" b="1" dirty="0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 : </a:t>
            </a:r>
            <a:r>
              <a:rPr sz="900" b="1" dirty="0" err="1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불균일</a:t>
            </a:r>
            <a:r>
              <a:rPr sz="900" b="1" dirty="0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 Li </a:t>
            </a:r>
            <a:r>
              <a:rPr sz="900" b="1" dirty="0" err="1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핵생성</a:t>
            </a:r>
            <a:r>
              <a:rPr sz="900" b="1" dirty="0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 및 </a:t>
            </a:r>
            <a:r>
              <a:rPr sz="900" b="1" dirty="0" err="1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덴드라이트</a:t>
            </a:r>
            <a:endParaRPr sz="900" b="1" dirty="0">
              <a:solidFill>
                <a:srgbClr val="FFFFFF"/>
              </a:solidFill>
              <a:latin typeface="에스코어 드림 7 ExtraBold" panose="020B0803030302020204" pitchFamily="34" charset="-127"/>
              <a:ea typeface="에스코어 드림 7 ExtraBold" panose="020B0803030302020204" pitchFamily="34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51C129-3F40-68D2-2965-2D7666001C74}"/>
              </a:ext>
            </a:extLst>
          </p:cNvPr>
          <p:cNvSpPr txBox="1"/>
          <p:nvPr/>
        </p:nvSpPr>
        <p:spPr>
          <a:xfrm>
            <a:off x="3114000" y="399600"/>
            <a:ext cx="2772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Metal</a:t>
            </a:r>
            <a:r>
              <a:rPr lang="ko-KR" altLang="en-US" sz="900" b="1" dirty="0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 </a:t>
            </a:r>
            <a:r>
              <a:rPr lang="en-US" altLang="ko-KR" sz="900" b="1" dirty="0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Fluoride</a:t>
            </a:r>
            <a:r>
              <a:rPr lang="ko-KR" altLang="en-US" sz="900" b="1" dirty="0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 </a:t>
            </a:r>
            <a:r>
              <a:rPr sz="900" b="1" dirty="0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ALD </a:t>
            </a:r>
            <a:r>
              <a:rPr sz="900" b="1" dirty="0" err="1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증착</a:t>
            </a:r>
            <a:endParaRPr sz="900" b="1" dirty="0">
              <a:solidFill>
                <a:srgbClr val="FFFFFF"/>
              </a:solidFill>
              <a:latin typeface="에스코어 드림 7 ExtraBold" panose="020B0803030302020204" pitchFamily="34" charset="-127"/>
              <a:ea typeface="에스코어 드림 7 ExtraBold" panose="020B0803030302020204" pitchFamily="34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9B2EA1-B191-F604-30D2-2EB2C601EF06}"/>
              </a:ext>
            </a:extLst>
          </p:cNvPr>
          <p:cNvSpPr txBox="1"/>
          <p:nvPr/>
        </p:nvSpPr>
        <p:spPr>
          <a:xfrm>
            <a:off x="6138000" y="399600"/>
            <a:ext cx="2916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dirty="0" err="1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해결</a:t>
            </a:r>
            <a:r>
              <a:rPr sz="900" b="1" dirty="0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 : </a:t>
            </a:r>
            <a:r>
              <a:rPr sz="900" b="1" dirty="0" err="1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균일</a:t>
            </a:r>
            <a:r>
              <a:rPr sz="900" b="1" dirty="0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 Li </a:t>
            </a:r>
            <a:r>
              <a:rPr sz="900" b="1" dirty="0" err="1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핵생성</a:t>
            </a:r>
            <a:r>
              <a:rPr sz="900" b="1" dirty="0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 및 </a:t>
            </a:r>
            <a:r>
              <a:rPr sz="900" b="1" dirty="0" err="1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평탄한</a:t>
            </a:r>
            <a:r>
              <a:rPr sz="900" b="1" dirty="0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 </a:t>
            </a:r>
            <a:r>
              <a:rPr sz="900" b="1" dirty="0" err="1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증착</a:t>
            </a:r>
            <a:endParaRPr sz="900" b="1" dirty="0">
              <a:solidFill>
                <a:srgbClr val="FFFFFF"/>
              </a:solidFill>
              <a:latin typeface="에스코어 드림 7 ExtraBold" panose="020B0803030302020204" pitchFamily="34" charset="-127"/>
              <a:ea typeface="에스코어 드림 7 ExtraBold" panose="020B0803030302020204" pitchFamily="34" charset="-127"/>
            </a:endParaRPr>
          </a:p>
        </p:txBody>
      </p:sp>
      <p:cxnSp>
        <p:nvCxnSpPr>
          <p:cNvPr id="13" name="Connector 12">
            <a:extLst>
              <a:ext uri="{FF2B5EF4-FFF2-40B4-BE49-F238E27FC236}">
                <a16:creationId xmlns:a16="http://schemas.microsoft.com/office/drawing/2014/main" id="{1F4C3C94-B6F8-075A-D3DC-BB516D32B6F0}"/>
              </a:ext>
            </a:extLst>
          </p:cNvPr>
          <p:cNvCxnSpPr/>
          <p:nvPr/>
        </p:nvCxnSpPr>
        <p:spPr>
          <a:xfrm>
            <a:off x="2880000" y="2334240"/>
            <a:ext cx="216000" cy="0"/>
          </a:xfrm>
          <a:prstGeom prst="line">
            <a:avLst/>
          </a:prstGeom>
          <a:ln w="38100">
            <a:solidFill>
              <a:srgbClr val="303F9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>
            <a:extLst>
              <a:ext uri="{FF2B5EF4-FFF2-40B4-BE49-F238E27FC236}">
                <a16:creationId xmlns:a16="http://schemas.microsoft.com/office/drawing/2014/main" id="{3BB49A8A-FB05-214E-2B16-FB1C30F5A7D0}"/>
              </a:ext>
            </a:extLst>
          </p:cNvPr>
          <p:cNvCxnSpPr/>
          <p:nvPr/>
        </p:nvCxnSpPr>
        <p:spPr>
          <a:xfrm>
            <a:off x="5904000" y="2334240"/>
            <a:ext cx="216000" cy="0"/>
          </a:xfrm>
          <a:prstGeom prst="line">
            <a:avLst/>
          </a:prstGeom>
          <a:ln w="38100">
            <a:solidFill>
              <a:srgbClr val="2E7D32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DEBE649B-3C80-CC33-3C4B-7927AA938B60}"/>
              </a:ext>
            </a:extLst>
          </p:cNvPr>
          <p:cNvSpPr/>
          <p:nvPr/>
        </p:nvSpPr>
        <p:spPr>
          <a:xfrm>
            <a:off x="108000" y="3150000"/>
            <a:ext cx="2736000" cy="846000"/>
          </a:xfrm>
          <a:prstGeom prst="rect">
            <a:avLst/>
          </a:prstGeom>
          <a:solidFill>
            <a:srgbClr val="FFEBEE"/>
          </a:solidFill>
          <a:ln w="63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C4F054E-90A8-1D5B-83BF-07EE9ABE1F67}"/>
              </a:ext>
            </a:extLst>
          </p:cNvPr>
          <p:cNvSpPr txBox="1"/>
          <p:nvPr/>
        </p:nvSpPr>
        <p:spPr>
          <a:xfrm>
            <a:off x="144000" y="3186000"/>
            <a:ext cx="2646000" cy="747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0488" indent="-90488" algn="l">
              <a:lnSpc>
                <a:spcPts val="1300"/>
              </a:lnSpc>
              <a:buFont typeface="Arial" panose="020B0604020202020204" pitchFamily="34" charset="0"/>
              <a:buChar char="•"/>
            </a:pP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Cu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집전체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위 ALD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코팅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없이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Li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전착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시</a:t>
            </a:r>
          </a:p>
          <a:p>
            <a:pPr marL="90488" indent="-90488" algn="l">
              <a:lnSpc>
                <a:spcPts val="1300"/>
              </a:lnSpc>
              <a:buFont typeface="Arial" panose="020B0604020202020204" pitchFamily="34" charset="0"/>
              <a:buChar char="•"/>
            </a:pP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핵생성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과전압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불균일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→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덴드라이트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성장</a:t>
            </a:r>
            <a:endParaRPr sz="850" dirty="0">
              <a:solidFill>
                <a:srgbClr val="B71C1C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90488" indent="-90488" algn="l">
              <a:lnSpc>
                <a:spcPts val="1300"/>
              </a:lnSpc>
              <a:buFont typeface="Arial" panose="020B0604020202020204" pitchFamily="34" charset="0"/>
              <a:buChar char="•"/>
            </a:pP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두껍고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불균일한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SEI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형성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반복</a:t>
            </a:r>
            <a:endParaRPr sz="850" dirty="0">
              <a:solidFill>
                <a:srgbClr val="B71C1C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90488" indent="-90488" algn="l">
              <a:lnSpc>
                <a:spcPts val="1300"/>
              </a:lnSpc>
              <a:buFont typeface="Arial" panose="020B0604020202020204" pitchFamily="34" charset="0"/>
              <a:buChar char="•"/>
            </a:pP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쿨롱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효율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저하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및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내부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단락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(short)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위험</a:t>
            </a:r>
            <a:endParaRPr sz="850" dirty="0">
              <a:solidFill>
                <a:srgbClr val="B71C1C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37AC400-CA50-B284-39FD-0B062B01F2F1}"/>
              </a:ext>
            </a:extLst>
          </p:cNvPr>
          <p:cNvSpPr/>
          <p:nvPr/>
        </p:nvSpPr>
        <p:spPr>
          <a:xfrm>
            <a:off x="108000" y="4050000"/>
            <a:ext cx="2736000" cy="1432800"/>
          </a:xfrm>
          <a:prstGeom prst="rect">
            <a:avLst/>
          </a:prstGeom>
          <a:solidFill>
            <a:srgbClr val="EEEEEE"/>
          </a:solidFill>
          <a:ln w="9525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0" name="Connector 49">
            <a:extLst>
              <a:ext uri="{FF2B5EF4-FFF2-40B4-BE49-F238E27FC236}">
                <a16:creationId xmlns:a16="http://schemas.microsoft.com/office/drawing/2014/main" id="{59386DC7-FC81-C20A-F9D7-F243CFAADC5B}"/>
              </a:ext>
            </a:extLst>
          </p:cNvPr>
          <p:cNvCxnSpPr/>
          <p:nvPr/>
        </p:nvCxnSpPr>
        <p:spPr>
          <a:xfrm>
            <a:off x="108000" y="4050000"/>
            <a:ext cx="2736000" cy="1432800"/>
          </a:xfrm>
          <a:prstGeom prst="line">
            <a:avLst/>
          </a:prstGeom>
          <a:ln w="635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>
            <a:extLst>
              <a:ext uri="{FF2B5EF4-FFF2-40B4-BE49-F238E27FC236}">
                <a16:creationId xmlns:a16="http://schemas.microsoft.com/office/drawing/2014/main" id="{6D721C8F-638C-2489-1B8F-003140565875}"/>
              </a:ext>
            </a:extLst>
          </p:cNvPr>
          <p:cNvCxnSpPr/>
          <p:nvPr/>
        </p:nvCxnSpPr>
        <p:spPr>
          <a:xfrm flipH="1">
            <a:off x="108000" y="4050000"/>
            <a:ext cx="2736000" cy="1432800"/>
          </a:xfrm>
          <a:prstGeom prst="line">
            <a:avLst/>
          </a:prstGeom>
          <a:ln w="635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365727DB-1531-F114-292A-C7533271C857}"/>
              </a:ext>
            </a:extLst>
          </p:cNvPr>
          <p:cNvSpPr txBox="1"/>
          <p:nvPr/>
        </p:nvSpPr>
        <p:spPr>
          <a:xfrm>
            <a:off x="108000" y="4640400"/>
            <a:ext cx="273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757575"/>
                </a:solidFill>
                <a:latin typeface="맑은 고딕"/>
              </a:rPr>
              <a:t>SEM 이미지 공간
(Li 덴드라이트 / 불균일 증착)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EAB40EF-34C4-97B2-3792-E80E76E4BFF3}"/>
              </a:ext>
            </a:extLst>
          </p:cNvPr>
          <p:cNvSpPr/>
          <p:nvPr/>
        </p:nvSpPr>
        <p:spPr>
          <a:xfrm>
            <a:off x="3136233" y="640400"/>
            <a:ext cx="2736000" cy="2757685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0A4BF24-C596-12F2-14DE-4B04F77DB1D6}"/>
              </a:ext>
            </a:extLst>
          </p:cNvPr>
          <p:cNvSpPr/>
          <p:nvPr/>
        </p:nvSpPr>
        <p:spPr>
          <a:xfrm>
            <a:off x="437747" y="5482800"/>
            <a:ext cx="2736000" cy="809865"/>
          </a:xfrm>
          <a:prstGeom prst="rect">
            <a:avLst/>
          </a:prstGeom>
          <a:solidFill>
            <a:srgbClr val="E8EAF6"/>
          </a:solidFill>
          <a:ln w="6350">
            <a:solidFill>
              <a:srgbClr val="7B8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9E20D1C-BB22-70AB-8AAB-084F79965890}"/>
              </a:ext>
            </a:extLst>
          </p:cNvPr>
          <p:cNvSpPr txBox="1"/>
          <p:nvPr/>
        </p:nvSpPr>
        <p:spPr>
          <a:xfrm>
            <a:off x="2522497" y="5996719"/>
            <a:ext cx="2092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dirty="0" err="1">
                <a:solidFill>
                  <a:srgbClr val="6A1B9A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박막</a:t>
            </a:r>
            <a:r>
              <a:rPr sz="900" dirty="0">
                <a:solidFill>
                  <a:srgbClr val="6A1B9A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 </a:t>
            </a:r>
            <a:r>
              <a:rPr sz="900" dirty="0" err="1">
                <a:solidFill>
                  <a:srgbClr val="6A1B9A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형성</a:t>
            </a:r>
            <a:r>
              <a:rPr sz="900" dirty="0">
                <a:solidFill>
                  <a:srgbClr val="6A1B9A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 </a:t>
            </a:r>
            <a:r>
              <a:rPr sz="900" dirty="0" err="1">
                <a:solidFill>
                  <a:srgbClr val="6A1B9A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단면</a:t>
            </a:r>
            <a:r>
              <a:rPr sz="900" dirty="0">
                <a:solidFill>
                  <a:srgbClr val="6A1B9A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 </a:t>
            </a:r>
            <a:r>
              <a:rPr sz="900" dirty="0" err="1">
                <a:solidFill>
                  <a:srgbClr val="6A1B9A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모식도</a:t>
            </a:r>
            <a:endParaRPr sz="900" dirty="0">
              <a:solidFill>
                <a:srgbClr val="6A1B9A"/>
              </a:solidFill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FD677B1E-D63C-968B-33F8-6CFC52281619}"/>
              </a:ext>
            </a:extLst>
          </p:cNvPr>
          <p:cNvSpPr/>
          <p:nvPr/>
        </p:nvSpPr>
        <p:spPr>
          <a:xfrm>
            <a:off x="3132000" y="3463199"/>
            <a:ext cx="2736000" cy="846000"/>
          </a:xfrm>
          <a:prstGeom prst="rect">
            <a:avLst/>
          </a:prstGeom>
          <a:solidFill>
            <a:srgbClr val="EEEEFF"/>
          </a:solidFill>
          <a:ln w="6350">
            <a:solidFill>
              <a:srgbClr val="303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1791737-B16C-0B42-F941-0C58A9CEADEB}"/>
              </a:ext>
            </a:extLst>
          </p:cNvPr>
          <p:cNvSpPr txBox="1"/>
          <p:nvPr/>
        </p:nvSpPr>
        <p:spPr>
          <a:xfrm>
            <a:off x="3175200" y="3499199"/>
            <a:ext cx="2664000" cy="747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0488" indent="-90488" algn="l">
              <a:lnSpc>
                <a:spcPts val="1300"/>
              </a:lnSpc>
              <a:buFont typeface="Arial" panose="020B0604020202020204" pitchFamily="34" charset="0"/>
              <a:buChar char="•"/>
            </a:pP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ZnF</a:t>
            </a:r>
            <a:r>
              <a:rPr sz="850" dirty="0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₂ ALD: DEZ + </a:t>
            </a: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HF·py</a:t>
            </a:r>
            <a:r>
              <a:rPr sz="850" dirty="0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전구체</a:t>
            </a:r>
            <a:r>
              <a:rPr sz="850" dirty="0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조합</a:t>
            </a:r>
            <a:endParaRPr sz="850" dirty="0">
              <a:solidFill>
                <a:srgbClr val="1A237E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90488" indent="-90488" algn="l">
              <a:lnSpc>
                <a:spcPts val="1300"/>
              </a:lnSpc>
              <a:buFont typeface="Arial" panose="020B0604020202020204" pitchFamily="34" charset="0"/>
              <a:buChar char="•"/>
            </a:pP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자기제한적</a:t>
            </a:r>
            <a:r>
              <a:rPr sz="850" dirty="0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(self-limiting) </a:t>
            </a: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표면</a:t>
            </a:r>
            <a:r>
              <a:rPr sz="850" dirty="0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반응</a:t>
            </a:r>
            <a:endParaRPr sz="850" dirty="0">
              <a:solidFill>
                <a:srgbClr val="1A237E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90488" indent="-90488" algn="l">
              <a:lnSpc>
                <a:spcPts val="1300"/>
              </a:lnSpc>
              <a:buFont typeface="Arial" panose="020B0604020202020204" pitchFamily="34" charset="0"/>
              <a:buChar char="•"/>
            </a:pP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기판</a:t>
            </a:r>
            <a:r>
              <a:rPr sz="850" dirty="0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온도</a:t>
            </a:r>
            <a:r>
              <a:rPr sz="850" dirty="0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50~200°C, Å </a:t>
            </a: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수준</a:t>
            </a:r>
            <a:r>
              <a:rPr sz="850" dirty="0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두께</a:t>
            </a:r>
            <a:r>
              <a:rPr sz="850" dirty="0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제어</a:t>
            </a:r>
            <a:endParaRPr sz="850" dirty="0">
              <a:solidFill>
                <a:srgbClr val="1A237E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90488" indent="-90488" algn="l">
              <a:lnSpc>
                <a:spcPts val="1300"/>
              </a:lnSpc>
              <a:buFont typeface="Arial" panose="020B0604020202020204" pitchFamily="34" charset="0"/>
              <a:buChar char="•"/>
            </a:pP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결과</a:t>
            </a:r>
            <a:r>
              <a:rPr sz="850" dirty="0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균일·공형</a:t>
            </a:r>
            <a:r>
              <a:rPr sz="850" dirty="0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(conformal) </a:t>
            </a: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불화물</a:t>
            </a:r>
            <a:r>
              <a:rPr sz="850" dirty="0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박막</a:t>
            </a:r>
            <a:endParaRPr sz="850" dirty="0">
              <a:solidFill>
                <a:srgbClr val="1A237E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D0BF1A3C-8DF3-EA38-185A-60DFD4D7EDD7}"/>
              </a:ext>
            </a:extLst>
          </p:cNvPr>
          <p:cNvSpPr/>
          <p:nvPr/>
        </p:nvSpPr>
        <p:spPr>
          <a:xfrm>
            <a:off x="3132000" y="4363200"/>
            <a:ext cx="2736000" cy="1119600"/>
          </a:xfrm>
          <a:prstGeom prst="rect">
            <a:avLst/>
          </a:prstGeom>
          <a:solidFill>
            <a:srgbClr val="EEEEEE"/>
          </a:solidFill>
          <a:ln w="9525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3" name="Connector 82">
            <a:extLst>
              <a:ext uri="{FF2B5EF4-FFF2-40B4-BE49-F238E27FC236}">
                <a16:creationId xmlns:a16="http://schemas.microsoft.com/office/drawing/2014/main" id="{C0C9CC02-9B8A-C658-3BD2-0CDCF09BD8AB}"/>
              </a:ext>
            </a:extLst>
          </p:cNvPr>
          <p:cNvCxnSpPr/>
          <p:nvPr/>
        </p:nvCxnSpPr>
        <p:spPr>
          <a:xfrm>
            <a:off x="3132000" y="4363200"/>
            <a:ext cx="2736000" cy="1119600"/>
          </a:xfrm>
          <a:prstGeom prst="line">
            <a:avLst/>
          </a:prstGeom>
          <a:ln w="635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>
            <a:extLst>
              <a:ext uri="{FF2B5EF4-FFF2-40B4-BE49-F238E27FC236}">
                <a16:creationId xmlns:a16="http://schemas.microsoft.com/office/drawing/2014/main" id="{E85D54A5-7C11-2C10-DD9E-7C3670FB1A43}"/>
              </a:ext>
            </a:extLst>
          </p:cNvPr>
          <p:cNvCxnSpPr/>
          <p:nvPr/>
        </p:nvCxnSpPr>
        <p:spPr>
          <a:xfrm flipH="1">
            <a:off x="3132000" y="4363200"/>
            <a:ext cx="2736000" cy="1119600"/>
          </a:xfrm>
          <a:prstGeom prst="line">
            <a:avLst/>
          </a:prstGeom>
          <a:ln w="635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024A175-BAF9-D4E4-2BBA-608AF867AF1C}"/>
              </a:ext>
            </a:extLst>
          </p:cNvPr>
          <p:cNvSpPr txBox="1"/>
          <p:nvPr/>
        </p:nvSpPr>
        <p:spPr>
          <a:xfrm>
            <a:off x="3132000" y="4797000"/>
            <a:ext cx="273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757575"/>
                </a:solidFill>
                <a:latin typeface="맑은 고딕"/>
              </a:rPr>
              <a:t>TEM / SAED 이미지 공간
(ALD ZnF₂ 박막 단면)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BDCE7FD5-69A3-BDE1-68A6-0C8B7C82BB60}"/>
              </a:ext>
            </a:extLst>
          </p:cNvPr>
          <p:cNvSpPr/>
          <p:nvPr/>
        </p:nvSpPr>
        <p:spPr>
          <a:xfrm>
            <a:off x="6156000" y="666000"/>
            <a:ext cx="2880000" cy="1951335"/>
          </a:xfrm>
          <a:prstGeom prst="rect">
            <a:avLst/>
          </a:prstGeom>
          <a:solidFill>
            <a:srgbClr val="E1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D47A79E7-46EB-6A61-276E-83053BE1E607}"/>
              </a:ext>
            </a:extLst>
          </p:cNvPr>
          <p:cNvSpPr/>
          <p:nvPr/>
        </p:nvSpPr>
        <p:spPr>
          <a:xfrm>
            <a:off x="6156000" y="3150000"/>
            <a:ext cx="2880000" cy="846000"/>
          </a:xfrm>
          <a:prstGeom prst="rect">
            <a:avLst/>
          </a:prstGeom>
          <a:solidFill>
            <a:srgbClr val="E8F5E9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64A66C92-8138-30E4-AB7F-FD073B86A6AA}"/>
              </a:ext>
            </a:extLst>
          </p:cNvPr>
          <p:cNvSpPr txBox="1"/>
          <p:nvPr/>
        </p:nvSpPr>
        <p:spPr>
          <a:xfrm>
            <a:off x="6192000" y="3186000"/>
            <a:ext cx="2790000" cy="747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ts val="1300"/>
              </a:lnSpc>
              <a:buFont typeface="Arial" panose="020B0604020202020204" pitchFamily="34" charset="0"/>
              <a:buChar char="•"/>
            </a:pPr>
            <a:r>
              <a:rPr sz="850" dirty="0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ALD </a:t>
            </a:r>
            <a:r>
              <a:rPr sz="850" dirty="0" err="1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불화물</a:t>
            </a:r>
            <a:r>
              <a:rPr sz="850" dirty="0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850" dirty="0" err="1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인공</a:t>
            </a:r>
            <a:r>
              <a:rPr sz="850" dirty="0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SEI </a:t>
            </a:r>
            <a:r>
              <a:rPr sz="850" dirty="0" err="1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형성</a:t>
            </a:r>
            <a:r>
              <a:rPr sz="850" dirty="0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후 Li </a:t>
            </a:r>
            <a:r>
              <a:rPr sz="850" dirty="0" err="1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전착</a:t>
            </a:r>
            <a:endParaRPr sz="850" dirty="0">
              <a:solidFill>
                <a:srgbClr val="1B5E2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171450" indent="-171450" algn="l">
              <a:lnSpc>
                <a:spcPts val="1300"/>
              </a:lnSpc>
              <a:buFont typeface="Arial" panose="020B0604020202020204" pitchFamily="34" charset="0"/>
              <a:buChar char="•"/>
            </a:pPr>
            <a:r>
              <a:rPr sz="850" dirty="0" err="1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균일</a:t>
            </a:r>
            <a:r>
              <a:rPr sz="850" dirty="0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850" dirty="0" err="1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핵생성</a:t>
            </a:r>
            <a:r>
              <a:rPr sz="850" dirty="0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→ </a:t>
            </a:r>
            <a:r>
              <a:rPr sz="850" dirty="0" err="1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조밀·평탄한</a:t>
            </a:r>
            <a:r>
              <a:rPr sz="850" dirty="0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Li </a:t>
            </a:r>
            <a:r>
              <a:rPr sz="850" dirty="0" err="1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증착</a:t>
            </a:r>
            <a:endParaRPr sz="850" dirty="0">
              <a:solidFill>
                <a:srgbClr val="1B5E2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171450" indent="-171450" algn="l">
              <a:lnSpc>
                <a:spcPts val="1300"/>
              </a:lnSpc>
              <a:buFont typeface="Arial" panose="020B0604020202020204" pitchFamily="34" charset="0"/>
              <a:buChar char="•"/>
            </a:pPr>
            <a:r>
              <a:rPr sz="850" dirty="0" err="1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덴드라이트</a:t>
            </a:r>
            <a:r>
              <a:rPr sz="850" dirty="0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850" dirty="0" err="1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억제</a:t>
            </a:r>
            <a:r>
              <a:rPr sz="850" dirty="0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SEI </a:t>
            </a:r>
            <a:r>
              <a:rPr sz="850" dirty="0" err="1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두께·조성</a:t>
            </a:r>
            <a:r>
              <a:rPr sz="850" dirty="0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850" dirty="0" err="1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정밀</a:t>
            </a:r>
            <a:r>
              <a:rPr sz="850" dirty="0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850" dirty="0" err="1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제어</a:t>
            </a:r>
            <a:endParaRPr sz="850" dirty="0">
              <a:solidFill>
                <a:srgbClr val="1B5E2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171450" indent="-171450" algn="l">
              <a:lnSpc>
                <a:spcPts val="1300"/>
              </a:lnSpc>
              <a:buFont typeface="Arial" panose="020B0604020202020204" pitchFamily="34" charset="0"/>
              <a:buChar char="•"/>
            </a:pPr>
            <a:r>
              <a:rPr sz="850" dirty="0" err="1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목표</a:t>
            </a:r>
            <a:r>
              <a:rPr sz="850" dirty="0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CE &gt;99.5%, </a:t>
            </a:r>
            <a:r>
              <a:rPr sz="850" dirty="0" err="1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용량유지율</a:t>
            </a:r>
            <a:r>
              <a:rPr sz="850" dirty="0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&gt;80% (300 cy.)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1265055F-AD2E-CF39-BA29-FD5DFD63BE4C}"/>
              </a:ext>
            </a:extLst>
          </p:cNvPr>
          <p:cNvSpPr/>
          <p:nvPr/>
        </p:nvSpPr>
        <p:spPr>
          <a:xfrm>
            <a:off x="6156000" y="4050000"/>
            <a:ext cx="2880000" cy="1432800"/>
          </a:xfrm>
          <a:prstGeom prst="rect">
            <a:avLst/>
          </a:prstGeom>
          <a:solidFill>
            <a:srgbClr val="EEEEEE"/>
          </a:solidFill>
          <a:ln w="9525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3" name="Connector 112">
            <a:extLst>
              <a:ext uri="{FF2B5EF4-FFF2-40B4-BE49-F238E27FC236}">
                <a16:creationId xmlns:a16="http://schemas.microsoft.com/office/drawing/2014/main" id="{42AD35D5-0DE9-C82E-5386-3C8303303B48}"/>
              </a:ext>
            </a:extLst>
          </p:cNvPr>
          <p:cNvCxnSpPr/>
          <p:nvPr/>
        </p:nvCxnSpPr>
        <p:spPr>
          <a:xfrm>
            <a:off x="6156000" y="4050000"/>
            <a:ext cx="2880000" cy="1432800"/>
          </a:xfrm>
          <a:prstGeom prst="line">
            <a:avLst/>
          </a:prstGeom>
          <a:ln w="635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>
            <a:extLst>
              <a:ext uri="{FF2B5EF4-FFF2-40B4-BE49-F238E27FC236}">
                <a16:creationId xmlns:a16="http://schemas.microsoft.com/office/drawing/2014/main" id="{017FB558-D481-9DF7-50C5-1CE25CD53AC2}"/>
              </a:ext>
            </a:extLst>
          </p:cNvPr>
          <p:cNvCxnSpPr/>
          <p:nvPr/>
        </p:nvCxnSpPr>
        <p:spPr>
          <a:xfrm flipH="1">
            <a:off x="6156000" y="4050000"/>
            <a:ext cx="2880000" cy="1432800"/>
          </a:xfrm>
          <a:prstGeom prst="line">
            <a:avLst/>
          </a:prstGeom>
          <a:ln w="635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15F12439-BA16-08C6-AA28-F0C9879131D7}"/>
              </a:ext>
            </a:extLst>
          </p:cNvPr>
          <p:cNvSpPr txBox="1"/>
          <p:nvPr/>
        </p:nvSpPr>
        <p:spPr>
          <a:xfrm>
            <a:off x="6156000" y="46404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757575"/>
                </a:solidFill>
                <a:latin typeface="맑은 고딕"/>
              </a:rPr>
              <a:t>SEM 이미지 공간
(균일 Li 증착 / 평탄 표면)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CC06427F-FC70-0E32-4DBC-BDF94F90528E}"/>
              </a:ext>
            </a:extLst>
          </p:cNvPr>
          <p:cNvSpPr/>
          <p:nvPr/>
        </p:nvSpPr>
        <p:spPr>
          <a:xfrm>
            <a:off x="0" y="5551200"/>
            <a:ext cx="9144000" cy="2880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83BC33A1-639E-B645-8A9B-324BF7079ACB}"/>
              </a:ext>
            </a:extLst>
          </p:cNvPr>
          <p:cNvGrpSpPr/>
          <p:nvPr/>
        </p:nvGrpSpPr>
        <p:grpSpPr>
          <a:xfrm>
            <a:off x="124659" y="945294"/>
            <a:ext cx="2659224" cy="1416401"/>
            <a:chOff x="1932819" y="987409"/>
            <a:chExt cx="3559230" cy="1895777"/>
          </a:xfrm>
        </p:grpSpPr>
        <p:pic>
          <p:nvPicPr>
            <p:cNvPr id="62" name="Picture 7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BB89BB7E-8636-6588-9284-52FB8F16A36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133" t="37899" r="16806" b="12022"/>
            <a:stretch/>
          </p:blipFill>
          <p:spPr>
            <a:xfrm rot="5520000">
              <a:off x="1433172" y="1571518"/>
              <a:ext cx="1548270" cy="548976"/>
            </a:xfrm>
            <a:prstGeom prst="rect">
              <a:avLst/>
            </a:prstGeom>
          </p:spPr>
        </p:pic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339B42A4-4B11-4BBB-B878-1210364EBEF1}"/>
                </a:ext>
              </a:extLst>
            </p:cNvPr>
            <p:cNvSpPr txBox="1"/>
            <p:nvPr/>
          </p:nvSpPr>
          <p:spPr>
            <a:xfrm>
              <a:off x="2003738" y="2570561"/>
              <a:ext cx="433828" cy="3089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>
                  <a:solidFill>
                    <a:schemeClr val="accent2">
                      <a:lumMod val="75000"/>
                    </a:schemeClr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Cu</a:t>
              </a:r>
            </a:p>
          </p:txBody>
        </p:sp>
        <p:pic>
          <p:nvPicPr>
            <p:cNvPr id="64" name="Picture 56" descr="A picture containing tool, brush&#10;&#10;Description automatically generated">
              <a:extLst>
                <a:ext uri="{FF2B5EF4-FFF2-40B4-BE49-F238E27FC236}">
                  <a16:creationId xmlns:a16="http://schemas.microsoft.com/office/drawing/2014/main" id="{318E64E8-CF5D-4BE3-9D2E-E62A3FB097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520000">
              <a:off x="4185099" y="1520224"/>
              <a:ext cx="1839765" cy="774135"/>
            </a:xfrm>
            <a:prstGeom prst="rect">
              <a:avLst/>
            </a:prstGeom>
          </p:spPr>
        </p:pic>
        <p:pic>
          <p:nvPicPr>
            <p:cNvPr id="65" name="Picture 1077" descr="A round orange object with white specks on it&#10;&#10;Description automatically generated">
              <a:extLst>
                <a:ext uri="{FF2B5EF4-FFF2-40B4-BE49-F238E27FC236}">
                  <a16:creationId xmlns:a16="http://schemas.microsoft.com/office/drawing/2014/main" id="{010D41E6-B66F-14CC-CE4B-0EF25559041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566" t="53983" r="27720" b="14461"/>
            <a:stretch/>
          </p:blipFill>
          <p:spPr>
            <a:xfrm rot="5520000">
              <a:off x="2733709" y="1519658"/>
              <a:ext cx="1755308" cy="746947"/>
            </a:xfrm>
            <a:prstGeom prst="rect">
              <a:avLst/>
            </a:prstGeom>
          </p:spPr>
        </p:pic>
        <p:pic>
          <p:nvPicPr>
            <p:cNvPr id="66" name="Picture 1078" descr="E:\PNG\화살표\1304 - 복사본.png">
              <a:extLst>
                <a:ext uri="{FF2B5EF4-FFF2-40B4-BE49-F238E27FC236}">
                  <a16:creationId xmlns:a16="http://schemas.microsoft.com/office/drawing/2014/main" id="{BB1E9E80-1042-4CEB-5FB9-D2BA00B68A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64624" y="1313064"/>
              <a:ext cx="1039596" cy="11149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049C51C4-4332-AF1F-4437-EFC60CA7CBA7}"/>
                </a:ext>
              </a:extLst>
            </p:cNvPr>
            <p:cNvSpPr txBox="1"/>
            <p:nvPr/>
          </p:nvSpPr>
          <p:spPr>
            <a:xfrm>
              <a:off x="2353099" y="1629719"/>
              <a:ext cx="953045" cy="494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00" dirty="0">
                  <a:latin typeface="프리젠테이션 7 Bold" pitchFamily="2" charset="-127"/>
                  <a:ea typeface="프리젠테이션 7 Bold" pitchFamily="2" charset="-127"/>
                  <a:cs typeface="Arial" panose="020B0604020202020204" pitchFamily="34" charset="0"/>
                </a:rPr>
                <a:t>Li</a:t>
              </a:r>
            </a:p>
            <a:p>
              <a:pPr algn="ctr"/>
              <a:r>
                <a:rPr lang="en-US" sz="900" dirty="0">
                  <a:latin typeface="프리젠테이션 7 Bold" pitchFamily="2" charset="-127"/>
                  <a:ea typeface="프리젠테이션 7 Bold" pitchFamily="2" charset="-127"/>
                  <a:cs typeface="Arial" panose="020B0604020202020204" pitchFamily="34" charset="0"/>
                </a:rPr>
                <a:t>nucleation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168FCD10-E2A6-8974-65FE-45F7705B39C0}"/>
                </a:ext>
              </a:extLst>
            </p:cNvPr>
            <p:cNvSpPr txBox="1"/>
            <p:nvPr/>
          </p:nvSpPr>
          <p:spPr>
            <a:xfrm>
              <a:off x="2641246" y="2574230"/>
              <a:ext cx="1671800" cy="3089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>
                  <a:solidFill>
                    <a:srgbClr val="C00000"/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Uneven</a:t>
              </a:r>
              <a:r>
                <a:rPr lang="en-US" sz="900" dirty="0"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 Li nucleation</a:t>
              </a:r>
            </a:p>
          </p:txBody>
        </p:sp>
        <p:pic>
          <p:nvPicPr>
            <p:cNvPr id="69" name="Picture 24" descr="E:\PNG\화살표\1304 - 복사본.png">
              <a:extLst>
                <a:ext uri="{FF2B5EF4-FFF2-40B4-BE49-F238E27FC236}">
                  <a16:creationId xmlns:a16="http://schemas.microsoft.com/office/drawing/2014/main" id="{5D76C693-8F1A-7CF2-181C-94120FB2A9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12575" y="1349793"/>
              <a:ext cx="1039596" cy="11149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4CE7B78F-AF5E-D5A5-D96F-87D37F2316EA}"/>
                </a:ext>
              </a:extLst>
            </p:cNvPr>
            <p:cNvSpPr txBox="1"/>
            <p:nvPr/>
          </p:nvSpPr>
          <p:spPr>
            <a:xfrm>
              <a:off x="3703125" y="1655118"/>
              <a:ext cx="959483" cy="494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00" dirty="0">
                  <a:latin typeface="프리젠테이션 7 Bold" pitchFamily="2" charset="-127"/>
                  <a:ea typeface="프리젠테이션 7 Bold" pitchFamily="2" charset="-127"/>
                  <a:cs typeface="Arial" panose="020B0604020202020204" pitchFamily="34" charset="0"/>
                </a:rPr>
                <a:t>Li</a:t>
              </a:r>
            </a:p>
            <a:p>
              <a:pPr algn="ctr"/>
              <a:r>
                <a:rPr lang="en-US" sz="900" dirty="0">
                  <a:latin typeface="프리젠테이션 7 Bold" pitchFamily="2" charset="-127"/>
                  <a:ea typeface="프리젠테이션 7 Bold" pitchFamily="2" charset="-127"/>
                  <a:cs typeface="Arial" panose="020B0604020202020204" pitchFamily="34" charset="0"/>
                </a:rPr>
                <a:t>deposition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AAD011E4-BEE8-9CF0-305E-DD0EF612B686}"/>
                </a:ext>
              </a:extLst>
            </p:cNvPr>
            <p:cNvSpPr txBox="1"/>
            <p:nvPr/>
          </p:nvSpPr>
          <p:spPr>
            <a:xfrm>
              <a:off x="4426990" y="2570561"/>
              <a:ext cx="1053886" cy="3089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Li dendrites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D1C58559-B50C-0E53-4B7B-A8795A83FBFF}"/>
                </a:ext>
              </a:extLst>
            </p:cNvPr>
            <p:cNvSpPr txBox="1"/>
            <p:nvPr/>
          </p:nvSpPr>
          <p:spPr>
            <a:xfrm>
              <a:off x="3775008" y="1108571"/>
              <a:ext cx="1152000" cy="2883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1" dirty="0" err="1">
                  <a:effectLst/>
                  <a:latin typeface="프리젠테이션 7 Bold" pitchFamily="2" charset="-127"/>
                  <a:ea typeface="프리젠테이션 7 Bold" pitchFamily="2" charset="-127"/>
                </a:rPr>
                <a:t>불균일·파단</a:t>
              </a:r>
              <a:r>
                <a:rPr sz="800" b="1" dirty="0">
                  <a:effectLst/>
                  <a:latin typeface="프리젠테이션 7 Bold" pitchFamily="2" charset="-127"/>
                  <a:ea typeface="프리젠테이션 7 Bold" pitchFamily="2" charset="-127"/>
                </a:rPr>
                <a:t> SEI</a:t>
              </a:r>
            </a:p>
          </p:txBody>
        </p: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E3AA3116-80CE-5B63-F7D3-64BC011D8B2D}"/>
                </a:ext>
              </a:extLst>
            </p:cNvPr>
            <p:cNvCxnSpPr/>
            <p:nvPr/>
          </p:nvCxnSpPr>
          <p:spPr>
            <a:xfrm>
              <a:off x="4578412" y="1321313"/>
              <a:ext cx="280413" cy="220134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tailEnd type="arrow" w="sm" len="sm"/>
            </a:ln>
            <a:effectLst>
              <a:glow rad="63500">
                <a:schemeClr val="accent5">
                  <a:satMod val="175000"/>
                  <a:alpha val="40000"/>
                </a:schemeClr>
              </a:glow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673FAF3A-C3AB-509C-FF1F-214B445CCFAF}"/>
                </a:ext>
              </a:extLst>
            </p:cNvPr>
            <p:cNvCxnSpPr>
              <a:cxnSpLocks/>
            </p:cNvCxnSpPr>
            <p:nvPr/>
          </p:nvCxnSpPr>
          <p:spPr>
            <a:xfrm>
              <a:off x="3328698" y="1349793"/>
              <a:ext cx="260113" cy="139135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tailEnd type="arrow" w="sm" len="sm"/>
            </a:ln>
            <a:effectLst>
              <a:glow rad="63500">
                <a:schemeClr val="accent5">
                  <a:satMod val="175000"/>
                  <a:alpha val="40000"/>
                </a:schemeClr>
              </a:glow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C38D97EB-7EE6-BF56-9D82-D7865FF157F0}"/>
                </a:ext>
              </a:extLst>
            </p:cNvPr>
            <p:cNvSpPr txBox="1"/>
            <p:nvPr/>
          </p:nvSpPr>
          <p:spPr>
            <a:xfrm>
              <a:off x="2418180" y="1129573"/>
              <a:ext cx="1152000" cy="2883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1" dirty="0" err="1">
                  <a:effectLst/>
                  <a:latin typeface="프리젠테이션 7 Bold" pitchFamily="2" charset="-127"/>
                  <a:ea typeface="프리젠테이션 7 Bold" pitchFamily="2" charset="-127"/>
                </a:rPr>
                <a:t>불균일</a:t>
              </a:r>
              <a:r>
                <a:rPr lang="en-US" sz="800" b="1" dirty="0">
                  <a:effectLst/>
                  <a:latin typeface="프리젠테이션 7 Bold" pitchFamily="2" charset="-127"/>
                  <a:ea typeface="프리젠테이션 7 Bold" pitchFamily="2" charset="-127"/>
                </a:rPr>
                <a:t> Li </a:t>
              </a:r>
              <a:r>
                <a:rPr lang="ko-KR" altLang="en-US" sz="800" b="1" dirty="0">
                  <a:effectLst/>
                  <a:latin typeface="프리젠테이션 7 Bold" pitchFamily="2" charset="-127"/>
                  <a:ea typeface="프리젠테이션 7 Bold" pitchFamily="2" charset="-127"/>
                </a:rPr>
                <a:t>핵생성</a:t>
              </a:r>
              <a:endParaRPr sz="800" b="1" dirty="0">
                <a:effectLst/>
                <a:latin typeface="프리젠테이션 7 Bold" pitchFamily="2" charset="-127"/>
                <a:ea typeface="프리젠테이션 7 Bold" pitchFamily="2" charset="-127"/>
              </a:endParaRPr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5B953CE4-52F9-8C8B-4B4C-F407ED289D76}"/>
              </a:ext>
            </a:extLst>
          </p:cNvPr>
          <p:cNvGrpSpPr/>
          <p:nvPr/>
        </p:nvGrpSpPr>
        <p:grpSpPr>
          <a:xfrm>
            <a:off x="6165229" y="947233"/>
            <a:ext cx="2888771" cy="1609862"/>
            <a:chOff x="1822446" y="4037861"/>
            <a:chExt cx="3946675" cy="2199413"/>
          </a:xfrm>
        </p:grpSpPr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85FC6287-8A72-73C4-530D-128AEDAADD30}"/>
                </a:ext>
              </a:extLst>
            </p:cNvPr>
            <p:cNvSpPr txBox="1"/>
            <p:nvPr/>
          </p:nvSpPr>
          <p:spPr>
            <a:xfrm>
              <a:off x="1822446" y="5615716"/>
              <a:ext cx="969688" cy="3480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 err="1">
                  <a:solidFill>
                    <a:srgbClr val="0070C0"/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MF</a:t>
              </a:r>
              <a:r>
                <a:rPr lang="en-US" sz="900" baseline="-25000" dirty="0" err="1">
                  <a:solidFill>
                    <a:srgbClr val="0070C0"/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x</a:t>
              </a:r>
              <a:r>
                <a:rPr lang="en-US" sz="900" dirty="0" err="1">
                  <a:solidFill>
                    <a:schemeClr val="accent2">
                      <a:lumMod val="75000"/>
                    </a:schemeClr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@Cu</a:t>
              </a:r>
              <a:endParaRPr lang="en-US" sz="900" dirty="0">
                <a:solidFill>
                  <a:schemeClr val="accent2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프리젠테이션 9 Black" pitchFamily="2" charset="-127"/>
                <a:ea typeface="프리젠테이션 9 Black" pitchFamily="2" charset="-127"/>
                <a:cs typeface="Arial" panose="020B0604020202020204" pitchFamily="34" charset="0"/>
              </a:endParaRP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BFD19287-55CD-CDD1-503A-088A459D606F}"/>
                </a:ext>
              </a:extLst>
            </p:cNvPr>
            <p:cNvSpPr txBox="1"/>
            <p:nvPr/>
          </p:nvSpPr>
          <p:spPr>
            <a:xfrm>
              <a:off x="2469783" y="5359301"/>
              <a:ext cx="968437" cy="2943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 err="1">
                  <a:solidFill>
                    <a:srgbClr val="FF00FF"/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LiF</a:t>
              </a:r>
              <a:r>
                <a:rPr lang="en-US" sz="800" dirty="0">
                  <a:solidFill>
                    <a:srgbClr val="FF00FF"/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-rich SEI</a:t>
              </a:r>
            </a:p>
          </p:txBody>
        </p:sp>
        <p:pic>
          <p:nvPicPr>
            <p:cNvPr id="124" name="Picture 26" descr="E:\PNG\화살표\1304 - 복사본.png">
              <a:extLst>
                <a:ext uri="{FF2B5EF4-FFF2-40B4-BE49-F238E27FC236}">
                  <a16:creationId xmlns:a16="http://schemas.microsoft.com/office/drawing/2014/main" id="{EC5FC447-C1EE-30FC-A79D-F2A9D19B4AA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70751" y="4274806"/>
              <a:ext cx="1099140" cy="11823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5730AE50-3781-6218-DB73-5B5285A9DBDE}"/>
                </a:ext>
              </a:extLst>
            </p:cNvPr>
            <p:cNvSpPr txBox="1"/>
            <p:nvPr/>
          </p:nvSpPr>
          <p:spPr>
            <a:xfrm>
              <a:off x="2419425" y="4744765"/>
              <a:ext cx="880258" cy="3016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700" dirty="0">
                  <a:latin typeface="프리젠테이션 7 Bold" pitchFamily="2" charset="-127"/>
                  <a:ea typeface="프리젠테이션 7 Bold" pitchFamily="2" charset="-127"/>
                  <a:cs typeface="Arial" panose="020B0604020202020204" pitchFamily="34" charset="0"/>
                </a:rPr>
                <a:t>Activation</a:t>
              </a:r>
            </a:p>
          </p:txBody>
        </p:sp>
        <p:pic>
          <p:nvPicPr>
            <p:cNvPr id="126" name="Picture 34" descr="E:\PNG\화살표\1304 - 복사본.png">
              <a:extLst>
                <a:ext uri="{FF2B5EF4-FFF2-40B4-BE49-F238E27FC236}">
                  <a16:creationId xmlns:a16="http://schemas.microsoft.com/office/drawing/2014/main" id="{5E263F17-85E7-4F4D-8F21-BF4BEC37B5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22773" y="4342114"/>
              <a:ext cx="1039596" cy="11149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ABD66E55-323B-6928-0E13-F4C581E5F248}"/>
                </a:ext>
              </a:extLst>
            </p:cNvPr>
            <p:cNvSpPr txBox="1"/>
            <p:nvPr/>
          </p:nvSpPr>
          <p:spPr>
            <a:xfrm>
              <a:off x="3740534" y="4653561"/>
              <a:ext cx="904428" cy="4640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700" dirty="0">
                  <a:latin typeface="프리젠테이션 7 Bold" pitchFamily="2" charset="-127"/>
                  <a:ea typeface="프리젠테이션 7 Bold" pitchFamily="2" charset="-127"/>
                  <a:cs typeface="Arial" panose="020B0604020202020204" pitchFamily="34" charset="0"/>
                </a:rPr>
                <a:t>Li</a:t>
              </a:r>
            </a:p>
            <a:p>
              <a:pPr algn="ctr"/>
              <a:r>
                <a:rPr lang="en-US" sz="700" dirty="0">
                  <a:latin typeface="프리젠테이션 7 Bold" pitchFamily="2" charset="-127"/>
                  <a:ea typeface="프리젠테이션 7 Bold" pitchFamily="2" charset="-127"/>
                  <a:cs typeface="Arial" panose="020B0604020202020204" pitchFamily="34" charset="0"/>
                </a:rPr>
                <a:t>deposition</a:t>
              </a:r>
            </a:p>
          </p:txBody>
        </p:sp>
        <p:pic>
          <p:nvPicPr>
            <p:cNvPr id="128" name="그림 48">
              <a:extLst>
                <a:ext uri="{FF2B5EF4-FFF2-40B4-BE49-F238E27FC236}">
                  <a16:creationId xmlns:a16="http://schemas.microsoft.com/office/drawing/2014/main" id="{5BB7E39B-D6C7-12BC-83AA-B39D6C718E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696" t="55369" r="32060" b="18589"/>
            <a:stretch/>
          </p:blipFill>
          <p:spPr>
            <a:xfrm rot="5520000">
              <a:off x="4245635" y="4522666"/>
              <a:ext cx="1627317" cy="657707"/>
            </a:xfrm>
            <a:prstGeom prst="rect">
              <a:avLst/>
            </a:prstGeom>
          </p:spPr>
        </p:pic>
        <p:pic>
          <p:nvPicPr>
            <p:cNvPr id="129" name="그림 49">
              <a:extLst>
                <a:ext uri="{FF2B5EF4-FFF2-40B4-BE49-F238E27FC236}">
                  <a16:creationId xmlns:a16="http://schemas.microsoft.com/office/drawing/2014/main" id="{08BFF6B1-24D3-D14F-CA74-193D530FC53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662" t="60262" r="32160" b="19073"/>
            <a:stretch/>
          </p:blipFill>
          <p:spPr>
            <a:xfrm rot="5520000">
              <a:off x="2791381" y="4620012"/>
              <a:ext cx="1619532" cy="520380"/>
            </a:xfrm>
            <a:prstGeom prst="rect">
              <a:avLst/>
            </a:prstGeom>
          </p:spPr>
        </p:pic>
        <p:pic>
          <p:nvPicPr>
            <p:cNvPr id="130" name="그림 50">
              <a:extLst>
                <a:ext uri="{FF2B5EF4-FFF2-40B4-BE49-F238E27FC236}">
                  <a16:creationId xmlns:a16="http://schemas.microsoft.com/office/drawing/2014/main" id="{928989F1-04B5-AF86-9DAC-611C002C30F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476" t="59391" r="32375" b="18926"/>
            <a:stretch/>
          </p:blipFill>
          <p:spPr>
            <a:xfrm rot="5520000">
              <a:off x="1480934" y="4584474"/>
              <a:ext cx="1581371" cy="533552"/>
            </a:xfrm>
            <a:prstGeom prst="rect">
              <a:avLst/>
            </a:prstGeom>
          </p:spPr>
        </p:pic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2C43297D-88BE-A845-423C-E3CFCBBD500F}"/>
                </a:ext>
              </a:extLst>
            </p:cNvPr>
            <p:cNvSpPr txBox="1"/>
            <p:nvPr/>
          </p:nvSpPr>
          <p:spPr>
            <a:xfrm>
              <a:off x="4229831" y="5615716"/>
              <a:ext cx="1539290" cy="3153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solidFill>
                    <a:srgbClr val="C00000"/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Uniform</a:t>
              </a:r>
              <a:r>
                <a:rPr lang="en-US" sz="900" dirty="0"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 Li platting</a:t>
              </a:r>
            </a:p>
          </p:txBody>
        </p: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3AFFD2DC-247D-DFF0-2BBD-1466F5066779}"/>
                </a:ext>
              </a:extLst>
            </p:cNvPr>
            <p:cNvCxnSpPr/>
            <p:nvPr/>
          </p:nvCxnSpPr>
          <p:spPr>
            <a:xfrm>
              <a:off x="3182561" y="4353707"/>
              <a:ext cx="280413" cy="220134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tailEnd type="arrow" w="sm" len="sm"/>
            </a:ln>
            <a:effectLst>
              <a:glow rad="63500">
                <a:schemeClr val="accent5">
                  <a:satMod val="175000"/>
                  <a:alpha val="40000"/>
                </a:schemeClr>
              </a:glow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1E00BB48-C304-DA23-CFED-4C0F59EE6D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52097" y="5296946"/>
              <a:ext cx="259266" cy="209526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tailEnd type="arrow" w="sm" len="sm"/>
            </a:ln>
            <a:effectLst>
              <a:glow rad="63500">
                <a:schemeClr val="accent5">
                  <a:satMod val="175000"/>
                  <a:alpha val="40000"/>
                </a:schemeClr>
              </a:glow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981BB7EF-D6EA-0314-9432-3451EF1C63EF}"/>
                </a:ext>
              </a:extLst>
            </p:cNvPr>
            <p:cNvSpPr txBox="1"/>
            <p:nvPr/>
          </p:nvSpPr>
          <p:spPr>
            <a:xfrm>
              <a:off x="2793257" y="5615716"/>
              <a:ext cx="1675442" cy="3480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>
                  <a:solidFill>
                    <a:srgbClr val="C00000"/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Even</a:t>
              </a:r>
              <a:r>
                <a:rPr lang="en-US" sz="900" dirty="0"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 Li nucleation</a:t>
              </a:r>
            </a:p>
          </p:txBody>
        </p: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6FAFFB8F-C13A-EEEB-0756-86B39A3CDCC9}"/>
                </a:ext>
              </a:extLst>
            </p:cNvPr>
            <p:cNvCxnSpPr>
              <a:cxnSpLocks/>
            </p:cNvCxnSpPr>
            <p:nvPr/>
          </p:nvCxnSpPr>
          <p:spPr>
            <a:xfrm>
              <a:off x="4726132" y="4314477"/>
              <a:ext cx="228028" cy="179010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tailEnd type="arrow" w="sm" len="sm"/>
            </a:ln>
            <a:effectLst>
              <a:glow rad="63500">
                <a:schemeClr val="accent5">
                  <a:satMod val="175000"/>
                  <a:alpha val="40000"/>
                </a:schemeClr>
              </a:glow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C3FDC3EB-68BC-8E76-BB3D-D344FD60EAA2}"/>
                </a:ext>
              </a:extLst>
            </p:cNvPr>
            <p:cNvSpPr txBox="1"/>
            <p:nvPr/>
          </p:nvSpPr>
          <p:spPr>
            <a:xfrm>
              <a:off x="2328748" y="4066214"/>
              <a:ext cx="1211531" cy="2943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 err="1">
                  <a:solidFill>
                    <a:srgbClr val="00B050"/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Lithiophilic</a:t>
              </a:r>
              <a:r>
                <a:rPr lang="en-US" sz="800" dirty="0">
                  <a:solidFill>
                    <a:srgbClr val="00B050"/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 </a:t>
              </a:r>
              <a:r>
                <a:rPr lang="en-US" sz="800" dirty="0" err="1">
                  <a:solidFill>
                    <a:srgbClr val="00B050"/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LiM</a:t>
              </a:r>
              <a:endParaRPr lang="en-US" sz="800" dirty="0">
                <a:solidFill>
                  <a:srgbClr val="00B050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프리젠테이션 9 Black" pitchFamily="2" charset="-127"/>
                <a:ea typeface="프리젠테이션 9 Black" pitchFamily="2" charset="-127"/>
                <a:cs typeface="Arial" panose="020B0604020202020204" pitchFamily="34" charset="0"/>
              </a:endParaRP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D239EEB5-7373-AA0F-DF9A-7A98D691F33C}"/>
                </a:ext>
              </a:extLst>
            </p:cNvPr>
            <p:cNvSpPr txBox="1"/>
            <p:nvPr/>
          </p:nvSpPr>
          <p:spPr>
            <a:xfrm>
              <a:off x="3597361" y="4068987"/>
              <a:ext cx="1325363" cy="4625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800" b="1" dirty="0">
                  <a:effectLst/>
                  <a:latin typeface="프리젠테이션 7 Bold" pitchFamily="2" charset="-127"/>
                  <a:ea typeface="프리젠테이션 7 Bold" pitchFamily="2" charset="-127"/>
                </a:rPr>
                <a:t>균일하고 평탄한 </a:t>
              </a:r>
              <a:r>
                <a:rPr lang="en-US" altLang="ko-KR" sz="800" b="1" dirty="0">
                  <a:effectLst/>
                  <a:latin typeface="프리젠테이션 7 Bold" pitchFamily="2" charset="-127"/>
                  <a:ea typeface="프리젠테이션 7 Bold" pitchFamily="2" charset="-127"/>
                </a:rPr>
                <a:t>Li </a:t>
              </a:r>
              <a:r>
                <a:rPr lang="ko-KR" altLang="en-US" sz="800" b="1" dirty="0">
                  <a:effectLst/>
                  <a:latin typeface="프리젠테이션 7 Bold" pitchFamily="2" charset="-127"/>
                  <a:ea typeface="프리젠테이션 7 Bold" pitchFamily="2" charset="-127"/>
                </a:rPr>
                <a:t>증착층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91C8ED89-732B-3167-9EE6-6E91CE574BD6}"/>
                </a:ext>
              </a:extLst>
            </p:cNvPr>
            <p:cNvSpPr txBox="1"/>
            <p:nvPr/>
          </p:nvSpPr>
          <p:spPr>
            <a:xfrm>
              <a:off x="1963484" y="5942932"/>
              <a:ext cx="2939923" cy="2943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8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 rad="63500">
                      <a:schemeClr val="accent4">
                        <a:satMod val="175000"/>
                        <a:alpha val="40000"/>
                      </a:schemeClr>
                    </a:glow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ea typeface="프리젠테이션 9 Black" pitchFamily="2" charset="-127"/>
                  <a:cs typeface="Arial" panose="020B0604020202020204" pitchFamily="34" charset="0"/>
                </a:rPr>
                <a:t>MF</a:t>
              </a:r>
              <a:r>
                <a:rPr lang="en-US" sz="800" baseline="-250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 rad="63500">
                      <a:schemeClr val="accent4">
                        <a:satMod val="175000"/>
                        <a:alpha val="40000"/>
                      </a:schemeClr>
                    </a:glow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ea typeface="프리젠테이션 9 Black" pitchFamily="2" charset="-127"/>
                  <a:cs typeface="Arial" panose="020B0604020202020204" pitchFamily="34" charset="0"/>
                </a:rPr>
                <a:t>x</a:t>
              </a:r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 rad="63500">
                      <a:schemeClr val="accent4">
                        <a:satMod val="175000"/>
                        <a:alpha val="40000"/>
                      </a:schemeClr>
                    </a:glow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ea typeface="프리젠테이션 9 Black" pitchFamily="2" charset="-127"/>
                  <a:cs typeface="Arial" panose="020B0604020202020204" pitchFamily="34" charset="0"/>
                </a:rPr>
                <a:t>: Metal Fluoride, </a:t>
              </a:r>
              <a:r>
                <a:rPr lang="en-US" sz="8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 rad="63500">
                      <a:schemeClr val="accent4">
                        <a:satMod val="175000"/>
                        <a:alpha val="40000"/>
                      </a:schemeClr>
                    </a:glow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ea typeface="프리젠테이션 9 Black" pitchFamily="2" charset="-127"/>
                  <a:cs typeface="Arial" panose="020B0604020202020204" pitchFamily="34" charset="0"/>
                </a:rPr>
                <a:t>eg.</a:t>
              </a:r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 rad="63500">
                      <a:schemeClr val="accent4">
                        <a:satMod val="175000"/>
                        <a:alpha val="40000"/>
                      </a:schemeClr>
                    </a:glow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ea typeface="프리젠테이션 9 Black" pitchFamily="2" charset="-127"/>
                  <a:cs typeface="Arial" panose="020B0604020202020204" pitchFamily="34" charset="0"/>
                </a:rPr>
                <a:t> ZnF</a:t>
              </a:r>
              <a:r>
                <a:rPr lang="en-US" sz="800" baseline="-250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 rad="63500">
                      <a:schemeClr val="accent4">
                        <a:satMod val="175000"/>
                        <a:alpha val="40000"/>
                      </a:schemeClr>
                    </a:glow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ea typeface="프리젠테이션 9 Black" pitchFamily="2" charset="-127"/>
                  <a:cs typeface="Arial" panose="020B0604020202020204" pitchFamily="34" charset="0"/>
                </a:rPr>
                <a:t>2</a:t>
              </a:r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 rad="63500">
                      <a:schemeClr val="accent4">
                        <a:satMod val="175000"/>
                        <a:alpha val="40000"/>
                      </a:schemeClr>
                    </a:glow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ea typeface="프리젠테이션 9 Black" pitchFamily="2" charset="-127"/>
                  <a:cs typeface="Arial" panose="020B0604020202020204" pitchFamily="34" charset="0"/>
                </a:rPr>
                <a:t>, MgF</a:t>
              </a:r>
              <a:r>
                <a:rPr lang="en-US" sz="800" baseline="-250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 rad="63500">
                      <a:schemeClr val="accent4">
                        <a:satMod val="175000"/>
                        <a:alpha val="40000"/>
                      </a:schemeClr>
                    </a:glow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ea typeface="프리젠테이션 9 Black" pitchFamily="2" charset="-127"/>
                  <a:cs typeface="Arial" panose="020B0604020202020204" pitchFamily="34" charset="0"/>
                </a:rPr>
                <a:t>2</a:t>
              </a:r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 rad="63500">
                      <a:schemeClr val="accent4">
                        <a:satMod val="175000"/>
                        <a:alpha val="40000"/>
                      </a:schemeClr>
                    </a:glow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ea typeface="프리젠테이션 9 Black" pitchFamily="2" charset="-127"/>
                  <a:cs typeface="Arial" panose="020B0604020202020204" pitchFamily="34" charset="0"/>
                </a:rPr>
                <a:t> </a:t>
              </a:r>
              <a:r>
                <a:rPr lang="en-US" sz="8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 rad="63500">
                      <a:schemeClr val="accent4">
                        <a:satMod val="175000"/>
                        <a:alpha val="40000"/>
                      </a:schemeClr>
                    </a:glow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ea typeface="프리젠테이션 9 Black" pitchFamily="2" charset="-127"/>
                  <a:cs typeface="Arial" panose="020B0604020202020204" pitchFamily="34" charset="0"/>
                </a:rPr>
                <a:t>etc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39" name="Rectangle 138">
            <a:extLst>
              <a:ext uri="{FF2B5EF4-FFF2-40B4-BE49-F238E27FC236}">
                <a16:creationId xmlns:a16="http://schemas.microsoft.com/office/drawing/2014/main" id="{3D54C0FF-E418-5003-58F2-1F9C4C66052C}"/>
              </a:ext>
            </a:extLst>
          </p:cNvPr>
          <p:cNvSpPr/>
          <p:nvPr/>
        </p:nvSpPr>
        <p:spPr>
          <a:xfrm>
            <a:off x="9306000" y="3267934"/>
            <a:ext cx="1368000" cy="927089"/>
          </a:xfrm>
          <a:prstGeom prst="rect">
            <a:avLst/>
          </a:prstGeom>
          <a:solidFill>
            <a:srgbClr val="F3E5F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9" name="Picture 278" descr="A diagram of different types of material&#10;&#10;AI-generated content may be incorrect.">
            <a:extLst>
              <a:ext uri="{FF2B5EF4-FFF2-40B4-BE49-F238E27FC236}">
                <a16:creationId xmlns:a16="http://schemas.microsoft.com/office/drawing/2014/main" id="{CD528283-5E71-6F9F-4578-80AAC1A6921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28284" y="655700"/>
            <a:ext cx="2798428" cy="2732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760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BD4D39E-E3D6-2AE0-2D2C-ED41279674B7}"/>
              </a:ext>
            </a:extLst>
          </p:cNvPr>
          <p:cNvSpPr/>
          <p:nvPr/>
        </p:nvSpPr>
        <p:spPr>
          <a:xfrm>
            <a:off x="90000" y="378000"/>
            <a:ext cx="2772000" cy="514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그림 45">
            <a:extLst>
              <a:ext uri="{FF2B5EF4-FFF2-40B4-BE49-F238E27FC236}">
                <a16:creationId xmlns:a16="http://schemas.microsoft.com/office/drawing/2014/main" id="{25D6E490-F297-AE08-4562-F36D6F5EF69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070" t="1" r="1" b="37786"/>
          <a:stretch/>
        </p:blipFill>
        <p:spPr>
          <a:xfrm>
            <a:off x="140334" y="2670260"/>
            <a:ext cx="1280362" cy="1254211"/>
          </a:xfrm>
          <a:prstGeom prst="rect">
            <a:avLst/>
          </a:prstGeom>
        </p:spPr>
      </p:pic>
      <p:sp>
        <p:nvSpPr>
          <p:cNvPr id="120" name="Rectangle 119">
            <a:extLst>
              <a:ext uri="{FF2B5EF4-FFF2-40B4-BE49-F238E27FC236}">
                <a16:creationId xmlns:a16="http://schemas.microsoft.com/office/drawing/2014/main" id="{D4B490A6-7650-5FAA-5D2A-DE450D536BC6}"/>
              </a:ext>
            </a:extLst>
          </p:cNvPr>
          <p:cNvSpPr/>
          <p:nvPr/>
        </p:nvSpPr>
        <p:spPr>
          <a:xfrm>
            <a:off x="108000" y="666001"/>
            <a:ext cx="2736000" cy="1929600"/>
          </a:xfrm>
          <a:prstGeom prst="rect">
            <a:avLst/>
          </a:prstGeom>
          <a:solidFill>
            <a:srgbClr val="E1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CA2E6E-4107-F9CD-9C9B-42EE6CF15797}"/>
              </a:ext>
            </a:extLst>
          </p:cNvPr>
          <p:cNvSpPr/>
          <p:nvPr/>
        </p:nvSpPr>
        <p:spPr>
          <a:xfrm>
            <a:off x="3114000" y="378000"/>
            <a:ext cx="2772000" cy="514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303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A6B895-D012-03EB-FAF5-F42C238DC9BD}"/>
              </a:ext>
            </a:extLst>
          </p:cNvPr>
          <p:cNvSpPr/>
          <p:nvPr/>
        </p:nvSpPr>
        <p:spPr>
          <a:xfrm>
            <a:off x="6138000" y="378000"/>
            <a:ext cx="2916000" cy="514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A115C1-A606-6EA3-FD70-50C1F72D075B}"/>
              </a:ext>
            </a:extLst>
          </p:cNvPr>
          <p:cNvSpPr/>
          <p:nvPr/>
        </p:nvSpPr>
        <p:spPr>
          <a:xfrm>
            <a:off x="90000" y="378000"/>
            <a:ext cx="2772000" cy="270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E7876D-BD67-166A-5125-E873885E8450}"/>
              </a:ext>
            </a:extLst>
          </p:cNvPr>
          <p:cNvSpPr/>
          <p:nvPr/>
        </p:nvSpPr>
        <p:spPr>
          <a:xfrm>
            <a:off x="3114000" y="378000"/>
            <a:ext cx="2772000" cy="270000"/>
          </a:xfrm>
          <a:prstGeom prst="rect">
            <a:avLst/>
          </a:prstGeom>
          <a:solidFill>
            <a:srgbClr val="303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2A5D2B-A5CC-8941-B848-DAFC25E05D9A}"/>
              </a:ext>
            </a:extLst>
          </p:cNvPr>
          <p:cNvSpPr/>
          <p:nvPr/>
        </p:nvSpPr>
        <p:spPr>
          <a:xfrm>
            <a:off x="6138000" y="378000"/>
            <a:ext cx="2916000" cy="27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0D814B-86E1-244C-AB3B-B9993C05AEEC}"/>
              </a:ext>
            </a:extLst>
          </p:cNvPr>
          <p:cNvSpPr txBox="1"/>
          <p:nvPr/>
        </p:nvSpPr>
        <p:spPr>
          <a:xfrm>
            <a:off x="90000" y="399600"/>
            <a:ext cx="2772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dirty="0" err="1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문제</a:t>
            </a:r>
            <a:r>
              <a:rPr sz="900" b="1" dirty="0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 : </a:t>
            </a:r>
            <a:r>
              <a:rPr sz="900" b="1" dirty="0" err="1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불균일</a:t>
            </a:r>
            <a:r>
              <a:rPr sz="900" b="1" dirty="0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 Li </a:t>
            </a:r>
            <a:r>
              <a:rPr sz="900" b="1" dirty="0" err="1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핵생성</a:t>
            </a:r>
            <a:r>
              <a:rPr sz="900" b="1" dirty="0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 및 </a:t>
            </a:r>
            <a:r>
              <a:rPr sz="900" b="1" dirty="0" err="1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덴드라이트</a:t>
            </a:r>
            <a:endParaRPr sz="900" b="1" dirty="0">
              <a:solidFill>
                <a:srgbClr val="FFFFFF"/>
              </a:solidFill>
              <a:latin typeface="에스코어 드림 7 ExtraBold" panose="020B0803030302020204" pitchFamily="34" charset="-127"/>
              <a:ea typeface="에스코어 드림 7 ExtraBold" panose="020B0803030302020204" pitchFamily="34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51C129-3F40-68D2-2965-2D7666001C74}"/>
              </a:ext>
            </a:extLst>
          </p:cNvPr>
          <p:cNvSpPr txBox="1"/>
          <p:nvPr/>
        </p:nvSpPr>
        <p:spPr>
          <a:xfrm>
            <a:off x="3114000" y="399600"/>
            <a:ext cx="2772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Metal</a:t>
            </a:r>
            <a:r>
              <a:rPr lang="ko-KR" altLang="en-US" sz="900" b="1" dirty="0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 </a:t>
            </a:r>
            <a:r>
              <a:rPr lang="en-US" altLang="ko-KR" sz="900" b="1" dirty="0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Fluoride</a:t>
            </a:r>
            <a:r>
              <a:rPr lang="ko-KR" altLang="en-US" sz="900" b="1" dirty="0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 </a:t>
            </a:r>
            <a:r>
              <a:rPr sz="900" b="1" dirty="0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ALD </a:t>
            </a:r>
            <a:r>
              <a:rPr sz="900" b="1" dirty="0" err="1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증착</a:t>
            </a:r>
            <a:endParaRPr sz="900" b="1" dirty="0">
              <a:solidFill>
                <a:srgbClr val="FFFFFF"/>
              </a:solidFill>
              <a:latin typeface="에스코어 드림 7 ExtraBold" panose="020B0803030302020204" pitchFamily="34" charset="-127"/>
              <a:ea typeface="에스코어 드림 7 ExtraBold" panose="020B0803030302020204" pitchFamily="34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9B2EA1-B191-F604-30D2-2EB2C601EF06}"/>
              </a:ext>
            </a:extLst>
          </p:cNvPr>
          <p:cNvSpPr txBox="1"/>
          <p:nvPr/>
        </p:nvSpPr>
        <p:spPr>
          <a:xfrm>
            <a:off x="6138000" y="399600"/>
            <a:ext cx="2916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dirty="0" err="1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해결</a:t>
            </a:r>
            <a:r>
              <a:rPr sz="900" b="1" dirty="0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 : </a:t>
            </a:r>
            <a:r>
              <a:rPr sz="900" b="1" dirty="0" err="1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균일</a:t>
            </a:r>
            <a:r>
              <a:rPr sz="900" b="1" dirty="0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 Li </a:t>
            </a:r>
            <a:r>
              <a:rPr sz="900" b="1" dirty="0" err="1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핵생성</a:t>
            </a:r>
            <a:r>
              <a:rPr sz="900" b="1" dirty="0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 및 </a:t>
            </a:r>
            <a:r>
              <a:rPr sz="900" b="1" dirty="0" err="1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평탄한</a:t>
            </a:r>
            <a:r>
              <a:rPr sz="900" b="1" dirty="0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 </a:t>
            </a:r>
            <a:r>
              <a:rPr sz="900" b="1" dirty="0" err="1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증착</a:t>
            </a:r>
            <a:endParaRPr sz="900" b="1" dirty="0">
              <a:solidFill>
                <a:srgbClr val="FFFFFF"/>
              </a:solidFill>
              <a:latin typeface="에스코어 드림 7 ExtraBold" panose="020B0803030302020204" pitchFamily="34" charset="-127"/>
              <a:ea typeface="에스코어 드림 7 ExtraBold" panose="020B0803030302020204" pitchFamily="34" charset="-127"/>
            </a:endParaRPr>
          </a:p>
        </p:txBody>
      </p:sp>
      <p:cxnSp>
        <p:nvCxnSpPr>
          <p:cNvPr id="13" name="Connector 12">
            <a:extLst>
              <a:ext uri="{FF2B5EF4-FFF2-40B4-BE49-F238E27FC236}">
                <a16:creationId xmlns:a16="http://schemas.microsoft.com/office/drawing/2014/main" id="{1F4C3C94-B6F8-075A-D3DC-BB516D32B6F0}"/>
              </a:ext>
            </a:extLst>
          </p:cNvPr>
          <p:cNvCxnSpPr/>
          <p:nvPr/>
        </p:nvCxnSpPr>
        <p:spPr>
          <a:xfrm>
            <a:off x="2880000" y="2334240"/>
            <a:ext cx="216000" cy="0"/>
          </a:xfrm>
          <a:prstGeom prst="line">
            <a:avLst/>
          </a:prstGeom>
          <a:ln w="38100">
            <a:solidFill>
              <a:srgbClr val="303F9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>
            <a:extLst>
              <a:ext uri="{FF2B5EF4-FFF2-40B4-BE49-F238E27FC236}">
                <a16:creationId xmlns:a16="http://schemas.microsoft.com/office/drawing/2014/main" id="{3BB49A8A-FB05-214E-2B16-FB1C30F5A7D0}"/>
              </a:ext>
            </a:extLst>
          </p:cNvPr>
          <p:cNvCxnSpPr/>
          <p:nvPr/>
        </p:nvCxnSpPr>
        <p:spPr>
          <a:xfrm>
            <a:off x="5904000" y="2334240"/>
            <a:ext cx="216000" cy="0"/>
          </a:xfrm>
          <a:prstGeom prst="line">
            <a:avLst/>
          </a:prstGeom>
          <a:ln w="38100">
            <a:solidFill>
              <a:srgbClr val="2E7D32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DEBE649B-3C80-CC33-3C4B-7927AA938B60}"/>
              </a:ext>
            </a:extLst>
          </p:cNvPr>
          <p:cNvSpPr/>
          <p:nvPr/>
        </p:nvSpPr>
        <p:spPr>
          <a:xfrm>
            <a:off x="104598" y="4597874"/>
            <a:ext cx="2736000" cy="846000"/>
          </a:xfrm>
          <a:prstGeom prst="rect">
            <a:avLst/>
          </a:prstGeom>
          <a:solidFill>
            <a:srgbClr val="FFEBEE"/>
          </a:solidFill>
          <a:ln w="63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C4F054E-90A8-1D5B-83BF-07EE9ABE1F67}"/>
              </a:ext>
            </a:extLst>
          </p:cNvPr>
          <p:cNvSpPr txBox="1"/>
          <p:nvPr/>
        </p:nvSpPr>
        <p:spPr>
          <a:xfrm>
            <a:off x="140598" y="4633874"/>
            <a:ext cx="2646000" cy="747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0488" indent="-90488" algn="l">
              <a:lnSpc>
                <a:spcPts val="1300"/>
              </a:lnSpc>
              <a:buFont typeface="Arial" panose="020B0604020202020204" pitchFamily="34" charset="0"/>
              <a:buChar char="•"/>
            </a:pP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Cu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집전체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위 ALD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코팅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없이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Li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전착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시</a:t>
            </a:r>
          </a:p>
          <a:p>
            <a:pPr marL="90488" indent="-90488" algn="l">
              <a:lnSpc>
                <a:spcPts val="1300"/>
              </a:lnSpc>
              <a:buFont typeface="Arial" panose="020B0604020202020204" pitchFamily="34" charset="0"/>
              <a:buChar char="•"/>
            </a:pP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핵생성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과전압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불균일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→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덴드라이트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성장</a:t>
            </a:r>
            <a:endParaRPr sz="850" dirty="0">
              <a:solidFill>
                <a:srgbClr val="B71C1C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90488" indent="-90488" algn="l">
              <a:lnSpc>
                <a:spcPts val="1300"/>
              </a:lnSpc>
              <a:buFont typeface="Arial" panose="020B0604020202020204" pitchFamily="34" charset="0"/>
              <a:buChar char="•"/>
            </a:pP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두껍고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불균일한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SEI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형성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반복</a:t>
            </a:r>
            <a:endParaRPr sz="850" dirty="0">
              <a:solidFill>
                <a:srgbClr val="B71C1C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90488" indent="-90488" algn="l">
              <a:lnSpc>
                <a:spcPts val="1300"/>
              </a:lnSpc>
              <a:buFont typeface="Arial" panose="020B0604020202020204" pitchFamily="34" charset="0"/>
              <a:buChar char="•"/>
            </a:pP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쿨롱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효율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저하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및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내부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단락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(short)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위험</a:t>
            </a:r>
            <a:endParaRPr sz="850" dirty="0">
              <a:solidFill>
                <a:srgbClr val="B71C1C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EAB40EF-34C4-97B2-3792-E80E76E4BFF3}"/>
              </a:ext>
            </a:extLst>
          </p:cNvPr>
          <p:cNvSpPr/>
          <p:nvPr/>
        </p:nvSpPr>
        <p:spPr>
          <a:xfrm>
            <a:off x="3136233" y="640400"/>
            <a:ext cx="2736000" cy="2757685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0A4BF24-C596-12F2-14DE-4B04F77DB1D6}"/>
              </a:ext>
            </a:extLst>
          </p:cNvPr>
          <p:cNvSpPr/>
          <p:nvPr/>
        </p:nvSpPr>
        <p:spPr>
          <a:xfrm>
            <a:off x="437747" y="5482800"/>
            <a:ext cx="2736000" cy="809865"/>
          </a:xfrm>
          <a:prstGeom prst="rect">
            <a:avLst/>
          </a:prstGeom>
          <a:solidFill>
            <a:srgbClr val="E8EAF6"/>
          </a:solidFill>
          <a:ln w="6350">
            <a:solidFill>
              <a:srgbClr val="7B8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9E20D1C-BB22-70AB-8AAB-084F79965890}"/>
              </a:ext>
            </a:extLst>
          </p:cNvPr>
          <p:cNvSpPr txBox="1"/>
          <p:nvPr/>
        </p:nvSpPr>
        <p:spPr>
          <a:xfrm>
            <a:off x="2522497" y="5996719"/>
            <a:ext cx="2092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dirty="0" err="1">
                <a:solidFill>
                  <a:srgbClr val="6A1B9A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박막</a:t>
            </a:r>
            <a:r>
              <a:rPr sz="900" dirty="0">
                <a:solidFill>
                  <a:srgbClr val="6A1B9A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 </a:t>
            </a:r>
            <a:r>
              <a:rPr sz="900" dirty="0" err="1">
                <a:solidFill>
                  <a:srgbClr val="6A1B9A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형성</a:t>
            </a:r>
            <a:r>
              <a:rPr sz="900" dirty="0">
                <a:solidFill>
                  <a:srgbClr val="6A1B9A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 </a:t>
            </a:r>
            <a:r>
              <a:rPr sz="900" dirty="0" err="1">
                <a:solidFill>
                  <a:srgbClr val="6A1B9A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단면</a:t>
            </a:r>
            <a:r>
              <a:rPr sz="900" dirty="0">
                <a:solidFill>
                  <a:srgbClr val="6A1B9A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 </a:t>
            </a:r>
            <a:r>
              <a:rPr sz="900" dirty="0" err="1">
                <a:solidFill>
                  <a:srgbClr val="6A1B9A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모식도</a:t>
            </a:r>
            <a:endParaRPr sz="900" dirty="0">
              <a:solidFill>
                <a:srgbClr val="6A1B9A"/>
              </a:solidFill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FD677B1E-D63C-968B-33F8-6CFC52281619}"/>
              </a:ext>
            </a:extLst>
          </p:cNvPr>
          <p:cNvSpPr/>
          <p:nvPr/>
        </p:nvSpPr>
        <p:spPr>
          <a:xfrm>
            <a:off x="3103200" y="4566838"/>
            <a:ext cx="2736000" cy="846000"/>
          </a:xfrm>
          <a:prstGeom prst="rect">
            <a:avLst/>
          </a:prstGeom>
          <a:solidFill>
            <a:srgbClr val="EEEEFF"/>
          </a:solidFill>
          <a:ln w="6350">
            <a:solidFill>
              <a:srgbClr val="303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1791737-B16C-0B42-F941-0C58A9CEADEB}"/>
              </a:ext>
            </a:extLst>
          </p:cNvPr>
          <p:cNvSpPr txBox="1"/>
          <p:nvPr/>
        </p:nvSpPr>
        <p:spPr>
          <a:xfrm>
            <a:off x="3146400" y="4602838"/>
            <a:ext cx="2664000" cy="747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0488" indent="-90488" algn="l">
              <a:lnSpc>
                <a:spcPts val="1300"/>
              </a:lnSpc>
              <a:buFont typeface="Arial" panose="020B0604020202020204" pitchFamily="34" charset="0"/>
              <a:buChar char="•"/>
            </a:pP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ZnF</a:t>
            </a:r>
            <a:r>
              <a:rPr sz="850" dirty="0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₂ ALD: DEZ + </a:t>
            </a: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HF·py</a:t>
            </a:r>
            <a:r>
              <a:rPr sz="850" dirty="0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전구체</a:t>
            </a:r>
            <a:r>
              <a:rPr sz="850" dirty="0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조합</a:t>
            </a:r>
            <a:endParaRPr sz="850" dirty="0">
              <a:solidFill>
                <a:srgbClr val="1A237E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90488" indent="-90488" algn="l">
              <a:lnSpc>
                <a:spcPts val="1300"/>
              </a:lnSpc>
              <a:buFont typeface="Arial" panose="020B0604020202020204" pitchFamily="34" charset="0"/>
              <a:buChar char="•"/>
            </a:pP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자기제한적</a:t>
            </a:r>
            <a:r>
              <a:rPr sz="850" dirty="0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(self-limiting) </a:t>
            </a: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표면</a:t>
            </a:r>
            <a:r>
              <a:rPr sz="850" dirty="0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반응</a:t>
            </a:r>
            <a:endParaRPr sz="850" dirty="0">
              <a:solidFill>
                <a:srgbClr val="1A237E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90488" indent="-90488" algn="l">
              <a:lnSpc>
                <a:spcPts val="1300"/>
              </a:lnSpc>
              <a:buFont typeface="Arial" panose="020B0604020202020204" pitchFamily="34" charset="0"/>
              <a:buChar char="•"/>
            </a:pP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기판</a:t>
            </a:r>
            <a:r>
              <a:rPr sz="850" dirty="0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온도</a:t>
            </a:r>
            <a:r>
              <a:rPr sz="850" dirty="0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50~200°C, Å </a:t>
            </a: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수준</a:t>
            </a:r>
            <a:r>
              <a:rPr sz="850" dirty="0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두께</a:t>
            </a:r>
            <a:r>
              <a:rPr sz="850" dirty="0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제어</a:t>
            </a:r>
            <a:endParaRPr sz="850" dirty="0">
              <a:solidFill>
                <a:srgbClr val="1A237E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90488" indent="-90488" algn="l">
              <a:lnSpc>
                <a:spcPts val="1300"/>
              </a:lnSpc>
              <a:buFont typeface="Arial" panose="020B0604020202020204" pitchFamily="34" charset="0"/>
              <a:buChar char="•"/>
            </a:pP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결과</a:t>
            </a:r>
            <a:r>
              <a:rPr sz="850" dirty="0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균일·공형</a:t>
            </a:r>
            <a:r>
              <a:rPr sz="850" dirty="0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(conformal) </a:t>
            </a: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불화물</a:t>
            </a:r>
            <a:r>
              <a:rPr sz="850" dirty="0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박막</a:t>
            </a:r>
            <a:endParaRPr sz="850" dirty="0">
              <a:solidFill>
                <a:srgbClr val="1A237E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BDCE7FD5-69A3-BDE1-68A6-0C8B7C82BB60}"/>
              </a:ext>
            </a:extLst>
          </p:cNvPr>
          <p:cNvSpPr/>
          <p:nvPr/>
        </p:nvSpPr>
        <p:spPr>
          <a:xfrm>
            <a:off x="6156000" y="666000"/>
            <a:ext cx="2880000" cy="1951335"/>
          </a:xfrm>
          <a:prstGeom prst="rect">
            <a:avLst/>
          </a:prstGeom>
          <a:solidFill>
            <a:srgbClr val="E1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D47A79E7-46EB-6A61-276E-83053BE1E607}"/>
              </a:ext>
            </a:extLst>
          </p:cNvPr>
          <p:cNvSpPr/>
          <p:nvPr/>
        </p:nvSpPr>
        <p:spPr>
          <a:xfrm>
            <a:off x="6156000" y="3150000"/>
            <a:ext cx="2880000" cy="846000"/>
          </a:xfrm>
          <a:prstGeom prst="rect">
            <a:avLst/>
          </a:prstGeom>
          <a:solidFill>
            <a:srgbClr val="E8F5E9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64A66C92-8138-30E4-AB7F-FD073B86A6AA}"/>
              </a:ext>
            </a:extLst>
          </p:cNvPr>
          <p:cNvSpPr txBox="1"/>
          <p:nvPr/>
        </p:nvSpPr>
        <p:spPr>
          <a:xfrm>
            <a:off x="6192000" y="3186000"/>
            <a:ext cx="2790000" cy="747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ts val="1300"/>
              </a:lnSpc>
              <a:buFont typeface="Arial" panose="020B0604020202020204" pitchFamily="34" charset="0"/>
              <a:buChar char="•"/>
            </a:pPr>
            <a:r>
              <a:rPr sz="850" dirty="0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ALD </a:t>
            </a:r>
            <a:r>
              <a:rPr sz="850" dirty="0" err="1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불화물</a:t>
            </a:r>
            <a:r>
              <a:rPr sz="850" dirty="0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850" dirty="0" err="1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인공</a:t>
            </a:r>
            <a:r>
              <a:rPr sz="850" dirty="0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SEI </a:t>
            </a:r>
            <a:r>
              <a:rPr sz="850" dirty="0" err="1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형성</a:t>
            </a:r>
            <a:r>
              <a:rPr sz="850" dirty="0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후 Li </a:t>
            </a:r>
            <a:r>
              <a:rPr sz="850" dirty="0" err="1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전착</a:t>
            </a:r>
            <a:endParaRPr sz="850" dirty="0">
              <a:solidFill>
                <a:srgbClr val="1B5E2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171450" indent="-171450" algn="l">
              <a:lnSpc>
                <a:spcPts val="1300"/>
              </a:lnSpc>
              <a:buFont typeface="Arial" panose="020B0604020202020204" pitchFamily="34" charset="0"/>
              <a:buChar char="•"/>
            </a:pPr>
            <a:r>
              <a:rPr sz="850" dirty="0" err="1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균일</a:t>
            </a:r>
            <a:r>
              <a:rPr sz="850" dirty="0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850" dirty="0" err="1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핵생성</a:t>
            </a:r>
            <a:r>
              <a:rPr sz="850" dirty="0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→ </a:t>
            </a:r>
            <a:r>
              <a:rPr sz="850" dirty="0" err="1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조밀·평탄한</a:t>
            </a:r>
            <a:r>
              <a:rPr sz="850" dirty="0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Li </a:t>
            </a:r>
            <a:r>
              <a:rPr sz="850" dirty="0" err="1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증착</a:t>
            </a:r>
            <a:endParaRPr sz="850" dirty="0">
              <a:solidFill>
                <a:srgbClr val="1B5E2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171450" indent="-171450" algn="l">
              <a:lnSpc>
                <a:spcPts val="1300"/>
              </a:lnSpc>
              <a:buFont typeface="Arial" panose="020B0604020202020204" pitchFamily="34" charset="0"/>
              <a:buChar char="•"/>
            </a:pPr>
            <a:r>
              <a:rPr sz="850" dirty="0" err="1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덴드라이트</a:t>
            </a:r>
            <a:r>
              <a:rPr sz="850" dirty="0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850" dirty="0" err="1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억제</a:t>
            </a:r>
            <a:r>
              <a:rPr sz="850" dirty="0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SEI </a:t>
            </a:r>
            <a:r>
              <a:rPr sz="850" dirty="0" err="1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두께·조성</a:t>
            </a:r>
            <a:r>
              <a:rPr sz="850" dirty="0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850" dirty="0" err="1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정밀</a:t>
            </a:r>
            <a:r>
              <a:rPr sz="850" dirty="0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850" dirty="0" err="1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제어</a:t>
            </a:r>
            <a:endParaRPr sz="850" dirty="0">
              <a:solidFill>
                <a:srgbClr val="1B5E2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171450" indent="-171450" algn="l">
              <a:lnSpc>
                <a:spcPts val="1300"/>
              </a:lnSpc>
              <a:buFont typeface="Arial" panose="020B0604020202020204" pitchFamily="34" charset="0"/>
              <a:buChar char="•"/>
            </a:pPr>
            <a:r>
              <a:rPr sz="850" dirty="0" err="1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목표</a:t>
            </a:r>
            <a:r>
              <a:rPr sz="850" dirty="0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CE &gt;99.5%, </a:t>
            </a:r>
            <a:r>
              <a:rPr sz="850" dirty="0" err="1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용량유지율</a:t>
            </a:r>
            <a:r>
              <a:rPr sz="850" dirty="0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&gt;80% (300 cy.)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CC06427F-FC70-0E32-4DBC-BDF94F90528E}"/>
              </a:ext>
            </a:extLst>
          </p:cNvPr>
          <p:cNvSpPr/>
          <p:nvPr/>
        </p:nvSpPr>
        <p:spPr>
          <a:xfrm>
            <a:off x="0" y="5551200"/>
            <a:ext cx="9144000" cy="2880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83BC33A1-639E-B645-8A9B-324BF7079ACB}"/>
              </a:ext>
            </a:extLst>
          </p:cNvPr>
          <p:cNvGrpSpPr/>
          <p:nvPr/>
        </p:nvGrpSpPr>
        <p:grpSpPr>
          <a:xfrm>
            <a:off x="124659" y="945294"/>
            <a:ext cx="2659224" cy="1416401"/>
            <a:chOff x="1932819" y="987409"/>
            <a:chExt cx="3559230" cy="1895777"/>
          </a:xfrm>
        </p:grpSpPr>
        <p:pic>
          <p:nvPicPr>
            <p:cNvPr id="62" name="Picture 7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BB89BB7E-8636-6588-9284-52FB8F16A36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133" t="37899" r="16806" b="12022"/>
            <a:stretch/>
          </p:blipFill>
          <p:spPr>
            <a:xfrm rot="5520000">
              <a:off x="1433172" y="1571518"/>
              <a:ext cx="1548270" cy="548976"/>
            </a:xfrm>
            <a:prstGeom prst="rect">
              <a:avLst/>
            </a:prstGeom>
          </p:spPr>
        </p:pic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339B42A4-4B11-4BBB-B878-1210364EBEF1}"/>
                </a:ext>
              </a:extLst>
            </p:cNvPr>
            <p:cNvSpPr txBox="1"/>
            <p:nvPr/>
          </p:nvSpPr>
          <p:spPr>
            <a:xfrm>
              <a:off x="2003738" y="2570561"/>
              <a:ext cx="433828" cy="3089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>
                  <a:solidFill>
                    <a:schemeClr val="accent2">
                      <a:lumMod val="75000"/>
                    </a:schemeClr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Cu</a:t>
              </a:r>
            </a:p>
          </p:txBody>
        </p:sp>
        <p:pic>
          <p:nvPicPr>
            <p:cNvPr id="64" name="Picture 56" descr="A picture containing tool, brush&#10;&#10;Description automatically generated">
              <a:extLst>
                <a:ext uri="{FF2B5EF4-FFF2-40B4-BE49-F238E27FC236}">
                  <a16:creationId xmlns:a16="http://schemas.microsoft.com/office/drawing/2014/main" id="{318E64E8-CF5D-4BE3-9D2E-E62A3FB0973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520000">
              <a:off x="4185099" y="1520224"/>
              <a:ext cx="1839765" cy="774135"/>
            </a:xfrm>
            <a:prstGeom prst="rect">
              <a:avLst/>
            </a:prstGeom>
          </p:spPr>
        </p:pic>
        <p:pic>
          <p:nvPicPr>
            <p:cNvPr id="65" name="Picture 1077" descr="A round orange object with white specks on it&#10;&#10;Description automatically generated">
              <a:extLst>
                <a:ext uri="{FF2B5EF4-FFF2-40B4-BE49-F238E27FC236}">
                  <a16:creationId xmlns:a16="http://schemas.microsoft.com/office/drawing/2014/main" id="{010D41E6-B66F-14CC-CE4B-0EF25559041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566" t="53983" r="27720" b="14461"/>
            <a:stretch/>
          </p:blipFill>
          <p:spPr>
            <a:xfrm rot="5520000">
              <a:off x="2733709" y="1519658"/>
              <a:ext cx="1755308" cy="746947"/>
            </a:xfrm>
            <a:prstGeom prst="rect">
              <a:avLst/>
            </a:prstGeom>
          </p:spPr>
        </p:pic>
        <p:pic>
          <p:nvPicPr>
            <p:cNvPr id="66" name="Picture 1078" descr="E:\PNG\화살표\1304 - 복사본.png">
              <a:extLst>
                <a:ext uri="{FF2B5EF4-FFF2-40B4-BE49-F238E27FC236}">
                  <a16:creationId xmlns:a16="http://schemas.microsoft.com/office/drawing/2014/main" id="{BB1E9E80-1042-4CEB-5FB9-D2BA00B68A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64624" y="1313064"/>
              <a:ext cx="1039596" cy="11149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049C51C4-4332-AF1F-4437-EFC60CA7CBA7}"/>
                </a:ext>
              </a:extLst>
            </p:cNvPr>
            <p:cNvSpPr txBox="1"/>
            <p:nvPr/>
          </p:nvSpPr>
          <p:spPr>
            <a:xfrm>
              <a:off x="2353099" y="1629719"/>
              <a:ext cx="953045" cy="494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00" dirty="0">
                  <a:latin typeface="프리젠테이션 7 Bold" pitchFamily="2" charset="-127"/>
                  <a:ea typeface="프리젠테이션 7 Bold" pitchFamily="2" charset="-127"/>
                  <a:cs typeface="Arial" panose="020B0604020202020204" pitchFamily="34" charset="0"/>
                </a:rPr>
                <a:t>Li</a:t>
              </a:r>
            </a:p>
            <a:p>
              <a:pPr algn="ctr"/>
              <a:r>
                <a:rPr lang="en-US" sz="900" dirty="0">
                  <a:latin typeface="프리젠테이션 7 Bold" pitchFamily="2" charset="-127"/>
                  <a:ea typeface="프리젠테이션 7 Bold" pitchFamily="2" charset="-127"/>
                  <a:cs typeface="Arial" panose="020B0604020202020204" pitchFamily="34" charset="0"/>
                </a:rPr>
                <a:t>nucleation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168FCD10-E2A6-8974-65FE-45F7705B39C0}"/>
                </a:ext>
              </a:extLst>
            </p:cNvPr>
            <p:cNvSpPr txBox="1"/>
            <p:nvPr/>
          </p:nvSpPr>
          <p:spPr>
            <a:xfrm>
              <a:off x="2641246" y="2574230"/>
              <a:ext cx="1671800" cy="3089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>
                  <a:solidFill>
                    <a:srgbClr val="C00000"/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Uneven</a:t>
              </a:r>
              <a:r>
                <a:rPr lang="en-US" sz="900" dirty="0"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 Li nucleation</a:t>
              </a:r>
            </a:p>
          </p:txBody>
        </p:sp>
        <p:pic>
          <p:nvPicPr>
            <p:cNvPr id="69" name="Picture 24" descr="E:\PNG\화살표\1304 - 복사본.png">
              <a:extLst>
                <a:ext uri="{FF2B5EF4-FFF2-40B4-BE49-F238E27FC236}">
                  <a16:creationId xmlns:a16="http://schemas.microsoft.com/office/drawing/2014/main" id="{5D76C693-8F1A-7CF2-181C-94120FB2A9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12575" y="1349793"/>
              <a:ext cx="1039596" cy="11149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4CE7B78F-AF5E-D5A5-D96F-87D37F2316EA}"/>
                </a:ext>
              </a:extLst>
            </p:cNvPr>
            <p:cNvSpPr txBox="1"/>
            <p:nvPr/>
          </p:nvSpPr>
          <p:spPr>
            <a:xfrm>
              <a:off x="3703125" y="1655118"/>
              <a:ext cx="959483" cy="494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00" dirty="0">
                  <a:latin typeface="프리젠테이션 7 Bold" pitchFamily="2" charset="-127"/>
                  <a:ea typeface="프리젠테이션 7 Bold" pitchFamily="2" charset="-127"/>
                  <a:cs typeface="Arial" panose="020B0604020202020204" pitchFamily="34" charset="0"/>
                </a:rPr>
                <a:t>Li</a:t>
              </a:r>
            </a:p>
            <a:p>
              <a:pPr algn="ctr"/>
              <a:r>
                <a:rPr lang="en-US" sz="900" dirty="0">
                  <a:latin typeface="프리젠테이션 7 Bold" pitchFamily="2" charset="-127"/>
                  <a:ea typeface="프리젠테이션 7 Bold" pitchFamily="2" charset="-127"/>
                  <a:cs typeface="Arial" panose="020B0604020202020204" pitchFamily="34" charset="0"/>
                </a:rPr>
                <a:t>deposition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AAD011E4-BEE8-9CF0-305E-DD0EF612B686}"/>
                </a:ext>
              </a:extLst>
            </p:cNvPr>
            <p:cNvSpPr txBox="1"/>
            <p:nvPr/>
          </p:nvSpPr>
          <p:spPr>
            <a:xfrm>
              <a:off x="4426990" y="2570561"/>
              <a:ext cx="1053886" cy="3089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Li dendrites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D1C58559-B50C-0E53-4B7B-A8795A83FBFF}"/>
                </a:ext>
              </a:extLst>
            </p:cNvPr>
            <p:cNvSpPr txBox="1"/>
            <p:nvPr/>
          </p:nvSpPr>
          <p:spPr>
            <a:xfrm>
              <a:off x="3775008" y="1108571"/>
              <a:ext cx="1152000" cy="2883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1" dirty="0" err="1">
                  <a:effectLst/>
                  <a:latin typeface="프리젠테이션 7 Bold" pitchFamily="2" charset="-127"/>
                  <a:ea typeface="프리젠테이션 7 Bold" pitchFamily="2" charset="-127"/>
                </a:rPr>
                <a:t>불균일·파단</a:t>
              </a:r>
              <a:r>
                <a:rPr sz="800" b="1" dirty="0">
                  <a:effectLst/>
                  <a:latin typeface="프리젠테이션 7 Bold" pitchFamily="2" charset="-127"/>
                  <a:ea typeface="프리젠테이션 7 Bold" pitchFamily="2" charset="-127"/>
                </a:rPr>
                <a:t> SEI</a:t>
              </a:r>
            </a:p>
          </p:txBody>
        </p: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E3AA3116-80CE-5B63-F7D3-64BC011D8B2D}"/>
                </a:ext>
              </a:extLst>
            </p:cNvPr>
            <p:cNvCxnSpPr/>
            <p:nvPr/>
          </p:nvCxnSpPr>
          <p:spPr>
            <a:xfrm>
              <a:off x="4578412" y="1321313"/>
              <a:ext cx="280413" cy="220134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tailEnd type="arrow" w="sm" len="sm"/>
            </a:ln>
            <a:effectLst>
              <a:glow rad="63500">
                <a:schemeClr val="accent5">
                  <a:satMod val="175000"/>
                  <a:alpha val="40000"/>
                </a:schemeClr>
              </a:glow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673FAF3A-C3AB-509C-FF1F-214B445CCFAF}"/>
                </a:ext>
              </a:extLst>
            </p:cNvPr>
            <p:cNvCxnSpPr>
              <a:cxnSpLocks/>
            </p:cNvCxnSpPr>
            <p:nvPr/>
          </p:nvCxnSpPr>
          <p:spPr>
            <a:xfrm>
              <a:off x="3328698" y="1349793"/>
              <a:ext cx="260113" cy="139135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tailEnd type="arrow" w="sm" len="sm"/>
            </a:ln>
            <a:effectLst>
              <a:glow rad="63500">
                <a:schemeClr val="accent5">
                  <a:satMod val="175000"/>
                  <a:alpha val="40000"/>
                </a:schemeClr>
              </a:glow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C38D97EB-7EE6-BF56-9D82-D7865FF157F0}"/>
                </a:ext>
              </a:extLst>
            </p:cNvPr>
            <p:cNvSpPr txBox="1"/>
            <p:nvPr/>
          </p:nvSpPr>
          <p:spPr>
            <a:xfrm>
              <a:off x="2418180" y="1129573"/>
              <a:ext cx="1152000" cy="2883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1" dirty="0" err="1">
                  <a:effectLst/>
                  <a:latin typeface="프리젠테이션 7 Bold" pitchFamily="2" charset="-127"/>
                  <a:ea typeface="프리젠테이션 7 Bold" pitchFamily="2" charset="-127"/>
                </a:rPr>
                <a:t>불균일</a:t>
              </a:r>
              <a:r>
                <a:rPr lang="en-US" sz="800" b="1" dirty="0">
                  <a:effectLst/>
                  <a:latin typeface="프리젠테이션 7 Bold" pitchFamily="2" charset="-127"/>
                  <a:ea typeface="프리젠테이션 7 Bold" pitchFamily="2" charset="-127"/>
                </a:rPr>
                <a:t> Li </a:t>
              </a:r>
              <a:r>
                <a:rPr lang="ko-KR" altLang="en-US" sz="800" b="1" dirty="0">
                  <a:effectLst/>
                  <a:latin typeface="프리젠테이션 7 Bold" pitchFamily="2" charset="-127"/>
                  <a:ea typeface="프리젠테이션 7 Bold" pitchFamily="2" charset="-127"/>
                </a:rPr>
                <a:t>핵생성</a:t>
              </a:r>
              <a:endParaRPr sz="800" b="1" dirty="0">
                <a:effectLst/>
                <a:latin typeface="프리젠테이션 7 Bold" pitchFamily="2" charset="-127"/>
                <a:ea typeface="프리젠테이션 7 Bold" pitchFamily="2" charset="-127"/>
              </a:endParaRPr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5B953CE4-52F9-8C8B-4B4C-F407ED289D76}"/>
              </a:ext>
            </a:extLst>
          </p:cNvPr>
          <p:cNvGrpSpPr/>
          <p:nvPr/>
        </p:nvGrpSpPr>
        <p:grpSpPr>
          <a:xfrm>
            <a:off x="6165229" y="947233"/>
            <a:ext cx="2888771" cy="1609862"/>
            <a:chOff x="1822446" y="4037861"/>
            <a:chExt cx="3946675" cy="2199413"/>
          </a:xfrm>
        </p:grpSpPr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85FC6287-8A72-73C4-530D-128AEDAADD30}"/>
                </a:ext>
              </a:extLst>
            </p:cNvPr>
            <p:cNvSpPr txBox="1"/>
            <p:nvPr/>
          </p:nvSpPr>
          <p:spPr>
            <a:xfrm>
              <a:off x="1822446" y="5615716"/>
              <a:ext cx="969688" cy="3480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 err="1">
                  <a:solidFill>
                    <a:srgbClr val="0070C0"/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MF</a:t>
              </a:r>
              <a:r>
                <a:rPr lang="en-US" sz="900" baseline="-25000" dirty="0" err="1">
                  <a:solidFill>
                    <a:srgbClr val="0070C0"/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x</a:t>
              </a:r>
              <a:r>
                <a:rPr lang="en-US" sz="900" dirty="0" err="1">
                  <a:solidFill>
                    <a:schemeClr val="accent2">
                      <a:lumMod val="75000"/>
                    </a:schemeClr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@Cu</a:t>
              </a:r>
              <a:endParaRPr lang="en-US" sz="900" dirty="0">
                <a:solidFill>
                  <a:schemeClr val="accent2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프리젠테이션 9 Black" pitchFamily="2" charset="-127"/>
                <a:ea typeface="프리젠테이션 9 Black" pitchFamily="2" charset="-127"/>
                <a:cs typeface="Arial" panose="020B0604020202020204" pitchFamily="34" charset="0"/>
              </a:endParaRP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BFD19287-55CD-CDD1-503A-088A459D606F}"/>
                </a:ext>
              </a:extLst>
            </p:cNvPr>
            <p:cNvSpPr txBox="1"/>
            <p:nvPr/>
          </p:nvSpPr>
          <p:spPr>
            <a:xfrm>
              <a:off x="2469783" y="5359301"/>
              <a:ext cx="968437" cy="2943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 err="1">
                  <a:solidFill>
                    <a:srgbClr val="FF00FF"/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LiF</a:t>
              </a:r>
              <a:r>
                <a:rPr lang="en-US" sz="800" dirty="0">
                  <a:solidFill>
                    <a:srgbClr val="FF00FF"/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-rich SEI</a:t>
              </a:r>
            </a:p>
          </p:txBody>
        </p:sp>
        <p:pic>
          <p:nvPicPr>
            <p:cNvPr id="124" name="Picture 26" descr="E:\PNG\화살표\1304 - 복사본.png">
              <a:extLst>
                <a:ext uri="{FF2B5EF4-FFF2-40B4-BE49-F238E27FC236}">
                  <a16:creationId xmlns:a16="http://schemas.microsoft.com/office/drawing/2014/main" id="{EC5FC447-C1EE-30FC-A79D-F2A9D19B4AA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70751" y="4274806"/>
              <a:ext cx="1099140" cy="11823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5730AE50-3781-6218-DB73-5B5285A9DBDE}"/>
                </a:ext>
              </a:extLst>
            </p:cNvPr>
            <p:cNvSpPr txBox="1"/>
            <p:nvPr/>
          </p:nvSpPr>
          <p:spPr>
            <a:xfrm>
              <a:off x="2419425" y="4744765"/>
              <a:ext cx="880258" cy="3016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700" dirty="0">
                  <a:latin typeface="프리젠테이션 7 Bold" pitchFamily="2" charset="-127"/>
                  <a:ea typeface="프리젠테이션 7 Bold" pitchFamily="2" charset="-127"/>
                  <a:cs typeface="Arial" panose="020B0604020202020204" pitchFamily="34" charset="0"/>
                </a:rPr>
                <a:t>Activation</a:t>
              </a:r>
            </a:p>
          </p:txBody>
        </p:sp>
        <p:pic>
          <p:nvPicPr>
            <p:cNvPr id="126" name="Picture 34" descr="E:\PNG\화살표\1304 - 복사본.png">
              <a:extLst>
                <a:ext uri="{FF2B5EF4-FFF2-40B4-BE49-F238E27FC236}">
                  <a16:creationId xmlns:a16="http://schemas.microsoft.com/office/drawing/2014/main" id="{5E263F17-85E7-4F4D-8F21-BF4BEC37B5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22773" y="4342114"/>
              <a:ext cx="1039596" cy="11149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ABD66E55-323B-6928-0E13-F4C581E5F248}"/>
                </a:ext>
              </a:extLst>
            </p:cNvPr>
            <p:cNvSpPr txBox="1"/>
            <p:nvPr/>
          </p:nvSpPr>
          <p:spPr>
            <a:xfrm>
              <a:off x="3740534" y="4653561"/>
              <a:ext cx="904428" cy="4640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700" dirty="0">
                  <a:latin typeface="프리젠테이션 7 Bold" pitchFamily="2" charset="-127"/>
                  <a:ea typeface="프리젠테이션 7 Bold" pitchFamily="2" charset="-127"/>
                  <a:cs typeface="Arial" panose="020B0604020202020204" pitchFamily="34" charset="0"/>
                </a:rPr>
                <a:t>Li</a:t>
              </a:r>
            </a:p>
            <a:p>
              <a:pPr algn="ctr"/>
              <a:r>
                <a:rPr lang="en-US" sz="700" dirty="0">
                  <a:latin typeface="프리젠테이션 7 Bold" pitchFamily="2" charset="-127"/>
                  <a:ea typeface="프리젠테이션 7 Bold" pitchFamily="2" charset="-127"/>
                  <a:cs typeface="Arial" panose="020B0604020202020204" pitchFamily="34" charset="0"/>
                </a:rPr>
                <a:t>deposition</a:t>
              </a:r>
            </a:p>
          </p:txBody>
        </p:sp>
        <p:pic>
          <p:nvPicPr>
            <p:cNvPr id="128" name="그림 48">
              <a:extLst>
                <a:ext uri="{FF2B5EF4-FFF2-40B4-BE49-F238E27FC236}">
                  <a16:creationId xmlns:a16="http://schemas.microsoft.com/office/drawing/2014/main" id="{5BB7E39B-D6C7-12BC-83AA-B39D6C718E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696" t="55369" r="32060" b="18589"/>
            <a:stretch/>
          </p:blipFill>
          <p:spPr>
            <a:xfrm rot="5520000">
              <a:off x="4245635" y="4522666"/>
              <a:ext cx="1627317" cy="657707"/>
            </a:xfrm>
            <a:prstGeom prst="rect">
              <a:avLst/>
            </a:prstGeom>
          </p:spPr>
        </p:pic>
        <p:pic>
          <p:nvPicPr>
            <p:cNvPr id="129" name="그림 49">
              <a:extLst>
                <a:ext uri="{FF2B5EF4-FFF2-40B4-BE49-F238E27FC236}">
                  <a16:creationId xmlns:a16="http://schemas.microsoft.com/office/drawing/2014/main" id="{08BFF6B1-24D3-D14F-CA74-193D530FC53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662" t="60262" r="32160" b="19073"/>
            <a:stretch/>
          </p:blipFill>
          <p:spPr>
            <a:xfrm rot="5520000">
              <a:off x="2791381" y="4620012"/>
              <a:ext cx="1619532" cy="520380"/>
            </a:xfrm>
            <a:prstGeom prst="rect">
              <a:avLst/>
            </a:prstGeom>
          </p:spPr>
        </p:pic>
        <p:pic>
          <p:nvPicPr>
            <p:cNvPr id="130" name="그림 50">
              <a:extLst>
                <a:ext uri="{FF2B5EF4-FFF2-40B4-BE49-F238E27FC236}">
                  <a16:creationId xmlns:a16="http://schemas.microsoft.com/office/drawing/2014/main" id="{928989F1-04B5-AF86-9DAC-611C002C30F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476" t="59391" r="32375" b="18926"/>
            <a:stretch/>
          </p:blipFill>
          <p:spPr>
            <a:xfrm rot="5520000">
              <a:off x="1480934" y="4584474"/>
              <a:ext cx="1581371" cy="533552"/>
            </a:xfrm>
            <a:prstGeom prst="rect">
              <a:avLst/>
            </a:prstGeom>
          </p:spPr>
        </p:pic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2C43297D-88BE-A845-423C-E3CFCBBD500F}"/>
                </a:ext>
              </a:extLst>
            </p:cNvPr>
            <p:cNvSpPr txBox="1"/>
            <p:nvPr/>
          </p:nvSpPr>
          <p:spPr>
            <a:xfrm>
              <a:off x="4229831" y="5615716"/>
              <a:ext cx="1539290" cy="3153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solidFill>
                    <a:srgbClr val="C00000"/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Uniform</a:t>
              </a:r>
              <a:r>
                <a:rPr lang="en-US" sz="900" dirty="0"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 Li platting</a:t>
              </a:r>
            </a:p>
          </p:txBody>
        </p: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3AFFD2DC-247D-DFF0-2BBD-1466F5066779}"/>
                </a:ext>
              </a:extLst>
            </p:cNvPr>
            <p:cNvCxnSpPr/>
            <p:nvPr/>
          </p:nvCxnSpPr>
          <p:spPr>
            <a:xfrm>
              <a:off x="3182561" y="4353707"/>
              <a:ext cx="280413" cy="220134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tailEnd type="arrow" w="sm" len="sm"/>
            </a:ln>
            <a:effectLst>
              <a:glow rad="63500">
                <a:schemeClr val="accent5">
                  <a:satMod val="175000"/>
                  <a:alpha val="40000"/>
                </a:schemeClr>
              </a:glow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1E00BB48-C304-DA23-CFED-4C0F59EE6D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52097" y="5296946"/>
              <a:ext cx="259266" cy="209526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tailEnd type="arrow" w="sm" len="sm"/>
            </a:ln>
            <a:effectLst>
              <a:glow rad="63500">
                <a:schemeClr val="accent5">
                  <a:satMod val="175000"/>
                  <a:alpha val="40000"/>
                </a:schemeClr>
              </a:glow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981BB7EF-D6EA-0314-9432-3451EF1C63EF}"/>
                </a:ext>
              </a:extLst>
            </p:cNvPr>
            <p:cNvSpPr txBox="1"/>
            <p:nvPr/>
          </p:nvSpPr>
          <p:spPr>
            <a:xfrm>
              <a:off x="2793257" y="5615716"/>
              <a:ext cx="1675442" cy="3480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>
                  <a:solidFill>
                    <a:srgbClr val="C00000"/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Even</a:t>
              </a:r>
              <a:r>
                <a:rPr lang="en-US" sz="900" dirty="0"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 Li nucleation</a:t>
              </a:r>
            </a:p>
          </p:txBody>
        </p: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6FAFFB8F-C13A-EEEB-0756-86B39A3CDCC9}"/>
                </a:ext>
              </a:extLst>
            </p:cNvPr>
            <p:cNvCxnSpPr>
              <a:cxnSpLocks/>
            </p:cNvCxnSpPr>
            <p:nvPr/>
          </p:nvCxnSpPr>
          <p:spPr>
            <a:xfrm>
              <a:off x="4726132" y="4314477"/>
              <a:ext cx="228028" cy="179010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tailEnd type="arrow" w="sm" len="sm"/>
            </a:ln>
            <a:effectLst>
              <a:glow rad="63500">
                <a:schemeClr val="accent5">
                  <a:satMod val="175000"/>
                  <a:alpha val="40000"/>
                </a:schemeClr>
              </a:glow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C3FDC3EB-68BC-8E76-BB3D-D344FD60EAA2}"/>
                </a:ext>
              </a:extLst>
            </p:cNvPr>
            <p:cNvSpPr txBox="1"/>
            <p:nvPr/>
          </p:nvSpPr>
          <p:spPr>
            <a:xfrm>
              <a:off x="2328748" y="4066214"/>
              <a:ext cx="1211531" cy="2943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 err="1">
                  <a:solidFill>
                    <a:srgbClr val="00B050"/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Lithiophilic</a:t>
              </a:r>
              <a:r>
                <a:rPr lang="en-US" sz="800" dirty="0">
                  <a:solidFill>
                    <a:srgbClr val="00B050"/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 </a:t>
              </a:r>
              <a:r>
                <a:rPr lang="en-US" sz="800" dirty="0" err="1">
                  <a:solidFill>
                    <a:srgbClr val="00B050"/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LiM</a:t>
              </a:r>
              <a:endParaRPr lang="en-US" sz="800" dirty="0">
                <a:solidFill>
                  <a:srgbClr val="00B050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프리젠테이션 9 Black" pitchFamily="2" charset="-127"/>
                <a:ea typeface="프리젠테이션 9 Black" pitchFamily="2" charset="-127"/>
                <a:cs typeface="Arial" panose="020B0604020202020204" pitchFamily="34" charset="0"/>
              </a:endParaRP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D239EEB5-7373-AA0F-DF9A-7A98D691F33C}"/>
                </a:ext>
              </a:extLst>
            </p:cNvPr>
            <p:cNvSpPr txBox="1"/>
            <p:nvPr/>
          </p:nvSpPr>
          <p:spPr>
            <a:xfrm>
              <a:off x="3597361" y="4068987"/>
              <a:ext cx="1325363" cy="4625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800" b="1" dirty="0">
                  <a:effectLst/>
                  <a:latin typeface="프리젠테이션 7 Bold" pitchFamily="2" charset="-127"/>
                  <a:ea typeface="프리젠테이션 7 Bold" pitchFamily="2" charset="-127"/>
                </a:rPr>
                <a:t>균일하고 평탄한 </a:t>
              </a:r>
              <a:r>
                <a:rPr lang="en-US" altLang="ko-KR" sz="800" b="1" dirty="0">
                  <a:effectLst/>
                  <a:latin typeface="프리젠테이션 7 Bold" pitchFamily="2" charset="-127"/>
                  <a:ea typeface="프리젠테이션 7 Bold" pitchFamily="2" charset="-127"/>
                </a:rPr>
                <a:t>Li </a:t>
              </a:r>
              <a:r>
                <a:rPr lang="ko-KR" altLang="en-US" sz="800" b="1" dirty="0">
                  <a:effectLst/>
                  <a:latin typeface="프리젠테이션 7 Bold" pitchFamily="2" charset="-127"/>
                  <a:ea typeface="프리젠테이션 7 Bold" pitchFamily="2" charset="-127"/>
                </a:rPr>
                <a:t>증착층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91C8ED89-732B-3167-9EE6-6E91CE574BD6}"/>
                </a:ext>
              </a:extLst>
            </p:cNvPr>
            <p:cNvSpPr txBox="1"/>
            <p:nvPr/>
          </p:nvSpPr>
          <p:spPr>
            <a:xfrm>
              <a:off x="1963484" y="5942932"/>
              <a:ext cx="2939923" cy="2943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8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 rad="63500">
                      <a:schemeClr val="accent4">
                        <a:satMod val="175000"/>
                        <a:alpha val="40000"/>
                      </a:schemeClr>
                    </a:glow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ea typeface="프리젠테이션 9 Black" pitchFamily="2" charset="-127"/>
                  <a:cs typeface="Arial" panose="020B0604020202020204" pitchFamily="34" charset="0"/>
                </a:rPr>
                <a:t>MF</a:t>
              </a:r>
              <a:r>
                <a:rPr lang="en-US" sz="800" baseline="-250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 rad="63500">
                      <a:schemeClr val="accent4">
                        <a:satMod val="175000"/>
                        <a:alpha val="40000"/>
                      </a:schemeClr>
                    </a:glow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ea typeface="프리젠테이션 9 Black" pitchFamily="2" charset="-127"/>
                  <a:cs typeface="Arial" panose="020B0604020202020204" pitchFamily="34" charset="0"/>
                </a:rPr>
                <a:t>x</a:t>
              </a:r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 rad="63500">
                      <a:schemeClr val="accent4">
                        <a:satMod val="175000"/>
                        <a:alpha val="40000"/>
                      </a:schemeClr>
                    </a:glow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ea typeface="프리젠테이션 9 Black" pitchFamily="2" charset="-127"/>
                  <a:cs typeface="Arial" panose="020B0604020202020204" pitchFamily="34" charset="0"/>
                </a:rPr>
                <a:t>: Metal Fluoride, </a:t>
              </a:r>
              <a:r>
                <a:rPr lang="en-US" sz="8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 rad="63500">
                      <a:schemeClr val="accent4">
                        <a:satMod val="175000"/>
                        <a:alpha val="40000"/>
                      </a:schemeClr>
                    </a:glow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ea typeface="프리젠테이션 9 Black" pitchFamily="2" charset="-127"/>
                  <a:cs typeface="Arial" panose="020B0604020202020204" pitchFamily="34" charset="0"/>
                </a:rPr>
                <a:t>eg.</a:t>
              </a:r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 rad="63500">
                      <a:schemeClr val="accent4">
                        <a:satMod val="175000"/>
                        <a:alpha val="40000"/>
                      </a:schemeClr>
                    </a:glow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ea typeface="프리젠테이션 9 Black" pitchFamily="2" charset="-127"/>
                  <a:cs typeface="Arial" panose="020B0604020202020204" pitchFamily="34" charset="0"/>
                </a:rPr>
                <a:t> ZnF</a:t>
              </a:r>
              <a:r>
                <a:rPr lang="en-US" sz="800" baseline="-250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 rad="63500">
                      <a:schemeClr val="accent4">
                        <a:satMod val="175000"/>
                        <a:alpha val="40000"/>
                      </a:schemeClr>
                    </a:glow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ea typeface="프리젠테이션 9 Black" pitchFamily="2" charset="-127"/>
                  <a:cs typeface="Arial" panose="020B0604020202020204" pitchFamily="34" charset="0"/>
                </a:rPr>
                <a:t>2</a:t>
              </a:r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 rad="63500">
                      <a:schemeClr val="accent4">
                        <a:satMod val="175000"/>
                        <a:alpha val="40000"/>
                      </a:schemeClr>
                    </a:glow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ea typeface="프리젠테이션 9 Black" pitchFamily="2" charset="-127"/>
                  <a:cs typeface="Arial" panose="020B0604020202020204" pitchFamily="34" charset="0"/>
                </a:rPr>
                <a:t>, MgF</a:t>
              </a:r>
              <a:r>
                <a:rPr lang="en-US" sz="800" baseline="-250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 rad="63500">
                      <a:schemeClr val="accent4">
                        <a:satMod val="175000"/>
                        <a:alpha val="40000"/>
                      </a:schemeClr>
                    </a:glow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ea typeface="프리젠테이션 9 Black" pitchFamily="2" charset="-127"/>
                  <a:cs typeface="Arial" panose="020B0604020202020204" pitchFamily="34" charset="0"/>
                </a:rPr>
                <a:t>2</a:t>
              </a:r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 rad="63500">
                      <a:schemeClr val="accent4">
                        <a:satMod val="175000"/>
                        <a:alpha val="40000"/>
                      </a:schemeClr>
                    </a:glow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ea typeface="프리젠테이션 9 Black" pitchFamily="2" charset="-127"/>
                  <a:cs typeface="Arial" panose="020B0604020202020204" pitchFamily="34" charset="0"/>
                </a:rPr>
                <a:t> </a:t>
              </a:r>
              <a:r>
                <a:rPr lang="en-US" sz="8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 rad="63500">
                      <a:schemeClr val="accent4">
                        <a:satMod val="175000"/>
                        <a:alpha val="40000"/>
                      </a:schemeClr>
                    </a:glow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ea typeface="프리젠테이션 9 Black" pitchFamily="2" charset="-127"/>
                  <a:cs typeface="Arial" panose="020B0604020202020204" pitchFamily="34" charset="0"/>
                </a:rPr>
                <a:t>etc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39" name="Rectangle 138">
            <a:extLst>
              <a:ext uri="{FF2B5EF4-FFF2-40B4-BE49-F238E27FC236}">
                <a16:creationId xmlns:a16="http://schemas.microsoft.com/office/drawing/2014/main" id="{3D54C0FF-E418-5003-58F2-1F9C4C66052C}"/>
              </a:ext>
            </a:extLst>
          </p:cNvPr>
          <p:cNvSpPr/>
          <p:nvPr/>
        </p:nvSpPr>
        <p:spPr>
          <a:xfrm>
            <a:off x="9306000" y="3267934"/>
            <a:ext cx="1368000" cy="927089"/>
          </a:xfrm>
          <a:prstGeom prst="rect">
            <a:avLst/>
          </a:prstGeom>
          <a:solidFill>
            <a:srgbClr val="F3E5F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9" name="Picture 278" descr="A diagram of different types of material&#10;&#10;AI-generated content may be incorrect.">
            <a:extLst>
              <a:ext uri="{FF2B5EF4-FFF2-40B4-BE49-F238E27FC236}">
                <a16:creationId xmlns:a16="http://schemas.microsoft.com/office/drawing/2014/main" id="{CD528283-5E71-6F9F-4578-80AAC1A6921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28284" y="655700"/>
            <a:ext cx="2798428" cy="2732967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C1F5F262-54B7-A739-63F9-D9F44773191B}"/>
              </a:ext>
            </a:extLst>
          </p:cNvPr>
          <p:cNvGrpSpPr/>
          <p:nvPr/>
        </p:nvGrpSpPr>
        <p:grpSpPr>
          <a:xfrm>
            <a:off x="799316" y="3611759"/>
            <a:ext cx="579005" cy="261610"/>
            <a:chOff x="2203361" y="3674250"/>
            <a:chExt cx="579005" cy="261610"/>
          </a:xfrm>
        </p:grpSpPr>
        <p:cxnSp>
          <p:nvCxnSpPr>
            <p:cNvPr id="17" name="Straight Connector 78">
              <a:extLst>
                <a:ext uri="{FF2B5EF4-FFF2-40B4-BE49-F238E27FC236}">
                  <a16:creationId xmlns:a16="http://schemas.microsoft.com/office/drawing/2014/main" id="{CCBE4BA6-FC02-11CA-983C-E18EEAFED1A8}"/>
                </a:ext>
              </a:extLst>
            </p:cNvPr>
            <p:cNvCxnSpPr/>
            <p:nvPr/>
          </p:nvCxnSpPr>
          <p:spPr>
            <a:xfrm>
              <a:off x="2277353" y="3908182"/>
              <a:ext cx="432000" cy="0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3ED1D39-0CFA-B179-8223-F0EAD754EBD7}"/>
                </a:ext>
              </a:extLst>
            </p:cNvPr>
            <p:cNvSpPr txBox="1"/>
            <p:nvPr/>
          </p:nvSpPr>
          <p:spPr>
            <a:xfrm>
              <a:off x="2203361" y="3674250"/>
              <a:ext cx="57900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 µm</a:t>
              </a:r>
            </a:p>
          </p:txBody>
        </p:sp>
      </p:grpSp>
      <p:pic>
        <p:nvPicPr>
          <p:cNvPr id="21" name="그림 197">
            <a:extLst>
              <a:ext uri="{FF2B5EF4-FFF2-40B4-BE49-F238E27FC236}">
                <a16:creationId xmlns:a16="http://schemas.microsoft.com/office/drawing/2014/main" id="{CDD803A6-1AFA-6C74-93B6-BB9AF5100487}"/>
              </a:ext>
            </a:extLst>
          </p:cNvPr>
          <p:cNvPicPr>
            <a:picLocks noChangeAspect="1"/>
          </p:cNvPicPr>
          <p:nvPr/>
        </p:nvPicPr>
        <p:blipFill rotWithShape="1">
          <a:blip r:embed="rId12" cstate="print">
            <a:duotone>
              <a:prstClr val="black"/>
              <a:schemeClr val="accent5">
                <a:lumMod val="20000"/>
                <a:lumOff val="80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60" r="1" b="8085"/>
          <a:stretch/>
        </p:blipFill>
        <p:spPr>
          <a:xfrm>
            <a:off x="1432487" y="2668185"/>
            <a:ext cx="1390640" cy="1242519"/>
          </a:xfrm>
          <a:prstGeom prst="rect">
            <a:avLst/>
          </a:prstGeom>
        </p:spPr>
      </p:pic>
      <p:cxnSp>
        <p:nvCxnSpPr>
          <p:cNvPr id="22" name="Straight Connector 43">
            <a:extLst>
              <a:ext uri="{FF2B5EF4-FFF2-40B4-BE49-F238E27FC236}">
                <a16:creationId xmlns:a16="http://schemas.microsoft.com/office/drawing/2014/main" id="{7A9A2EED-7D7B-45C9-97DF-091D959C8925}"/>
              </a:ext>
            </a:extLst>
          </p:cNvPr>
          <p:cNvCxnSpPr/>
          <p:nvPr/>
        </p:nvCxnSpPr>
        <p:spPr>
          <a:xfrm>
            <a:off x="2457177" y="3832769"/>
            <a:ext cx="280800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8DFCE52-A16C-38C6-D3BE-814714FFC38A}"/>
              </a:ext>
            </a:extLst>
          </p:cNvPr>
          <p:cNvSpPr txBox="1"/>
          <p:nvPr/>
        </p:nvSpPr>
        <p:spPr>
          <a:xfrm>
            <a:off x="2259224" y="3573726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 µm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E6BCB91-8CE5-DF83-164B-3C9AC204D40F}"/>
              </a:ext>
            </a:extLst>
          </p:cNvPr>
          <p:cNvSpPr txBox="1"/>
          <p:nvPr/>
        </p:nvSpPr>
        <p:spPr>
          <a:xfrm>
            <a:off x="108000" y="2645518"/>
            <a:ext cx="329747" cy="230832"/>
          </a:xfrm>
          <a:prstGeom prst="rect">
            <a:avLst/>
          </a:prstGeom>
          <a:solidFill>
            <a:schemeClr val="bg1">
              <a:alpha val="44000"/>
            </a:schemeClr>
          </a:solidFill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accent2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프리젠테이션 9 Black" pitchFamily="2" charset="-127"/>
                <a:ea typeface="프리젠테이션 9 Black" pitchFamily="2" charset="-127"/>
                <a:cs typeface="Arial" panose="020B0604020202020204" pitchFamily="34" charset="0"/>
              </a:rPr>
              <a:t>Cu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97C1C95-7BEA-179D-173B-D95C19CDB6C3}"/>
              </a:ext>
            </a:extLst>
          </p:cNvPr>
          <p:cNvSpPr txBox="1"/>
          <p:nvPr/>
        </p:nvSpPr>
        <p:spPr>
          <a:xfrm>
            <a:off x="1424626" y="2674493"/>
            <a:ext cx="739553" cy="230832"/>
          </a:xfrm>
          <a:prstGeom prst="rect">
            <a:avLst/>
          </a:prstGeom>
          <a:solidFill>
            <a:schemeClr val="bg1">
              <a:alpha val="44000"/>
            </a:schemeClr>
          </a:solidFill>
        </p:spPr>
        <p:txBody>
          <a:bodyPr wrap="square">
            <a:spAutoFit/>
          </a:bodyPr>
          <a:lstStyle/>
          <a:p>
            <a:r>
              <a:rPr lang="en-US" sz="900" dirty="0"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프리젠테이션 9 Black" pitchFamily="2" charset="-127"/>
                <a:ea typeface="프리젠테이션 9 Black" pitchFamily="2" charset="-127"/>
                <a:cs typeface="Arial" panose="020B0604020202020204" pitchFamily="34" charset="0"/>
              </a:rPr>
              <a:t>Li dendrite </a:t>
            </a:r>
          </a:p>
        </p:txBody>
      </p:sp>
    </p:spTree>
    <p:extLst>
      <p:ext uri="{BB962C8B-B14F-4D97-AF65-F5344CB8AC3E}">
        <p14:creationId xmlns:p14="http://schemas.microsoft.com/office/powerpoint/2010/main" val="907422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2">
            <a:extLst>
              <a:ext uri="{FF2B5EF4-FFF2-40B4-BE49-F238E27FC236}">
                <a16:creationId xmlns:a16="http://schemas.microsoft.com/office/drawing/2014/main" id="{D0A4BF24-C596-12F2-14DE-4B04F77DB1D6}"/>
              </a:ext>
            </a:extLst>
          </p:cNvPr>
          <p:cNvSpPr/>
          <p:nvPr/>
        </p:nvSpPr>
        <p:spPr>
          <a:xfrm>
            <a:off x="535009" y="5930932"/>
            <a:ext cx="2736000" cy="809865"/>
          </a:xfrm>
          <a:prstGeom prst="rect">
            <a:avLst/>
          </a:prstGeom>
          <a:solidFill>
            <a:srgbClr val="E8EAF6"/>
          </a:solidFill>
          <a:ln w="6350">
            <a:solidFill>
              <a:srgbClr val="7B8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9E20D1C-BB22-70AB-8AAB-084F79965890}"/>
              </a:ext>
            </a:extLst>
          </p:cNvPr>
          <p:cNvSpPr txBox="1"/>
          <p:nvPr/>
        </p:nvSpPr>
        <p:spPr>
          <a:xfrm>
            <a:off x="2522497" y="5996719"/>
            <a:ext cx="2092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dirty="0" err="1">
                <a:solidFill>
                  <a:srgbClr val="6A1B9A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박막</a:t>
            </a:r>
            <a:r>
              <a:rPr sz="900" dirty="0">
                <a:solidFill>
                  <a:srgbClr val="6A1B9A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 </a:t>
            </a:r>
            <a:r>
              <a:rPr sz="900" dirty="0" err="1">
                <a:solidFill>
                  <a:srgbClr val="6A1B9A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형성</a:t>
            </a:r>
            <a:r>
              <a:rPr sz="900" dirty="0">
                <a:solidFill>
                  <a:srgbClr val="6A1B9A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 </a:t>
            </a:r>
            <a:r>
              <a:rPr sz="900" dirty="0" err="1">
                <a:solidFill>
                  <a:srgbClr val="6A1B9A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단면</a:t>
            </a:r>
            <a:r>
              <a:rPr sz="900" dirty="0">
                <a:solidFill>
                  <a:srgbClr val="6A1B9A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 </a:t>
            </a:r>
            <a:r>
              <a:rPr sz="900" dirty="0" err="1">
                <a:solidFill>
                  <a:srgbClr val="6A1B9A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모식도</a:t>
            </a:r>
            <a:endParaRPr sz="900" dirty="0">
              <a:solidFill>
                <a:srgbClr val="6A1B9A"/>
              </a:solidFill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CC06427F-FC70-0E32-4DBC-BDF94F90528E}"/>
              </a:ext>
            </a:extLst>
          </p:cNvPr>
          <p:cNvSpPr/>
          <p:nvPr/>
        </p:nvSpPr>
        <p:spPr>
          <a:xfrm>
            <a:off x="0" y="5551200"/>
            <a:ext cx="9144000" cy="2880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16A09414-9D68-EA9C-F3B8-C0685D4BB6E8}"/>
              </a:ext>
            </a:extLst>
          </p:cNvPr>
          <p:cNvGrpSpPr/>
          <p:nvPr/>
        </p:nvGrpSpPr>
        <p:grpSpPr>
          <a:xfrm>
            <a:off x="90000" y="378000"/>
            <a:ext cx="9026530" cy="4363335"/>
            <a:chOff x="90000" y="378000"/>
            <a:chExt cx="9026530" cy="436333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BD4D39E-E3D6-2AE0-2D2C-ED41279674B7}"/>
                </a:ext>
              </a:extLst>
            </p:cNvPr>
            <p:cNvSpPr/>
            <p:nvPr/>
          </p:nvSpPr>
          <p:spPr>
            <a:xfrm>
              <a:off x="90000" y="378000"/>
              <a:ext cx="2772000" cy="436333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C6282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D4B490A6-7650-5FAA-5D2A-DE450D536BC6}"/>
                </a:ext>
              </a:extLst>
            </p:cNvPr>
            <p:cNvSpPr/>
            <p:nvPr/>
          </p:nvSpPr>
          <p:spPr>
            <a:xfrm>
              <a:off x="108000" y="666001"/>
              <a:ext cx="2736000" cy="1929600"/>
            </a:xfrm>
            <a:prstGeom prst="rect">
              <a:avLst/>
            </a:prstGeom>
            <a:solidFill>
              <a:srgbClr val="E1F5F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4CA2E6E-4107-F9CD-9C9B-42EE6CF15797}"/>
                </a:ext>
              </a:extLst>
            </p:cNvPr>
            <p:cNvSpPr/>
            <p:nvPr/>
          </p:nvSpPr>
          <p:spPr>
            <a:xfrm>
              <a:off x="3114000" y="378000"/>
              <a:ext cx="2772000" cy="436333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03F9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6A6B895-D012-03EB-FAF5-F42C238DC9BD}"/>
                </a:ext>
              </a:extLst>
            </p:cNvPr>
            <p:cNvSpPr/>
            <p:nvPr/>
          </p:nvSpPr>
          <p:spPr>
            <a:xfrm>
              <a:off x="6138000" y="378000"/>
              <a:ext cx="2916000" cy="436333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2E7D3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7A115C1-A606-6EA3-FD70-50C1F72D075B}"/>
                </a:ext>
              </a:extLst>
            </p:cNvPr>
            <p:cNvSpPr/>
            <p:nvPr/>
          </p:nvSpPr>
          <p:spPr>
            <a:xfrm>
              <a:off x="90000" y="378000"/>
              <a:ext cx="2772000" cy="27000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BE7876D-BD67-166A-5125-E873885E8450}"/>
                </a:ext>
              </a:extLst>
            </p:cNvPr>
            <p:cNvSpPr/>
            <p:nvPr/>
          </p:nvSpPr>
          <p:spPr>
            <a:xfrm>
              <a:off x="3114000" y="378000"/>
              <a:ext cx="2772000" cy="270000"/>
            </a:xfrm>
            <a:prstGeom prst="rect">
              <a:avLst/>
            </a:prstGeom>
            <a:solidFill>
              <a:srgbClr val="303F9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22A5D2B-A5CC-8941-B848-DAFC25E05D9A}"/>
                </a:ext>
              </a:extLst>
            </p:cNvPr>
            <p:cNvSpPr/>
            <p:nvPr/>
          </p:nvSpPr>
          <p:spPr>
            <a:xfrm>
              <a:off x="6138000" y="378000"/>
              <a:ext cx="2916000" cy="27000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50D814B-86E1-244C-AB3B-B9993C05AEEC}"/>
                </a:ext>
              </a:extLst>
            </p:cNvPr>
            <p:cNvSpPr txBox="1"/>
            <p:nvPr/>
          </p:nvSpPr>
          <p:spPr>
            <a:xfrm>
              <a:off x="90000" y="399600"/>
              <a:ext cx="2772000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100" b="1" dirty="0" err="1">
                  <a:solidFill>
                    <a:srgbClr val="FFFFFF"/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문제</a:t>
              </a:r>
              <a:r>
                <a:rPr sz="1100" b="1" dirty="0">
                  <a:solidFill>
                    <a:srgbClr val="FFFFFF"/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 : </a:t>
              </a:r>
              <a:r>
                <a:rPr sz="1100" b="1" dirty="0" err="1">
                  <a:solidFill>
                    <a:srgbClr val="FFFFFF"/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불균일</a:t>
              </a:r>
              <a:r>
                <a:rPr sz="1100" b="1" dirty="0">
                  <a:solidFill>
                    <a:srgbClr val="FFFFFF"/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 Li </a:t>
              </a:r>
              <a:r>
                <a:rPr sz="1100" b="1" dirty="0" err="1">
                  <a:solidFill>
                    <a:srgbClr val="FFFFFF"/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핵생성</a:t>
              </a:r>
              <a:r>
                <a:rPr sz="1100" b="1" dirty="0">
                  <a:solidFill>
                    <a:srgbClr val="FFFFFF"/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 및 </a:t>
              </a:r>
              <a:r>
                <a:rPr sz="1100" b="1" dirty="0" err="1">
                  <a:solidFill>
                    <a:srgbClr val="FFFFFF"/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덴드라이트</a:t>
              </a:r>
              <a:endParaRPr sz="1100" b="1" dirty="0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751C129-3F40-68D2-2965-2D7666001C74}"/>
                </a:ext>
              </a:extLst>
            </p:cNvPr>
            <p:cNvSpPr txBox="1"/>
            <p:nvPr/>
          </p:nvSpPr>
          <p:spPr>
            <a:xfrm>
              <a:off x="3114000" y="399600"/>
              <a:ext cx="2772000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100" b="1" dirty="0">
                  <a:solidFill>
                    <a:srgbClr val="FFFFFF"/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Metal</a:t>
              </a:r>
              <a:r>
                <a:rPr lang="ko-KR" altLang="en-US" sz="1100" b="1" dirty="0">
                  <a:solidFill>
                    <a:srgbClr val="FFFFFF"/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 </a:t>
              </a:r>
              <a:r>
                <a:rPr lang="en-US" altLang="ko-KR" sz="1100" b="1" dirty="0">
                  <a:solidFill>
                    <a:srgbClr val="FFFFFF"/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Fluoride</a:t>
              </a:r>
              <a:r>
                <a:rPr lang="ko-KR" altLang="en-US" sz="1100" b="1" dirty="0">
                  <a:solidFill>
                    <a:srgbClr val="FFFFFF"/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 </a:t>
              </a:r>
              <a:r>
                <a:rPr sz="1100" b="1" dirty="0">
                  <a:solidFill>
                    <a:srgbClr val="FFFFFF"/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ALD </a:t>
              </a:r>
              <a:r>
                <a:rPr sz="1100" b="1" dirty="0" err="1">
                  <a:solidFill>
                    <a:srgbClr val="FFFFFF"/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증착</a:t>
              </a:r>
              <a:endParaRPr sz="1100" b="1" dirty="0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29B2EA1-B191-F604-30D2-2EB2C601EF06}"/>
                </a:ext>
              </a:extLst>
            </p:cNvPr>
            <p:cNvSpPr txBox="1"/>
            <p:nvPr/>
          </p:nvSpPr>
          <p:spPr>
            <a:xfrm>
              <a:off x="6138000" y="399600"/>
              <a:ext cx="2916000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100" b="1" dirty="0" err="1">
                  <a:solidFill>
                    <a:srgbClr val="FFFFFF"/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해결</a:t>
              </a:r>
              <a:r>
                <a:rPr sz="1100" b="1" dirty="0">
                  <a:solidFill>
                    <a:srgbClr val="FFFFFF"/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 : </a:t>
              </a:r>
              <a:r>
                <a:rPr sz="1100" b="1" dirty="0" err="1">
                  <a:solidFill>
                    <a:srgbClr val="FFFFFF"/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균일</a:t>
              </a:r>
              <a:r>
                <a:rPr sz="1100" b="1" dirty="0">
                  <a:solidFill>
                    <a:srgbClr val="FFFFFF"/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 Li </a:t>
              </a:r>
              <a:r>
                <a:rPr sz="1100" b="1" dirty="0" err="1">
                  <a:solidFill>
                    <a:srgbClr val="FFFFFF"/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핵생성</a:t>
              </a:r>
              <a:r>
                <a:rPr sz="1100" b="1" dirty="0">
                  <a:solidFill>
                    <a:srgbClr val="FFFFFF"/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 및 </a:t>
              </a:r>
              <a:r>
                <a:rPr sz="1100" b="1" dirty="0" err="1">
                  <a:solidFill>
                    <a:srgbClr val="FFFFFF"/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평탄한</a:t>
              </a:r>
              <a:r>
                <a:rPr sz="1100" b="1" dirty="0">
                  <a:solidFill>
                    <a:srgbClr val="FFFFFF"/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 </a:t>
              </a:r>
              <a:r>
                <a:rPr sz="1100" b="1" dirty="0" err="1">
                  <a:solidFill>
                    <a:srgbClr val="FFFFFF"/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증착</a:t>
              </a:r>
              <a:endParaRPr sz="1100" b="1" dirty="0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DEBE649B-3C80-CC33-3C4B-7927AA938B60}"/>
                </a:ext>
              </a:extLst>
            </p:cNvPr>
            <p:cNvSpPr/>
            <p:nvPr/>
          </p:nvSpPr>
          <p:spPr>
            <a:xfrm>
              <a:off x="108000" y="3953038"/>
              <a:ext cx="2736000" cy="733343"/>
            </a:xfrm>
            <a:prstGeom prst="rect">
              <a:avLst/>
            </a:prstGeom>
            <a:solidFill>
              <a:srgbClr val="FFEBEE"/>
            </a:solidFill>
            <a:ln w="6350">
              <a:solidFill>
                <a:srgbClr val="C6282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C4F054E-90A8-1D5B-83BF-07EE9ABE1F67}"/>
                </a:ext>
              </a:extLst>
            </p:cNvPr>
            <p:cNvSpPr txBox="1"/>
            <p:nvPr/>
          </p:nvSpPr>
          <p:spPr>
            <a:xfrm>
              <a:off x="144000" y="3959418"/>
              <a:ext cx="2646000" cy="7477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90488" indent="-90488" algn="l">
                <a:lnSpc>
                  <a:spcPts val="1300"/>
                </a:lnSpc>
                <a:buFont typeface="Arial" panose="020B0604020202020204" pitchFamily="34" charset="0"/>
                <a:buChar char="•"/>
              </a:pPr>
              <a:r>
                <a:rPr sz="1000" dirty="0">
                  <a:solidFill>
                    <a:srgbClr val="B71C1C"/>
                  </a:solidFill>
                  <a:latin typeface="프리젠테이션 7 Bold" pitchFamily="2" charset="-127"/>
                  <a:ea typeface="프리젠테이션 7 Bold" pitchFamily="2" charset="-127"/>
                </a:rPr>
                <a:t>Cu </a:t>
              </a:r>
              <a:r>
                <a:rPr sz="1000" dirty="0" err="1">
                  <a:solidFill>
                    <a:srgbClr val="B71C1C"/>
                  </a:solidFill>
                  <a:latin typeface="프리젠테이션 7 Bold" pitchFamily="2" charset="-127"/>
                  <a:ea typeface="프리젠테이션 7 Bold" pitchFamily="2" charset="-127"/>
                </a:rPr>
                <a:t>집전체</a:t>
              </a:r>
              <a:r>
                <a:rPr sz="1000" dirty="0">
                  <a:solidFill>
                    <a:srgbClr val="B71C1C"/>
                  </a:solidFill>
                  <a:latin typeface="프리젠테이션 7 Bold" pitchFamily="2" charset="-127"/>
                  <a:ea typeface="프리젠테이션 7 Bold" pitchFamily="2" charset="-127"/>
                </a:rPr>
                <a:t> 위 ALD </a:t>
              </a:r>
              <a:r>
                <a:rPr sz="1000" dirty="0" err="1">
                  <a:solidFill>
                    <a:srgbClr val="B71C1C"/>
                  </a:solidFill>
                  <a:latin typeface="프리젠테이션 7 Bold" pitchFamily="2" charset="-127"/>
                  <a:ea typeface="프리젠테이션 7 Bold" pitchFamily="2" charset="-127"/>
                </a:rPr>
                <a:t>코팅</a:t>
              </a:r>
              <a:r>
                <a:rPr sz="1000" dirty="0">
                  <a:solidFill>
                    <a:srgbClr val="B71C1C"/>
                  </a:solidFill>
                  <a:latin typeface="프리젠테이션 7 Bold" pitchFamily="2" charset="-127"/>
                  <a:ea typeface="프리젠테이션 7 Bold" pitchFamily="2" charset="-127"/>
                </a:rPr>
                <a:t> </a:t>
              </a:r>
              <a:r>
                <a:rPr sz="1000" dirty="0" err="1">
                  <a:solidFill>
                    <a:srgbClr val="B71C1C"/>
                  </a:solidFill>
                  <a:latin typeface="프리젠테이션 7 Bold" pitchFamily="2" charset="-127"/>
                  <a:ea typeface="프리젠테이션 7 Bold" pitchFamily="2" charset="-127"/>
                </a:rPr>
                <a:t>없이</a:t>
              </a:r>
              <a:r>
                <a:rPr sz="1000" dirty="0">
                  <a:solidFill>
                    <a:srgbClr val="B71C1C"/>
                  </a:solidFill>
                  <a:latin typeface="프리젠테이션 7 Bold" pitchFamily="2" charset="-127"/>
                  <a:ea typeface="프리젠테이션 7 Bold" pitchFamily="2" charset="-127"/>
                </a:rPr>
                <a:t> Li </a:t>
              </a:r>
              <a:r>
                <a:rPr sz="1000" dirty="0" err="1">
                  <a:solidFill>
                    <a:srgbClr val="B71C1C"/>
                  </a:solidFill>
                  <a:latin typeface="프리젠테이션 7 Bold" pitchFamily="2" charset="-127"/>
                  <a:ea typeface="프리젠테이션 7 Bold" pitchFamily="2" charset="-127"/>
                </a:rPr>
                <a:t>전착</a:t>
              </a:r>
              <a:r>
                <a:rPr sz="1000" dirty="0">
                  <a:solidFill>
                    <a:srgbClr val="B71C1C"/>
                  </a:solidFill>
                  <a:latin typeface="프리젠테이션 7 Bold" pitchFamily="2" charset="-127"/>
                  <a:ea typeface="프리젠테이션 7 Bold" pitchFamily="2" charset="-127"/>
                </a:rPr>
                <a:t> 시</a:t>
              </a:r>
            </a:p>
            <a:p>
              <a:pPr marL="90488" indent="-90488" algn="l">
                <a:lnSpc>
                  <a:spcPts val="1300"/>
                </a:lnSpc>
                <a:buFont typeface="Arial" panose="020B0604020202020204" pitchFamily="34" charset="0"/>
                <a:buChar char="•"/>
              </a:pPr>
              <a:r>
                <a:rPr sz="1000" dirty="0" err="1">
                  <a:solidFill>
                    <a:srgbClr val="B71C1C"/>
                  </a:solidFill>
                  <a:latin typeface="프리젠테이션 7 Bold" pitchFamily="2" charset="-127"/>
                  <a:ea typeface="프리젠테이션 7 Bold" pitchFamily="2" charset="-127"/>
                </a:rPr>
                <a:t>핵생성</a:t>
              </a:r>
              <a:r>
                <a:rPr sz="1000" dirty="0">
                  <a:solidFill>
                    <a:srgbClr val="B71C1C"/>
                  </a:solidFill>
                  <a:latin typeface="프리젠테이션 7 Bold" pitchFamily="2" charset="-127"/>
                  <a:ea typeface="프리젠테이션 7 Bold" pitchFamily="2" charset="-127"/>
                </a:rPr>
                <a:t> </a:t>
              </a:r>
              <a:r>
                <a:rPr sz="1000" dirty="0" err="1">
                  <a:solidFill>
                    <a:srgbClr val="B71C1C"/>
                  </a:solidFill>
                  <a:latin typeface="프리젠테이션 7 Bold" pitchFamily="2" charset="-127"/>
                  <a:ea typeface="프리젠테이션 7 Bold" pitchFamily="2" charset="-127"/>
                </a:rPr>
                <a:t>과전압</a:t>
              </a:r>
              <a:r>
                <a:rPr sz="1000" dirty="0">
                  <a:solidFill>
                    <a:srgbClr val="B71C1C"/>
                  </a:solidFill>
                  <a:latin typeface="프리젠테이션 7 Bold" pitchFamily="2" charset="-127"/>
                  <a:ea typeface="프리젠테이션 7 Bold" pitchFamily="2" charset="-127"/>
                </a:rPr>
                <a:t> </a:t>
              </a:r>
              <a:r>
                <a:rPr sz="1000" dirty="0" err="1">
                  <a:solidFill>
                    <a:srgbClr val="B71C1C"/>
                  </a:solidFill>
                  <a:latin typeface="프리젠테이션 7 Bold" pitchFamily="2" charset="-127"/>
                  <a:ea typeface="프리젠테이션 7 Bold" pitchFamily="2" charset="-127"/>
                </a:rPr>
                <a:t>불균일</a:t>
              </a:r>
              <a:r>
                <a:rPr sz="1000" dirty="0">
                  <a:solidFill>
                    <a:srgbClr val="B71C1C"/>
                  </a:solidFill>
                  <a:latin typeface="프리젠테이션 7 Bold" pitchFamily="2" charset="-127"/>
                  <a:ea typeface="프리젠테이션 7 Bold" pitchFamily="2" charset="-127"/>
                </a:rPr>
                <a:t> → </a:t>
              </a:r>
              <a:r>
                <a:rPr sz="1000" dirty="0" err="1">
                  <a:solidFill>
                    <a:srgbClr val="B71C1C"/>
                  </a:solidFill>
                  <a:latin typeface="프리젠테이션 7 Bold" pitchFamily="2" charset="-127"/>
                  <a:ea typeface="프리젠테이션 7 Bold" pitchFamily="2" charset="-127"/>
                </a:rPr>
                <a:t>덴드라이트</a:t>
              </a:r>
              <a:r>
                <a:rPr sz="1000" dirty="0">
                  <a:solidFill>
                    <a:srgbClr val="B71C1C"/>
                  </a:solidFill>
                  <a:latin typeface="프리젠테이션 7 Bold" pitchFamily="2" charset="-127"/>
                  <a:ea typeface="프리젠테이션 7 Bold" pitchFamily="2" charset="-127"/>
                </a:rPr>
                <a:t> </a:t>
              </a:r>
              <a:r>
                <a:rPr sz="1000" dirty="0" err="1">
                  <a:solidFill>
                    <a:srgbClr val="B71C1C"/>
                  </a:solidFill>
                  <a:latin typeface="프리젠테이션 7 Bold" pitchFamily="2" charset="-127"/>
                  <a:ea typeface="프리젠테이션 7 Bold" pitchFamily="2" charset="-127"/>
                </a:rPr>
                <a:t>성장</a:t>
              </a:r>
              <a:endParaRPr sz="1000" dirty="0">
                <a:solidFill>
                  <a:srgbClr val="B71C1C"/>
                </a:solidFill>
                <a:latin typeface="프리젠테이션 7 Bold" pitchFamily="2" charset="-127"/>
                <a:ea typeface="프리젠테이션 7 Bold" pitchFamily="2" charset="-127"/>
              </a:endParaRPr>
            </a:p>
            <a:p>
              <a:pPr marL="90488" indent="-90488" algn="l">
                <a:lnSpc>
                  <a:spcPts val="1300"/>
                </a:lnSpc>
                <a:buFont typeface="Arial" panose="020B0604020202020204" pitchFamily="34" charset="0"/>
                <a:buChar char="•"/>
              </a:pPr>
              <a:r>
                <a:rPr sz="1000" dirty="0" err="1">
                  <a:solidFill>
                    <a:srgbClr val="B71C1C"/>
                  </a:solidFill>
                  <a:latin typeface="프리젠테이션 7 Bold" pitchFamily="2" charset="-127"/>
                  <a:ea typeface="프리젠테이션 7 Bold" pitchFamily="2" charset="-127"/>
                </a:rPr>
                <a:t>두껍고</a:t>
              </a:r>
              <a:r>
                <a:rPr sz="1000" dirty="0">
                  <a:solidFill>
                    <a:srgbClr val="B71C1C"/>
                  </a:solidFill>
                  <a:latin typeface="프리젠테이션 7 Bold" pitchFamily="2" charset="-127"/>
                  <a:ea typeface="프리젠테이션 7 Bold" pitchFamily="2" charset="-127"/>
                </a:rPr>
                <a:t> </a:t>
              </a:r>
              <a:r>
                <a:rPr sz="1000" dirty="0" err="1">
                  <a:solidFill>
                    <a:srgbClr val="B71C1C"/>
                  </a:solidFill>
                  <a:latin typeface="프리젠테이션 7 Bold" pitchFamily="2" charset="-127"/>
                  <a:ea typeface="프리젠테이션 7 Bold" pitchFamily="2" charset="-127"/>
                </a:rPr>
                <a:t>불균일한</a:t>
              </a:r>
              <a:r>
                <a:rPr sz="1000" dirty="0">
                  <a:solidFill>
                    <a:srgbClr val="B71C1C"/>
                  </a:solidFill>
                  <a:latin typeface="프리젠테이션 7 Bold" pitchFamily="2" charset="-127"/>
                  <a:ea typeface="프리젠테이션 7 Bold" pitchFamily="2" charset="-127"/>
                </a:rPr>
                <a:t> SEI </a:t>
              </a:r>
              <a:r>
                <a:rPr sz="1000" dirty="0" err="1">
                  <a:solidFill>
                    <a:srgbClr val="B71C1C"/>
                  </a:solidFill>
                  <a:latin typeface="프리젠테이션 7 Bold" pitchFamily="2" charset="-127"/>
                  <a:ea typeface="프리젠테이션 7 Bold" pitchFamily="2" charset="-127"/>
                </a:rPr>
                <a:t>형성</a:t>
              </a:r>
              <a:r>
                <a:rPr sz="1000" dirty="0">
                  <a:solidFill>
                    <a:srgbClr val="B71C1C"/>
                  </a:solidFill>
                  <a:latin typeface="프리젠테이션 7 Bold" pitchFamily="2" charset="-127"/>
                  <a:ea typeface="프리젠테이션 7 Bold" pitchFamily="2" charset="-127"/>
                </a:rPr>
                <a:t> </a:t>
              </a:r>
              <a:r>
                <a:rPr sz="1000" dirty="0" err="1">
                  <a:solidFill>
                    <a:srgbClr val="B71C1C"/>
                  </a:solidFill>
                  <a:latin typeface="프리젠테이션 7 Bold" pitchFamily="2" charset="-127"/>
                  <a:ea typeface="프리젠테이션 7 Bold" pitchFamily="2" charset="-127"/>
                </a:rPr>
                <a:t>반복</a:t>
              </a:r>
              <a:endParaRPr sz="1000" dirty="0">
                <a:solidFill>
                  <a:srgbClr val="B71C1C"/>
                </a:solidFill>
                <a:latin typeface="프리젠테이션 7 Bold" pitchFamily="2" charset="-127"/>
                <a:ea typeface="프리젠테이션 7 Bold" pitchFamily="2" charset="-127"/>
              </a:endParaRPr>
            </a:p>
            <a:p>
              <a:pPr marL="90488" indent="-90488" algn="l">
                <a:lnSpc>
                  <a:spcPts val="1300"/>
                </a:lnSpc>
                <a:buFont typeface="Arial" panose="020B0604020202020204" pitchFamily="34" charset="0"/>
                <a:buChar char="•"/>
              </a:pPr>
              <a:r>
                <a:rPr sz="1000" dirty="0" err="1">
                  <a:solidFill>
                    <a:srgbClr val="B71C1C"/>
                  </a:solidFill>
                  <a:latin typeface="프리젠테이션 7 Bold" pitchFamily="2" charset="-127"/>
                  <a:ea typeface="프리젠테이션 7 Bold" pitchFamily="2" charset="-127"/>
                </a:rPr>
                <a:t>쿨롱</a:t>
              </a:r>
              <a:r>
                <a:rPr sz="1000" dirty="0">
                  <a:solidFill>
                    <a:srgbClr val="B71C1C"/>
                  </a:solidFill>
                  <a:latin typeface="프리젠테이션 7 Bold" pitchFamily="2" charset="-127"/>
                  <a:ea typeface="프리젠테이션 7 Bold" pitchFamily="2" charset="-127"/>
                </a:rPr>
                <a:t> </a:t>
              </a:r>
              <a:r>
                <a:rPr sz="1000" dirty="0" err="1">
                  <a:solidFill>
                    <a:srgbClr val="B71C1C"/>
                  </a:solidFill>
                  <a:latin typeface="프리젠테이션 7 Bold" pitchFamily="2" charset="-127"/>
                  <a:ea typeface="프리젠테이션 7 Bold" pitchFamily="2" charset="-127"/>
                </a:rPr>
                <a:t>효율</a:t>
              </a:r>
              <a:r>
                <a:rPr sz="1000" dirty="0">
                  <a:solidFill>
                    <a:srgbClr val="B71C1C"/>
                  </a:solidFill>
                  <a:latin typeface="프리젠테이션 7 Bold" pitchFamily="2" charset="-127"/>
                  <a:ea typeface="프리젠테이션 7 Bold" pitchFamily="2" charset="-127"/>
                </a:rPr>
                <a:t> </a:t>
              </a:r>
              <a:r>
                <a:rPr sz="1000" dirty="0" err="1">
                  <a:solidFill>
                    <a:srgbClr val="B71C1C"/>
                  </a:solidFill>
                  <a:latin typeface="프리젠테이션 7 Bold" pitchFamily="2" charset="-127"/>
                  <a:ea typeface="프리젠테이션 7 Bold" pitchFamily="2" charset="-127"/>
                </a:rPr>
                <a:t>저하</a:t>
              </a:r>
              <a:r>
                <a:rPr sz="1000" dirty="0">
                  <a:solidFill>
                    <a:srgbClr val="B71C1C"/>
                  </a:solidFill>
                  <a:latin typeface="프리젠테이션 7 Bold" pitchFamily="2" charset="-127"/>
                  <a:ea typeface="프리젠테이션 7 Bold" pitchFamily="2" charset="-127"/>
                </a:rPr>
                <a:t> 및 </a:t>
              </a:r>
              <a:r>
                <a:rPr sz="1000" dirty="0" err="1">
                  <a:solidFill>
                    <a:srgbClr val="B71C1C"/>
                  </a:solidFill>
                  <a:latin typeface="프리젠테이션 7 Bold" pitchFamily="2" charset="-127"/>
                  <a:ea typeface="프리젠테이션 7 Bold" pitchFamily="2" charset="-127"/>
                </a:rPr>
                <a:t>내부</a:t>
              </a:r>
              <a:r>
                <a:rPr sz="1000" dirty="0">
                  <a:solidFill>
                    <a:srgbClr val="B71C1C"/>
                  </a:solidFill>
                  <a:latin typeface="프리젠테이션 7 Bold" pitchFamily="2" charset="-127"/>
                  <a:ea typeface="프리젠테이션 7 Bold" pitchFamily="2" charset="-127"/>
                </a:rPr>
                <a:t> </a:t>
              </a:r>
              <a:r>
                <a:rPr sz="1000" dirty="0" err="1">
                  <a:solidFill>
                    <a:srgbClr val="B71C1C"/>
                  </a:solidFill>
                  <a:latin typeface="프리젠테이션 7 Bold" pitchFamily="2" charset="-127"/>
                  <a:ea typeface="프리젠테이션 7 Bold" pitchFamily="2" charset="-127"/>
                </a:rPr>
                <a:t>단락</a:t>
              </a:r>
              <a:r>
                <a:rPr sz="1000" dirty="0">
                  <a:solidFill>
                    <a:srgbClr val="B71C1C"/>
                  </a:solidFill>
                  <a:latin typeface="프리젠테이션 7 Bold" pitchFamily="2" charset="-127"/>
                  <a:ea typeface="프리젠테이션 7 Bold" pitchFamily="2" charset="-127"/>
                </a:rPr>
                <a:t>(short) </a:t>
              </a:r>
              <a:r>
                <a:rPr sz="1000" dirty="0" err="1">
                  <a:solidFill>
                    <a:srgbClr val="B71C1C"/>
                  </a:solidFill>
                  <a:latin typeface="프리젠테이션 7 Bold" pitchFamily="2" charset="-127"/>
                  <a:ea typeface="프리젠테이션 7 Bold" pitchFamily="2" charset="-127"/>
                </a:rPr>
                <a:t>위험</a:t>
              </a:r>
              <a:endParaRPr sz="1000" dirty="0">
                <a:solidFill>
                  <a:srgbClr val="B71C1C"/>
                </a:solidFill>
                <a:latin typeface="프리젠테이션 7 Bold" pitchFamily="2" charset="-127"/>
                <a:ea typeface="프리젠테이션 7 Bold" pitchFamily="2" charset="-127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0EAB40EF-34C4-97B2-3792-E80E76E4BFF3}"/>
                </a:ext>
              </a:extLst>
            </p:cNvPr>
            <p:cNvSpPr/>
            <p:nvPr/>
          </p:nvSpPr>
          <p:spPr>
            <a:xfrm>
              <a:off x="3136233" y="640400"/>
              <a:ext cx="2736000" cy="1976935"/>
            </a:xfrm>
            <a:prstGeom prst="rect">
              <a:avLst/>
            </a:prstGeom>
            <a:solidFill>
              <a:srgbClr val="F3E5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FD677B1E-D63C-968B-33F8-6CFC52281619}"/>
                </a:ext>
              </a:extLst>
            </p:cNvPr>
            <p:cNvSpPr/>
            <p:nvPr/>
          </p:nvSpPr>
          <p:spPr>
            <a:xfrm>
              <a:off x="3141534" y="3964249"/>
              <a:ext cx="2736000" cy="747705"/>
            </a:xfrm>
            <a:prstGeom prst="rect">
              <a:avLst/>
            </a:prstGeom>
            <a:solidFill>
              <a:srgbClr val="EEEEFF"/>
            </a:solidFill>
            <a:ln w="6350">
              <a:solidFill>
                <a:srgbClr val="303F9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11791737-B16C-0B42-F941-0C58A9CEADEB}"/>
                </a:ext>
              </a:extLst>
            </p:cNvPr>
            <p:cNvSpPr txBox="1"/>
            <p:nvPr/>
          </p:nvSpPr>
          <p:spPr>
            <a:xfrm>
              <a:off x="3184734" y="3971335"/>
              <a:ext cx="2664000" cy="7477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90488" indent="-90488" algn="l">
                <a:lnSpc>
                  <a:spcPts val="1300"/>
                </a:lnSpc>
                <a:buFont typeface="Arial" panose="020B0604020202020204" pitchFamily="34" charset="0"/>
                <a:buChar char="•"/>
              </a:pPr>
              <a:r>
                <a:rPr sz="1000" dirty="0" err="1">
                  <a:solidFill>
                    <a:srgbClr val="1A237E"/>
                  </a:solidFill>
                  <a:latin typeface="프리젠테이션 7 Bold" pitchFamily="2" charset="-127"/>
                  <a:ea typeface="프리젠테이션 7 Bold" pitchFamily="2" charset="-127"/>
                </a:rPr>
                <a:t>ZnF</a:t>
              </a:r>
              <a:r>
                <a:rPr sz="1000" dirty="0">
                  <a:solidFill>
                    <a:srgbClr val="1A237E"/>
                  </a:solidFill>
                  <a:latin typeface="프리젠테이션 7 Bold" pitchFamily="2" charset="-127"/>
                  <a:ea typeface="프리젠테이션 7 Bold" pitchFamily="2" charset="-127"/>
                </a:rPr>
                <a:t>₂ ALD: DEZ + </a:t>
              </a:r>
              <a:r>
                <a:rPr sz="1000" dirty="0" err="1">
                  <a:solidFill>
                    <a:srgbClr val="1A237E"/>
                  </a:solidFill>
                  <a:latin typeface="프리젠테이션 7 Bold" pitchFamily="2" charset="-127"/>
                  <a:ea typeface="프리젠테이션 7 Bold" pitchFamily="2" charset="-127"/>
                </a:rPr>
                <a:t>HF·py</a:t>
              </a:r>
              <a:r>
                <a:rPr sz="1000" dirty="0">
                  <a:solidFill>
                    <a:srgbClr val="1A237E"/>
                  </a:solidFill>
                  <a:latin typeface="프리젠테이션 7 Bold" pitchFamily="2" charset="-127"/>
                  <a:ea typeface="프리젠테이션 7 Bold" pitchFamily="2" charset="-127"/>
                </a:rPr>
                <a:t> </a:t>
              </a:r>
              <a:r>
                <a:rPr sz="1000" dirty="0" err="1">
                  <a:solidFill>
                    <a:srgbClr val="1A237E"/>
                  </a:solidFill>
                  <a:latin typeface="프리젠테이션 7 Bold" pitchFamily="2" charset="-127"/>
                  <a:ea typeface="프리젠테이션 7 Bold" pitchFamily="2" charset="-127"/>
                </a:rPr>
                <a:t>전구체</a:t>
              </a:r>
              <a:r>
                <a:rPr sz="1000" dirty="0">
                  <a:solidFill>
                    <a:srgbClr val="1A237E"/>
                  </a:solidFill>
                  <a:latin typeface="프리젠테이션 7 Bold" pitchFamily="2" charset="-127"/>
                  <a:ea typeface="프리젠테이션 7 Bold" pitchFamily="2" charset="-127"/>
                </a:rPr>
                <a:t> </a:t>
              </a:r>
              <a:r>
                <a:rPr sz="1000" dirty="0" err="1">
                  <a:solidFill>
                    <a:srgbClr val="1A237E"/>
                  </a:solidFill>
                  <a:latin typeface="프리젠테이션 7 Bold" pitchFamily="2" charset="-127"/>
                  <a:ea typeface="프리젠테이션 7 Bold" pitchFamily="2" charset="-127"/>
                </a:rPr>
                <a:t>조합</a:t>
              </a:r>
              <a:endParaRPr sz="1000" dirty="0">
                <a:solidFill>
                  <a:srgbClr val="1A237E"/>
                </a:solidFill>
                <a:latin typeface="프리젠테이션 7 Bold" pitchFamily="2" charset="-127"/>
                <a:ea typeface="프리젠테이션 7 Bold" pitchFamily="2" charset="-127"/>
              </a:endParaRPr>
            </a:p>
            <a:p>
              <a:pPr marL="90488" indent="-90488" algn="l">
                <a:lnSpc>
                  <a:spcPts val="1300"/>
                </a:lnSpc>
                <a:buFont typeface="Arial" panose="020B0604020202020204" pitchFamily="34" charset="0"/>
                <a:buChar char="•"/>
              </a:pPr>
              <a:r>
                <a:rPr sz="1000" dirty="0" err="1">
                  <a:solidFill>
                    <a:srgbClr val="1A237E"/>
                  </a:solidFill>
                  <a:latin typeface="프리젠테이션 7 Bold" pitchFamily="2" charset="-127"/>
                  <a:ea typeface="프리젠테이션 7 Bold" pitchFamily="2" charset="-127"/>
                </a:rPr>
                <a:t>자기제한적</a:t>
              </a:r>
              <a:r>
                <a:rPr sz="1000" dirty="0">
                  <a:solidFill>
                    <a:srgbClr val="1A237E"/>
                  </a:solidFill>
                  <a:latin typeface="프리젠테이션 7 Bold" pitchFamily="2" charset="-127"/>
                  <a:ea typeface="프리젠테이션 7 Bold" pitchFamily="2" charset="-127"/>
                </a:rPr>
                <a:t>(self-limiting) </a:t>
              </a:r>
              <a:r>
                <a:rPr sz="1000" dirty="0" err="1">
                  <a:solidFill>
                    <a:srgbClr val="1A237E"/>
                  </a:solidFill>
                  <a:latin typeface="프리젠테이션 7 Bold" pitchFamily="2" charset="-127"/>
                  <a:ea typeface="프리젠테이션 7 Bold" pitchFamily="2" charset="-127"/>
                </a:rPr>
                <a:t>표면</a:t>
              </a:r>
              <a:r>
                <a:rPr sz="1000" dirty="0">
                  <a:solidFill>
                    <a:srgbClr val="1A237E"/>
                  </a:solidFill>
                  <a:latin typeface="프리젠테이션 7 Bold" pitchFamily="2" charset="-127"/>
                  <a:ea typeface="프리젠테이션 7 Bold" pitchFamily="2" charset="-127"/>
                </a:rPr>
                <a:t> </a:t>
              </a:r>
              <a:r>
                <a:rPr sz="1000" dirty="0" err="1">
                  <a:solidFill>
                    <a:srgbClr val="1A237E"/>
                  </a:solidFill>
                  <a:latin typeface="프리젠테이션 7 Bold" pitchFamily="2" charset="-127"/>
                  <a:ea typeface="프리젠테이션 7 Bold" pitchFamily="2" charset="-127"/>
                </a:rPr>
                <a:t>반응</a:t>
              </a:r>
              <a:endParaRPr sz="1000" dirty="0">
                <a:solidFill>
                  <a:srgbClr val="1A237E"/>
                </a:solidFill>
                <a:latin typeface="프리젠테이션 7 Bold" pitchFamily="2" charset="-127"/>
                <a:ea typeface="프리젠테이션 7 Bold" pitchFamily="2" charset="-127"/>
              </a:endParaRPr>
            </a:p>
            <a:p>
              <a:pPr marL="90488" indent="-90488" algn="l">
                <a:lnSpc>
                  <a:spcPts val="1300"/>
                </a:lnSpc>
                <a:buFont typeface="Arial" panose="020B0604020202020204" pitchFamily="34" charset="0"/>
                <a:buChar char="•"/>
              </a:pPr>
              <a:r>
                <a:rPr sz="1000" dirty="0" err="1">
                  <a:solidFill>
                    <a:srgbClr val="1A237E"/>
                  </a:solidFill>
                  <a:latin typeface="프리젠테이션 7 Bold" pitchFamily="2" charset="-127"/>
                  <a:ea typeface="프리젠테이션 7 Bold" pitchFamily="2" charset="-127"/>
                </a:rPr>
                <a:t>기판</a:t>
              </a:r>
              <a:r>
                <a:rPr sz="1000" dirty="0">
                  <a:solidFill>
                    <a:srgbClr val="1A237E"/>
                  </a:solidFill>
                  <a:latin typeface="프리젠테이션 7 Bold" pitchFamily="2" charset="-127"/>
                  <a:ea typeface="프리젠테이션 7 Bold" pitchFamily="2" charset="-127"/>
                </a:rPr>
                <a:t> </a:t>
              </a:r>
              <a:r>
                <a:rPr sz="1000" dirty="0" err="1">
                  <a:solidFill>
                    <a:srgbClr val="1A237E"/>
                  </a:solidFill>
                  <a:latin typeface="프리젠테이션 7 Bold" pitchFamily="2" charset="-127"/>
                  <a:ea typeface="프리젠테이션 7 Bold" pitchFamily="2" charset="-127"/>
                </a:rPr>
                <a:t>온도</a:t>
              </a:r>
              <a:r>
                <a:rPr sz="1000" dirty="0">
                  <a:solidFill>
                    <a:srgbClr val="1A237E"/>
                  </a:solidFill>
                  <a:latin typeface="프리젠테이션 7 Bold" pitchFamily="2" charset="-127"/>
                  <a:ea typeface="프리젠테이션 7 Bold" pitchFamily="2" charset="-127"/>
                </a:rPr>
                <a:t> 50~200°C, Å </a:t>
              </a:r>
              <a:r>
                <a:rPr sz="1000" dirty="0" err="1">
                  <a:solidFill>
                    <a:srgbClr val="1A237E"/>
                  </a:solidFill>
                  <a:latin typeface="프리젠테이션 7 Bold" pitchFamily="2" charset="-127"/>
                  <a:ea typeface="프리젠테이션 7 Bold" pitchFamily="2" charset="-127"/>
                </a:rPr>
                <a:t>수준</a:t>
              </a:r>
              <a:r>
                <a:rPr sz="1000" dirty="0">
                  <a:solidFill>
                    <a:srgbClr val="1A237E"/>
                  </a:solidFill>
                  <a:latin typeface="프리젠테이션 7 Bold" pitchFamily="2" charset="-127"/>
                  <a:ea typeface="프리젠테이션 7 Bold" pitchFamily="2" charset="-127"/>
                </a:rPr>
                <a:t> </a:t>
              </a:r>
              <a:r>
                <a:rPr sz="1000" dirty="0" err="1">
                  <a:solidFill>
                    <a:srgbClr val="1A237E"/>
                  </a:solidFill>
                  <a:latin typeface="프리젠테이션 7 Bold" pitchFamily="2" charset="-127"/>
                  <a:ea typeface="프리젠테이션 7 Bold" pitchFamily="2" charset="-127"/>
                </a:rPr>
                <a:t>두께</a:t>
              </a:r>
              <a:r>
                <a:rPr sz="1000" dirty="0">
                  <a:solidFill>
                    <a:srgbClr val="1A237E"/>
                  </a:solidFill>
                  <a:latin typeface="프리젠테이션 7 Bold" pitchFamily="2" charset="-127"/>
                  <a:ea typeface="프리젠테이션 7 Bold" pitchFamily="2" charset="-127"/>
                </a:rPr>
                <a:t> </a:t>
              </a:r>
              <a:r>
                <a:rPr sz="1000" dirty="0" err="1">
                  <a:solidFill>
                    <a:srgbClr val="1A237E"/>
                  </a:solidFill>
                  <a:latin typeface="프리젠테이션 7 Bold" pitchFamily="2" charset="-127"/>
                  <a:ea typeface="프리젠테이션 7 Bold" pitchFamily="2" charset="-127"/>
                </a:rPr>
                <a:t>제어</a:t>
              </a:r>
              <a:endParaRPr sz="1000" dirty="0">
                <a:solidFill>
                  <a:srgbClr val="1A237E"/>
                </a:solidFill>
                <a:latin typeface="프리젠테이션 7 Bold" pitchFamily="2" charset="-127"/>
                <a:ea typeface="프리젠테이션 7 Bold" pitchFamily="2" charset="-127"/>
              </a:endParaRPr>
            </a:p>
            <a:p>
              <a:pPr marL="90488" indent="-90488" algn="l">
                <a:lnSpc>
                  <a:spcPts val="1300"/>
                </a:lnSpc>
                <a:buFont typeface="Arial" panose="020B0604020202020204" pitchFamily="34" charset="0"/>
                <a:buChar char="•"/>
              </a:pPr>
              <a:r>
                <a:rPr sz="1000" dirty="0" err="1">
                  <a:solidFill>
                    <a:srgbClr val="1A237E"/>
                  </a:solidFill>
                  <a:latin typeface="프리젠테이션 7 Bold" pitchFamily="2" charset="-127"/>
                  <a:ea typeface="프리젠테이션 7 Bold" pitchFamily="2" charset="-127"/>
                </a:rPr>
                <a:t>결과</a:t>
              </a:r>
              <a:r>
                <a:rPr sz="1000" dirty="0">
                  <a:solidFill>
                    <a:srgbClr val="1A237E"/>
                  </a:solidFill>
                  <a:latin typeface="프리젠테이션 7 Bold" pitchFamily="2" charset="-127"/>
                  <a:ea typeface="프리젠테이션 7 Bold" pitchFamily="2" charset="-127"/>
                </a:rPr>
                <a:t>: </a:t>
              </a:r>
              <a:r>
                <a:rPr sz="1000" dirty="0" err="1">
                  <a:solidFill>
                    <a:srgbClr val="1A237E"/>
                  </a:solidFill>
                  <a:latin typeface="프리젠테이션 7 Bold" pitchFamily="2" charset="-127"/>
                  <a:ea typeface="프리젠테이션 7 Bold" pitchFamily="2" charset="-127"/>
                </a:rPr>
                <a:t>균일·공형</a:t>
              </a:r>
              <a:r>
                <a:rPr sz="1000" dirty="0">
                  <a:solidFill>
                    <a:srgbClr val="1A237E"/>
                  </a:solidFill>
                  <a:latin typeface="프리젠테이션 7 Bold" pitchFamily="2" charset="-127"/>
                  <a:ea typeface="프리젠테이션 7 Bold" pitchFamily="2" charset="-127"/>
                </a:rPr>
                <a:t>(conformal) </a:t>
              </a:r>
              <a:r>
                <a:rPr sz="1000" dirty="0" err="1">
                  <a:solidFill>
                    <a:srgbClr val="1A237E"/>
                  </a:solidFill>
                  <a:latin typeface="프리젠테이션 7 Bold" pitchFamily="2" charset="-127"/>
                  <a:ea typeface="프리젠테이션 7 Bold" pitchFamily="2" charset="-127"/>
                </a:rPr>
                <a:t>불화물</a:t>
              </a:r>
              <a:r>
                <a:rPr sz="1000" dirty="0">
                  <a:solidFill>
                    <a:srgbClr val="1A237E"/>
                  </a:solidFill>
                  <a:latin typeface="프리젠테이션 7 Bold" pitchFamily="2" charset="-127"/>
                  <a:ea typeface="프리젠테이션 7 Bold" pitchFamily="2" charset="-127"/>
                </a:rPr>
                <a:t> </a:t>
              </a:r>
              <a:r>
                <a:rPr sz="1000" dirty="0" err="1">
                  <a:solidFill>
                    <a:srgbClr val="1A237E"/>
                  </a:solidFill>
                  <a:latin typeface="프리젠테이션 7 Bold" pitchFamily="2" charset="-127"/>
                  <a:ea typeface="프리젠테이션 7 Bold" pitchFamily="2" charset="-127"/>
                </a:rPr>
                <a:t>박막</a:t>
              </a:r>
              <a:endParaRPr sz="1000" dirty="0">
                <a:solidFill>
                  <a:srgbClr val="1A237E"/>
                </a:solidFill>
                <a:latin typeface="프리젠테이션 7 Bold" pitchFamily="2" charset="-127"/>
                <a:ea typeface="프리젠테이션 7 Bold" pitchFamily="2" charset="-127"/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BDCE7FD5-69A3-BDE1-68A6-0C8B7C82BB60}"/>
                </a:ext>
              </a:extLst>
            </p:cNvPr>
            <p:cNvSpPr/>
            <p:nvPr/>
          </p:nvSpPr>
          <p:spPr>
            <a:xfrm>
              <a:off x="6156000" y="666000"/>
              <a:ext cx="2880000" cy="1951335"/>
            </a:xfrm>
            <a:prstGeom prst="rect">
              <a:avLst/>
            </a:prstGeom>
            <a:solidFill>
              <a:srgbClr val="E1F5F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D47A79E7-46EB-6A61-276E-83053BE1E607}"/>
                </a:ext>
              </a:extLst>
            </p:cNvPr>
            <p:cNvSpPr/>
            <p:nvPr/>
          </p:nvSpPr>
          <p:spPr>
            <a:xfrm>
              <a:off x="6166198" y="3956921"/>
              <a:ext cx="2880000" cy="755033"/>
            </a:xfrm>
            <a:prstGeom prst="rect">
              <a:avLst/>
            </a:prstGeom>
            <a:solidFill>
              <a:srgbClr val="E8F5E9"/>
            </a:solidFill>
            <a:ln w="6350">
              <a:solidFill>
                <a:srgbClr val="2E7D3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64A66C92-8138-30E4-AB7F-FD073B86A6AA}"/>
                </a:ext>
              </a:extLst>
            </p:cNvPr>
            <p:cNvSpPr txBox="1"/>
            <p:nvPr/>
          </p:nvSpPr>
          <p:spPr>
            <a:xfrm>
              <a:off x="6216465" y="3980381"/>
              <a:ext cx="2790000" cy="7477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indent="-171450" algn="l">
                <a:lnSpc>
                  <a:spcPts val="1300"/>
                </a:lnSpc>
                <a:buFont typeface="Arial" panose="020B0604020202020204" pitchFamily="34" charset="0"/>
                <a:buChar char="•"/>
              </a:pPr>
              <a:r>
                <a:rPr sz="1000" dirty="0">
                  <a:solidFill>
                    <a:srgbClr val="1B5E20"/>
                  </a:solidFill>
                  <a:latin typeface="프리젠테이션 7 Bold" pitchFamily="2" charset="-127"/>
                  <a:ea typeface="프리젠테이션 7 Bold" pitchFamily="2" charset="-127"/>
                </a:rPr>
                <a:t>ALD </a:t>
              </a:r>
              <a:r>
                <a:rPr sz="1000" dirty="0" err="1">
                  <a:solidFill>
                    <a:srgbClr val="1B5E20"/>
                  </a:solidFill>
                  <a:latin typeface="프리젠테이션 7 Bold" pitchFamily="2" charset="-127"/>
                  <a:ea typeface="프리젠테이션 7 Bold" pitchFamily="2" charset="-127"/>
                </a:rPr>
                <a:t>불화물</a:t>
              </a:r>
              <a:r>
                <a:rPr sz="1000" dirty="0">
                  <a:solidFill>
                    <a:srgbClr val="1B5E20"/>
                  </a:solidFill>
                  <a:latin typeface="프리젠테이션 7 Bold" pitchFamily="2" charset="-127"/>
                  <a:ea typeface="프리젠테이션 7 Bold" pitchFamily="2" charset="-127"/>
                </a:rPr>
                <a:t> </a:t>
              </a:r>
              <a:r>
                <a:rPr sz="1000" dirty="0" err="1">
                  <a:solidFill>
                    <a:srgbClr val="1B5E20"/>
                  </a:solidFill>
                  <a:latin typeface="프리젠테이션 7 Bold" pitchFamily="2" charset="-127"/>
                  <a:ea typeface="프리젠테이션 7 Bold" pitchFamily="2" charset="-127"/>
                </a:rPr>
                <a:t>인공</a:t>
              </a:r>
              <a:r>
                <a:rPr sz="1000" dirty="0">
                  <a:solidFill>
                    <a:srgbClr val="1B5E20"/>
                  </a:solidFill>
                  <a:latin typeface="프리젠테이션 7 Bold" pitchFamily="2" charset="-127"/>
                  <a:ea typeface="프리젠테이션 7 Bold" pitchFamily="2" charset="-127"/>
                </a:rPr>
                <a:t> SEI </a:t>
              </a:r>
              <a:r>
                <a:rPr sz="1000" dirty="0" err="1">
                  <a:solidFill>
                    <a:srgbClr val="1B5E20"/>
                  </a:solidFill>
                  <a:latin typeface="프리젠테이션 7 Bold" pitchFamily="2" charset="-127"/>
                  <a:ea typeface="프리젠테이션 7 Bold" pitchFamily="2" charset="-127"/>
                </a:rPr>
                <a:t>형성</a:t>
              </a:r>
              <a:r>
                <a:rPr sz="1000" dirty="0">
                  <a:solidFill>
                    <a:srgbClr val="1B5E20"/>
                  </a:solidFill>
                  <a:latin typeface="프리젠테이션 7 Bold" pitchFamily="2" charset="-127"/>
                  <a:ea typeface="프리젠테이션 7 Bold" pitchFamily="2" charset="-127"/>
                </a:rPr>
                <a:t> 후 Li </a:t>
              </a:r>
              <a:r>
                <a:rPr sz="1000" dirty="0" err="1">
                  <a:solidFill>
                    <a:srgbClr val="1B5E20"/>
                  </a:solidFill>
                  <a:latin typeface="프리젠테이션 7 Bold" pitchFamily="2" charset="-127"/>
                  <a:ea typeface="프리젠테이션 7 Bold" pitchFamily="2" charset="-127"/>
                </a:rPr>
                <a:t>전착</a:t>
              </a:r>
              <a:endParaRPr sz="1000" dirty="0">
                <a:solidFill>
                  <a:srgbClr val="1B5E20"/>
                </a:solidFill>
                <a:latin typeface="프리젠테이션 7 Bold" pitchFamily="2" charset="-127"/>
                <a:ea typeface="프리젠테이션 7 Bold" pitchFamily="2" charset="-127"/>
              </a:endParaRPr>
            </a:p>
            <a:p>
              <a:pPr marL="171450" indent="-171450" algn="l">
                <a:lnSpc>
                  <a:spcPts val="1300"/>
                </a:lnSpc>
                <a:buFont typeface="Arial" panose="020B0604020202020204" pitchFamily="34" charset="0"/>
                <a:buChar char="•"/>
              </a:pPr>
              <a:r>
                <a:rPr sz="1000" dirty="0" err="1">
                  <a:solidFill>
                    <a:srgbClr val="1B5E20"/>
                  </a:solidFill>
                  <a:latin typeface="프리젠테이션 7 Bold" pitchFamily="2" charset="-127"/>
                  <a:ea typeface="프리젠테이션 7 Bold" pitchFamily="2" charset="-127"/>
                </a:rPr>
                <a:t>균일</a:t>
              </a:r>
              <a:r>
                <a:rPr sz="1000" dirty="0">
                  <a:solidFill>
                    <a:srgbClr val="1B5E20"/>
                  </a:solidFill>
                  <a:latin typeface="프리젠테이션 7 Bold" pitchFamily="2" charset="-127"/>
                  <a:ea typeface="프리젠테이션 7 Bold" pitchFamily="2" charset="-127"/>
                </a:rPr>
                <a:t> </a:t>
              </a:r>
              <a:r>
                <a:rPr sz="1000" dirty="0" err="1">
                  <a:solidFill>
                    <a:srgbClr val="1B5E20"/>
                  </a:solidFill>
                  <a:latin typeface="프리젠테이션 7 Bold" pitchFamily="2" charset="-127"/>
                  <a:ea typeface="프리젠테이션 7 Bold" pitchFamily="2" charset="-127"/>
                </a:rPr>
                <a:t>핵생성</a:t>
              </a:r>
              <a:r>
                <a:rPr sz="1000" dirty="0">
                  <a:solidFill>
                    <a:srgbClr val="1B5E20"/>
                  </a:solidFill>
                  <a:latin typeface="프리젠테이션 7 Bold" pitchFamily="2" charset="-127"/>
                  <a:ea typeface="프리젠테이션 7 Bold" pitchFamily="2" charset="-127"/>
                </a:rPr>
                <a:t> → </a:t>
              </a:r>
              <a:r>
                <a:rPr sz="1000" dirty="0" err="1">
                  <a:solidFill>
                    <a:srgbClr val="1B5E20"/>
                  </a:solidFill>
                  <a:latin typeface="프리젠테이션 7 Bold" pitchFamily="2" charset="-127"/>
                  <a:ea typeface="프리젠테이션 7 Bold" pitchFamily="2" charset="-127"/>
                </a:rPr>
                <a:t>조밀·평탄한</a:t>
              </a:r>
              <a:r>
                <a:rPr sz="1000" dirty="0">
                  <a:solidFill>
                    <a:srgbClr val="1B5E20"/>
                  </a:solidFill>
                  <a:latin typeface="프리젠테이션 7 Bold" pitchFamily="2" charset="-127"/>
                  <a:ea typeface="프리젠테이션 7 Bold" pitchFamily="2" charset="-127"/>
                </a:rPr>
                <a:t> Li </a:t>
              </a:r>
              <a:r>
                <a:rPr sz="1000" dirty="0" err="1">
                  <a:solidFill>
                    <a:srgbClr val="1B5E20"/>
                  </a:solidFill>
                  <a:latin typeface="프리젠테이션 7 Bold" pitchFamily="2" charset="-127"/>
                  <a:ea typeface="프리젠테이션 7 Bold" pitchFamily="2" charset="-127"/>
                </a:rPr>
                <a:t>증착</a:t>
              </a:r>
              <a:endParaRPr sz="1000" dirty="0">
                <a:solidFill>
                  <a:srgbClr val="1B5E20"/>
                </a:solidFill>
                <a:latin typeface="프리젠테이션 7 Bold" pitchFamily="2" charset="-127"/>
                <a:ea typeface="프리젠테이션 7 Bold" pitchFamily="2" charset="-127"/>
              </a:endParaRPr>
            </a:p>
            <a:p>
              <a:pPr marL="171450" indent="-171450" algn="l">
                <a:lnSpc>
                  <a:spcPts val="1300"/>
                </a:lnSpc>
                <a:buFont typeface="Arial" panose="020B0604020202020204" pitchFamily="34" charset="0"/>
                <a:buChar char="•"/>
              </a:pPr>
              <a:r>
                <a:rPr sz="1000" dirty="0" err="1">
                  <a:solidFill>
                    <a:srgbClr val="1B5E20"/>
                  </a:solidFill>
                  <a:latin typeface="프리젠테이션 7 Bold" pitchFamily="2" charset="-127"/>
                  <a:ea typeface="프리젠테이션 7 Bold" pitchFamily="2" charset="-127"/>
                </a:rPr>
                <a:t>덴드라이트</a:t>
              </a:r>
              <a:r>
                <a:rPr sz="1000" dirty="0">
                  <a:solidFill>
                    <a:srgbClr val="1B5E20"/>
                  </a:solidFill>
                  <a:latin typeface="프리젠테이션 7 Bold" pitchFamily="2" charset="-127"/>
                  <a:ea typeface="프리젠테이션 7 Bold" pitchFamily="2" charset="-127"/>
                </a:rPr>
                <a:t> </a:t>
              </a:r>
              <a:r>
                <a:rPr sz="1000" dirty="0" err="1">
                  <a:solidFill>
                    <a:srgbClr val="1B5E20"/>
                  </a:solidFill>
                  <a:latin typeface="프리젠테이션 7 Bold" pitchFamily="2" charset="-127"/>
                  <a:ea typeface="프리젠테이션 7 Bold" pitchFamily="2" charset="-127"/>
                </a:rPr>
                <a:t>억제</a:t>
              </a:r>
              <a:r>
                <a:rPr sz="1000" dirty="0">
                  <a:solidFill>
                    <a:srgbClr val="1B5E20"/>
                  </a:solidFill>
                  <a:latin typeface="프리젠테이션 7 Bold" pitchFamily="2" charset="-127"/>
                  <a:ea typeface="프리젠테이션 7 Bold" pitchFamily="2" charset="-127"/>
                </a:rPr>
                <a:t>, SEI </a:t>
              </a:r>
              <a:r>
                <a:rPr sz="1000" dirty="0" err="1">
                  <a:solidFill>
                    <a:srgbClr val="1B5E20"/>
                  </a:solidFill>
                  <a:latin typeface="프리젠테이션 7 Bold" pitchFamily="2" charset="-127"/>
                  <a:ea typeface="프리젠테이션 7 Bold" pitchFamily="2" charset="-127"/>
                </a:rPr>
                <a:t>두께·조성</a:t>
              </a:r>
              <a:r>
                <a:rPr sz="1000" dirty="0">
                  <a:solidFill>
                    <a:srgbClr val="1B5E20"/>
                  </a:solidFill>
                  <a:latin typeface="프리젠테이션 7 Bold" pitchFamily="2" charset="-127"/>
                  <a:ea typeface="프리젠테이션 7 Bold" pitchFamily="2" charset="-127"/>
                </a:rPr>
                <a:t> </a:t>
              </a:r>
              <a:r>
                <a:rPr sz="1000" dirty="0" err="1">
                  <a:solidFill>
                    <a:srgbClr val="1B5E20"/>
                  </a:solidFill>
                  <a:latin typeface="프리젠테이션 7 Bold" pitchFamily="2" charset="-127"/>
                  <a:ea typeface="프리젠테이션 7 Bold" pitchFamily="2" charset="-127"/>
                </a:rPr>
                <a:t>정밀</a:t>
              </a:r>
              <a:r>
                <a:rPr sz="1000" dirty="0">
                  <a:solidFill>
                    <a:srgbClr val="1B5E20"/>
                  </a:solidFill>
                  <a:latin typeface="프리젠테이션 7 Bold" pitchFamily="2" charset="-127"/>
                  <a:ea typeface="프리젠테이션 7 Bold" pitchFamily="2" charset="-127"/>
                </a:rPr>
                <a:t> </a:t>
              </a:r>
              <a:r>
                <a:rPr sz="1000" dirty="0" err="1">
                  <a:solidFill>
                    <a:srgbClr val="1B5E20"/>
                  </a:solidFill>
                  <a:latin typeface="프리젠테이션 7 Bold" pitchFamily="2" charset="-127"/>
                  <a:ea typeface="프리젠테이션 7 Bold" pitchFamily="2" charset="-127"/>
                </a:rPr>
                <a:t>제어</a:t>
              </a:r>
              <a:endParaRPr sz="1000" dirty="0">
                <a:solidFill>
                  <a:srgbClr val="1B5E20"/>
                </a:solidFill>
                <a:latin typeface="프리젠테이션 7 Bold" pitchFamily="2" charset="-127"/>
                <a:ea typeface="프리젠테이션 7 Bold" pitchFamily="2" charset="-127"/>
              </a:endParaRPr>
            </a:p>
            <a:p>
              <a:pPr marL="171450" indent="-171450" algn="l">
                <a:lnSpc>
                  <a:spcPts val="1300"/>
                </a:lnSpc>
                <a:buFont typeface="Arial" panose="020B0604020202020204" pitchFamily="34" charset="0"/>
                <a:buChar char="•"/>
              </a:pPr>
              <a:r>
                <a:rPr sz="1000" dirty="0" err="1">
                  <a:solidFill>
                    <a:srgbClr val="1B5E20"/>
                  </a:solidFill>
                  <a:latin typeface="프리젠테이션 7 Bold" pitchFamily="2" charset="-127"/>
                  <a:ea typeface="프리젠테이션 7 Bold" pitchFamily="2" charset="-127"/>
                </a:rPr>
                <a:t>목표</a:t>
              </a:r>
              <a:r>
                <a:rPr sz="1000" dirty="0">
                  <a:solidFill>
                    <a:srgbClr val="1B5E20"/>
                  </a:solidFill>
                  <a:latin typeface="프리젠테이션 7 Bold" pitchFamily="2" charset="-127"/>
                  <a:ea typeface="프리젠테이션 7 Bold" pitchFamily="2" charset="-127"/>
                </a:rPr>
                <a:t>: CE &gt;99.5%, </a:t>
              </a:r>
              <a:r>
                <a:rPr sz="1000" dirty="0" err="1">
                  <a:solidFill>
                    <a:srgbClr val="1B5E20"/>
                  </a:solidFill>
                  <a:latin typeface="프리젠테이션 7 Bold" pitchFamily="2" charset="-127"/>
                  <a:ea typeface="프리젠테이션 7 Bold" pitchFamily="2" charset="-127"/>
                </a:rPr>
                <a:t>용량유지율</a:t>
              </a:r>
              <a:r>
                <a:rPr sz="1000" dirty="0">
                  <a:solidFill>
                    <a:srgbClr val="1B5E20"/>
                  </a:solidFill>
                  <a:latin typeface="프리젠테이션 7 Bold" pitchFamily="2" charset="-127"/>
                  <a:ea typeface="프리젠테이션 7 Bold" pitchFamily="2" charset="-127"/>
                </a:rPr>
                <a:t> &gt;80% (300 cy.)</a:t>
              </a:r>
            </a:p>
          </p:txBody>
        </p: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83BC33A1-639E-B645-8A9B-324BF7079ACB}"/>
                </a:ext>
              </a:extLst>
            </p:cNvPr>
            <p:cNvGrpSpPr/>
            <p:nvPr/>
          </p:nvGrpSpPr>
          <p:grpSpPr>
            <a:xfrm>
              <a:off x="124659" y="945294"/>
              <a:ext cx="2659224" cy="1416401"/>
              <a:chOff x="1932819" y="987409"/>
              <a:chExt cx="3559230" cy="1895777"/>
            </a:xfrm>
          </p:grpSpPr>
          <p:pic>
            <p:nvPicPr>
              <p:cNvPr id="62" name="Picture 7" descr="Icon&#10;&#10;Description automatically generated with medium confidence">
                <a:extLst>
                  <a:ext uri="{FF2B5EF4-FFF2-40B4-BE49-F238E27FC236}">
                    <a16:creationId xmlns:a16="http://schemas.microsoft.com/office/drawing/2014/main" id="{BB89BB7E-8636-6588-9284-52FB8F16A36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133" t="37899" r="16806" b="12022"/>
              <a:stretch/>
            </p:blipFill>
            <p:spPr>
              <a:xfrm rot="5520000">
                <a:off x="1433172" y="1571518"/>
                <a:ext cx="1548270" cy="548976"/>
              </a:xfrm>
              <a:prstGeom prst="rect">
                <a:avLst/>
              </a:prstGeom>
            </p:spPr>
          </p:pic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339B42A4-4B11-4BBB-B878-1210364EBEF1}"/>
                  </a:ext>
                </a:extLst>
              </p:cNvPr>
              <p:cNvSpPr txBox="1"/>
              <p:nvPr/>
            </p:nvSpPr>
            <p:spPr>
              <a:xfrm>
                <a:off x="2003738" y="2570561"/>
                <a:ext cx="433828" cy="3089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900" dirty="0">
                    <a:solidFill>
                      <a:schemeClr val="accent2">
                        <a:lumMod val="75000"/>
                      </a:schemeClr>
                    </a:solidFill>
                    <a:effectLst>
                      <a:innerShdw blurRad="63500" dist="50800" dir="13500000">
                        <a:prstClr val="black">
                          <a:alpha val="50000"/>
                        </a:prstClr>
                      </a:innerShdw>
                    </a:effectLst>
                    <a:latin typeface="프리젠테이션 9 Black" pitchFamily="2" charset="-127"/>
                    <a:ea typeface="프리젠테이션 9 Black" pitchFamily="2" charset="-127"/>
                    <a:cs typeface="Arial" panose="020B0604020202020204" pitchFamily="34" charset="0"/>
                  </a:rPr>
                  <a:t>Cu</a:t>
                </a:r>
              </a:p>
            </p:txBody>
          </p:sp>
          <p:pic>
            <p:nvPicPr>
              <p:cNvPr id="64" name="Picture 56" descr="A picture containing tool, brush&#10;&#10;Description automatically generated">
                <a:extLst>
                  <a:ext uri="{FF2B5EF4-FFF2-40B4-BE49-F238E27FC236}">
                    <a16:creationId xmlns:a16="http://schemas.microsoft.com/office/drawing/2014/main" id="{318E64E8-CF5D-4BE3-9D2E-E62A3FB097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5520000">
                <a:off x="4185099" y="1520224"/>
                <a:ext cx="1839765" cy="774135"/>
              </a:xfrm>
              <a:prstGeom prst="rect">
                <a:avLst/>
              </a:prstGeom>
            </p:spPr>
          </p:pic>
          <p:pic>
            <p:nvPicPr>
              <p:cNvPr id="65" name="Picture 1077" descr="A round orange object with white specks on it&#10;&#10;Description automatically generated">
                <a:extLst>
                  <a:ext uri="{FF2B5EF4-FFF2-40B4-BE49-F238E27FC236}">
                    <a16:creationId xmlns:a16="http://schemas.microsoft.com/office/drawing/2014/main" id="{010D41E6-B66F-14CC-CE4B-0EF25559041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0566" t="53983" r="27720" b="14461"/>
              <a:stretch/>
            </p:blipFill>
            <p:spPr>
              <a:xfrm rot="5520000">
                <a:off x="2733709" y="1519658"/>
                <a:ext cx="1755308" cy="746947"/>
              </a:xfrm>
              <a:prstGeom prst="rect">
                <a:avLst/>
              </a:prstGeom>
            </p:spPr>
          </p:pic>
          <p:pic>
            <p:nvPicPr>
              <p:cNvPr id="66" name="Picture 1078" descr="E:\PNG\화살표\1304 - 복사본.png">
                <a:extLst>
                  <a:ext uri="{FF2B5EF4-FFF2-40B4-BE49-F238E27FC236}">
                    <a16:creationId xmlns:a16="http://schemas.microsoft.com/office/drawing/2014/main" id="{BB1E9E80-1042-4CEB-5FB9-D2BA00B68A4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64624" y="1313064"/>
                <a:ext cx="1039596" cy="111499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049C51C4-4332-AF1F-4437-EFC60CA7CBA7}"/>
                  </a:ext>
                </a:extLst>
              </p:cNvPr>
              <p:cNvSpPr txBox="1"/>
              <p:nvPr/>
            </p:nvSpPr>
            <p:spPr>
              <a:xfrm>
                <a:off x="2353099" y="1629719"/>
                <a:ext cx="953045" cy="494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900" dirty="0">
                    <a:latin typeface="프리젠테이션 7 Bold" pitchFamily="2" charset="-127"/>
                    <a:ea typeface="프리젠테이션 7 Bold" pitchFamily="2" charset="-127"/>
                    <a:cs typeface="Arial" panose="020B0604020202020204" pitchFamily="34" charset="0"/>
                  </a:rPr>
                  <a:t>Li</a:t>
                </a:r>
              </a:p>
              <a:p>
                <a:pPr algn="ctr"/>
                <a:r>
                  <a:rPr lang="en-US" sz="900" dirty="0">
                    <a:latin typeface="프리젠테이션 7 Bold" pitchFamily="2" charset="-127"/>
                    <a:ea typeface="프리젠테이션 7 Bold" pitchFamily="2" charset="-127"/>
                    <a:cs typeface="Arial" panose="020B0604020202020204" pitchFamily="34" charset="0"/>
                  </a:rPr>
                  <a:t>nucleation</a:t>
                </a: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168FCD10-E2A6-8974-65FE-45F7705B39C0}"/>
                  </a:ext>
                </a:extLst>
              </p:cNvPr>
              <p:cNvSpPr txBox="1"/>
              <p:nvPr/>
            </p:nvSpPr>
            <p:spPr>
              <a:xfrm>
                <a:off x="2641246" y="2574230"/>
                <a:ext cx="1671800" cy="3089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900" dirty="0">
                    <a:solidFill>
                      <a:srgbClr val="C00000"/>
                    </a:solidFill>
                    <a:effectLst>
                      <a:innerShdw blurRad="63500" dist="50800" dir="13500000">
                        <a:prstClr val="black">
                          <a:alpha val="50000"/>
                        </a:prstClr>
                      </a:innerShdw>
                    </a:effectLst>
                    <a:latin typeface="프리젠테이션 9 Black" pitchFamily="2" charset="-127"/>
                    <a:ea typeface="프리젠테이션 9 Black" pitchFamily="2" charset="-127"/>
                    <a:cs typeface="Arial" panose="020B0604020202020204" pitchFamily="34" charset="0"/>
                  </a:rPr>
                  <a:t>Uneven</a:t>
                </a:r>
                <a:r>
                  <a:rPr lang="en-US" sz="900" dirty="0">
                    <a:effectLst>
                      <a:innerShdw blurRad="63500" dist="50800" dir="13500000">
                        <a:prstClr val="black">
                          <a:alpha val="50000"/>
                        </a:prstClr>
                      </a:innerShdw>
                    </a:effectLst>
                    <a:latin typeface="프리젠테이션 9 Black" pitchFamily="2" charset="-127"/>
                    <a:ea typeface="프리젠테이션 9 Black" pitchFamily="2" charset="-127"/>
                    <a:cs typeface="Arial" panose="020B0604020202020204" pitchFamily="34" charset="0"/>
                  </a:rPr>
                  <a:t> Li nucleation</a:t>
                </a:r>
              </a:p>
            </p:txBody>
          </p:sp>
          <p:pic>
            <p:nvPicPr>
              <p:cNvPr id="69" name="Picture 24" descr="E:\PNG\화살표\1304 - 복사본.png">
                <a:extLst>
                  <a:ext uri="{FF2B5EF4-FFF2-40B4-BE49-F238E27FC236}">
                    <a16:creationId xmlns:a16="http://schemas.microsoft.com/office/drawing/2014/main" id="{5D76C693-8F1A-7CF2-181C-94120FB2A96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712575" y="1349793"/>
                <a:ext cx="1039596" cy="111499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4CE7B78F-AF5E-D5A5-D96F-87D37F2316EA}"/>
                  </a:ext>
                </a:extLst>
              </p:cNvPr>
              <p:cNvSpPr txBox="1"/>
              <p:nvPr/>
            </p:nvSpPr>
            <p:spPr>
              <a:xfrm>
                <a:off x="3703125" y="1655118"/>
                <a:ext cx="959483" cy="494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900" dirty="0">
                    <a:latin typeface="프리젠테이션 7 Bold" pitchFamily="2" charset="-127"/>
                    <a:ea typeface="프리젠테이션 7 Bold" pitchFamily="2" charset="-127"/>
                    <a:cs typeface="Arial" panose="020B0604020202020204" pitchFamily="34" charset="0"/>
                  </a:rPr>
                  <a:t>Li</a:t>
                </a:r>
              </a:p>
              <a:p>
                <a:pPr algn="ctr"/>
                <a:r>
                  <a:rPr lang="en-US" sz="900" dirty="0">
                    <a:latin typeface="프리젠테이션 7 Bold" pitchFamily="2" charset="-127"/>
                    <a:ea typeface="프리젠테이션 7 Bold" pitchFamily="2" charset="-127"/>
                    <a:cs typeface="Arial" panose="020B0604020202020204" pitchFamily="34" charset="0"/>
                  </a:rPr>
                  <a:t>deposition</a:t>
                </a: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AAD011E4-BEE8-9CF0-305E-DD0EF612B686}"/>
                  </a:ext>
                </a:extLst>
              </p:cNvPr>
              <p:cNvSpPr txBox="1"/>
              <p:nvPr/>
            </p:nvSpPr>
            <p:spPr>
              <a:xfrm>
                <a:off x="4426990" y="2570561"/>
                <a:ext cx="1053886" cy="3089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900" dirty="0">
                    <a:effectLst>
                      <a:innerShdw blurRad="63500" dist="50800" dir="13500000">
                        <a:prstClr val="black">
                          <a:alpha val="50000"/>
                        </a:prstClr>
                      </a:innerShdw>
                    </a:effectLst>
                    <a:latin typeface="프리젠테이션 9 Black" pitchFamily="2" charset="-127"/>
                    <a:ea typeface="프리젠테이션 9 Black" pitchFamily="2" charset="-127"/>
                    <a:cs typeface="Arial" panose="020B0604020202020204" pitchFamily="34" charset="0"/>
                  </a:rPr>
                  <a:t>Li dendrites</a:t>
                </a: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D1C58559-B50C-0E53-4B7B-A8795A83FBFF}"/>
                  </a:ext>
                </a:extLst>
              </p:cNvPr>
              <p:cNvSpPr txBox="1"/>
              <p:nvPr/>
            </p:nvSpPr>
            <p:spPr>
              <a:xfrm>
                <a:off x="3775008" y="1108571"/>
                <a:ext cx="1152000" cy="2883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800" b="1" dirty="0" err="1">
                    <a:effectLst/>
                    <a:latin typeface="프리젠테이션 7 Bold" pitchFamily="2" charset="-127"/>
                    <a:ea typeface="프리젠테이션 7 Bold" pitchFamily="2" charset="-127"/>
                  </a:rPr>
                  <a:t>불균일·파단</a:t>
                </a:r>
                <a:r>
                  <a:rPr sz="800" b="1" dirty="0">
                    <a:effectLst/>
                    <a:latin typeface="프리젠테이션 7 Bold" pitchFamily="2" charset="-127"/>
                    <a:ea typeface="프리젠테이션 7 Bold" pitchFamily="2" charset="-127"/>
                  </a:rPr>
                  <a:t> SEI</a:t>
                </a:r>
              </a:p>
            </p:txBody>
          </p: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E3AA3116-80CE-5B63-F7D3-64BC011D8B2D}"/>
                  </a:ext>
                </a:extLst>
              </p:cNvPr>
              <p:cNvCxnSpPr/>
              <p:nvPr/>
            </p:nvCxnSpPr>
            <p:spPr>
              <a:xfrm>
                <a:off x="4578412" y="1321313"/>
                <a:ext cx="280413" cy="220134"/>
              </a:xfrm>
              <a:prstGeom prst="line">
                <a:avLst/>
              </a:prstGeom>
              <a:ln w="9525">
                <a:solidFill>
                  <a:schemeClr val="tx1">
                    <a:lumMod val="75000"/>
                    <a:lumOff val="25000"/>
                  </a:schemeClr>
                </a:solidFill>
                <a:tailEnd type="arrow" w="sm" len="sm"/>
              </a:ln>
              <a:effectLst>
                <a:glow rad="63500">
                  <a:schemeClr val="accent5">
                    <a:satMod val="175000"/>
                    <a:alpha val="40000"/>
                  </a:schemeClr>
                </a:glow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673FAF3A-C3AB-509C-FF1F-214B445CCF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28698" y="1349793"/>
                <a:ext cx="260113" cy="139135"/>
              </a:xfrm>
              <a:prstGeom prst="line">
                <a:avLst/>
              </a:prstGeom>
              <a:ln w="9525">
                <a:solidFill>
                  <a:schemeClr val="tx1">
                    <a:lumMod val="75000"/>
                    <a:lumOff val="25000"/>
                  </a:schemeClr>
                </a:solidFill>
                <a:tailEnd type="arrow" w="sm" len="sm"/>
              </a:ln>
              <a:effectLst>
                <a:glow rad="63500">
                  <a:schemeClr val="accent5">
                    <a:satMod val="175000"/>
                    <a:alpha val="40000"/>
                  </a:schemeClr>
                </a:glow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C38D97EB-7EE6-BF56-9D82-D7865FF157F0}"/>
                  </a:ext>
                </a:extLst>
              </p:cNvPr>
              <p:cNvSpPr txBox="1"/>
              <p:nvPr/>
            </p:nvSpPr>
            <p:spPr>
              <a:xfrm>
                <a:off x="2418180" y="1129573"/>
                <a:ext cx="1152000" cy="2883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800" b="1" dirty="0" err="1">
                    <a:effectLst/>
                    <a:latin typeface="프리젠테이션 7 Bold" pitchFamily="2" charset="-127"/>
                    <a:ea typeface="프리젠테이션 7 Bold" pitchFamily="2" charset="-127"/>
                  </a:rPr>
                  <a:t>불균일</a:t>
                </a:r>
                <a:r>
                  <a:rPr lang="en-US" sz="800" b="1" dirty="0">
                    <a:effectLst/>
                    <a:latin typeface="프리젠테이션 7 Bold" pitchFamily="2" charset="-127"/>
                    <a:ea typeface="프리젠테이션 7 Bold" pitchFamily="2" charset="-127"/>
                  </a:rPr>
                  <a:t> Li </a:t>
                </a:r>
                <a:r>
                  <a:rPr lang="ko-KR" altLang="en-US" sz="800" b="1" dirty="0">
                    <a:effectLst/>
                    <a:latin typeface="프리젠테이션 7 Bold" pitchFamily="2" charset="-127"/>
                    <a:ea typeface="프리젠테이션 7 Bold" pitchFamily="2" charset="-127"/>
                  </a:rPr>
                  <a:t>핵생성</a:t>
                </a:r>
                <a:endParaRPr sz="800" b="1" dirty="0">
                  <a:effectLst/>
                  <a:latin typeface="프리젠테이션 7 Bold" pitchFamily="2" charset="-127"/>
                  <a:ea typeface="프리젠테이션 7 Bold" pitchFamily="2" charset="-127"/>
                </a:endParaRPr>
              </a:p>
            </p:txBody>
          </p:sp>
        </p:grpSp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5B953CE4-52F9-8C8B-4B4C-F407ED289D76}"/>
                </a:ext>
              </a:extLst>
            </p:cNvPr>
            <p:cNvGrpSpPr/>
            <p:nvPr/>
          </p:nvGrpSpPr>
          <p:grpSpPr>
            <a:xfrm>
              <a:off x="6165229" y="947233"/>
              <a:ext cx="2888771" cy="1609862"/>
              <a:chOff x="1822446" y="4037861"/>
              <a:chExt cx="3946675" cy="2199413"/>
            </a:xfrm>
          </p:grpSpPr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85FC6287-8A72-73C4-530D-128AEDAADD30}"/>
                  </a:ext>
                </a:extLst>
              </p:cNvPr>
              <p:cNvSpPr txBox="1"/>
              <p:nvPr/>
            </p:nvSpPr>
            <p:spPr>
              <a:xfrm>
                <a:off x="1822446" y="5615716"/>
                <a:ext cx="969688" cy="3480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900" dirty="0" err="1">
                    <a:solidFill>
                      <a:srgbClr val="0070C0"/>
                    </a:solidFill>
                    <a:effectLst>
                      <a:innerShdw blurRad="63500" dist="50800" dir="13500000">
                        <a:prstClr val="black">
                          <a:alpha val="50000"/>
                        </a:prstClr>
                      </a:innerShdw>
                    </a:effectLst>
                    <a:latin typeface="프리젠테이션 9 Black" pitchFamily="2" charset="-127"/>
                    <a:ea typeface="프리젠테이션 9 Black" pitchFamily="2" charset="-127"/>
                    <a:cs typeface="Arial" panose="020B0604020202020204" pitchFamily="34" charset="0"/>
                  </a:rPr>
                  <a:t>MF</a:t>
                </a:r>
                <a:r>
                  <a:rPr lang="en-US" sz="900" baseline="-25000" dirty="0" err="1">
                    <a:solidFill>
                      <a:srgbClr val="0070C0"/>
                    </a:solidFill>
                    <a:effectLst>
                      <a:innerShdw blurRad="63500" dist="50800" dir="13500000">
                        <a:prstClr val="black">
                          <a:alpha val="50000"/>
                        </a:prstClr>
                      </a:innerShdw>
                    </a:effectLst>
                    <a:latin typeface="프리젠테이션 9 Black" pitchFamily="2" charset="-127"/>
                    <a:ea typeface="프리젠테이션 9 Black" pitchFamily="2" charset="-127"/>
                    <a:cs typeface="Arial" panose="020B0604020202020204" pitchFamily="34" charset="0"/>
                  </a:rPr>
                  <a:t>x</a:t>
                </a:r>
                <a:r>
                  <a:rPr lang="en-US" sz="900" dirty="0" err="1">
                    <a:solidFill>
                      <a:schemeClr val="accent2">
                        <a:lumMod val="75000"/>
                      </a:schemeClr>
                    </a:solidFill>
                    <a:effectLst>
                      <a:innerShdw blurRad="63500" dist="50800" dir="13500000">
                        <a:prstClr val="black">
                          <a:alpha val="50000"/>
                        </a:prstClr>
                      </a:innerShdw>
                    </a:effectLst>
                    <a:latin typeface="프리젠테이션 9 Black" pitchFamily="2" charset="-127"/>
                    <a:ea typeface="프리젠테이션 9 Black" pitchFamily="2" charset="-127"/>
                    <a:cs typeface="Arial" panose="020B0604020202020204" pitchFamily="34" charset="0"/>
                  </a:rPr>
                  <a:t>@Cu</a:t>
                </a:r>
                <a:endParaRPr lang="en-US" sz="900" dirty="0">
                  <a:solidFill>
                    <a:schemeClr val="accent2">
                      <a:lumMod val="75000"/>
                    </a:schemeClr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BFD19287-55CD-CDD1-503A-088A459D606F}"/>
                  </a:ext>
                </a:extLst>
              </p:cNvPr>
              <p:cNvSpPr txBox="1"/>
              <p:nvPr/>
            </p:nvSpPr>
            <p:spPr>
              <a:xfrm>
                <a:off x="2469783" y="5359301"/>
                <a:ext cx="968437" cy="2943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 err="1">
                    <a:solidFill>
                      <a:srgbClr val="FF00FF"/>
                    </a:solidFill>
                    <a:effectLst>
                      <a:innerShdw blurRad="63500" dist="50800" dir="13500000">
                        <a:prstClr val="black">
                          <a:alpha val="50000"/>
                        </a:prstClr>
                      </a:innerShdw>
                    </a:effectLst>
                    <a:latin typeface="프리젠테이션 9 Black" pitchFamily="2" charset="-127"/>
                    <a:ea typeface="프리젠테이션 9 Black" pitchFamily="2" charset="-127"/>
                    <a:cs typeface="Arial" panose="020B0604020202020204" pitchFamily="34" charset="0"/>
                  </a:rPr>
                  <a:t>LiF</a:t>
                </a:r>
                <a:r>
                  <a:rPr lang="en-US" sz="800" dirty="0">
                    <a:solidFill>
                      <a:srgbClr val="FF00FF"/>
                    </a:solidFill>
                    <a:effectLst>
                      <a:innerShdw blurRad="63500" dist="50800" dir="13500000">
                        <a:prstClr val="black">
                          <a:alpha val="50000"/>
                        </a:prstClr>
                      </a:innerShdw>
                    </a:effectLst>
                    <a:latin typeface="프리젠테이션 9 Black" pitchFamily="2" charset="-127"/>
                    <a:ea typeface="프리젠테이션 9 Black" pitchFamily="2" charset="-127"/>
                    <a:cs typeface="Arial" panose="020B0604020202020204" pitchFamily="34" charset="0"/>
                  </a:rPr>
                  <a:t>-rich SEI</a:t>
                </a:r>
              </a:p>
            </p:txBody>
          </p:sp>
          <p:pic>
            <p:nvPicPr>
              <p:cNvPr id="124" name="Picture 26" descr="E:\PNG\화살표\1304 - 복사본.png">
                <a:extLst>
                  <a:ext uri="{FF2B5EF4-FFF2-40B4-BE49-F238E27FC236}">
                    <a16:creationId xmlns:a16="http://schemas.microsoft.com/office/drawing/2014/main" id="{EC5FC447-C1EE-30FC-A79D-F2A9D19B4AA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70751" y="4274806"/>
                <a:ext cx="1099140" cy="118230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5730AE50-3781-6218-DB73-5B5285A9DBDE}"/>
                  </a:ext>
                </a:extLst>
              </p:cNvPr>
              <p:cNvSpPr txBox="1"/>
              <p:nvPr/>
            </p:nvSpPr>
            <p:spPr>
              <a:xfrm>
                <a:off x="2419425" y="4744765"/>
                <a:ext cx="880258" cy="3016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700" dirty="0">
                    <a:latin typeface="프리젠테이션 7 Bold" pitchFamily="2" charset="-127"/>
                    <a:ea typeface="프리젠테이션 7 Bold" pitchFamily="2" charset="-127"/>
                    <a:cs typeface="Arial" panose="020B0604020202020204" pitchFamily="34" charset="0"/>
                  </a:rPr>
                  <a:t>Activation</a:t>
                </a:r>
              </a:p>
            </p:txBody>
          </p:sp>
          <p:pic>
            <p:nvPicPr>
              <p:cNvPr id="126" name="Picture 34" descr="E:\PNG\화살표\1304 - 복사본.png">
                <a:extLst>
                  <a:ext uri="{FF2B5EF4-FFF2-40B4-BE49-F238E27FC236}">
                    <a16:creationId xmlns:a16="http://schemas.microsoft.com/office/drawing/2014/main" id="{5E263F17-85E7-4F4D-8F21-BF4BEC37B50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722773" y="4342114"/>
                <a:ext cx="1039596" cy="111499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ABD66E55-323B-6928-0E13-F4C581E5F248}"/>
                  </a:ext>
                </a:extLst>
              </p:cNvPr>
              <p:cNvSpPr txBox="1"/>
              <p:nvPr/>
            </p:nvSpPr>
            <p:spPr>
              <a:xfrm>
                <a:off x="3740534" y="4653561"/>
                <a:ext cx="904428" cy="4640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700" dirty="0">
                    <a:latin typeface="프리젠테이션 7 Bold" pitchFamily="2" charset="-127"/>
                    <a:ea typeface="프리젠테이션 7 Bold" pitchFamily="2" charset="-127"/>
                    <a:cs typeface="Arial" panose="020B0604020202020204" pitchFamily="34" charset="0"/>
                  </a:rPr>
                  <a:t>Li</a:t>
                </a:r>
              </a:p>
              <a:p>
                <a:pPr algn="ctr"/>
                <a:r>
                  <a:rPr lang="en-US" sz="700" dirty="0">
                    <a:latin typeface="프리젠테이션 7 Bold" pitchFamily="2" charset="-127"/>
                    <a:ea typeface="프리젠테이션 7 Bold" pitchFamily="2" charset="-127"/>
                    <a:cs typeface="Arial" panose="020B0604020202020204" pitchFamily="34" charset="0"/>
                  </a:rPr>
                  <a:t>deposition</a:t>
                </a:r>
              </a:p>
            </p:txBody>
          </p:sp>
          <p:pic>
            <p:nvPicPr>
              <p:cNvPr id="128" name="그림 48">
                <a:extLst>
                  <a:ext uri="{FF2B5EF4-FFF2-40B4-BE49-F238E27FC236}">
                    <a16:creationId xmlns:a16="http://schemas.microsoft.com/office/drawing/2014/main" id="{5BB7E39B-D6C7-12BC-83AA-B39D6C718E6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1696" t="55369" r="32060" b="18589"/>
              <a:stretch/>
            </p:blipFill>
            <p:spPr>
              <a:xfrm rot="5520000">
                <a:off x="4245635" y="4522666"/>
                <a:ext cx="1627317" cy="657707"/>
              </a:xfrm>
              <a:prstGeom prst="rect">
                <a:avLst/>
              </a:prstGeom>
            </p:spPr>
          </p:pic>
          <p:pic>
            <p:nvPicPr>
              <p:cNvPr id="129" name="그림 49">
                <a:extLst>
                  <a:ext uri="{FF2B5EF4-FFF2-40B4-BE49-F238E27FC236}">
                    <a16:creationId xmlns:a16="http://schemas.microsoft.com/office/drawing/2014/main" id="{08BFF6B1-24D3-D14F-CA74-193D530FC53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1662" t="60262" r="32160" b="19073"/>
              <a:stretch/>
            </p:blipFill>
            <p:spPr>
              <a:xfrm rot="5520000">
                <a:off x="2791381" y="4620012"/>
                <a:ext cx="1619532" cy="520380"/>
              </a:xfrm>
              <a:prstGeom prst="rect">
                <a:avLst/>
              </a:prstGeom>
            </p:spPr>
          </p:pic>
          <p:pic>
            <p:nvPicPr>
              <p:cNvPr id="130" name="그림 50">
                <a:extLst>
                  <a:ext uri="{FF2B5EF4-FFF2-40B4-BE49-F238E27FC236}">
                    <a16:creationId xmlns:a16="http://schemas.microsoft.com/office/drawing/2014/main" id="{928989F1-04B5-AF86-9DAC-611C002C30F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1476" t="59391" r="32375" b="18926"/>
              <a:stretch/>
            </p:blipFill>
            <p:spPr>
              <a:xfrm rot="5520000">
                <a:off x="1480934" y="4584474"/>
                <a:ext cx="1581371" cy="533552"/>
              </a:xfrm>
              <a:prstGeom prst="rect">
                <a:avLst/>
              </a:prstGeom>
            </p:spPr>
          </p:pic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2C43297D-88BE-A845-423C-E3CFCBBD500F}"/>
                  </a:ext>
                </a:extLst>
              </p:cNvPr>
              <p:cNvSpPr txBox="1"/>
              <p:nvPr/>
            </p:nvSpPr>
            <p:spPr>
              <a:xfrm>
                <a:off x="4229831" y="5615716"/>
                <a:ext cx="1539290" cy="3153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 dirty="0">
                    <a:solidFill>
                      <a:srgbClr val="C00000"/>
                    </a:solidFill>
                    <a:effectLst>
                      <a:innerShdw blurRad="63500" dist="50800" dir="13500000">
                        <a:prstClr val="black">
                          <a:alpha val="50000"/>
                        </a:prstClr>
                      </a:innerShdw>
                    </a:effectLst>
                    <a:latin typeface="프리젠테이션 9 Black" pitchFamily="2" charset="-127"/>
                    <a:ea typeface="프리젠테이션 9 Black" pitchFamily="2" charset="-127"/>
                    <a:cs typeface="Arial" panose="020B0604020202020204" pitchFamily="34" charset="0"/>
                  </a:rPr>
                  <a:t>Uniform</a:t>
                </a:r>
                <a:r>
                  <a:rPr lang="en-US" sz="900" dirty="0">
                    <a:effectLst>
                      <a:innerShdw blurRad="63500" dist="50800" dir="13500000">
                        <a:prstClr val="black">
                          <a:alpha val="50000"/>
                        </a:prstClr>
                      </a:innerShdw>
                    </a:effectLst>
                    <a:latin typeface="프리젠테이션 9 Black" pitchFamily="2" charset="-127"/>
                    <a:ea typeface="프리젠테이션 9 Black" pitchFamily="2" charset="-127"/>
                    <a:cs typeface="Arial" panose="020B0604020202020204" pitchFamily="34" charset="0"/>
                  </a:rPr>
                  <a:t> Li platting</a:t>
                </a:r>
              </a:p>
            </p:txBody>
          </p:sp>
          <p:cxnSp>
            <p:nvCxnSpPr>
              <p:cNvPr id="132" name="Straight Connector 131">
                <a:extLst>
                  <a:ext uri="{FF2B5EF4-FFF2-40B4-BE49-F238E27FC236}">
                    <a16:creationId xmlns:a16="http://schemas.microsoft.com/office/drawing/2014/main" id="{3AFFD2DC-247D-DFF0-2BBD-1466F5066779}"/>
                  </a:ext>
                </a:extLst>
              </p:cNvPr>
              <p:cNvCxnSpPr/>
              <p:nvPr/>
            </p:nvCxnSpPr>
            <p:spPr>
              <a:xfrm>
                <a:off x="3182561" y="4353707"/>
                <a:ext cx="280413" cy="220134"/>
              </a:xfrm>
              <a:prstGeom prst="line">
                <a:avLst/>
              </a:prstGeom>
              <a:ln w="9525">
                <a:solidFill>
                  <a:schemeClr val="tx1">
                    <a:lumMod val="75000"/>
                    <a:lumOff val="25000"/>
                  </a:schemeClr>
                </a:solidFill>
                <a:tailEnd type="arrow" w="sm" len="sm"/>
              </a:ln>
              <a:effectLst>
                <a:glow rad="63500">
                  <a:schemeClr val="accent5">
                    <a:satMod val="175000"/>
                    <a:alpha val="40000"/>
                  </a:schemeClr>
                </a:glow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>
                <a:extLst>
                  <a:ext uri="{FF2B5EF4-FFF2-40B4-BE49-F238E27FC236}">
                    <a16:creationId xmlns:a16="http://schemas.microsoft.com/office/drawing/2014/main" id="{1E00BB48-C304-DA23-CFED-4C0F59EE6D6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352097" y="5296946"/>
                <a:ext cx="259266" cy="209526"/>
              </a:xfrm>
              <a:prstGeom prst="line">
                <a:avLst/>
              </a:prstGeom>
              <a:ln w="9525">
                <a:solidFill>
                  <a:schemeClr val="tx1">
                    <a:lumMod val="75000"/>
                    <a:lumOff val="25000"/>
                  </a:schemeClr>
                </a:solidFill>
                <a:tailEnd type="arrow" w="sm" len="sm"/>
              </a:ln>
              <a:effectLst>
                <a:glow rad="63500">
                  <a:schemeClr val="accent5">
                    <a:satMod val="175000"/>
                    <a:alpha val="40000"/>
                  </a:schemeClr>
                </a:glow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981BB7EF-D6EA-0314-9432-3451EF1C63EF}"/>
                  </a:ext>
                </a:extLst>
              </p:cNvPr>
              <p:cNvSpPr txBox="1"/>
              <p:nvPr/>
            </p:nvSpPr>
            <p:spPr>
              <a:xfrm>
                <a:off x="2793257" y="5615716"/>
                <a:ext cx="1675442" cy="3480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900" dirty="0">
                    <a:solidFill>
                      <a:srgbClr val="C00000"/>
                    </a:solidFill>
                    <a:effectLst>
                      <a:innerShdw blurRad="63500" dist="50800" dir="13500000">
                        <a:prstClr val="black">
                          <a:alpha val="50000"/>
                        </a:prstClr>
                      </a:innerShdw>
                    </a:effectLst>
                    <a:latin typeface="프리젠테이션 9 Black" pitchFamily="2" charset="-127"/>
                    <a:ea typeface="프리젠테이션 9 Black" pitchFamily="2" charset="-127"/>
                    <a:cs typeface="Arial" panose="020B0604020202020204" pitchFamily="34" charset="0"/>
                  </a:rPr>
                  <a:t>Even</a:t>
                </a:r>
                <a:r>
                  <a:rPr lang="en-US" sz="900" dirty="0">
                    <a:effectLst>
                      <a:innerShdw blurRad="63500" dist="50800" dir="13500000">
                        <a:prstClr val="black">
                          <a:alpha val="50000"/>
                        </a:prstClr>
                      </a:innerShdw>
                    </a:effectLst>
                    <a:latin typeface="프리젠테이션 9 Black" pitchFamily="2" charset="-127"/>
                    <a:ea typeface="프리젠테이션 9 Black" pitchFamily="2" charset="-127"/>
                    <a:cs typeface="Arial" panose="020B0604020202020204" pitchFamily="34" charset="0"/>
                  </a:rPr>
                  <a:t> Li nucleation</a:t>
                </a:r>
              </a:p>
            </p:txBody>
          </p:sp>
          <p:cxnSp>
            <p:nvCxnSpPr>
              <p:cNvPr id="135" name="Straight Connector 134">
                <a:extLst>
                  <a:ext uri="{FF2B5EF4-FFF2-40B4-BE49-F238E27FC236}">
                    <a16:creationId xmlns:a16="http://schemas.microsoft.com/office/drawing/2014/main" id="{6FAFFB8F-C13A-EEEB-0756-86B39A3CDC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26132" y="4314477"/>
                <a:ext cx="228028" cy="179010"/>
              </a:xfrm>
              <a:prstGeom prst="line">
                <a:avLst/>
              </a:prstGeom>
              <a:ln w="9525">
                <a:solidFill>
                  <a:schemeClr val="tx1">
                    <a:lumMod val="75000"/>
                    <a:lumOff val="25000"/>
                  </a:schemeClr>
                </a:solidFill>
                <a:tailEnd type="arrow" w="sm" len="sm"/>
              </a:ln>
              <a:effectLst>
                <a:glow rad="63500">
                  <a:schemeClr val="accent5">
                    <a:satMod val="175000"/>
                    <a:alpha val="40000"/>
                  </a:schemeClr>
                </a:glow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C3FDC3EB-68BC-8E76-BB3D-D344FD60EAA2}"/>
                  </a:ext>
                </a:extLst>
              </p:cNvPr>
              <p:cNvSpPr txBox="1"/>
              <p:nvPr/>
            </p:nvSpPr>
            <p:spPr>
              <a:xfrm>
                <a:off x="2328748" y="4066214"/>
                <a:ext cx="1211531" cy="2943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 err="1">
                    <a:solidFill>
                      <a:srgbClr val="00B050"/>
                    </a:solidFill>
                    <a:effectLst>
                      <a:innerShdw blurRad="63500" dist="50800" dir="13500000">
                        <a:prstClr val="black">
                          <a:alpha val="50000"/>
                        </a:prstClr>
                      </a:innerShdw>
                    </a:effectLst>
                    <a:latin typeface="프리젠테이션 9 Black" pitchFamily="2" charset="-127"/>
                    <a:ea typeface="프리젠테이션 9 Black" pitchFamily="2" charset="-127"/>
                    <a:cs typeface="Arial" panose="020B0604020202020204" pitchFamily="34" charset="0"/>
                  </a:rPr>
                  <a:t>Lithiophilic</a:t>
                </a:r>
                <a:r>
                  <a:rPr lang="en-US" sz="800" dirty="0">
                    <a:solidFill>
                      <a:srgbClr val="00B050"/>
                    </a:solidFill>
                    <a:effectLst>
                      <a:innerShdw blurRad="63500" dist="50800" dir="13500000">
                        <a:prstClr val="black">
                          <a:alpha val="50000"/>
                        </a:prstClr>
                      </a:innerShdw>
                    </a:effectLst>
                    <a:latin typeface="프리젠테이션 9 Black" pitchFamily="2" charset="-127"/>
                    <a:ea typeface="프리젠테이션 9 Black" pitchFamily="2" charset="-127"/>
                    <a:cs typeface="Arial" panose="020B0604020202020204" pitchFamily="34" charset="0"/>
                  </a:rPr>
                  <a:t> </a:t>
                </a:r>
                <a:r>
                  <a:rPr lang="en-US" sz="800" dirty="0" err="1">
                    <a:solidFill>
                      <a:srgbClr val="00B050"/>
                    </a:solidFill>
                    <a:effectLst>
                      <a:innerShdw blurRad="63500" dist="50800" dir="13500000">
                        <a:prstClr val="black">
                          <a:alpha val="50000"/>
                        </a:prstClr>
                      </a:innerShdw>
                    </a:effectLst>
                    <a:latin typeface="프리젠테이션 9 Black" pitchFamily="2" charset="-127"/>
                    <a:ea typeface="프리젠테이션 9 Black" pitchFamily="2" charset="-127"/>
                    <a:cs typeface="Arial" panose="020B0604020202020204" pitchFamily="34" charset="0"/>
                  </a:rPr>
                  <a:t>LiM</a:t>
                </a:r>
                <a:endParaRPr lang="en-US" sz="800" dirty="0">
                  <a:solidFill>
                    <a:srgbClr val="00B050"/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D239EEB5-7373-AA0F-DF9A-7A98D691F33C}"/>
                  </a:ext>
                </a:extLst>
              </p:cNvPr>
              <p:cNvSpPr txBox="1"/>
              <p:nvPr/>
            </p:nvSpPr>
            <p:spPr>
              <a:xfrm>
                <a:off x="3597361" y="4068987"/>
                <a:ext cx="1325363" cy="4625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800" b="1" dirty="0">
                    <a:effectLst/>
                    <a:latin typeface="프리젠테이션 7 Bold" pitchFamily="2" charset="-127"/>
                    <a:ea typeface="프리젠테이션 7 Bold" pitchFamily="2" charset="-127"/>
                  </a:rPr>
                  <a:t>균일하고 평탄한 </a:t>
                </a:r>
                <a:r>
                  <a:rPr lang="en-US" altLang="ko-KR" sz="800" b="1" dirty="0">
                    <a:effectLst/>
                    <a:latin typeface="프리젠테이션 7 Bold" pitchFamily="2" charset="-127"/>
                    <a:ea typeface="프리젠테이션 7 Bold" pitchFamily="2" charset="-127"/>
                  </a:rPr>
                  <a:t>Li </a:t>
                </a:r>
                <a:r>
                  <a:rPr lang="ko-KR" altLang="en-US" sz="800" b="1" dirty="0">
                    <a:effectLst/>
                    <a:latin typeface="프리젠테이션 7 Bold" pitchFamily="2" charset="-127"/>
                    <a:ea typeface="프리젠테이션 7 Bold" pitchFamily="2" charset="-127"/>
                  </a:rPr>
                  <a:t>증착층</a:t>
                </a:r>
              </a:p>
            </p:txBody>
          </p:sp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91C8ED89-732B-3167-9EE6-6E91CE574BD6}"/>
                  </a:ext>
                </a:extLst>
              </p:cNvPr>
              <p:cNvSpPr txBox="1"/>
              <p:nvPr/>
            </p:nvSpPr>
            <p:spPr>
              <a:xfrm>
                <a:off x="1963484" y="5942932"/>
                <a:ext cx="2939923" cy="2943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8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 rad="63500">
                        <a:schemeClr val="accent4">
                          <a:satMod val="175000"/>
                          <a:alpha val="40000"/>
                        </a:schemeClr>
                      </a:glow>
                      <a:innerShdw blurRad="63500" dist="50800" dir="135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ea typeface="프리젠테이션 9 Black" pitchFamily="2" charset="-127"/>
                    <a:cs typeface="Arial" panose="020B0604020202020204" pitchFamily="34" charset="0"/>
                  </a:rPr>
                  <a:t>MF</a:t>
                </a:r>
                <a:r>
                  <a:rPr lang="en-US" sz="800" baseline="-250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 rad="63500">
                        <a:schemeClr val="accent4">
                          <a:satMod val="175000"/>
                          <a:alpha val="40000"/>
                        </a:schemeClr>
                      </a:glow>
                      <a:innerShdw blurRad="63500" dist="50800" dir="135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ea typeface="프리젠테이션 9 Black" pitchFamily="2" charset="-127"/>
                    <a:cs typeface="Arial" panose="020B0604020202020204" pitchFamily="34" charset="0"/>
                  </a:rPr>
                  <a:t>x</a:t>
                </a:r>
                <a:r>
                  <a:rPr 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 rad="63500">
                        <a:schemeClr val="accent4">
                          <a:satMod val="175000"/>
                          <a:alpha val="40000"/>
                        </a:schemeClr>
                      </a:glow>
                      <a:innerShdw blurRad="63500" dist="50800" dir="135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ea typeface="프리젠테이션 9 Black" pitchFamily="2" charset="-127"/>
                    <a:cs typeface="Arial" panose="020B0604020202020204" pitchFamily="34" charset="0"/>
                  </a:rPr>
                  <a:t>: Metal Fluoride, </a:t>
                </a:r>
                <a:r>
                  <a:rPr lang="en-US" sz="8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 rad="63500">
                        <a:schemeClr val="accent4">
                          <a:satMod val="175000"/>
                          <a:alpha val="40000"/>
                        </a:schemeClr>
                      </a:glow>
                      <a:innerShdw blurRad="63500" dist="50800" dir="135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ea typeface="프리젠테이션 9 Black" pitchFamily="2" charset="-127"/>
                    <a:cs typeface="Arial" panose="020B0604020202020204" pitchFamily="34" charset="0"/>
                  </a:rPr>
                  <a:t>eg.</a:t>
                </a:r>
                <a:r>
                  <a:rPr 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 rad="63500">
                        <a:schemeClr val="accent4">
                          <a:satMod val="175000"/>
                          <a:alpha val="40000"/>
                        </a:schemeClr>
                      </a:glow>
                      <a:innerShdw blurRad="63500" dist="50800" dir="135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ea typeface="프리젠테이션 9 Black" pitchFamily="2" charset="-127"/>
                    <a:cs typeface="Arial" panose="020B0604020202020204" pitchFamily="34" charset="0"/>
                  </a:rPr>
                  <a:t> ZnF</a:t>
                </a:r>
                <a:r>
                  <a:rPr lang="en-US" sz="800" baseline="-25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 rad="63500">
                        <a:schemeClr val="accent4">
                          <a:satMod val="175000"/>
                          <a:alpha val="40000"/>
                        </a:schemeClr>
                      </a:glow>
                      <a:innerShdw blurRad="63500" dist="50800" dir="135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ea typeface="프리젠테이션 9 Black" pitchFamily="2" charset="-127"/>
                    <a:cs typeface="Arial" panose="020B0604020202020204" pitchFamily="34" charset="0"/>
                  </a:rPr>
                  <a:t>2</a:t>
                </a:r>
                <a:r>
                  <a:rPr 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 rad="63500">
                        <a:schemeClr val="accent4">
                          <a:satMod val="175000"/>
                          <a:alpha val="40000"/>
                        </a:schemeClr>
                      </a:glow>
                      <a:innerShdw blurRad="63500" dist="50800" dir="135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ea typeface="프리젠테이션 9 Black" pitchFamily="2" charset="-127"/>
                    <a:cs typeface="Arial" panose="020B0604020202020204" pitchFamily="34" charset="0"/>
                  </a:rPr>
                  <a:t>, MgF</a:t>
                </a:r>
                <a:r>
                  <a:rPr lang="en-US" sz="800" baseline="-25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 rad="63500">
                        <a:schemeClr val="accent4">
                          <a:satMod val="175000"/>
                          <a:alpha val="40000"/>
                        </a:schemeClr>
                      </a:glow>
                      <a:innerShdw blurRad="63500" dist="50800" dir="135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ea typeface="프리젠테이션 9 Black" pitchFamily="2" charset="-127"/>
                    <a:cs typeface="Arial" panose="020B0604020202020204" pitchFamily="34" charset="0"/>
                  </a:rPr>
                  <a:t>2</a:t>
                </a:r>
                <a:r>
                  <a:rPr 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 rad="63500">
                        <a:schemeClr val="accent4">
                          <a:satMod val="175000"/>
                          <a:alpha val="40000"/>
                        </a:schemeClr>
                      </a:glow>
                      <a:innerShdw blurRad="63500" dist="50800" dir="135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ea typeface="프리젠테이션 9 Black" pitchFamily="2" charset="-127"/>
                    <a:cs typeface="Arial" panose="020B0604020202020204" pitchFamily="34" charset="0"/>
                  </a:rPr>
                  <a:t> </a:t>
                </a:r>
                <a:r>
                  <a:rPr lang="en-US" sz="8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glow rad="63500">
                        <a:schemeClr val="accent4">
                          <a:satMod val="175000"/>
                          <a:alpha val="40000"/>
                        </a:schemeClr>
                      </a:glow>
                      <a:innerShdw blurRad="63500" dist="50800" dir="135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ea typeface="프리젠테이션 9 Black" pitchFamily="2" charset="-127"/>
                    <a:cs typeface="Arial" panose="020B0604020202020204" pitchFamily="34" charset="0"/>
                  </a:rPr>
                  <a:t>etc</a:t>
                </a:r>
                <a:endPara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 rad="635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pic>
          <p:nvPicPr>
            <p:cNvPr id="279" name="Picture 278" descr="A diagram of different types of material&#10;&#10;AI-generated content may be incorrect.">
              <a:extLst>
                <a:ext uri="{FF2B5EF4-FFF2-40B4-BE49-F238E27FC236}">
                  <a16:creationId xmlns:a16="http://schemas.microsoft.com/office/drawing/2014/main" id="{CD528283-5E71-6F9F-4578-80AAC1A6921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b="28223"/>
            <a:stretch/>
          </p:blipFill>
          <p:spPr>
            <a:xfrm>
              <a:off x="3028284" y="638769"/>
              <a:ext cx="2798428" cy="1961634"/>
            </a:xfrm>
            <a:prstGeom prst="rect">
              <a:avLst/>
            </a:prstGeom>
          </p:spPr>
        </p:pic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030436A9-5640-63D1-5AD1-214908AAE531}"/>
                </a:ext>
              </a:extLst>
            </p:cNvPr>
            <p:cNvGrpSpPr/>
            <p:nvPr/>
          </p:nvGrpSpPr>
          <p:grpSpPr>
            <a:xfrm>
              <a:off x="91068" y="2645518"/>
              <a:ext cx="2740525" cy="1278953"/>
              <a:chOff x="108000" y="2645518"/>
              <a:chExt cx="2740525" cy="1278953"/>
            </a:xfrm>
          </p:grpSpPr>
          <p:pic>
            <p:nvPicPr>
              <p:cNvPr id="27" name="그림 45">
                <a:extLst>
                  <a:ext uri="{FF2B5EF4-FFF2-40B4-BE49-F238E27FC236}">
                    <a16:creationId xmlns:a16="http://schemas.microsoft.com/office/drawing/2014/main" id="{25D6E490-F297-AE08-4562-F36D6F5EF69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brightnessContrast bright="40000" contrast="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9070" t="1" r="1" b="37786"/>
              <a:stretch/>
            </p:blipFill>
            <p:spPr>
              <a:xfrm>
                <a:off x="140334" y="2670260"/>
                <a:ext cx="1280362" cy="1254211"/>
              </a:xfrm>
              <a:prstGeom prst="rect">
                <a:avLst/>
              </a:prstGeom>
            </p:spPr>
          </p:pic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C1F5F262-54B7-A739-63F9-D9F44773191B}"/>
                  </a:ext>
                </a:extLst>
              </p:cNvPr>
              <p:cNvGrpSpPr/>
              <p:nvPr/>
            </p:nvGrpSpPr>
            <p:grpSpPr>
              <a:xfrm>
                <a:off x="799316" y="3611759"/>
                <a:ext cx="579005" cy="261610"/>
                <a:chOff x="2203361" y="3674250"/>
                <a:chExt cx="579005" cy="261610"/>
              </a:xfrm>
            </p:grpSpPr>
            <p:cxnSp>
              <p:nvCxnSpPr>
                <p:cNvPr id="17" name="Straight Connector 78">
                  <a:extLst>
                    <a:ext uri="{FF2B5EF4-FFF2-40B4-BE49-F238E27FC236}">
                      <a16:creationId xmlns:a16="http://schemas.microsoft.com/office/drawing/2014/main" id="{CCBE4BA6-FC02-11CA-983C-E18EEAFED1A8}"/>
                    </a:ext>
                  </a:extLst>
                </p:cNvPr>
                <p:cNvCxnSpPr/>
                <p:nvPr/>
              </p:nvCxnSpPr>
              <p:spPr>
                <a:xfrm>
                  <a:off x="2277353" y="3908182"/>
                  <a:ext cx="432000" cy="0"/>
                </a:xfrm>
                <a:prstGeom prst="line">
                  <a:avLst/>
                </a:prstGeom>
                <a:ln w="254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23ED1D39-0CFA-B179-8223-F0EAD754EBD7}"/>
                    </a:ext>
                  </a:extLst>
                </p:cNvPr>
                <p:cNvSpPr txBox="1"/>
                <p:nvPr/>
              </p:nvSpPr>
              <p:spPr>
                <a:xfrm>
                  <a:off x="2203361" y="3674250"/>
                  <a:ext cx="579005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1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20 µm</a:t>
                  </a:r>
                </a:p>
              </p:txBody>
            </p:sp>
          </p:grpSp>
          <p:pic>
            <p:nvPicPr>
              <p:cNvPr id="21" name="그림 197">
                <a:extLst>
                  <a:ext uri="{FF2B5EF4-FFF2-40B4-BE49-F238E27FC236}">
                    <a16:creationId xmlns:a16="http://schemas.microsoft.com/office/drawing/2014/main" id="{CDD803A6-1AFA-6C74-93B6-BB9AF510048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2" cstate="print">
                <a:duotone>
                  <a:prstClr val="black"/>
                  <a:schemeClr val="accent5">
                    <a:lumMod val="20000"/>
                    <a:lumOff val="80000"/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8060" r="1" b="8085"/>
              <a:stretch/>
            </p:blipFill>
            <p:spPr>
              <a:xfrm>
                <a:off x="1457885" y="2668185"/>
                <a:ext cx="1390640" cy="1242519"/>
              </a:xfrm>
              <a:prstGeom prst="rect">
                <a:avLst/>
              </a:prstGeom>
            </p:spPr>
          </p:pic>
          <p:cxnSp>
            <p:nvCxnSpPr>
              <p:cNvPr id="22" name="Straight Connector 43">
                <a:extLst>
                  <a:ext uri="{FF2B5EF4-FFF2-40B4-BE49-F238E27FC236}">
                    <a16:creationId xmlns:a16="http://schemas.microsoft.com/office/drawing/2014/main" id="{7A9A2EED-7D7B-45C9-97DF-091D959C8925}"/>
                  </a:ext>
                </a:extLst>
              </p:cNvPr>
              <p:cNvCxnSpPr/>
              <p:nvPr/>
            </p:nvCxnSpPr>
            <p:spPr>
              <a:xfrm>
                <a:off x="2457177" y="3832769"/>
                <a:ext cx="280800" cy="0"/>
              </a:xfrm>
              <a:prstGeom prst="line">
                <a:avLst/>
              </a:prstGeom>
              <a:ln w="254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8DFCE52-A16C-38C6-D3BE-814714FFC38A}"/>
                  </a:ext>
                </a:extLst>
              </p:cNvPr>
              <p:cNvSpPr txBox="1"/>
              <p:nvPr/>
            </p:nvSpPr>
            <p:spPr>
              <a:xfrm>
                <a:off x="2259224" y="3573726"/>
                <a:ext cx="579005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1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20 µm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E6BCB91-8CE5-DF83-164B-3C9AC204D40F}"/>
                  </a:ext>
                </a:extLst>
              </p:cNvPr>
              <p:cNvSpPr txBox="1"/>
              <p:nvPr/>
            </p:nvSpPr>
            <p:spPr>
              <a:xfrm>
                <a:off x="108000" y="2645518"/>
                <a:ext cx="329747" cy="230832"/>
              </a:xfrm>
              <a:prstGeom prst="rect">
                <a:avLst/>
              </a:prstGeom>
              <a:solidFill>
                <a:schemeClr val="bg1">
                  <a:alpha val="44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900" dirty="0">
                    <a:solidFill>
                      <a:schemeClr val="accent2">
                        <a:lumMod val="75000"/>
                      </a:schemeClr>
                    </a:solidFill>
                    <a:effectLst>
                      <a:innerShdw blurRad="63500" dist="50800" dir="13500000">
                        <a:prstClr val="black">
                          <a:alpha val="50000"/>
                        </a:prstClr>
                      </a:innerShdw>
                    </a:effectLst>
                    <a:latin typeface="프리젠테이션 9 Black" pitchFamily="2" charset="-127"/>
                    <a:ea typeface="프리젠테이션 9 Black" pitchFamily="2" charset="-127"/>
                    <a:cs typeface="Arial" panose="020B0604020202020204" pitchFamily="34" charset="0"/>
                  </a:rPr>
                  <a:t>Cu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97C1C95-7BEA-179D-173B-D95C19CDB6C3}"/>
                  </a:ext>
                </a:extLst>
              </p:cNvPr>
              <p:cNvSpPr txBox="1"/>
              <p:nvPr/>
            </p:nvSpPr>
            <p:spPr>
              <a:xfrm>
                <a:off x="1424626" y="2674493"/>
                <a:ext cx="739553" cy="230832"/>
              </a:xfrm>
              <a:prstGeom prst="rect">
                <a:avLst/>
              </a:prstGeom>
              <a:solidFill>
                <a:schemeClr val="bg1">
                  <a:alpha val="44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900" dirty="0">
                    <a:effectLst>
                      <a:innerShdw blurRad="63500" dist="50800" dir="13500000">
                        <a:prstClr val="black">
                          <a:alpha val="50000"/>
                        </a:prstClr>
                      </a:innerShdw>
                    </a:effectLst>
                    <a:latin typeface="프리젠테이션 9 Black" pitchFamily="2" charset="-127"/>
                    <a:ea typeface="프리젠테이션 9 Black" pitchFamily="2" charset="-127"/>
                    <a:cs typeface="Arial" panose="020B0604020202020204" pitchFamily="34" charset="0"/>
                  </a:rPr>
                  <a:t>Li dendrite </a:t>
                </a:r>
              </a:p>
            </p:txBody>
          </p:sp>
        </p:grp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05FF35B9-9DBC-719F-83F7-93E3397B08AC}"/>
                </a:ext>
              </a:extLst>
            </p:cNvPr>
            <p:cNvGrpSpPr/>
            <p:nvPr/>
          </p:nvGrpSpPr>
          <p:grpSpPr>
            <a:xfrm>
              <a:off x="3140874" y="2688013"/>
              <a:ext cx="2711260" cy="1255781"/>
              <a:chOff x="3174740" y="2688013"/>
              <a:chExt cx="2638130" cy="1221909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0BC8B9BE-8556-1A74-0DE8-4D0EC38F777E}"/>
                  </a:ext>
                </a:extLst>
              </p:cNvPr>
              <p:cNvGrpSpPr/>
              <p:nvPr/>
            </p:nvGrpSpPr>
            <p:grpSpPr>
              <a:xfrm>
                <a:off x="3174740" y="2688013"/>
                <a:ext cx="1316826" cy="1192569"/>
                <a:chOff x="3170507" y="2726113"/>
                <a:chExt cx="875062" cy="792490"/>
              </a:xfrm>
            </p:grpSpPr>
            <p:pic>
              <p:nvPicPr>
                <p:cNvPr id="2" name="Picture 75">
                  <a:extLst>
                    <a:ext uri="{FF2B5EF4-FFF2-40B4-BE49-F238E27FC236}">
                      <a16:creationId xmlns:a16="http://schemas.microsoft.com/office/drawing/2014/main" id="{931F4AD9-9B1D-6570-37E3-E03AD5029A6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3"/>
                <a:srcRect l="49860" t="31698" r="33265" b="47675"/>
                <a:stretch/>
              </p:blipFill>
              <p:spPr>
                <a:xfrm>
                  <a:off x="3170507" y="2726113"/>
                  <a:ext cx="875062" cy="792490"/>
                </a:xfrm>
                <a:prstGeom prst="rect">
                  <a:avLst/>
                </a:prstGeom>
              </p:spPr>
            </p:pic>
            <p:cxnSp>
              <p:nvCxnSpPr>
                <p:cNvPr id="16" name="Straight Connector 72">
                  <a:extLst>
                    <a:ext uri="{FF2B5EF4-FFF2-40B4-BE49-F238E27FC236}">
                      <a16:creationId xmlns:a16="http://schemas.microsoft.com/office/drawing/2014/main" id="{67BE60F9-0E88-397E-57B5-DB673D748E76}"/>
                    </a:ext>
                  </a:extLst>
                </p:cNvPr>
                <p:cNvCxnSpPr/>
                <p:nvPr/>
              </p:nvCxnSpPr>
              <p:spPr>
                <a:xfrm>
                  <a:off x="3629471" y="3466451"/>
                  <a:ext cx="363491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" name="TextBox 66">
                  <a:extLst>
                    <a:ext uri="{FF2B5EF4-FFF2-40B4-BE49-F238E27FC236}">
                      <a16:creationId xmlns:a16="http://schemas.microsoft.com/office/drawing/2014/main" id="{878874AB-37A6-0320-DABE-177A851C4463}"/>
                    </a:ext>
                  </a:extLst>
                </p:cNvPr>
                <p:cNvSpPr txBox="1"/>
                <p:nvPr/>
              </p:nvSpPr>
              <p:spPr>
                <a:xfrm>
                  <a:off x="3598386" y="3274810"/>
                  <a:ext cx="413054" cy="233074"/>
                </a:xfrm>
                <a:prstGeom prst="rect">
                  <a:avLst/>
                </a:prstGeom>
                <a:noFill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none" rtlCol="0">
                  <a:spAutoFit/>
                </a:bodyPr>
                <a:lstStyle>
                  <a:defPPr>
                    <a:defRPr lang="en-US"/>
                  </a:defPPr>
                  <a:lvl1pPr algn="ctr">
                    <a:defRPr sz="900">
                      <a:ln w="0"/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Klavika Medium" panose="02000606040000020004" pitchFamily="50" charset="0"/>
                      <a:cs typeface="Arial" panose="020B0604020202020204" pitchFamily="34" charset="0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dirty="0"/>
                    <a:t>1 cm</a:t>
                  </a: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DED63C1F-C428-9746-4653-DEBF57DC4DF5}"/>
                    </a:ext>
                  </a:extLst>
                </p:cNvPr>
                <p:cNvSpPr txBox="1"/>
                <p:nvPr/>
              </p:nvSpPr>
              <p:spPr>
                <a:xfrm>
                  <a:off x="3304552" y="2958073"/>
                  <a:ext cx="618610" cy="2330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900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Arial" panose="020B0604020202020204" pitchFamily="34" charset="0"/>
                      <a:cs typeface="Arial" panose="020B0604020202020204" pitchFamily="34" charset="0"/>
                    </a:rPr>
                    <a:t>Zn</a:t>
                  </a:r>
                  <a:r>
                    <a:rPr lang="en-US" sz="900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Arial" panose="020B0604020202020204" pitchFamily="34" charset="0"/>
                      <a:ea typeface="Malgun Gothic" panose="020B0503020000020004" pitchFamily="34" charset="-127"/>
                    </a:rPr>
                    <a:t>F</a:t>
                  </a:r>
                  <a:r>
                    <a:rPr lang="en-US" sz="900" baseline="-25000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Arial" panose="020B0604020202020204" pitchFamily="34" charset="0"/>
                      <a:ea typeface="Malgun Gothic" panose="020B0503020000020004" pitchFamily="34" charset="-127"/>
                    </a:rPr>
                    <a:t>2</a:t>
                  </a:r>
                  <a:r>
                    <a:rPr lang="en-US" sz="900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Arial" panose="020B0604020202020204" pitchFamily="34" charset="0"/>
                      <a:cs typeface="Arial" panose="020B0604020202020204" pitchFamily="34" charset="0"/>
                    </a:rPr>
                    <a:t>/Cu</a:t>
                  </a:r>
                </a:p>
              </p:txBody>
            </p:sp>
          </p:grp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2EF95F8E-0A8C-143B-2B8E-1F903707AE78}"/>
                  </a:ext>
                </a:extLst>
              </p:cNvPr>
              <p:cNvGrpSpPr/>
              <p:nvPr/>
            </p:nvGrpSpPr>
            <p:grpSpPr>
              <a:xfrm>
                <a:off x="4534111" y="2688013"/>
                <a:ext cx="1278759" cy="1221909"/>
                <a:chOff x="2900509" y="980593"/>
                <a:chExt cx="2054981" cy="1917164"/>
              </a:xfrm>
            </p:grpSpPr>
            <p:pic>
              <p:nvPicPr>
                <p:cNvPr id="32" name="그림 25">
                  <a:extLst>
                    <a:ext uri="{FF2B5EF4-FFF2-40B4-BE49-F238E27FC236}">
                      <a16:creationId xmlns:a16="http://schemas.microsoft.com/office/drawing/2014/main" id="{A1D172ED-F176-3FB4-D06C-03C0B3F427E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4"/>
                <a:srcRect l="25484" t="43149" r="71549" b="47012"/>
                <a:stretch/>
              </p:blipFill>
              <p:spPr>
                <a:xfrm>
                  <a:off x="2900509" y="980593"/>
                  <a:ext cx="2051012" cy="1885307"/>
                </a:xfrm>
                <a:prstGeom prst="rect">
                  <a:avLst/>
                </a:prstGeom>
              </p:spPr>
            </p:pic>
            <p:cxnSp>
              <p:nvCxnSpPr>
                <p:cNvPr id="33" name="직선 연결선 6">
                  <a:extLst>
                    <a:ext uri="{FF2B5EF4-FFF2-40B4-BE49-F238E27FC236}">
                      <a16:creationId xmlns:a16="http://schemas.microsoft.com/office/drawing/2014/main" id="{15BFAF32-2A76-6737-A130-F108E2553F70}"/>
                    </a:ext>
                  </a:extLst>
                </p:cNvPr>
                <p:cNvCxnSpPr/>
                <p:nvPr/>
              </p:nvCxnSpPr>
              <p:spPr>
                <a:xfrm>
                  <a:off x="4345114" y="2734645"/>
                  <a:ext cx="450000" cy="0"/>
                </a:xfrm>
                <a:prstGeom prst="line">
                  <a:avLst/>
                </a:prstGeom>
                <a:ln w="254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B4ADCD5C-2A2E-2A5F-5BA6-A224AC4E01E6}"/>
                    </a:ext>
                  </a:extLst>
                </p:cNvPr>
                <p:cNvSpPr txBox="1"/>
                <p:nvPr/>
              </p:nvSpPr>
              <p:spPr>
                <a:xfrm>
                  <a:off x="4184738" y="2405260"/>
                  <a:ext cx="770752" cy="36217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900" dirty="0">
                      <a:solidFill>
                        <a:schemeClr val="bg1"/>
                      </a:solidFill>
                      <a:latin typeface="Klavika Medium" panose="02000606040000020004"/>
                      <a:cs typeface="Arial" panose="020B0604020202020204" pitchFamily="34" charset="0"/>
                    </a:rPr>
                    <a:t>25 nm</a:t>
                  </a:r>
                </a:p>
              </p:txBody>
            </p:sp>
            <p:cxnSp>
              <p:nvCxnSpPr>
                <p:cNvPr id="35" name="직선 연결선 9">
                  <a:extLst>
                    <a:ext uri="{FF2B5EF4-FFF2-40B4-BE49-F238E27FC236}">
                      <a16:creationId xmlns:a16="http://schemas.microsoft.com/office/drawing/2014/main" id="{F1845C58-3503-969E-9840-B6590E3BCB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04750" y="2334851"/>
                  <a:ext cx="535965" cy="0"/>
                </a:xfrm>
                <a:prstGeom prst="line">
                  <a:avLst/>
                </a:prstGeom>
                <a:ln w="9525">
                  <a:solidFill>
                    <a:schemeClr val="bg1"/>
                  </a:solidFill>
                  <a:prstDash val="sysDot"/>
                </a:ln>
                <a:effectLst>
                  <a:glow rad="63500">
                    <a:schemeClr val="accent6">
                      <a:satMod val="175000"/>
                      <a:alpha val="40000"/>
                    </a:schemeClr>
                  </a:glow>
                </a:effec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직선 연결선 35">
                  <a:extLst>
                    <a:ext uri="{FF2B5EF4-FFF2-40B4-BE49-F238E27FC236}">
                      <a16:creationId xmlns:a16="http://schemas.microsoft.com/office/drawing/2014/main" id="{AC7E283A-E68C-A7E6-CD98-BCD3D8143C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04750" y="1289178"/>
                  <a:ext cx="535965" cy="0"/>
                </a:xfrm>
                <a:prstGeom prst="line">
                  <a:avLst/>
                </a:prstGeom>
                <a:ln w="9525">
                  <a:solidFill>
                    <a:schemeClr val="bg1"/>
                  </a:solidFill>
                  <a:prstDash val="sysDot"/>
                </a:ln>
                <a:effectLst>
                  <a:glow rad="63500">
                    <a:schemeClr val="accent6">
                      <a:satMod val="175000"/>
                      <a:alpha val="40000"/>
                    </a:schemeClr>
                  </a:glow>
                </a:effec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직선 연결선 36">
                  <a:extLst>
                    <a:ext uri="{FF2B5EF4-FFF2-40B4-BE49-F238E27FC236}">
                      <a16:creationId xmlns:a16="http://schemas.microsoft.com/office/drawing/2014/main" id="{8E006128-19A9-89E8-4E80-42DBDC12AE64}"/>
                    </a:ext>
                  </a:extLst>
                </p:cNvPr>
                <p:cNvCxnSpPr/>
                <p:nvPr/>
              </p:nvCxnSpPr>
              <p:spPr>
                <a:xfrm>
                  <a:off x="3360157" y="1307424"/>
                  <a:ext cx="0" cy="1008000"/>
                </a:xfrm>
                <a:prstGeom prst="line">
                  <a:avLst/>
                </a:prstGeom>
                <a:ln w="9525">
                  <a:solidFill>
                    <a:schemeClr val="bg1"/>
                  </a:solidFill>
                  <a:prstDash val="solid"/>
                  <a:headEnd type="arrow" w="sm" len="sm"/>
                  <a:tailEnd type="arrow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3BEC4608-964B-D016-3BD8-EC6EBA476857}"/>
                    </a:ext>
                  </a:extLst>
                </p:cNvPr>
                <p:cNvSpPr txBox="1"/>
                <p:nvPr/>
              </p:nvSpPr>
              <p:spPr>
                <a:xfrm>
                  <a:off x="3334209" y="1645373"/>
                  <a:ext cx="296865" cy="36217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kumimoji="1" lang="en-US" sz="9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43AFADC0-1DE5-A89A-B8B3-0BAC95C983B3}"/>
                    </a:ext>
                  </a:extLst>
                </p:cNvPr>
                <p:cNvSpPr txBox="1"/>
                <p:nvPr/>
              </p:nvSpPr>
              <p:spPr>
                <a:xfrm>
                  <a:off x="3225704" y="1540407"/>
                  <a:ext cx="1117572" cy="65191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kumimoji="1" lang="en-US" sz="1000" dirty="0">
                      <a:solidFill>
                        <a:schemeClr val="bg1"/>
                      </a:solidFill>
                      <a:effectLst>
                        <a:glow rad="63500">
                          <a:schemeClr val="accent4">
                            <a:satMod val="175000"/>
                            <a:alpha val="40000"/>
                          </a:schemeClr>
                        </a:glow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Klavika Medium" panose="02000606040000020004"/>
                      <a:cs typeface="Arial" panose="020B0604020202020204" pitchFamily="34" charset="0"/>
                    </a:rPr>
                    <a:t>ZnF</a:t>
                  </a:r>
                  <a:r>
                    <a:rPr kumimoji="1" lang="en-US" sz="1000" baseline="-25000" dirty="0">
                      <a:solidFill>
                        <a:schemeClr val="bg1"/>
                      </a:solidFill>
                      <a:effectLst>
                        <a:glow rad="63500">
                          <a:schemeClr val="accent4">
                            <a:satMod val="175000"/>
                            <a:alpha val="40000"/>
                          </a:schemeClr>
                        </a:glow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Klavika Medium" panose="02000606040000020004"/>
                      <a:cs typeface="Arial" panose="020B0604020202020204" pitchFamily="34" charset="0"/>
                    </a:rPr>
                    <a:t>2</a:t>
                  </a:r>
                  <a:br>
                    <a:rPr kumimoji="1" lang="en-US" sz="1000" baseline="-25000" dirty="0">
                      <a:solidFill>
                        <a:schemeClr val="bg1"/>
                      </a:solidFill>
                      <a:effectLst>
                        <a:glow rad="63500">
                          <a:schemeClr val="accent4">
                            <a:satMod val="175000"/>
                            <a:alpha val="40000"/>
                          </a:schemeClr>
                        </a:glow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Klavika Medium" panose="02000606040000020004"/>
                      <a:cs typeface="Arial" panose="020B0604020202020204" pitchFamily="34" charset="0"/>
                    </a:rPr>
                  </a:br>
                  <a:r>
                    <a:rPr kumimoji="1" lang="en-US" sz="1000" dirty="0">
                      <a:solidFill>
                        <a:schemeClr val="bg1"/>
                      </a:solidFill>
                      <a:effectLst>
                        <a:glow rad="63500">
                          <a:schemeClr val="accent4">
                            <a:satMod val="175000"/>
                            <a:alpha val="40000"/>
                          </a:schemeClr>
                        </a:glow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Klavika Medium" panose="02000606040000020004"/>
                      <a:cs typeface="Arial" panose="020B0604020202020204" pitchFamily="34" charset="0"/>
                    </a:rPr>
                    <a:t>(~50 nm)</a:t>
                  </a:r>
                </a:p>
              </p:txBody>
            </p:sp>
            <p:sp>
              <p:nvSpPr>
                <p:cNvPr id="40" name="TextBox 123">
                  <a:extLst>
                    <a:ext uri="{FF2B5EF4-FFF2-40B4-BE49-F238E27FC236}">
                      <a16:creationId xmlns:a16="http://schemas.microsoft.com/office/drawing/2014/main" id="{97112797-6F67-DB4A-2AF1-D7FC0ABB99CE}"/>
                    </a:ext>
                  </a:extLst>
                </p:cNvPr>
                <p:cNvSpPr txBox="1"/>
                <p:nvPr/>
              </p:nvSpPr>
              <p:spPr>
                <a:xfrm>
                  <a:off x="2900509" y="2487293"/>
                  <a:ext cx="538908" cy="4104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kumimoji="1" lang="en-US" sz="1050" b="1" dirty="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Klavika Medium" panose="02000606040000020004"/>
                      <a:cs typeface="Arial" panose="020B0604020202020204" pitchFamily="34" charset="0"/>
                    </a:rPr>
                    <a:t>Cu</a:t>
                  </a:r>
                </a:p>
              </p:txBody>
            </p:sp>
          </p:grpSp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E48ABCCC-A9E0-130B-0D81-4145133B470C}"/>
                </a:ext>
              </a:extLst>
            </p:cNvPr>
            <p:cNvGrpSpPr/>
            <p:nvPr/>
          </p:nvGrpSpPr>
          <p:grpSpPr>
            <a:xfrm>
              <a:off x="6216170" y="2662120"/>
              <a:ext cx="2900360" cy="1282880"/>
              <a:chOff x="6178073" y="2683289"/>
              <a:chExt cx="2767609" cy="1224162"/>
            </a:xfrm>
          </p:grpSpPr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BCF9ED09-F402-7737-151A-7090DAAA442B}"/>
                  </a:ext>
                </a:extLst>
              </p:cNvPr>
              <p:cNvGrpSpPr/>
              <p:nvPr/>
            </p:nvGrpSpPr>
            <p:grpSpPr>
              <a:xfrm>
                <a:off x="6178073" y="2690090"/>
                <a:ext cx="1343078" cy="1203346"/>
                <a:chOff x="6204701" y="2691814"/>
                <a:chExt cx="1400853" cy="1255111"/>
              </a:xfrm>
            </p:grpSpPr>
            <p:pic>
              <p:nvPicPr>
                <p:cNvPr id="41" name="그림 1">
                  <a:extLst>
                    <a:ext uri="{FF2B5EF4-FFF2-40B4-BE49-F238E27FC236}">
                      <a16:creationId xmlns:a16="http://schemas.microsoft.com/office/drawing/2014/main" id="{E9BF7930-AE2E-CA3C-310B-063C8282B7E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8082" t="47540" r="19818" b="16406"/>
                <a:stretch/>
              </p:blipFill>
              <p:spPr>
                <a:xfrm>
                  <a:off x="6204701" y="2697296"/>
                  <a:ext cx="1364474" cy="1249629"/>
                </a:xfrm>
                <a:prstGeom prst="rect">
                  <a:avLst/>
                </a:prstGeom>
              </p:spPr>
            </p:pic>
            <p:cxnSp>
              <p:nvCxnSpPr>
                <p:cNvPr id="42" name="Straight Connector 94">
                  <a:extLst>
                    <a:ext uri="{FF2B5EF4-FFF2-40B4-BE49-F238E27FC236}">
                      <a16:creationId xmlns:a16="http://schemas.microsoft.com/office/drawing/2014/main" id="{8F3632ED-0CE6-BA70-9D9B-5D8B23F0174B}"/>
                    </a:ext>
                  </a:extLst>
                </p:cNvPr>
                <p:cNvCxnSpPr/>
                <p:nvPr/>
              </p:nvCxnSpPr>
              <p:spPr>
                <a:xfrm>
                  <a:off x="7182006" y="3863160"/>
                  <a:ext cx="280800" cy="0"/>
                </a:xfrm>
                <a:prstGeom prst="line">
                  <a:avLst/>
                </a:prstGeom>
                <a:ln w="254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AC5A13AB-1C27-FCD8-AA3B-9A52EC091460}"/>
                    </a:ext>
                  </a:extLst>
                </p:cNvPr>
                <p:cNvSpPr txBox="1"/>
                <p:nvPr/>
              </p:nvSpPr>
              <p:spPr>
                <a:xfrm>
                  <a:off x="7026548" y="3622789"/>
                  <a:ext cx="57900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0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20 µm</a:t>
                  </a:r>
                </a:p>
              </p:txBody>
            </p:sp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5FBF5AF6-9490-0C7B-24F7-4A5CBB4F7475}"/>
                    </a:ext>
                  </a:extLst>
                </p:cNvPr>
                <p:cNvSpPr txBox="1"/>
                <p:nvPr/>
              </p:nvSpPr>
              <p:spPr>
                <a:xfrm>
                  <a:off x="6204701" y="2691814"/>
                  <a:ext cx="734325" cy="240762"/>
                </a:xfrm>
                <a:prstGeom prst="rect">
                  <a:avLst/>
                </a:prstGeom>
                <a:solidFill>
                  <a:schemeClr val="bg1">
                    <a:alpha val="44000"/>
                  </a:schemeClr>
                </a:solidFill>
              </p:spPr>
              <p:txBody>
                <a:bodyPr wrap="square">
                  <a:spAutoFit/>
                </a:bodyPr>
                <a:lstStyle>
                  <a:defPPr>
                    <a:defRPr lang="en-US"/>
                  </a:defPPr>
                  <a:lvl1pPr>
                    <a:defRPr sz="900">
                      <a:solidFill>
                        <a:schemeClr val="accent2">
                          <a:lumMod val="75000"/>
                        </a:schemeClr>
                      </a:solidFill>
                      <a:effectLst>
                        <a:innerShdw blurRad="63500" dist="50800" dir="13500000">
                          <a:prstClr val="black">
                            <a:alpha val="50000"/>
                          </a:prstClr>
                        </a:innerShdw>
                      </a:effectLst>
                      <a:latin typeface="프리젠테이션 9 Black" pitchFamily="2" charset="-127"/>
                      <a:ea typeface="프리젠테이션 9 Black" pitchFamily="2" charset="-127"/>
                      <a:cs typeface="Arial" panose="020B0604020202020204" pitchFamily="34" charset="0"/>
                    </a:defRPr>
                  </a:lvl1pPr>
                </a:lstStyle>
                <a:p>
                  <a:r>
                    <a:rPr lang="en-US" dirty="0"/>
                    <a:t>ZnF</a:t>
                  </a:r>
                  <a:r>
                    <a:rPr lang="en-US" baseline="-25000" dirty="0"/>
                    <a:t>2</a:t>
                  </a:r>
                  <a:r>
                    <a:rPr lang="en-US" dirty="0"/>
                    <a:t>@Cu</a:t>
                  </a:r>
                </a:p>
              </p:txBody>
            </p:sp>
            <p:sp>
              <p:nvSpPr>
                <p:cNvPr id="45" name="직사각형 121">
                  <a:extLst>
                    <a:ext uri="{FF2B5EF4-FFF2-40B4-BE49-F238E27FC236}">
                      <a16:creationId xmlns:a16="http://schemas.microsoft.com/office/drawing/2014/main" id="{06B76156-B38A-42DC-24A0-BD0D3AAA5665}"/>
                    </a:ext>
                  </a:extLst>
                </p:cNvPr>
                <p:cNvSpPr/>
                <p:nvPr/>
              </p:nvSpPr>
              <p:spPr>
                <a:xfrm>
                  <a:off x="7551948" y="2697297"/>
                  <a:ext cx="36000" cy="12456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</p:grp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074AF133-C893-D095-4438-FF3D1D0A4879}"/>
                  </a:ext>
                </a:extLst>
              </p:cNvPr>
              <p:cNvGrpSpPr/>
              <p:nvPr/>
            </p:nvGrpSpPr>
            <p:grpSpPr>
              <a:xfrm>
                <a:off x="7478134" y="2683289"/>
                <a:ext cx="1343288" cy="1224162"/>
                <a:chOff x="5249436" y="6041628"/>
                <a:chExt cx="1386003" cy="1263090"/>
              </a:xfrm>
            </p:grpSpPr>
            <p:pic>
              <p:nvPicPr>
                <p:cNvPr id="57" name="Picture 14" descr="A close-up of a layer of ice&#10;&#10;Description automatically generated">
                  <a:extLst>
                    <a:ext uri="{FF2B5EF4-FFF2-40B4-BE49-F238E27FC236}">
                      <a16:creationId xmlns:a16="http://schemas.microsoft.com/office/drawing/2014/main" id="{3225061E-C39D-A364-C726-1897FF9E29E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6" cstate="print">
                  <a:duotone>
                    <a:prstClr val="black"/>
                    <a:schemeClr val="accent6">
                      <a:lumMod val="20000"/>
                      <a:lumOff val="80000"/>
                      <a:tint val="45000"/>
                      <a:satMod val="400000"/>
                    </a:scheme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17">
                          <a14:imgEffect>
                            <a14:colorTemperature colorTemp="88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0754" t="9500" r="479" b="12807"/>
                <a:stretch/>
              </p:blipFill>
              <p:spPr>
                <a:xfrm rot="10800000">
                  <a:off x="5266792" y="6056118"/>
                  <a:ext cx="1368647" cy="1238630"/>
                </a:xfrm>
                <a:prstGeom prst="rect">
                  <a:avLst/>
                </a:prstGeom>
              </p:spPr>
            </p:pic>
            <p:cxnSp>
              <p:nvCxnSpPr>
                <p:cNvPr id="58" name="Straight Arrow Connector 87">
                  <a:extLst>
                    <a:ext uri="{FF2B5EF4-FFF2-40B4-BE49-F238E27FC236}">
                      <a16:creationId xmlns:a16="http://schemas.microsoft.com/office/drawing/2014/main" id="{F3757951-09D1-EA54-0C81-C8E03DCEB35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837984" y="6370667"/>
                  <a:ext cx="0" cy="648000"/>
                </a:xfrm>
                <a:prstGeom prst="straightConnector1">
                  <a:avLst/>
                </a:prstGeom>
                <a:ln w="12700">
                  <a:solidFill>
                    <a:schemeClr val="bg1"/>
                  </a:solidFill>
                  <a:headEnd type="arrow" w="sm" len="med"/>
                  <a:tailEnd type="arrow" w="sm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96">
                  <a:extLst>
                    <a:ext uri="{FF2B5EF4-FFF2-40B4-BE49-F238E27FC236}">
                      <a16:creationId xmlns:a16="http://schemas.microsoft.com/office/drawing/2014/main" id="{2C3EF1DB-AF0B-5182-AF88-D26B8C07359D}"/>
                    </a:ext>
                  </a:extLst>
                </p:cNvPr>
                <p:cNvCxnSpPr/>
                <p:nvPr/>
              </p:nvCxnSpPr>
              <p:spPr>
                <a:xfrm>
                  <a:off x="6169740" y="7219251"/>
                  <a:ext cx="370800" cy="0"/>
                </a:xfrm>
                <a:prstGeom prst="line">
                  <a:avLst/>
                </a:prstGeom>
                <a:ln w="254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102">
                  <a:extLst>
                    <a:ext uri="{FF2B5EF4-FFF2-40B4-BE49-F238E27FC236}">
                      <a16:creationId xmlns:a16="http://schemas.microsoft.com/office/drawing/2014/main" id="{0AAC0B1E-7D19-BDF2-D5F4-391A4C215DF6}"/>
                    </a:ext>
                  </a:extLst>
                </p:cNvPr>
                <p:cNvCxnSpPr/>
                <p:nvPr/>
              </p:nvCxnSpPr>
              <p:spPr>
                <a:xfrm>
                  <a:off x="5775401" y="7018667"/>
                  <a:ext cx="118212" cy="0"/>
                </a:xfrm>
                <a:prstGeom prst="line">
                  <a:avLst/>
                </a:prstGeom>
                <a:ln w="12700">
                  <a:solidFill>
                    <a:schemeClr val="bg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C982050C-7D70-3D7F-EBDE-C96244904551}"/>
                    </a:ext>
                  </a:extLst>
                </p:cNvPr>
                <p:cNvSpPr txBox="1"/>
                <p:nvPr/>
              </p:nvSpPr>
              <p:spPr>
                <a:xfrm>
                  <a:off x="5806306" y="6566418"/>
                  <a:ext cx="57900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1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34 µm</a:t>
                  </a:r>
                </a:p>
              </p:txBody>
            </p:sp>
            <p:cxnSp>
              <p:nvCxnSpPr>
                <p:cNvPr id="77" name="Straight Connector 101">
                  <a:extLst>
                    <a:ext uri="{FF2B5EF4-FFF2-40B4-BE49-F238E27FC236}">
                      <a16:creationId xmlns:a16="http://schemas.microsoft.com/office/drawing/2014/main" id="{0FE9F2E4-EAFC-D7BA-F88C-FCB504D4B6FC}"/>
                    </a:ext>
                  </a:extLst>
                </p:cNvPr>
                <p:cNvCxnSpPr/>
                <p:nvPr/>
              </p:nvCxnSpPr>
              <p:spPr>
                <a:xfrm>
                  <a:off x="5775401" y="6366935"/>
                  <a:ext cx="118212" cy="0"/>
                </a:xfrm>
                <a:prstGeom prst="line">
                  <a:avLst/>
                </a:prstGeom>
                <a:ln w="12700">
                  <a:solidFill>
                    <a:schemeClr val="bg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F797CCAE-3727-EE92-4C6D-5586F05F2164}"/>
                    </a:ext>
                  </a:extLst>
                </p:cNvPr>
                <p:cNvSpPr txBox="1"/>
                <p:nvPr/>
              </p:nvSpPr>
              <p:spPr>
                <a:xfrm>
                  <a:off x="5285436" y="6041628"/>
                  <a:ext cx="1139921" cy="238172"/>
                </a:xfrm>
                <a:prstGeom prst="rect">
                  <a:avLst/>
                </a:prstGeom>
                <a:solidFill>
                  <a:schemeClr val="bg1">
                    <a:alpha val="44000"/>
                  </a:schemeClr>
                </a:solidFill>
              </p:spPr>
              <p:txBody>
                <a:bodyPr wrap="square">
                  <a:spAutoFit/>
                </a:bodyPr>
                <a:lstStyle>
                  <a:defPPr>
                    <a:defRPr lang="en-US"/>
                  </a:defPPr>
                  <a:lvl1pPr>
                    <a:defRPr sz="900">
                      <a:effectLst>
                        <a:innerShdw blurRad="63500" dist="50800" dir="13500000">
                          <a:prstClr val="black">
                            <a:alpha val="50000"/>
                          </a:prstClr>
                        </a:innerShdw>
                      </a:effectLst>
                      <a:latin typeface="프리젠테이션 9 Black" pitchFamily="2" charset="-127"/>
                      <a:ea typeface="프리젠테이션 9 Black" pitchFamily="2" charset="-127"/>
                      <a:cs typeface="Arial" panose="020B0604020202020204" pitchFamily="34" charset="0"/>
                    </a:defRPr>
                  </a:lvl1pPr>
                </a:lstStyle>
                <a:p>
                  <a:r>
                    <a:rPr lang="en-US" dirty="0"/>
                    <a:t>Uniform </a:t>
                  </a:r>
                  <a:r>
                    <a:rPr lang="en-US"/>
                    <a:t>Li Plating</a:t>
                  </a:r>
                  <a:endParaRPr lang="en-US" dirty="0"/>
                </a:p>
              </p:txBody>
            </p:sp>
            <p:sp>
              <p:nvSpPr>
                <p:cNvPr id="79" name="직사각형 123">
                  <a:extLst>
                    <a:ext uri="{FF2B5EF4-FFF2-40B4-BE49-F238E27FC236}">
                      <a16:creationId xmlns:a16="http://schemas.microsoft.com/office/drawing/2014/main" id="{A47129A0-61DE-1E78-2BC1-BE3DE8D34003}"/>
                    </a:ext>
                  </a:extLst>
                </p:cNvPr>
                <p:cNvSpPr/>
                <p:nvPr/>
              </p:nvSpPr>
              <p:spPr>
                <a:xfrm>
                  <a:off x="5249436" y="6059103"/>
                  <a:ext cx="36000" cy="12456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57313573-F43B-9CD9-8FA6-71F413F9EFFD}"/>
                  </a:ext>
                </a:extLst>
              </p:cNvPr>
              <p:cNvSpPr txBox="1"/>
              <p:nvPr/>
            </p:nvSpPr>
            <p:spPr>
              <a:xfrm>
                <a:off x="8390556" y="3594871"/>
                <a:ext cx="555126" cy="2508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20 µm</a:t>
                </a:r>
              </a:p>
            </p:txBody>
          </p:sp>
        </p:grpSp>
        <p:pic>
          <p:nvPicPr>
            <p:cNvPr id="88" name="Picture 24" descr="E:\PNG\화살표\1304 - 복사본.png">
              <a:extLst>
                <a:ext uri="{FF2B5EF4-FFF2-40B4-BE49-F238E27FC236}">
                  <a16:creationId xmlns:a16="http://schemas.microsoft.com/office/drawing/2014/main" id="{A193AE5B-C504-5E6F-FF72-4A9651BF4C8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duotone>
                <a:prstClr val="black"/>
                <a:srgbClr val="2E7D32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87196" y="1337181"/>
              <a:ext cx="528182" cy="25308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7" name="Picture 24" descr="E:\PNG\화살표\1304 - 복사본.png">
              <a:extLst>
                <a:ext uri="{FF2B5EF4-FFF2-40B4-BE49-F238E27FC236}">
                  <a16:creationId xmlns:a16="http://schemas.microsoft.com/office/drawing/2014/main" id="{F7F6A7F7-B6BF-6DBF-2A27-233B7EBFE6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duotone>
                <a:prstClr val="black"/>
                <a:srgbClr val="303F9F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185" y="1344696"/>
              <a:ext cx="528182" cy="25308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838983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52">
            <a:extLst>
              <a:ext uri="{FF2B5EF4-FFF2-40B4-BE49-F238E27FC236}">
                <a16:creationId xmlns:a16="http://schemas.microsoft.com/office/drawing/2014/main" id="{F755D013-1CC9-89B6-E163-07BC07B3977F}"/>
              </a:ext>
            </a:extLst>
          </p:cNvPr>
          <p:cNvGrpSpPr/>
          <p:nvPr/>
        </p:nvGrpSpPr>
        <p:grpSpPr>
          <a:xfrm>
            <a:off x="7121251" y="1572643"/>
            <a:ext cx="727801" cy="232844"/>
            <a:chOff x="6561481" y="1836490"/>
            <a:chExt cx="727801" cy="232844"/>
          </a:xfrm>
        </p:grpSpPr>
        <p:pic>
          <p:nvPicPr>
            <p:cNvPr id="54" name="Picture 8" descr="3d Sphere Sphere PNG &amp; clipart images | TOPpng">
              <a:extLst>
                <a:ext uri="{FF2B5EF4-FFF2-40B4-BE49-F238E27FC236}">
                  <a16:creationId xmlns:a16="http://schemas.microsoft.com/office/drawing/2014/main" id="{C87D0E9E-C7ED-2535-5C42-ED204AECB76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6561481" y="1836490"/>
              <a:ext cx="145103" cy="1444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5" name="Picture 8" descr="3d Sphere Sphere PNG &amp; clipart images | TOPpng">
              <a:extLst>
                <a:ext uri="{FF2B5EF4-FFF2-40B4-BE49-F238E27FC236}">
                  <a16:creationId xmlns:a16="http://schemas.microsoft.com/office/drawing/2014/main" id="{67636D81-3920-85B6-B9D1-2DACEA9BAEB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6707156" y="1852659"/>
              <a:ext cx="145103" cy="1444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6" name="Picture 8" descr="3d Sphere Sphere PNG &amp; clipart images | TOPpng">
              <a:extLst>
                <a:ext uri="{FF2B5EF4-FFF2-40B4-BE49-F238E27FC236}">
                  <a16:creationId xmlns:a16="http://schemas.microsoft.com/office/drawing/2014/main" id="{62EF6506-45B8-DF68-3355-CCB95C2AA31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6852831" y="1874129"/>
              <a:ext cx="145103" cy="1444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7" name="Picture 8" descr="3d Sphere Sphere PNG &amp; clipart images | TOPpng">
              <a:extLst>
                <a:ext uri="{FF2B5EF4-FFF2-40B4-BE49-F238E27FC236}">
                  <a16:creationId xmlns:a16="http://schemas.microsoft.com/office/drawing/2014/main" id="{217478B1-8630-D593-95D9-1A4CC3BE66E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6998506" y="1904259"/>
              <a:ext cx="145103" cy="1444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8" name="Picture 8" descr="3d Sphere Sphere PNG &amp; clipart images | TOPpng">
              <a:extLst>
                <a:ext uri="{FF2B5EF4-FFF2-40B4-BE49-F238E27FC236}">
                  <a16:creationId xmlns:a16="http://schemas.microsoft.com/office/drawing/2014/main" id="{08719B67-5D07-4930-DD01-5FF93548344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7144179" y="1924884"/>
              <a:ext cx="145103" cy="1444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26" name="Picture 2" descr="Atomic Layer Deposition (ALD) and Atomic Layer Etching (ALE) - AIP  Publishing LLC">
            <a:extLst>
              <a:ext uri="{FF2B5EF4-FFF2-40B4-BE49-F238E27FC236}">
                <a16:creationId xmlns:a16="http://schemas.microsoft.com/office/drawing/2014/main" id="{044CFB18-57D2-B0AB-E4F7-B04E308CC1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459" y="1096434"/>
            <a:ext cx="2793087" cy="2747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4DBC0590-1363-0719-BF9E-FA07FF056E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6432" y="2375217"/>
            <a:ext cx="2251075" cy="1468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>
            <a:extLst>
              <a:ext uri="{FF2B5EF4-FFF2-40B4-BE49-F238E27FC236}">
                <a16:creationId xmlns:a16="http://schemas.microsoft.com/office/drawing/2014/main" id="{048D3FA0-D6CA-6CE2-675B-8344CF16C7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-13493"/>
          <a:stretch/>
        </p:blipFill>
        <p:spPr bwMode="auto">
          <a:xfrm>
            <a:off x="238798" y="3562319"/>
            <a:ext cx="1852988" cy="780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29" name="Group 1028">
            <a:extLst>
              <a:ext uri="{FF2B5EF4-FFF2-40B4-BE49-F238E27FC236}">
                <a16:creationId xmlns:a16="http://schemas.microsoft.com/office/drawing/2014/main" id="{32334224-3DB0-380F-A6A4-D09041660EFD}"/>
              </a:ext>
            </a:extLst>
          </p:cNvPr>
          <p:cNvGrpSpPr/>
          <p:nvPr/>
        </p:nvGrpSpPr>
        <p:grpSpPr>
          <a:xfrm>
            <a:off x="3293632" y="4015904"/>
            <a:ext cx="1852988" cy="745833"/>
            <a:chOff x="3293632" y="4015904"/>
            <a:chExt cx="1852988" cy="745833"/>
          </a:xfrm>
        </p:grpSpPr>
        <p:pic>
          <p:nvPicPr>
            <p:cNvPr id="1030" name="Picture 6">
              <a:extLst>
                <a:ext uri="{FF2B5EF4-FFF2-40B4-BE49-F238E27FC236}">
                  <a16:creationId xmlns:a16="http://schemas.microsoft.com/office/drawing/2014/main" id="{712660C8-4D5C-CE20-4AF9-2FD07011A2B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4006"/>
            <a:stretch/>
          </p:blipFill>
          <p:spPr bwMode="auto">
            <a:xfrm>
              <a:off x="3293632" y="4015904"/>
              <a:ext cx="1852988" cy="4535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0B70F8C3-93F3-0BD0-4320-7282E9396B5C}"/>
                </a:ext>
              </a:extLst>
            </p:cNvPr>
            <p:cNvCxnSpPr/>
            <p:nvPr/>
          </p:nvCxnSpPr>
          <p:spPr>
            <a:xfrm>
              <a:off x="3587892" y="4510494"/>
              <a:ext cx="1265234" cy="0"/>
            </a:xfrm>
            <a:prstGeom prst="straightConnector1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5E37B87-0B35-9092-B7B8-0E5386295138}"/>
                </a:ext>
              </a:extLst>
            </p:cNvPr>
            <p:cNvSpPr txBox="1"/>
            <p:nvPr/>
          </p:nvSpPr>
          <p:spPr>
            <a:xfrm>
              <a:off x="3652245" y="4530905"/>
              <a:ext cx="108485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900" b="1" dirty="0">
                  <a:effectLst/>
                  <a:latin typeface="프리젠테이션 7 Bold" pitchFamily="2" charset="-127"/>
                  <a:ea typeface="프리젠테이션 7 Bold" pitchFamily="2" charset="-127"/>
                </a:rPr>
                <a:t># of ALD cycles</a:t>
              </a:r>
              <a:endParaRPr lang="ko-KR" altLang="en-US" sz="900" b="1" dirty="0">
                <a:effectLst/>
                <a:latin typeface="프리젠테이션 7 Bold" pitchFamily="2" charset="-127"/>
                <a:ea typeface="프리젠테이션 7 Bold" pitchFamily="2" charset="-127"/>
              </a:endParaRPr>
            </a:p>
          </p:txBody>
        </p:sp>
      </p:grpSp>
      <p:pic>
        <p:nvPicPr>
          <p:cNvPr id="10" name="Picture 8" descr="3d Sphere Sphere PNG &amp; clipart images | TOPpng">
            <a:extLst>
              <a:ext uri="{FF2B5EF4-FFF2-40B4-BE49-F238E27FC236}">
                <a16:creationId xmlns:a16="http://schemas.microsoft.com/office/drawing/2014/main" id="{6DC8FF48-66E8-6A72-4F38-74D685D197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  <a14:imgEffect>
                      <a14:saturation sat="40000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707" t="9788" r="8682" b="9788"/>
          <a:stretch/>
        </p:blipFill>
        <p:spPr bwMode="auto">
          <a:xfrm>
            <a:off x="5760907" y="1692040"/>
            <a:ext cx="145103" cy="14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67636A2-2E28-0F47-39E0-08F662F057DE}"/>
              </a:ext>
            </a:extLst>
          </p:cNvPr>
          <p:cNvCxnSpPr/>
          <p:nvPr/>
        </p:nvCxnSpPr>
        <p:spPr>
          <a:xfrm flipV="1">
            <a:off x="6383177" y="1362397"/>
            <a:ext cx="960238" cy="613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CC9855F-7055-AC48-BBA8-659D479C05B8}"/>
              </a:ext>
            </a:extLst>
          </p:cNvPr>
          <p:cNvCxnSpPr>
            <a:cxnSpLocks/>
          </p:cNvCxnSpPr>
          <p:nvPr/>
        </p:nvCxnSpPr>
        <p:spPr>
          <a:xfrm>
            <a:off x="6408874" y="1955586"/>
            <a:ext cx="1239010" cy="1951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7016E6F-33D0-36E8-EA6F-2B55C13DBA0B}"/>
              </a:ext>
            </a:extLst>
          </p:cNvPr>
          <p:cNvGrpSpPr/>
          <p:nvPr/>
        </p:nvGrpSpPr>
        <p:grpSpPr>
          <a:xfrm>
            <a:off x="6968140" y="1663789"/>
            <a:ext cx="727801" cy="232844"/>
            <a:chOff x="6561481" y="1836490"/>
            <a:chExt cx="727801" cy="232844"/>
          </a:xfrm>
        </p:grpSpPr>
        <p:pic>
          <p:nvPicPr>
            <p:cNvPr id="48" name="Picture 8" descr="3d Sphere Sphere PNG &amp; clipart images | TOPpng">
              <a:extLst>
                <a:ext uri="{FF2B5EF4-FFF2-40B4-BE49-F238E27FC236}">
                  <a16:creationId xmlns:a16="http://schemas.microsoft.com/office/drawing/2014/main" id="{28F5ACC8-4EC9-B0F5-8A00-71F7930512F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6561481" y="1836490"/>
              <a:ext cx="145103" cy="1444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9" name="Picture 8" descr="3d Sphere Sphere PNG &amp; clipart images | TOPpng">
              <a:extLst>
                <a:ext uri="{FF2B5EF4-FFF2-40B4-BE49-F238E27FC236}">
                  <a16:creationId xmlns:a16="http://schemas.microsoft.com/office/drawing/2014/main" id="{CA34DD45-A9A8-92C6-BBB8-A1422A132B4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6707156" y="1852659"/>
              <a:ext cx="145103" cy="1444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0" name="Picture 8" descr="3d Sphere Sphere PNG &amp; clipart images | TOPpng">
              <a:extLst>
                <a:ext uri="{FF2B5EF4-FFF2-40B4-BE49-F238E27FC236}">
                  <a16:creationId xmlns:a16="http://schemas.microsoft.com/office/drawing/2014/main" id="{B9AD39A8-1D85-0A69-5916-125226C168F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6852831" y="1874129"/>
              <a:ext cx="145103" cy="1444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" name="Picture 8" descr="3d Sphere Sphere PNG &amp; clipart images | TOPpng">
              <a:extLst>
                <a:ext uri="{FF2B5EF4-FFF2-40B4-BE49-F238E27FC236}">
                  <a16:creationId xmlns:a16="http://schemas.microsoft.com/office/drawing/2014/main" id="{6894953B-9971-D054-BF43-526511F5F8F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6998506" y="1904259"/>
              <a:ext cx="145103" cy="1444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2" name="Picture 8" descr="3d Sphere Sphere PNG &amp; clipart images | TOPpng">
              <a:extLst>
                <a:ext uri="{FF2B5EF4-FFF2-40B4-BE49-F238E27FC236}">
                  <a16:creationId xmlns:a16="http://schemas.microsoft.com/office/drawing/2014/main" id="{ED50EB50-0F32-E642-2E53-DBC62824D92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7144179" y="1924884"/>
              <a:ext cx="145103" cy="1444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0666890-AE87-A8C4-D837-C52C66C206C9}"/>
              </a:ext>
            </a:extLst>
          </p:cNvPr>
          <p:cNvGrpSpPr/>
          <p:nvPr/>
        </p:nvGrpSpPr>
        <p:grpSpPr>
          <a:xfrm>
            <a:off x="6812420" y="1761128"/>
            <a:ext cx="727801" cy="232844"/>
            <a:chOff x="6561481" y="1836490"/>
            <a:chExt cx="727801" cy="232844"/>
          </a:xfrm>
        </p:grpSpPr>
        <p:pic>
          <p:nvPicPr>
            <p:cNvPr id="42" name="Picture 8" descr="3d Sphere Sphere PNG &amp; clipart images | TOPpng">
              <a:extLst>
                <a:ext uri="{FF2B5EF4-FFF2-40B4-BE49-F238E27FC236}">
                  <a16:creationId xmlns:a16="http://schemas.microsoft.com/office/drawing/2014/main" id="{46A4A771-1411-94A6-991C-33AD1229FD3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6561481" y="1836490"/>
              <a:ext cx="145103" cy="1444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" name="Picture 8" descr="3d Sphere Sphere PNG &amp; clipart images | TOPpng">
              <a:extLst>
                <a:ext uri="{FF2B5EF4-FFF2-40B4-BE49-F238E27FC236}">
                  <a16:creationId xmlns:a16="http://schemas.microsoft.com/office/drawing/2014/main" id="{D36A7917-0551-1002-273D-E6A9AA8C40D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6707156" y="1852659"/>
              <a:ext cx="145103" cy="1444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" name="Picture 8" descr="3d Sphere Sphere PNG &amp; clipart images | TOPpng">
              <a:extLst>
                <a:ext uri="{FF2B5EF4-FFF2-40B4-BE49-F238E27FC236}">
                  <a16:creationId xmlns:a16="http://schemas.microsoft.com/office/drawing/2014/main" id="{77BBC42D-76A2-FB2D-95D4-7BB505C67B2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6852831" y="1874129"/>
              <a:ext cx="145103" cy="1444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5" name="Picture 8" descr="3d Sphere Sphere PNG &amp; clipart images | TOPpng">
              <a:extLst>
                <a:ext uri="{FF2B5EF4-FFF2-40B4-BE49-F238E27FC236}">
                  <a16:creationId xmlns:a16="http://schemas.microsoft.com/office/drawing/2014/main" id="{0307195F-D8EF-7667-DA59-299178CFB97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6998506" y="1904259"/>
              <a:ext cx="145103" cy="1444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6" name="Picture 8" descr="3d Sphere Sphere PNG &amp; clipart images | TOPpng">
              <a:extLst>
                <a:ext uri="{FF2B5EF4-FFF2-40B4-BE49-F238E27FC236}">
                  <a16:creationId xmlns:a16="http://schemas.microsoft.com/office/drawing/2014/main" id="{2CB11D0D-38FF-D049-1E6E-32622C3B469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7144179" y="1924884"/>
              <a:ext cx="145103" cy="1444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9E452F7-9D60-52A1-8D2D-85E48FE8A401}"/>
              </a:ext>
            </a:extLst>
          </p:cNvPr>
          <p:cNvGrpSpPr/>
          <p:nvPr/>
        </p:nvGrpSpPr>
        <p:grpSpPr>
          <a:xfrm>
            <a:off x="6641311" y="1857186"/>
            <a:ext cx="727801" cy="232844"/>
            <a:chOff x="6561481" y="1836490"/>
            <a:chExt cx="727801" cy="232844"/>
          </a:xfrm>
        </p:grpSpPr>
        <p:pic>
          <p:nvPicPr>
            <p:cNvPr id="1032" name="Picture 8" descr="3d Sphere Sphere PNG &amp; clipart images | TOPpng">
              <a:extLst>
                <a:ext uri="{FF2B5EF4-FFF2-40B4-BE49-F238E27FC236}">
                  <a16:creationId xmlns:a16="http://schemas.microsoft.com/office/drawing/2014/main" id="{18A23B01-BAEF-B57E-DAA1-CC793E9EA86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6561481" y="1836490"/>
              <a:ext cx="145103" cy="1444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8" descr="3d Sphere Sphere PNG &amp; clipart images | TOPpng">
              <a:extLst>
                <a:ext uri="{FF2B5EF4-FFF2-40B4-BE49-F238E27FC236}">
                  <a16:creationId xmlns:a16="http://schemas.microsoft.com/office/drawing/2014/main" id="{ABB7B65D-8604-705A-E8DD-3005329F707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6707156" y="1852659"/>
              <a:ext cx="145103" cy="1444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8" descr="3d Sphere Sphere PNG &amp; clipart images | TOPpng">
              <a:extLst>
                <a:ext uri="{FF2B5EF4-FFF2-40B4-BE49-F238E27FC236}">
                  <a16:creationId xmlns:a16="http://schemas.microsoft.com/office/drawing/2014/main" id="{5C10B1F7-4006-3B0F-DED6-D6610BDDA79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6852831" y="1874129"/>
              <a:ext cx="145103" cy="1444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8" descr="3d Sphere Sphere PNG &amp; clipart images | TOPpng">
              <a:extLst>
                <a:ext uri="{FF2B5EF4-FFF2-40B4-BE49-F238E27FC236}">
                  <a16:creationId xmlns:a16="http://schemas.microsoft.com/office/drawing/2014/main" id="{B510729A-5BB1-B853-479C-2394FB2A9E1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6998506" y="1904259"/>
              <a:ext cx="145103" cy="1444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8" descr="3d Sphere Sphere PNG &amp; clipart images | TOPpng">
              <a:extLst>
                <a:ext uri="{FF2B5EF4-FFF2-40B4-BE49-F238E27FC236}">
                  <a16:creationId xmlns:a16="http://schemas.microsoft.com/office/drawing/2014/main" id="{B25659CA-52E4-3878-5B47-084B1C6427E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7144179" y="1924884"/>
              <a:ext cx="145103" cy="1444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27" name="Group 1026">
            <a:extLst>
              <a:ext uri="{FF2B5EF4-FFF2-40B4-BE49-F238E27FC236}">
                <a16:creationId xmlns:a16="http://schemas.microsoft.com/office/drawing/2014/main" id="{A436C974-54F3-4DCC-561C-5A54ACB99897}"/>
              </a:ext>
            </a:extLst>
          </p:cNvPr>
          <p:cNvGrpSpPr/>
          <p:nvPr/>
        </p:nvGrpSpPr>
        <p:grpSpPr>
          <a:xfrm>
            <a:off x="4540535" y="510372"/>
            <a:ext cx="1100652" cy="1288395"/>
            <a:chOff x="4540535" y="510372"/>
            <a:chExt cx="1100652" cy="128839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EF1F489-12E5-1C62-58A9-7914A132FF2F}"/>
                </a:ext>
              </a:extLst>
            </p:cNvPr>
            <p:cNvSpPr/>
            <p:nvPr/>
          </p:nvSpPr>
          <p:spPr>
            <a:xfrm>
              <a:off x="4562956" y="510372"/>
              <a:ext cx="1037842" cy="1288395"/>
            </a:xfrm>
            <a:prstGeom prst="rect">
              <a:avLst/>
            </a:prstGeom>
            <a:gradFill>
              <a:gsLst>
                <a:gs pos="0">
                  <a:schemeClr val="bg2">
                    <a:lumMod val="90000"/>
                  </a:schemeClr>
                </a:gs>
                <a:gs pos="100000">
                  <a:schemeClr val="bg2">
                    <a:lumMod val="75000"/>
                    <a:alpha val="63000"/>
                  </a:schemeClr>
                </a:gs>
              </a:gsLst>
            </a:gradFill>
            <a:ln>
              <a:noFill/>
            </a:ln>
            <a:scene3d>
              <a:camera prst="isometricOffAxis2Top"/>
              <a:lightRig rig="morning" dir="t"/>
            </a:scene3d>
            <a:sp3d extrusionH="95250" prstMaterial="flat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25" name="Group 1024">
              <a:extLst>
                <a:ext uri="{FF2B5EF4-FFF2-40B4-BE49-F238E27FC236}">
                  <a16:creationId xmlns:a16="http://schemas.microsoft.com/office/drawing/2014/main" id="{ECF3BBA4-FFA4-36B2-543B-4534C5D6CB47}"/>
                </a:ext>
              </a:extLst>
            </p:cNvPr>
            <p:cNvGrpSpPr/>
            <p:nvPr/>
          </p:nvGrpSpPr>
          <p:grpSpPr>
            <a:xfrm>
              <a:off x="4540535" y="907639"/>
              <a:ext cx="1100652" cy="457076"/>
              <a:chOff x="7197429" y="1152057"/>
              <a:chExt cx="1100652" cy="457076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6CA87E28-C352-4B58-1949-3C2879D9C0C3}"/>
                  </a:ext>
                </a:extLst>
              </p:cNvPr>
              <p:cNvGrpSpPr/>
              <p:nvPr/>
            </p:nvGrpSpPr>
            <p:grpSpPr>
              <a:xfrm>
                <a:off x="7570280" y="1152057"/>
                <a:ext cx="727801" cy="232844"/>
                <a:chOff x="6561481" y="1836490"/>
                <a:chExt cx="727801" cy="232844"/>
              </a:xfrm>
            </p:grpSpPr>
            <p:pic>
              <p:nvPicPr>
                <p:cNvPr id="23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99ACF9F3-3992-7963-8195-B054BEF46A0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561481" y="1836490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24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9826CDDC-375B-65BE-C25F-8B6A473FBDD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708870" y="185265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25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5CE4E490-901B-E209-3E65-F45A34453E7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853973" y="187412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26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FE9488ED-E3A7-57BE-5E5C-C01E38F6218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999076" y="189559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27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E7F18983-FAED-CFB4-8316-21A080FF782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7144179" y="1924884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56AC517D-A9E4-2F3E-A217-2599F5620E2D}"/>
                  </a:ext>
                </a:extLst>
              </p:cNvPr>
              <p:cNvGrpSpPr/>
              <p:nvPr/>
            </p:nvGrpSpPr>
            <p:grpSpPr>
              <a:xfrm>
                <a:off x="7451507" y="1229540"/>
                <a:ext cx="727801" cy="232844"/>
                <a:chOff x="6561481" y="1836490"/>
                <a:chExt cx="727801" cy="232844"/>
              </a:xfrm>
            </p:grpSpPr>
            <p:pic>
              <p:nvPicPr>
                <p:cNvPr id="29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DD750A13-3738-ADAF-B17A-127BF67FA78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561481" y="1836490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30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C1BA419B-F913-64AD-C2B8-445D7E0BA4E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708870" y="185265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31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1160C034-795E-790A-FCB7-204623802AF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853973" y="187412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32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C4B76963-B925-A644-CC0E-26BCADF2DE1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999076" y="189559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33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855359AA-1C71-0847-49F0-2246EF45822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7144179" y="1924884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BE71A4F5-B4E4-BD53-68CC-C8E4044E84CC}"/>
                  </a:ext>
                </a:extLst>
              </p:cNvPr>
              <p:cNvGrpSpPr/>
              <p:nvPr/>
            </p:nvGrpSpPr>
            <p:grpSpPr>
              <a:xfrm>
                <a:off x="7320281" y="1308323"/>
                <a:ext cx="727801" cy="232844"/>
                <a:chOff x="6561481" y="1836490"/>
                <a:chExt cx="727801" cy="232844"/>
              </a:xfrm>
            </p:grpSpPr>
            <p:pic>
              <p:nvPicPr>
                <p:cNvPr id="17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26695B7F-753F-529E-A449-75E140590D1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561481" y="1836490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8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159CF342-7AD1-8084-D859-03748D21A96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708870" y="185265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9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8119A932-4621-8A11-C831-09A5A6CF5F4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853973" y="187412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20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9E241B30-5B03-29AB-AE35-EE09E259D96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999076" y="189559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21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235E2047-07FB-E1A4-780F-50FFA52619E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7144179" y="1924884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0BA6B54E-C5AE-E3FB-6971-64DCF3EA295F}"/>
                  </a:ext>
                </a:extLst>
              </p:cNvPr>
              <p:cNvGrpSpPr/>
              <p:nvPr/>
            </p:nvGrpSpPr>
            <p:grpSpPr>
              <a:xfrm>
                <a:off x="7197429" y="1376289"/>
                <a:ext cx="727801" cy="232844"/>
                <a:chOff x="6561481" y="1836490"/>
                <a:chExt cx="727801" cy="232844"/>
              </a:xfrm>
            </p:grpSpPr>
            <p:pic>
              <p:nvPicPr>
                <p:cNvPr id="60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906E6810-46C1-2100-70AF-395480DFCA1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561481" y="1836490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61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FAB6B539-58E9-E2D6-D3E0-25FE2C1E2F5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707156" y="185265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62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930EECBC-84EA-5A67-7073-5836A14966F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852831" y="187412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63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610BDB67-6986-A737-31BF-2BC7F6CB784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998506" y="190425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024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A8DFEDBB-24F1-3936-8A3B-8D4041E36A1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7144179" y="1924884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</p:grpSp>
      </p:grpSp>
    </p:spTree>
    <p:extLst>
      <p:ext uri="{BB962C8B-B14F-4D97-AF65-F5344CB8AC3E}">
        <p14:creationId xmlns:p14="http://schemas.microsoft.com/office/powerpoint/2010/main" val="3267095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Three Arrow Circle Sign Reload, Loop Symbol - Download Free 3D model by  B1Blender (@B1Blender) [549c9fb]">
            <a:extLst>
              <a:ext uri="{FF2B5EF4-FFF2-40B4-BE49-F238E27FC236}">
                <a16:creationId xmlns:a16="http://schemas.microsoft.com/office/drawing/2014/main" id="{3BB5357D-4978-2910-8979-2736C80AED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6667" b="76852" l="32396" r="67500">
                        <a14:foregroundMark x1="55625" y1="19167" x2="55677" y2="22130"/>
                        <a14:foregroundMark x1="63542" y1="36574" x2="65729" y2="46296"/>
                        <a14:foregroundMark x1="65729" y1="46296" x2="65313" y2="63241"/>
                        <a14:foregroundMark x1="65313" y1="63241" x2="60208" y2="73241"/>
                        <a14:foregroundMark x1="60208" y1="73241" x2="59948" y2="73148"/>
                        <a14:foregroundMark x1="37031" y1="57315" x2="45052" y2="73333"/>
                        <a14:foregroundMark x1="45052" y1="73333" x2="50625" y2="76944"/>
                        <a14:foregroundMark x1="50625" y1="76944" x2="54948" y2="76759"/>
                        <a14:foregroundMark x1="67656" y1="49815" x2="67448" y2="60556"/>
                        <a14:foregroundMark x1="55625" y1="16759" x2="55625" y2="16759"/>
                        <a14:foregroundMark x1="34479" y1="61204" x2="33698" y2="64630"/>
                        <a14:foregroundMark x1="32396" y1="65926" x2="32396" y2="65926"/>
                      </a14:backgroundRemoval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1597" t="14558" r="30422" b="19185"/>
          <a:stretch/>
        </p:blipFill>
        <p:spPr bwMode="auto">
          <a:xfrm>
            <a:off x="2349619" y="1819592"/>
            <a:ext cx="1329982" cy="1305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380D62E7-30BD-AADE-63EF-05E7D6350933}"/>
              </a:ext>
            </a:extLst>
          </p:cNvPr>
          <p:cNvGrpSpPr/>
          <p:nvPr/>
        </p:nvGrpSpPr>
        <p:grpSpPr>
          <a:xfrm>
            <a:off x="3471348" y="1111998"/>
            <a:ext cx="1100652" cy="1288395"/>
            <a:chOff x="4540535" y="510372"/>
            <a:chExt cx="1100652" cy="1288395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33984E4-A79A-EE28-5BF1-3296B4CDC186}"/>
                </a:ext>
              </a:extLst>
            </p:cNvPr>
            <p:cNvSpPr/>
            <p:nvPr/>
          </p:nvSpPr>
          <p:spPr>
            <a:xfrm>
              <a:off x="4562956" y="510372"/>
              <a:ext cx="1037842" cy="1288395"/>
            </a:xfrm>
            <a:prstGeom prst="rect">
              <a:avLst/>
            </a:prstGeom>
            <a:gradFill>
              <a:gsLst>
                <a:gs pos="0">
                  <a:schemeClr val="bg2">
                    <a:lumMod val="90000"/>
                  </a:schemeClr>
                </a:gs>
                <a:gs pos="100000">
                  <a:schemeClr val="bg2">
                    <a:lumMod val="75000"/>
                    <a:alpha val="63000"/>
                  </a:schemeClr>
                </a:gs>
              </a:gsLst>
            </a:gradFill>
            <a:ln>
              <a:noFill/>
            </a:ln>
            <a:scene3d>
              <a:camera prst="isometricOffAxis2Top"/>
              <a:lightRig rig="morning" dir="t"/>
            </a:scene3d>
            <a:sp3d extrusionH="95250" prstMaterial="flat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FF05AB71-B7BA-11AA-6D55-7A3DEC618ECC}"/>
                </a:ext>
              </a:extLst>
            </p:cNvPr>
            <p:cNvGrpSpPr/>
            <p:nvPr/>
          </p:nvGrpSpPr>
          <p:grpSpPr>
            <a:xfrm>
              <a:off x="4540535" y="907639"/>
              <a:ext cx="1100652" cy="457076"/>
              <a:chOff x="7197429" y="1152057"/>
              <a:chExt cx="1100652" cy="457076"/>
            </a:xfrm>
          </p:grpSpPr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27E98972-38B5-284F-81EB-E26D06C468CE}"/>
                  </a:ext>
                </a:extLst>
              </p:cNvPr>
              <p:cNvGrpSpPr/>
              <p:nvPr/>
            </p:nvGrpSpPr>
            <p:grpSpPr>
              <a:xfrm>
                <a:off x="7570280" y="1152057"/>
                <a:ext cx="727801" cy="232844"/>
                <a:chOff x="6561481" y="1836490"/>
                <a:chExt cx="727801" cy="232844"/>
              </a:xfrm>
            </p:grpSpPr>
            <p:pic>
              <p:nvPicPr>
                <p:cNvPr id="51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EEF68FD8-9ED6-F850-A3D3-D456DD1E2D8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561481" y="1836490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52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DA297D37-0D61-8D3A-1181-15AC4A29D80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708870" y="185265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53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D07F5C1B-D5C4-BF1E-F2BD-7A1369678C8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853973" y="187412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54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6A9635B8-F4AC-0E68-84AD-29AF6D45A46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999076" y="189559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55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12DC617B-0433-B8DC-AE8C-DDB5678F10A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7144179" y="1924884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A30ECDEE-94B3-C956-A614-2008B0B1C4A0}"/>
                  </a:ext>
                </a:extLst>
              </p:cNvPr>
              <p:cNvGrpSpPr/>
              <p:nvPr/>
            </p:nvGrpSpPr>
            <p:grpSpPr>
              <a:xfrm>
                <a:off x="7451507" y="1229540"/>
                <a:ext cx="727801" cy="232844"/>
                <a:chOff x="6561481" y="1836490"/>
                <a:chExt cx="727801" cy="232844"/>
              </a:xfrm>
            </p:grpSpPr>
            <p:pic>
              <p:nvPicPr>
                <p:cNvPr id="46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820C4664-8024-C99A-25AE-B236C6FAE37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561481" y="1836490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47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EFFD70A1-20F3-0667-166C-E63148069CFA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708870" y="185265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48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E27E839E-6FE7-A95F-DB09-B00B4371F68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853973" y="187412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49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D7F78BEF-6B1F-2B09-CDE8-6572BE1F298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999076" y="189559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50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9B3978EC-E3C5-59C8-2C74-C12926DA7B4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7144179" y="1924884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2AC1CA7B-18D9-1B9E-9771-E91982BDED30}"/>
                  </a:ext>
                </a:extLst>
              </p:cNvPr>
              <p:cNvGrpSpPr/>
              <p:nvPr/>
            </p:nvGrpSpPr>
            <p:grpSpPr>
              <a:xfrm>
                <a:off x="7320281" y="1308323"/>
                <a:ext cx="727801" cy="232844"/>
                <a:chOff x="6561481" y="1836490"/>
                <a:chExt cx="727801" cy="232844"/>
              </a:xfrm>
            </p:grpSpPr>
            <p:pic>
              <p:nvPicPr>
                <p:cNvPr id="41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BAA03C3E-0B7D-1FF1-6CEC-6A935F5680FA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561481" y="1836490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42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73015EFD-979C-B490-6D2E-6996BCC4590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708870" y="185265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43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53404D7F-7839-046B-3C35-2138149AA32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853973" y="187412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44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AD26D323-423A-1987-71CE-502F58E770F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999076" y="189559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45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2C1FB855-92DA-2521-0B5A-A9A5FB827EE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7144179" y="1924884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3148019D-00EF-3EC7-0E6A-D723A20233E2}"/>
                  </a:ext>
                </a:extLst>
              </p:cNvPr>
              <p:cNvGrpSpPr/>
              <p:nvPr/>
            </p:nvGrpSpPr>
            <p:grpSpPr>
              <a:xfrm>
                <a:off x="7197429" y="1376289"/>
                <a:ext cx="727801" cy="232844"/>
                <a:chOff x="6561481" y="1836490"/>
                <a:chExt cx="727801" cy="232844"/>
              </a:xfrm>
            </p:grpSpPr>
            <p:pic>
              <p:nvPicPr>
                <p:cNvPr id="36" name="Picture 35" descr="3d Sphere Sphere PNG &amp; clipart images | TOPpng">
                  <a:extLst>
                    <a:ext uri="{FF2B5EF4-FFF2-40B4-BE49-F238E27FC236}">
                      <a16:creationId xmlns:a16="http://schemas.microsoft.com/office/drawing/2014/main" id="{99C000A8-89E1-823B-1737-74FD8E329B7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561481" y="1836490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37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004D65A5-0ED5-C2B1-0C46-6346444ACCC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707156" y="185265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38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EDA93036-0C86-4DBC-87CA-7F0FF85D8D5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852831" y="187412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39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30343E5A-B715-2C4F-CE9B-EF43669F096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998506" y="190425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40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B14A443C-4C09-709E-32F2-C0950B0A6FE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7144179" y="1924884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</p:grp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4EC59313-4939-E651-D871-C8988D8CEAAE}"/>
              </a:ext>
            </a:extLst>
          </p:cNvPr>
          <p:cNvGrpSpPr/>
          <p:nvPr/>
        </p:nvGrpSpPr>
        <p:grpSpPr>
          <a:xfrm>
            <a:off x="1590955" y="1111998"/>
            <a:ext cx="1174952" cy="1288395"/>
            <a:chOff x="1590955" y="1111998"/>
            <a:chExt cx="1174952" cy="1288395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0F02AEA4-578C-C94D-8995-9497B20FC840}"/>
                </a:ext>
              </a:extLst>
            </p:cNvPr>
            <p:cNvGrpSpPr/>
            <p:nvPr/>
          </p:nvGrpSpPr>
          <p:grpSpPr>
            <a:xfrm>
              <a:off x="1665255" y="1111998"/>
              <a:ext cx="1100652" cy="1288395"/>
              <a:chOff x="4540535" y="510372"/>
              <a:chExt cx="1100652" cy="1288395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9A63EC4C-7D60-0BC5-8627-79443CCBF7E6}"/>
                  </a:ext>
                </a:extLst>
              </p:cNvPr>
              <p:cNvSpPr/>
              <p:nvPr/>
            </p:nvSpPr>
            <p:spPr>
              <a:xfrm>
                <a:off x="4562956" y="510372"/>
                <a:ext cx="1037842" cy="1288395"/>
              </a:xfrm>
              <a:prstGeom prst="rect">
                <a:avLst/>
              </a:prstGeom>
              <a:gradFill>
                <a:gsLst>
                  <a:gs pos="0">
                    <a:schemeClr val="bg2">
                      <a:lumMod val="90000"/>
                    </a:schemeClr>
                  </a:gs>
                  <a:gs pos="100000">
                    <a:schemeClr val="bg2">
                      <a:lumMod val="75000"/>
                      <a:alpha val="63000"/>
                    </a:schemeClr>
                  </a:gs>
                </a:gsLst>
              </a:gradFill>
              <a:ln>
                <a:noFill/>
              </a:ln>
              <a:scene3d>
                <a:camera prst="isometricOffAxis2Top"/>
                <a:lightRig rig="morning" dir="t"/>
              </a:scene3d>
              <a:sp3d extrusionH="95250" prstMaterial="flat"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B5AEC58E-87C6-E283-7324-AC39C10325B0}"/>
                  </a:ext>
                </a:extLst>
              </p:cNvPr>
              <p:cNvGrpSpPr/>
              <p:nvPr/>
            </p:nvGrpSpPr>
            <p:grpSpPr>
              <a:xfrm>
                <a:off x="4540535" y="907639"/>
                <a:ext cx="1100652" cy="457076"/>
                <a:chOff x="7197429" y="1152057"/>
                <a:chExt cx="1100652" cy="457076"/>
              </a:xfrm>
            </p:grpSpPr>
            <p:grpSp>
              <p:nvGrpSpPr>
                <p:cNvPr id="5" name="Group 4">
                  <a:extLst>
                    <a:ext uri="{FF2B5EF4-FFF2-40B4-BE49-F238E27FC236}">
                      <a16:creationId xmlns:a16="http://schemas.microsoft.com/office/drawing/2014/main" id="{CD1CB34E-9826-D7DC-DFA9-081EDBA38F4B}"/>
                    </a:ext>
                  </a:extLst>
                </p:cNvPr>
                <p:cNvGrpSpPr/>
                <p:nvPr/>
              </p:nvGrpSpPr>
              <p:grpSpPr>
                <a:xfrm>
                  <a:off x="7570280" y="1152057"/>
                  <a:ext cx="727801" cy="232844"/>
                  <a:chOff x="6561481" y="1836490"/>
                  <a:chExt cx="727801" cy="232844"/>
                </a:xfrm>
              </p:grpSpPr>
              <p:pic>
                <p:nvPicPr>
                  <p:cNvPr id="24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89EE77BA-D0AF-4A99-2470-0767CDF37638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561481" y="1836490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25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446105A0-F4DE-B7E0-49C4-95F86F161D52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708870" y="185265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26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AD8E73CF-BB1A-E876-1D2C-C65DE0CBC488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853973" y="187412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27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71666118-ABE1-7C50-2813-DC059E4FA428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999076" y="189559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28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131A6087-81D1-4A6D-C23E-C3F55357C1B6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7144179" y="1924884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grpSp>
              <p:nvGrpSpPr>
                <p:cNvPr id="6" name="Group 5">
                  <a:extLst>
                    <a:ext uri="{FF2B5EF4-FFF2-40B4-BE49-F238E27FC236}">
                      <a16:creationId xmlns:a16="http://schemas.microsoft.com/office/drawing/2014/main" id="{F9AB9A62-9045-FDEB-E573-77F78B6C6F71}"/>
                    </a:ext>
                  </a:extLst>
                </p:cNvPr>
                <p:cNvGrpSpPr/>
                <p:nvPr/>
              </p:nvGrpSpPr>
              <p:grpSpPr>
                <a:xfrm>
                  <a:off x="7451507" y="1229540"/>
                  <a:ext cx="727801" cy="232844"/>
                  <a:chOff x="6561481" y="1836490"/>
                  <a:chExt cx="727801" cy="232844"/>
                </a:xfrm>
              </p:grpSpPr>
              <p:pic>
                <p:nvPicPr>
                  <p:cNvPr id="19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A3C8E444-2589-F792-5682-75882DA1D970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561481" y="1836490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20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71DF2645-6B83-DBC9-60C5-1992E2AE9435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708870" y="185265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21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FD49BA75-BFA8-5746-E4A1-D9A57524FAD8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853973" y="187412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22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2EEF0833-7242-AEFA-93DB-D02A23134439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999076" y="189559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23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AF128A21-4C63-979F-BBE5-C5851F1B433E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7144179" y="1924884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grpSp>
              <p:nvGrpSpPr>
                <p:cNvPr id="7" name="Group 6">
                  <a:extLst>
                    <a:ext uri="{FF2B5EF4-FFF2-40B4-BE49-F238E27FC236}">
                      <a16:creationId xmlns:a16="http://schemas.microsoft.com/office/drawing/2014/main" id="{F3504961-6A70-7D41-30BF-5950567208FB}"/>
                    </a:ext>
                  </a:extLst>
                </p:cNvPr>
                <p:cNvGrpSpPr/>
                <p:nvPr/>
              </p:nvGrpSpPr>
              <p:grpSpPr>
                <a:xfrm>
                  <a:off x="7320281" y="1308323"/>
                  <a:ext cx="727801" cy="232844"/>
                  <a:chOff x="6561481" y="1836490"/>
                  <a:chExt cx="727801" cy="232844"/>
                </a:xfrm>
              </p:grpSpPr>
              <p:pic>
                <p:nvPicPr>
                  <p:cNvPr id="14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FE21CABE-B7EF-80EA-905E-D3ADB5AFB442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561481" y="1836490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15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B8EAAE32-0D27-0D66-CB01-6979AC366EA8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708870" y="185265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16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0C5074FA-D144-C084-1EDF-E920B0B75B52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853973" y="187412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17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3BD4A36F-840E-5FA1-E93B-B71196BE2BAD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999076" y="189559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18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B3F34E5C-E1E5-4007-8FED-40361AF2BDCF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7144179" y="1924884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grpSp>
              <p:nvGrpSpPr>
                <p:cNvPr id="8" name="Group 7">
                  <a:extLst>
                    <a:ext uri="{FF2B5EF4-FFF2-40B4-BE49-F238E27FC236}">
                      <a16:creationId xmlns:a16="http://schemas.microsoft.com/office/drawing/2014/main" id="{A0C42AA5-2628-BDAC-70E1-7F1A1FA71648}"/>
                    </a:ext>
                  </a:extLst>
                </p:cNvPr>
                <p:cNvGrpSpPr/>
                <p:nvPr/>
              </p:nvGrpSpPr>
              <p:grpSpPr>
                <a:xfrm>
                  <a:off x="7197429" y="1376289"/>
                  <a:ext cx="727801" cy="232844"/>
                  <a:chOff x="6561481" y="1836490"/>
                  <a:chExt cx="727801" cy="232844"/>
                </a:xfrm>
              </p:grpSpPr>
              <p:pic>
                <p:nvPicPr>
                  <p:cNvPr id="9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5596444A-2934-2067-7EF2-ABCD7897D8E4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561481" y="1836490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10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30BE68DB-D3B3-D802-ED70-E799290D4495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707156" y="185265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11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F8C6DA02-6D83-FD3F-3A05-3505443E921F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852831" y="187412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12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CB3373E4-C378-74C9-9C4B-F4D06033D25D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998506" y="190425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13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49BF9EBA-2774-0EDB-192D-38E1B132411E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7144179" y="1924884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</p:grpSp>
        </p:grpSp>
        <p:pic>
          <p:nvPicPr>
            <p:cNvPr id="56" name="Picture 8" descr="3d Sphere Sphere PNG &amp; clipart images | TOPpng">
              <a:extLst>
                <a:ext uri="{FF2B5EF4-FFF2-40B4-BE49-F238E27FC236}">
                  <a16:creationId xmlns:a16="http://schemas.microsoft.com/office/drawing/2014/main" id="{5492B58F-1699-5019-2324-DBFE4EEF328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1590955" y="1453187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7" name="Picture 8" descr="3d Sphere Sphere PNG &amp; clipart images | TOPpng">
              <a:extLst>
                <a:ext uri="{FF2B5EF4-FFF2-40B4-BE49-F238E27FC236}">
                  <a16:creationId xmlns:a16="http://schemas.microsoft.com/office/drawing/2014/main" id="{8E86C5BF-0CFC-EBF6-CC19-88183595C90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1855315" y="1453187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8" name="Picture 8" descr="3d Sphere Sphere PNG &amp; clipart images | TOPpng">
              <a:extLst>
                <a:ext uri="{FF2B5EF4-FFF2-40B4-BE49-F238E27FC236}">
                  <a16:creationId xmlns:a16="http://schemas.microsoft.com/office/drawing/2014/main" id="{A6661BA1-F58C-CC89-976D-7FF3C1DF8C8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2035881" y="1321334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9" name="Picture 8" descr="3d Sphere Sphere PNG &amp; clipart images | TOPpng">
              <a:extLst>
                <a:ext uri="{FF2B5EF4-FFF2-40B4-BE49-F238E27FC236}">
                  <a16:creationId xmlns:a16="http://schemas.microsoft.com/office/drawing/2014/main" id="{8FA95ABE-24A1-C2EB-17B0-CA7131FD0EE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2160115" y="1757987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0" name="Picture 8" descr="3d Sphere Sphere PNG &amp; clipart images | TOPpng">
              <a:extLst>
                <a:ext uri="{FF2B5EF4-FFF2-40B4-BE49-F238E27FC236}">
                  <a16:creationId xmlns:a16="http://schemas.microsoft.com/office/drawing/2014/main" id="{D70DB861-AA70-C560-1616-9D176A665AD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2252218" y="1387839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1" name="Picture 8" descr="3d Sphere Sphere PNG &amp; clipart images | TOPpng">
              <a:extLst>
                <a:ext uri="{FF2B5EF4-FFF2-40B4-BE49-F238E27FC236}">
                  <a16:creationId xmlns:a16="http://schemas.microsoft.com/office/drawing/2014/main" id="{8D760EE2-E0E7-FA89-34A9-7D562A1D396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1772863" y="1349373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2" name="Picture 8" descr="3d Sphere Sphere PNG &amp; clipart images | TOPpng">
              <a:extLst>
                <a:ext uri="{FF2B5EF4-FFF2-40B4-BE49-F238E27FC236}">
                  <a16:creationId xmlns:a16="http://schemas.microsoft.com/office/drawing/2014/main" id="{6A30DECB-64BC-2581-B6A0-C91F1A46902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1895755" y="1300484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3" name="Picture 8" descr="3d Sphere Sphere PNG &amp; clipart images | TOPpng">
              <a:extLst>
                <a:ext uri="{FF2B5EF4-FFF2-40B4-BE49-F238E27FC236}">
                  <a16:creationId xmlns:a16="http://schemas.microsoft.com/office/drawing/2014/main" id="{5D0E421B-F053-F125-CAA3-5A0D6845F2A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2160115" y="1300484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4" name="Picture 8" descr="3d Sphere Sphere PNG &amp; clipart images | TOPpng">
              <a:extLst>
                <a:ext uri="{FF2B5EF4-FFF2-40B4-BE49-F238E27FC236}">
                  <a16:creationId xmlns:a16="http://schemas.microsoft.com/office/drawing/2014/main" id="{F2FA1183-D9E4-2635-0321-E121060CA23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2077663" y="1196670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697DA111-3EC6-6D9C-0527-81CFC807ED0B}"/>
              </a:ext>
            </a:extLst>
          </p:cNvPr>
          <p:cNvGrpSpPr/>
          <p:nvPr/>
        </p:nvGrpSpPr>
        <p:grpSpPr>
          <a:xfrm>
            <a:off x="3481469" y="2556202"/>
            <a:ext cx="1100652" cy="1288395"/>
            <a:chOff x="3481469" y="2556202"/>
            <a:chExt cx="1100652" cy="1288395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6BA875C6-A1BE-3EDA-3F04-FF8252700F7D}"/>
                </a:ext>
              </a:extLst>
            </p:cNvPr>
            <p:cNvSpPr/>
            <p:nvPr/>
          </p:nvSpPr>
          <p:spPr>
            <a:xfrm>
              <a:off x="3503890" y="2556202"/>
              <a:ext cx="1037842" cy="1288395"/>
            </a:xfrm>
            <a:prstGeom prst="rect">
              <a:avLst/>
            </a:prstGeom>
            <a:gradFill>
              <a:gsLst>
                <a:gs pos="0">
                  <a:schemeClr val="bg2">
                    <a:lumMod val="90000"/>
                  </a:schemeClr>
                </a:gs>
                <a:gs pos="100000">
                  <a:schemeClr val="bg2">
                    <a:lumMod val="75000"/>
                    <a:alpha val="63000"/>
                  </a:schemeClr>
                </a:gs>
              </a:gsLst>
            </a:gradFill>
            <a:ln>
              <a:noFill/>
            </a:ln>
            <a:scene3d>
              <a:camera prst="isometricOffAxis2Top"/>
              <a:lightRig rig="morning" dir="t"/>
            </a:scene3d>
            <a:sp3d extrusionH="95250" prstMaterial="flat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0B767613-2FD2-08D7-5B53-400DADC05F06}"/>
                </a:ext>
              </a:extLst>
            </p:cNvPr>
            <p:cNvGrpSpPr/>
            <p:nvPr/>
          </p:nvGrpSpPr>
          <p:grpSpPr>
            <a:xfrm>
              <a:off x="3481469" y="2953469"/>
              <a:ext cx="1100652" cy="457076"/>
              <a:chOff x="7197429" y="1152057"/>
              <a:chExt cx="1100652" cy="457076"/>
            </a:xfrm>
          </p:grpSpPr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D077ECB7-4DF7-EA2B-9701-5529069F97B5}"/>
                  </a:ext>
                </a:extLst>
              </p:cNvPr>
              <p:cNvGrpSpPr/>
              <p:nvPr/>
            </p:nvGrpSpPr>
            <p:grpSpPr>
              <a:xfrm>
                <a:off x="7570280" y="1152057"/>
                <a:ext cx="727801" cy="232844"/>
                <a:chOff x="6561481" y="1836490"/>
                <a:chExt cx="727801" cy="232844"/>
              </a:xfrm>
            </p:grpSpPr>
            <p:pic>
              <p:nvPicPr>
                <p:cNvPr id="87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A6257091-2060-A24B-A9F2-A02ACA71240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561481" y="1836490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88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8739340F-910A-E0F2-6A4B-9F83A678639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708870" y="185265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89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3E8761CC-0B6D-6673-D6D6-9F4D2A9DF50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853973" y="187412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90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ED89A540-5839-B6BD-F03F-04110E3A4D0A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999076" y="189559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91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032C53F8-527F-4660-90B5-72D74D8C1BD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7144179" y="1924884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94CC80F7-A4C1-1EC6-FC14-B9692681E2C9}"/>
                  </a:ext>
                </a:extLst>
              </p:cNvPr>
              <p:cNvGrpSpPr/>
              <p:nvPr/>
            </p:nvGrpSpPr>
            <p:grpSpPr>
              <a:xfrm>
                <a:off x="7451507" y="1229540"/>
                <a:ext cx="727801" cy="232844"/>
                <a:chOff x="6561481" y="1836490"/>
                <a:chExt cx="727801" cy="232844"/>
              </a:xfrm>
            </p:grpSpPr>
            <p:pic>
              <p:nvPicPr>
                <p:cNvPr id="82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81D66CF5-6376-82CE-5CEC-32C39B9B731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561481" y="1836490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83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8AA6E301-A7BB-662E-5190-290D38B4622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708870" y="185265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84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83C21817-D6AD-1E82-BCD5-698C4009002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853973" y="187412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85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B2C93DAE-AC61-D6AD-C214-E3C5CE80781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999076" y="189559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86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3A5372F3-6936-41B6-65A1-A2AE4B841DA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7144179" y="1924884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C27F0BEA-92D6-E6D8-9392-5645D36989AD}"/>
                  </a:ext>
                </a:extLst>
              </p:cNvPr>
              <p:cNvGrpSpPr/>
              <p:nvPr/>
            </p:nvGrpSpPr>
            <p:grpSpPr>
              <a:xfrm>
                <a:off x="7320281" y="1308323"/>
                <a:ext cx="727801" cy="232844"/>
                <a:chOff x="6561481" y="1836490"/>
                <a:chExt cx="727801" cy="232844"/>
              </a:xfrm>
            </p:grpSpPr>
            <p:pic>
              <p:nvPicPr>
                <p:cNvPr id="77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17D81A43-75F2-9B78-8EB1-6D366C680C9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561481" y="1836490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78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42DAF6FE-01C1-BEE0-0CCB-6FB2E7F0B6C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708870" y="185265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79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CBAC3BD4-0620-C10A-9841-F430545B6D2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853973" y="187412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80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8614B54C-8FB2-6D10-B353-A79835CBB5F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999076" y="189559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81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158E73AA-BFDF-FD94-FCD8-C5694109B06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7144179" y="1924884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71" name="Group 70">
                <a:extLst>
                  <a:ext uri="{FF2B5EF4-FFF2-40B4-BE49-F238E27FC236}">
                    <a16:creationId xmlns:a16="http://schemas.microsoft.com/office/drawing/2014/main" id="{C3DA5784-B710-2C55-51A1-2AAE8EBC21FD}"/>
                  </a:ext>
                </a:extLst>
              </p:cNvPr>
              <p:cNvGrpSpPr/>
              <p:nvPr/>
            </p:nvGrpSpPr>
            <p:grpSpPr>
              <a:xfrm>
                <a:off x="7197429" y="1376289"/>
                <a:ext cx="727801" cy="232844"/>
                <a:chOff x="6561481" y="1836490"/>
                <a:chExt cx="727801" cy="232844"/>
              </a:xfrm>
            </p:grpSpPr>
            <p:pic>
              <p:nvPicPr>
                <p:cNvPr id="72" name="Picture 71" descr="3d Sphere Sphere PNG &amp; clipart images | TOPpng">
                  <a:extLst>
                    <a:ext uri="{FF2B5EF4-FFF2-40B4-BE49-F238E27FC236}">
                      <a16:creationId xmlns:a16="http://schemas.microsoft.com/office/drawing/2014/main" id="{4436FC83-6CC4-86B2-20D1-1D4F591CAF6A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561481" y="1836490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73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DBA1D31F-6040-BEE3-C513-FB7CC833569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707156" y="185265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74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10DD7707-F59F-1353-7F8D-A7C79544A0D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852831" y="187412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75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60B51022-D242-05C2-BC48-C5E663AB0EF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998506" y="190425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76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B4F6AA1F-752C-1E4F-0EFE-AE33928DF0A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7144179" y="1924884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</p:grpSp>
      </p:grpSp>
      <p:sp>
        <p:nvSpPr>
          <p:cNvPr id="92" name="Rectangle 91">
            <a:extLst>
              <a:ext uri="{FF2B5EF4-FFF2-40B4-BE49-F238E27FC236}">
                <a16:creationId xmlns:a16="http://schemas.microsoft.com/office/drawing/2014/main" id="{54B12F8B-CD01-4A12-F8FE-6C33220B1C63}"/>
              </a:ext>
            </a:extLst>
          </p:cNvPr>
          <p:cNvSpPr/>
          <p:nvPr/>
        </p:nvSpPr>
        <p:spPr>
          <a:xfrm>
            <a:off x="1724313" y="2556202"/>
            <a:ext cx="1037842" cy="1288395"/>
          </a:xfrm>
          <a:prstGeom prst="rect">
            <a:avLst/>
          </a:prstGeom>
          <a:gradFill>
            <a:gsLst>
              <a:gs pos="0">
                <a:schemeClr val="bg2">
                  <a:lumMod val="90000"/>
                </a:schemeClr>
              </a:gs>
              <a:gs pos="100000">
                <a:schemeClr val="bg2">
                  <a:lumMod val="75000"/>
                  <a:alpha val="63000"/>
                </a:schemeClr>
              </a:gs>
            </a:gsLst>
          </a:gradFill>
          <a:ln>
            <a:noFill/>
          </a:ln>
          <a:scene3d>
            <a:camera prst="isometricOffAxis2Top"/>
            <a:lightRig rig="morning" dir="t"/>
          </a:scene3d>
          <a:sp3d extrusionH="95250" prstMaterial="flat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9D08A800-13CA-F16A-5394-A88CEFC7757B}"/>
              </a:ext>
            </a:extLst>
          </p:cNvPr>
          <p:cNvGrpSpPr/>
          <p:nvPr/>
        </p:nvGrpSpPr>
        <p:grpSpPr>
          <a:xfrm>
            <a:off x="1701892" y="2953469"/>
            <a:ext cx="1100652" cy="457076"/>
            <a:chOff x="7197429" y="1152057"/>
            <a:chExt cx="1100652" cy="457076"/>
          </a:xfrm>
        </p:grpSpPr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E2378FDC-F31C-2A83-2F1E-DC219190CC7F}"/>
                </a:ext>
              </a:extLst>
            </p:cNvPr>
            <p:cNvGrpSpPr/>
            <p:nvPr/>
          </p:nvGrpSpPr>
          <p:grpSpPr>
            <a:xfrm>
              <a:off x="7570280" y="1152057"/>
              <a:ext cx="727801" cy="232844"/>
              <a:chOff x="6561481" y="1836490"/>
              <a:chExt cx="727801" cy="232844"/>
            </a:xfrm>
          </p:grpSpPr>
          <p:pic>
            <p:nvPicPr>
              <p:cNvPr id="113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FA5D6E23-3CEB-E36A-709A-ABB0CBCD70B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6561481" y="1836490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4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E7EE948F-508B-BBB0-FD2B-7A615022367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6708870" y="1852659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5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3220D546-BB94-78F5-25C1-B465E0D010A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6853973" y="1874129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6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464FFF8C-0BD1-C17C-8985-2F9F7A67490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6999076" y="1895599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7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81F5F87F-6B85-E4E2-F646-5EDC129D153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7144179" y="1924884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1C4DED0A-F445-00AA-F733-C689E75D09B8}"/>
                </a:ext>
              </a:extLst>
            </p:cNvPr>
            <p:cNvGrpSpPr/>
            <p:nvPr/>
          </p:nvGrpSpPr>
          <p:grpSpPr>
            <a:xfrm>
              <a:off x="7451507" y="1229540"/>
              <a:ext cx="727801" cy="232844"/>
              <a:chOff x="6561481" y="1836490"/>
              <a:chExt cx="727801" cy="232844"/>
            </a:xfrm>
          </p:grpSpPr>
          <p:pic>
            <p:nvPicPr>
              <p:cNvPr id="108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403896B1-B560-0C54-28DB-E3E4544F656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6561481" y="1836490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9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8F4FA0E1-39FD-E4FE-38F7-067C8AEC930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6708870" y="1852659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0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808316BF-C138-E4DA-4241-7D6E08D8266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6853973" y="1874129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1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87719874-EDE5-47C7-9CED-D4B329029CD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6999076" y="1895599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2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B349525D-4335-8246-929C-F0972CF1D7A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7144179" y="1924884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708FEE60-DAEC-FCD7-7570-21AB03070F83}"/>
                </a:ext>
              </a:extLst>
            </p:cNvPr>
            <p:cNvGrpSpPr/>
            <p:nvPr/>
          </p:nvGrpSpPr>
          <p:grpSpPr>
            <a:xfrm>
              <a:off x="7320281" y="1308323"/>
              <a:ext cx="727801" cy="232844"/>
              <a:chOff x="6561481" y="1836490"/>
              <a:chExt cx="727801" cy="232844"/>
            </a:xfrm>
          </p:grpSpPr>
          <p:pic>
            <p:nvPicPr>
              <p:cNvPr id="103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B24DFE45-50F7-3FCC-5A53-F077F63E8C6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6561481" y="1836490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4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0556640B-123E-4C81-D44A-FCA50C119AB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6708870" y="1852659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5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B4F7C2CA-8A7D-FF98-EECB-1F80C7F38DA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6853973" y="1874129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6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D961FAD2-1A5B-5F3F-1351-D304081C740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6999076" y="1895599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7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46934850-6ADA-0866-B7DF-2EF5C981381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7144179" y="1924884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5039D11B-DE62-2975-BB41-9C32628720BB}"/>
                </a:ext>
              </a:extLst>
            </p:cNvPr>
            <p:cNvGrpSpPr/>
            <p:nvPr/>
          </p:nvGrpSpPr>
          <p:grpSpPr>
            <a:xfrm>
              <a:off x="7197429" y="1376289"/>
              <a:ext cx="727801" cy="232844"/>
              <a:chOff x="6561481" y="1836490"/>
              <a:chExt cx="727801" cy="232844"/>
            </a:xfrm>
          </p:grpSpPr>
          <p:pic>
            <p:nvPicPr>
              <p:cNvPr id="98" name="Picture 97" descr="3d Sphere Sphere PNG &amp; clipart images | TOPpng">
                <a:extLst>
                  <a:ext uri="{FF2B5EF4-FFF2-40B4-BE49-F238E27FC236}">
                    <a16:creationId xmlns:a16="http://schemas.microsoft.com/office/drawing/2014/main" id="{03FF4F34-048B-3621-CCEE-792F0EB0D04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6561481" y="1836490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9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88D1D4F3-4F2C-7E31-FD2F-A0C68547F3A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6707156" y="1852659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0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69A12837-15F4-CA64-C1BC-DA9E11B79DF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6852831" y="1874129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1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B80119A9-3F89-CEE1-1C5F-900F40D8948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6998506" y="1904259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2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29752470-CEC7-AA53-EE20-78FD610E69B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7144179" y="1924884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D723D4A0-1793-706A-4849-A33D1D590A23}"/>
              </a:ext>
            </a:extLst>
          </p:cNvPr>
          <p:cNvGrpSpPr/>
          <p:nvPr/>
        </p:nvGrpSpPr>
        <p:grpSpPr>
          <a:xfrm rot="10396219">
            <a:off x="1542980" y="2680544"/>
            <a:ext cx="717595" cy="312595"/>
            <a:chOff x="1743355" y="1349070"/>
            <a:chExt cx="717595" cy="312595"/>
          </a:xfrm>
        </p:grpSpPr>
        <p:pic>
          <p:nvPicPr>
            <p:cNvPr id="118" name="Picture 8" descr="3d Sphere Sphere PNG &amp; clipart images | TOPpng">
              <a:extLst>
                <a:ext uri="{FF2B5EF4-FFF2-40B4-BE49-F238E27FC236}">
                  <a16:creationId xmlns:a16="http://schemas.microsoft.com/office/drawing/2014/main" id="{3E63A111-63E7-0681-18EE-1EB7D92DEEC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duotone>
                <a:prstClr val="black"/>
                <a:srgbClr val="00B05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1743355" y="1605587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9" name="Picture 8" descr="3d Sphere Sphere PNG &amp; clipart images | TOPpng">
              <a:extLst>
                <a:ext uri="{FF2B5EF4-FFF2-40B4-BE49-F238E27FC236}">
                  <a16:creationId xmlns:a16="http://schemas.microsoft.com/office/drawing/2014/main" id="{C6FAE7FC-3B86-4C1C-B915-2DB2F8F93B8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duotone>
                <a:prstClr val="black"/>
                <a:srgbClr val="00B05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2007715" y="1605587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0" name="Picture 8" descr="3d Sphere Sphere PNG &amp; clipart images | TOPpng">
              <a:extLst>
                <a:ext uri="{FF2B5EF4-FFF2-40B4-BE49-F238E27FC236}">
                  <a16:creationId xmlns:a16="http://schemas.microsoft.com/office/drawing/2014/main" id="{02080C72-B0E6-EC52-18C6-FBD48AF9C2D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duotone>
                <a:prstClr val="black"/>
                <a:srgbClr val="00B05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2188281" y="1473734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1" name="Picture 8" descr="3d Sphere Sphere PNG &amp; clipart images | TOPpng">
              <a:extLst>
                <a:ext uri="{FF2B5EF4-FFF2-40B4-BE49-F238E27FC236}">
                  <a16:creationId xmlns:a16="http://schemas.microsoft.com/office/drawing/2014/main" id="{D3BF67BA-1EE7-E523-0B53-F38C30C9B59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duotone>
                <a:prstClr val="black"/>
                <a:srgbClr val="00B05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2404618" y="1540239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2" name="Picture 8" descr="3d Sphere Sphere PNG &amp; clipart images | TOPpng">
              <a:extLst>
                <a:ext uri="{FF2B5EF4-FFF2-40B4-BE49-F238E27FC236}">
                  <a16:creationId xmlns:a16="http://schemas.microsoft.com/office/drawing/2014/main" id="{FA808988-CF1C-C0A6-A60D-39FBCB63427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duotone>
                <a:prstClr val="black"/>
                <a:srgbClr val="00B05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1925263" y="1501773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3" name="Picture 8" descr="3d Sphere Sphere PNG &amp; clipart images | TOPpng">
              <a:extLst>
                <a:ext uri="{FF2B5EF4-FFF2-40B4-BE49-F238E27FC236}">
                  <a16:creationId xmlns:a16="http://schemas.microsoft.com/office/drawing/2014/main" id="{75CF8900-48C9-6565-ADE4-63A0655E8A9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duotone>
                <a:prstClr val="black"/>
                <a:srgbClr val="00B05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2048155" y="1452884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4" name="Picture 8" descr="3d Sphere Sphere PNG &amp; clipart images | TOPpng">
              <a:extLst>
                <a:ext uri="{FF2B5EF4-FFF2-40B4-BE49-F238E27FC236}">
                  <a16:creationId xmlns:a16="http://schemas.microsoft.com/office/drawing/2014/main" id="{A227CFD7-8446-6130-5626-F9EC5764778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duotone>
                <a:prstClr val="black"/>
                <a:srgbClr val="00B05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2312515" y="1452884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5" name="Picture 8" descr="3d Sphere Sphere PNG &amp; clipart images | TOPpng">
              <a:extLst>
                <a:ext uri="{FF2B5EF4-FFF2-40B4-BE49-F238E27FC236}">
                  <a16:creationId xmlns:a16="http://schemas.microsoft.com/office/drawing/2014/main" id="{61CABD5C-2138-73B3-F368-A4CF2ED21B1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duotone>
                <a:prstClr val="black"/>
                <a:srgbClr val="00B05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2230063" y="1349070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521502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9" name="Group 4098">
            <a:extLst>
              <a:ext uri="{FF2B5EF4-FFF2-40B4-BE49-F238E27FC236}">
                <a16:creationId xmlns:a16="http://schemas.microsoft.com/office/drawing/2014/main" id="{9EC23D55-7AF2-DE07-5E91-E440C39C81E4}"/>
              </a:ext>
            </a:extLst>
          </p:cNvPr>
          <p:cNvGrpSpPr/>
          <p:nvPr/>
        </p:nvGrpSpPr>
        <p:grpSpPr>
          <a:xfrm>
            <a:off x="1465070" y="1111998"/>
            <a:ext cx="3438908" cy="2732599"/>
            <a:chOff x="1465070" y="1111998"/>
            <a:chExt cx="3438908" cy="2732599"/>
          </a:xfrm>
        </p:grpSpPr>
        <p:pic>
          <p:nvPicPr>
            <p:cNvPr id="4098" name="Picture 2" descr="Three Arrow Circle Sign Reload, Loop Symbol - Download Free 3D model by  B1Blender (@B1Blender) [549c9fb]">
              <a:extLst>
                <a:ext uri="{FF2B5EF4-FFF2-40B4-BE49-F238E27FC236}">
                  <a16:creationId xmlns:a16="http://schemas.microsoft.com/office/drawing/2014/main" id="{3BB5357D-4978-2910-8979-2736C80AED6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6667" b="76852" l="32396" r="67500">
                          <a14:foregroundMark x1="55625" y1="19167" x2="55677" y2="22130"/>
                          <a14:foregroundMark x1="63542" y1="36574" x2="65729" y2="46296"/>
                          <a14:foregroundMark x1="65729" y1="46296" x2="65313" y2="63241"/>
                          <a14:foregroundMark x1="65313" y1="63241" x2="60208" y2="73241"/>
                          <a14:foregroundMark x1="60208" y1="73241" x2="59948" y2="73148"/>
                          <a14:foregroundMark x1="37031" y1="57315" x2="45052" y2="73333"/>
                          <a14:foregroundMark x1="45052" y1="73333" x2="50625" y2="76944"/>
                          <a14:foregroundMark x1="50625" y1="76944" x2="54948" y2="76759"/>
                          <a14:foregroundMark x1="67656" y1="49815" x2="67448" y2="60556"/>
                          <a14:foregroundMark x1="55625" y1="16759" x2="55625" y2="16759"/>
                          <a14:foregroundMark x1="34479" y1="61204" x2="33698" y2="64630"/>
                          <a14:foregroundMark x1="32396" y1="65926" x2="32396" y2="65926"/>
                        </a14:backgroundRemoval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597" t="14558" r="30422" b="19185"/>
            <a:stretch/>
          </p:blipFill>
          <p:spPr bwMode="auto">
            <a:xfrm>
              <a:off x="2313902" y="1814648"/>
              <a:ext cx="1276140" cy="12522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380D62E7-30BD-AADE-63EF-05E7D6350933}"/>
                </a:ext>
              </a:extLst>
            </p:cNvPr>
            <p:cNvGrpSpPr/>
            <p:nvPr/>
          </p:nvGrpSpPr>
          <p:grpSpPr>
            <a:xfrm>
              <a:off x="3471348" y="1111998"/>
              <a:ext cx="1100652" cy="1288395"/>
              <a:chOff x="4540535" y="510372"/>
              <a:chExt cx="1100652" cy="1288395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333984E4-A79A-EE28-5BF1-3296B4CDC186}"/>
                  </a:ext>
                </a:extLst>
              </p:cNvPr>
              <p:cNvSpPr/>
              <p:nvPr/>
            </p:nvSpPr>
            <p:spPr>
              <a:xfrm>
                <a:off x="4562956" y="510372"/>
                <a:ext cx="1037842" cy="1288395"/>
              </a:xfrm>
              <a:prstGeom prst="rect">
                <a:avLst/>
              </a:prstGeom>
              <a:gradFill>
                <a:gsLst>
                  <a:gs pos="0">
                    <a:schemeClr val="bg2">
                      <a:lumMod val="90000"/>
                    </a:schemeClr>
                  </a:gs>
                  <a:gs pos="100000">
                    <a:schemeClr val="bg2">
                      <a:lumMod val="75000"/>
                      <a:alpha val="63000"/>
                    </a:schemeClr>
                  </a:gs>
                </a:gsLst>
              </a:gradFill>
              <a:ln>
                <a:noFill/>
              </a:ln>
              <a:scene3d>
                <a:camera prst="isometricOffAxis2Top"/>
                <a:lightRig rig="morning" dir="t"/>
              </a:scene3d>
              <a:sp3d extrusionH="95250" prstMaterial="flat"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FF05AB71-B7BA-11AA-6D55-7A3DEC618ECC}"/>
                  </a:ext>
                </a:extLst>
              </p:cNvPr>
              <p:cNvGrpSpPr/>
              <p:nvPr/>
            </p:nvGrpSpPr>
            <p:grpSpPr>
              <a:xfrm>
                <a:off x="4540535" y="907639"/>
                <a:ext cx="1100652" cy="457076"/>
                <a:chOff x="7197429" y="1152057"/>
                <a:chExt cx="1100652" cy="457076"/>
              </a:xfrm>
            </p:grpSpPr>
            <p:grpSp>
              <p:nvGrpSpPr>
                <p:cNvPr id="32" name="Group 31">
                  <a:extLst>
                    <a:ext uri="{FF2B5EF4-FFF2-40B4-BE49-F238E27FC236}">
                      <a16:creationId xmlns:a16="http://schemas.microsoft.com/office/drawing/2014/main" id="{27E98972-38B5-284F-81EB-E26D06C468CE}"/>
                    </a:ext>
                  </a:extLst>
                </p:cNvPr>
                <p:cNvGrpSpPr/>
                <p:nvPr/>
              </p:nvGrpSpPr>
              <p:grpSpPr>
                <a:xfrm>
                  <a:off x="7570280" y="1152057"/>
                  <a:ext cx="727801" cy="232844"/>
                  <a:chOff x="6561481" y="1836490"/>
                  <a:chExt cx="727801" cy="232844"/>
                </a:xfrm>
              </p:grpSpPr>
              <p:pic>
                <p:nvPicPr>
                  <p:cNvPr id="51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EEF68FD8-9ED6-F850-A3D3-D456DD1E2D81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561481" y="1836490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2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DA297D37-0D61-8D3A-1181-15AC4A29D801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708870" y="185265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3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D07F5C1B-D5C4-BF1E-F2BD-7A1369678C8F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853973" y="187412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4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6A9635B8-F4AC-0E68-84AD-29AF6D45A469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999076" y="189559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5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12DC617B-0433-B8DC-AE8C-DDB5678F10A1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7144179" y="1924884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grpSp>
              <p:nvGrpSpPr>
                <p:cNvPr id="33" name="Group 32">
                  <a:extLst>
                    <a:ext uri="{FF2B5EF4-FFF2-40B4-BE49-F238E27FC236}">
                      <a16:creationId xmlns:a16="http://schemas.microsoft.com/office/drawing/2014/main" id="{A30ECDEE-94B3-C956-A614-2008B0B1C4A0}"/>
                    </a:ext>
                  </a:extLst>
                </p:cNvPr>
                <p:cNvGrpSpPr/>
                <p:nvPr/>
              </p:nvGrpSpPr>
              <p:grpSpPr>
                <a:xfrm>
                  <a:off x="7451507" y="1229540"/>
                  <a:ext cx="727801" cy="232844"/>
                  <a:chOff x="6561481" y="1836490"/>
                  <a:chExt cx="727801" cy="232844"/>
                </a:xfrm>
              </p:grpSpPr>
              <p:pic>
                <p:nvPicPr>
                  <p:cNvPr id="46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820C4664-8024-C99A-25AE-B236C6FAE376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561481" y="1836490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47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EFFD70A1-20F3-0667-166C-E63148069CFA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708870" y="185265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48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E27E839E-6FE7-A95F-DB09-B00B4371F689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853973" y="187412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49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D7F78BEF-6B1F-2B09-CDE8-6572BE1F298D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999076" y="189559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0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9B3978EC-E3C5-59C8-2C74-C12926DA7B4E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7144179" y="1924884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grpSp>
              <p:nvGrpSpPr>
                <p:cNvPr id="34" name="Group 33">
                  <a:extLst>
                    <a:ext uri="{FF2B5EF4-FFF2-40B4-BE49-F238E27FC236}">
                      <a16:creationId xmlns:a16="http://schemas.microsoft.com/office/drawing/2014/main" id="{2AC1CA7B-18D9-1B9E-9771-E91982BDED30}"/>
                    </a:ext>
                  </a:extLst>
                </p:cNvPr>
                <p:cNvGrpSpPr/>
                <p:nvPr/>
              </p:nvGrpSpPr>
              <p:grpSpPr>
                <a:xfrm>
                  <a:off x="7320281" y="1308323"/>
                  <a:ext cx="727801" cy="232844"/>
                  <a:chOff x="6561481" y="1836490"/>
                  <a:chExt cx="727801" cy="232844"/>
                </a:xfrm>
              </p:grpSpPr>
              <p:pic>
                <p:nvPicPr>
                  <p:cNvPr id="41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BAA03C3E-0B7D-1FF1-6CEC-6A935F5680FA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561481" y="1836490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42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73015EFD-979C-B490-6D2E-6996BCC45905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708870" y="185265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43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53404D7F-7839-046B-3C35-2138149AA32F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853973" y="187412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44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AD26D323-423A-1987-71CE-502F58E770FD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999076" y="189559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45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2C1FB855-92DA-2521-0B5A-A9A5FB827EE0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7144179" y="1924884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grpSp>
              <p:nvGrpSpPr>
                <p:cNvPr id="35" name="Group 34">
                  <a:extLst>
                    <a:ext uri="{FF2B5EF4-FFF2-40B4-BE49-F238E27FC236}">
                      <a16:creationId xmlns:a16="http://schemas.microsoft.com/office/drawing/2014/main" id="{3148019D-00EF-3EC7-0E6A-D723A20233E2}"/>
                    </a:ext>
                  </a:extLst>
                </p:cNvPr>
                <p:cNvGrpSpPr/>
                <p:nvPr/>
              </p:nvGrpSpPr>
              <p:grpSpPr>
                <a:xfrm>
                  <a:off x="7197429" y="1376289"/>
                  <a:ext cx="727801" cy="232844"/>
                  <a:chOff x="6561481" y="1836490"/>
                  <a:chExt cx="727801" cy="232844"/>
                </a:xfrm>
              </p:grpSpPr>
              <p:pic>
                <p:nvPicPr>
                  <p:cNvPr id="36" name="Picture 35" descr="3d Sphere Sphere PNG &amp; clipart images | TOPpng">
                    <a:extLst>
                      <a:ext uri="{FF2B5EF4-FFF2-40B4-BE49-F238E27FC236}">
                        <a16:creationId xmlns:a16="http://schemas.microsoft.com/office/drawing/2014/main" id="{99C000A8-89E1-823B-1737-74FD8E329B72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561481" y="1836490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37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004D65A5-0ED5-C2B1-0C46-6346444ACCC3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707156" y="185265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38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EDA93036-0C86-4DBC-87CA-7F0FF85D8D57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852831" y="187412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39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30343E5A-B715-2C4F-CE9B-EF43669F0961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998506" y="190425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40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B14A443C-4C09-709E-32F2-C0950B0A6FE1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7144179" y="1924884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</p:grpSp>
        </p:grp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A63EC4C-7D60-0BC5-8627-79443CCBF7E6}"/>
                </a:ext>
              </a:extLst>
            </p:cNvPr>
            <p:cNvSpPr/>
            <p:nvPr/>
          </p:nvSpPr>
          <p:spPr>
            <a:xfrm>
              <a:off x="1687676" y="1111998"/>
              <a:ext cx="1037842" cy="1288395"/>
            </a:xfrm>
            <a:prstGeom prst="rect">
              <a:avLst/>
            </a:prstGeom>
            <a:gradFill>
              <a:gsLst>
                <a:gs pos="0">
                  <a:schemeClr val="bg2">
                    <a:lumMod val="90000"/>
                  </a:schemeClr>
                </a:gs>
                <a:gs pos="100000">
                  <a:schemeClr val="bg2">
                    <a:lumMod val="75000"/>
                    <a:alpha val="63000"/>
                  </a:schemeClr>
                </a:gs>
              </a:gsLst>
            </a:gradFill>
            <a:ln>
              <a:noFill/>
            </a:ln>
            <a:scene3d>
              <a:camera prst="isometricOffAxis2Top"/>
              <a:lightRig rig="morning" dir="t"/>
            </a:scene3d>
            <a:sp3d extrusionH="95250" prstMaterial="flat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096" name="Group 4095">
              <a:extLst>
                <a:ext uri="{FF2B5EF4-FFF2-40B4-BE49-F238E27FC236}">
                  <a16:creationId xmlns:a16="http://schemas.microsoft.com/office/drawing/2014/main" id="{692F7127-1D43-B772-8061-6A84E624C4ED}"/>
                </a:ext>
              </a:extLst>
            </p:cNvPr>
            <p:cNvGrpSpPr/>
            <p:nvPr/>
          </p:nvGrpSpPr>
          <p:grpSpPr>
            <a:xfrm>
              <a:off x="1465070" y="1185227"/>
              <a:ext cx="1449434" cy="504912"/>
              <a:chOff x="1590955" y="1196670"/>
              <a:chExt cx="897356" cy="312595"/>
            </a:xfrm>
          </p:grpSpPr>
          <p:pic>
            <p:nvPicPr>
              <p:cNvPr id="56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5492B58F-1699-5019-2324-DBFE4EEF328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1590955" y="1453187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7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8E86C5BF-0CFC-EBF6-CC19-88183595C90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1855315" y="1453187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8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A6661BA1-F58C-CC89-976D-7FF3C1DF8C8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035881" y="1321334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9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8FA95ABE-24A1-C2EB-17B0-CA7131FD0EE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431979" y="1367170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0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D70DB861-AA70-C560-1616-9D176A665AD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252218" y="1387839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1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8D760EE2-E0E7-FA89-34A9-7D562A1D396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1772863" y="1349373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2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6A30DECB-64BC-2581-B6A0-C91F1A46902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1895755" y="1300484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3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5D0E421B-F053-F125-CAA3-5A0D6845F2A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160115" y="1300484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4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F2FA1183-D9E4-2635-0321-E121060CA23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077663" y="1196670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697DA111-3EC6-6D9C-0527-81CFC807ED0B}"/>
                </a:ext>
              </a:extLst>
            </p:cNvPr>
            <p:cNvGrpSpPr/>
            <p:nvPr/>
          </p:nvGrpSpPr>
          <p:grpSpPr>
            <a:xfrm>
              <a:off x="3481469" y="2556202"/>
              <a:ext cx="1100652" cy="1288395"/>
              <a:chOff x="3481469" y="2556202"/>
              <a:chExt cx="1100652" cy="1288395"/>
            </a:xfrm>
          </p:grpSpPr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6BA875C6-A1BE-3EDA-3F04-FF8252700F7D}"/>
                  </a:ext>
                </a:extLst>
              </p:cNvPr>
              <p:cNvSpPr/>
              <p:nvPr/>
            </p:nvSpPr>
            <p:spPr>
              <a:xfrm>
                <a:off x="3503890" y="2556202"/>
                <a:ext cx="1037842" cy="1288395"/>
              </a:xfrm>
              <a:prstGeom prst="rect">
                <a:avLst/>
              </a:prstGeom>
              <a:gradFill>
                <a:gsLst>
                  <a:gs pos="0">
                    <a:schemeClr val="bg2">
                      <a:lumMod val="90000"/>
                    </a:schemeClr>
                  </a:gs>
                  <a:gs pos="100000">
                    <a:schemeClr val="bg2">
                      <a:lumMod val="75000"/>
                      <a:alpha val="63000"/>
                    </a:schemeClr>
                  </a:gs>
                </a:gsLst>
              </a:gradFill>
              <a:ln>
                <a:noFill/>
              </a:ln>
              <a:scene3d>
                <a:camera prst="isometricOffAxis2Top"/>
                <a:lightRig rig="morning" dir="t"/>
              </a:scene3d>
              <a:sp3d extrusionH="95250" prstMaterial="flat"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0B767613-2FD2-08D7-5B53-400DADC05F06}"/>
                  </a:ext>
                </a:extLst>
              </p:cNvPr>
              <p:cNvGrpSpPr/>
              <p:nvPr/>
            </p:nvGrpSpPr>
            <p:grpSpPr>
              <a:xfrm>
                <a:off x="3481469" y="2953469"/>
                <a:ext cx="1100652" cy="457076"/>
                <a:chOff x="7197429" y="1152057"/>
                <a:chExt cx="1100652" cy="457076"/>
              </a:xfrm>
            </p:grpSpPr>
            <p:grpSp>
              <p:nvGrpSpPr>
                <p:cNvPr id="68" name="Group 67">
                  <a:extLst>
                    <a:ext uri="{FF2B5EF4-FFF2-40B4-BE49-F238E27FC236}">
                      <a16:creationId xmlns:a16="http://schemas.microsoft.com/office/drawing/2014/main" id="{D077ECB7-4DF7-EA2B-9701-5529069F97B5}"/>
                    </a:ext>
                  </a:extLst>
                </p:cNvPr>
                <p:cNvGrpSpPr/>
                <p:nvPr/>
              </p:nvGrpSpPr>
              <p:grpSpPr>
                <a:xfrm>
                  <a:off x="7570280" y="1152057"/>
                  <a:ext cx="727801" cy="232844"/>
                  <a:chOff x="6561481" y="1836490"/>
                  <a:chExt cx="727801" cy="232844"/>
                </a:xfrm>
              </p:grpSpPr>
              <p:pic>
                <p:nvPicPr>
                  <p:cNvPr id="87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A6257091-2060-A24B-A9F2-A02ACA712408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561481" y="1836490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88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8739340F-910A-E0F2-6A4B-9F83A6786393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708870" y="185265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89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3E8761CC-0B6D-6673-D6D6-9F4D2A9DF500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853973" y="187412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90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ED89A540-5839-B6BD-F03F-04110E3A4D0A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999076" y="189559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91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032C53F8-527F-4660-90B5-72D74D8C1BD2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7144179" y="1924884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grpSp>
              <p:nvGrpSpPr>
                <p:cNvPr id="69" name="Group 68">
                  <a:extLst>
                    <a:ext uri="{FF2B5EF4-FFF2-40B4-BE49-F238E27FC236}">
                      <a16:creationId xmlns:a16="http://schemas.microsoft.com/office/drawing/2014/main" id="{94CC80F7-A4C1-1EC6-FC14-B9692681E2C9}"/>
                    </a:ext>
                  </a:extLst>
                </p:cNvPr>
                <p:cNvGrpSpPr/>
                <p:nvPr/>
              </p:nvGrpSpPr>
              <p:grpSpPr>
                <a:xfrm>
                  <a:off x="7451507" y="1229540"/>
                  <a:ext cx="727801" cy="232844"/>
                  <a:chOff x="6561481" y="1836490"/>
                  <a:chExt cx="727801" cy="232844"/>
                </a:xfrm>
              </p:grpSpPr>
              <p:pic>
                <p:nvPicPr>
                  <p:cNvPr id="82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81D66CF5-6376-82CE-5CEC-32C39B9B7318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561481" y="1836490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83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8AA6E301-A7BB-662E-5190-290D38B4622E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duotone>
                      <a:prstClr val="black"/>
                      <a:srgbClr val="00B050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708870" y="185265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84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83C21817-D6AD-1E82-BCD5-698C4009002D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853973" y="187412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85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B2C93DAE-AC61-D6AD-C214-E3C5CE807811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999076" y="189559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86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3A5372F3-6936-41B6-65A1-A2AE4B841DA1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7144179" y="1924884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grpSp>
              <p:nvGrpSpPr>
                <p:cNvPr id="70" name="Group 69">
                  <a:extLst>
                    <a:ext uri="{FF2B5EF4-FFF2-40B4-BE49-F238E27FC236}">
                      <a16:creationId xmlns:a16="http://schemas.microsoft.com/office/drawing/2014/main" id="{C27F0BEA-92D6-E6D8-9392-5645D36989AD}"/>
                    </a:ext>
                  </a:extLst>
                </p:cNvPr>
                <p:cNvGrpSpPr/>
                <p:nvPr/>
              </p:nvGrpSpPr>
              <p:grpSpPr>
                <a:xfrm>
                  <a:off x="7320281" y="1308323"/>
                  <a:ext cx="727801" cy="232844"/>
                  <a:chOff x="6561481" y="1836490"/>
                  <a:chExt cx="727801" cy="232844"/>
                </a:xfrm>
              </p:grpSpPr>
              <p:pic>
                <p:nvPicPr>
                  <p:cNvPr id="77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17D81A43-75F2-9B78-8EB1-6D366C680C9F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duotone>
                      <a:prstClr val="black"/>
                      <a:srgbClr val="00B050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561481" y="1836490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78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42DAF6FE-01C1-BEE0-0CCB-6FB2E7F0B6C5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duotone>
                      <a:prstClr val="black"/>
                      <a:srgbClr val="00B050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708870" y="185265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79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CBAC3BD4-0620-C10A-9841-F430545B6D21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853973" y="187412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80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8614B54C-8FB2-6D10-B353-A79835CBB5FC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duotone>
                      <a:prstClr val="black"/>
                      <a:srgbClr val="00B050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999076" y="189559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81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158E73AA-BFDF-FD94-FCD8-C5694109B061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duotone>
                      <a:prstClr val="black"/>
                      <a:srgbClr val="00B050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7144179" y="1924884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grpSp>
              <p:nvGrpSpPr>
                <p:cNvPr id="71" name="Group 70">
                  <a:extLst>
                    <a:ext uri="{FF2B5EF4-FFF2-40B4-BE49-F238E27FC236}">
                      <a16:creationId xmlns:a16="http://schemas.microsoft.com/office/drawing/2014/main" id="{C3DA5784-B710-2C55-51A1-2AAE8EBC21FD}"/>
                    </a:ext>
                  </a:extLst>
                </p:cNvPr>
                <p:cNvGrpSpPr/>
                <p:nvPr/>
              </p:nvGrpSpPr>
              <p:grpSpPr>
                <a:xfrm>
                  <a:off x="7197429" y="1376289"/>
                  <a:ext cx="727801" cy="232844"/>
                  <a:chOff x="6561481" y="1836490"/>
                  <a:chExt cx="727801" cy="232844"/>
                </a:xfrm>
              </p:grpSpPr>
              <p:pic>
                <p:nvPicPr>
                  <p:cNvPr id="72" name="Picture 71" descr="3d Sphere Sphere PNG &amp; clipart images | TOPpng">
                    <a:extLst>
                      <a:ext uri="{FF2B5EF4-FFF2-40B4-BE49-F238E27FC236}">
                        <a16:creationId xmlns:a16="http://schemas.microsoft.com/office/drawing/2014/main" id="{4436FC83-6CC4-86B2-20D1-1D4F591CAF6A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duotone>
                      <a:prstClr val="black"/>
                      <a:srgbClr val="00B050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561481" y="1836490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73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DBA1D31F-6040-BEE3-C513-FB7CC833569D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duotone>
                      <a:prstClr val="black"/>
                      <a:srgbClr val="00B050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707156" y="185265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74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10DD7707-F59F-1353-7F8D-A7C79544A0DB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duotone>
                      <a:prstClr val="black"/>
                      <a:srgbClr val="00B050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852831" y="187412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75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60B51022-D242-05C2-BC48-C5E663AB0EFC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duotone>
                      <a:prstClr val="black"/>
                      <a:srgbClr val="00B050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998506" y="190425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76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B4F6AA1F-752C-1E4F-0EFE-AE33928DF0A8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duotone>
                      <a:prstClr val="black"/>
                      <a:srgbClr val="00B050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7144179" y="1924884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</p:grpSp>
        </p:grp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54B12F8B-CD01-4A12-F8FE-6C33220B1C63}"/>
                </a:ext>
              </a:extLst>
            </p:cNvPr>
            <p:cNvSpPr/>
            <p:nvPr/>
          </p:nvSpPr>
          <p:spPr>
            <a:xfrm>
              <a:off x="1724313" y="2556202"/>
              <a:ext cx="1037842" cy="1288395"/>
            </a:xfrm>
            <a:prstGeom prst="rect">
              <a:avLst/>
            </a:prstGeom>
            <a:gradFill>
              <a:gsLst>
                <a:gs pos="0">
                  <a:schemeClr val="bg2">
                    <a:lumMod val="90000"/>
                  </a:schemeClr>
                </a:gs>
                <a:gs pos="100000">
                  <a:schemeClr val="bg2">
                    <a:lumMod val="75000"/>
                    <a:alpha val="63000"/>
                  </a:schemeClr>
                </a:gs>
              </a:gsLst>
            </a:gradFill>
            <a:ln>
              <a:noFill/>
            </a:ln>
            <a:scene3d>
              <a:camera prst="isometricOffAxis2Top"/>
              <a:lightRig rig="morning" dir="t"/>
            </a:scene3d>
            <a:sp3d extrusionH="95250" prstMaterial="flat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9D08A800-13CA-F16A-5394-A88CEFC7757B}"/>
                </a:ext>
              </a:extLst>
            </p:cNvPr>
            <p:cNvGrpSpPr/>
            <p:nvPr/>
          </p:nvGrpSpPr>
          <p:grpSpPr>
            <a:xfrm>
              <a:off x="1701892" y="2953469"/>
              <a:ext cx="1100652" cy="457076"/>
              <a:chOff x="7197429" y="1152057"/>
              <a:chExt cx="1100652" cy="457076"/>
            </a:xfrm>
          </p:grpSpPr>
          <p:grpSp>
            <p:nvGrpSpPr>
              <p:cNvPr id="94" name="Group 93">
                <a:extLst>
                  <a:ext uri="{FF2B5EF4-FFF2-40B4-BE49-F238E27FC236}">
                    <a16:creationId xmlns:a16="http://schemas.microsoft.com/office/drawing/2014/main" id="{E2378FDC-F31C-2A83-2F1E-DC219190CC7F}"/>
                  </a:ext>
                </a:extLst>
              </p:cNvPr>
              <p:cNvGrpSpPr/>
              <p:nvPr/>
            </p:nvGrpSpPr>
            <p:grpSpPr>
              <a:xfrm>
                <a:off x="7570280" y="1152057"/>
                <a:ext cx="727801" cy="232844"/>
                <a:chOff x="6561481" y="1836490"/>
                <a:chExt cx="727801" cy="232844"/>
              </a:xfrm>
            </p:grpSpPr>
            <p:pic>
              <p:nvPicPr>
                <p:cNvPr id="113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FA5D6E23-3CEB-E36A-709A-ABB0CBCD70B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561481" y="1836490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14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E7EE948F-508B-BBB0-FD2B-7A615022367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708870" y="185265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15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3220D546-BB94-78F5-25C1-B465E0D010A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853973" y="187412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16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464FFF8C-0BD1-C17C-8985-2F9F7A67490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999076" y="189559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17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81F5F87F-6B85-E4E2-F646-5EDC129D153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7144179" y="1924884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95" name="Group 94">
                <a:extLst>
                  <a:ext uri="{FF2B5EF4-FFF2-40B4-BE49-F238E27FC236}">
                    <a16:creationId xmlns:a16="http://schemas.microsoft.com/office/drawing/2014/main" id="{1C4DED0A-F445-00AA-F733-C689E75D09B8}"/>
                  </a:ext>
                </a:extLst>
              </p:cNvPr>
              <p:cNvGrpSpPr/>
              <p:nvPr/>
            </p:nvGrpSpPr>
            <p:grpSpPr>
              <a:xfrm>
                <a:off x="7451507" y="1229540"/>
                <a:ext cx="727801" cy="232844"/>
                <a:chOff x="6561481" y="1836490"/>
                <a:chExt cx="727801" cy="232844"/>
              </a:xfrm>
            </p:grpSpPr>
            <p:pic>
              <p:nvPicPr>
                <p:cNvPr id="108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403896B1-B560-0C54-28DB-E3E4544F656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561481" y="1836490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09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8F4FA0E1-39FD-E4FE-38F7-067C8AEC930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708870" y="185265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10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808316BF-C138-E4DA-4241-7D6E08D8266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853973" y="187412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11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87719874-EDE5-47C7-9CED-D4B329029CD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999076" y="189559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12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B349525D-4335-8246-929C-F0972CF1D7A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7144179" y="1924884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96" name="Group 95">
                <a:extLst>
                  <a:ext uri="{FF2B5EF4-FFF2-40B4-BE49-F238E27FC236}">
                    <a16:creationId xmlns:a16="http://schemas.microsoft.com/office/drawing/2014/main" id="{708FEE60-DAEC-FCD7-7570-21AB03070F83}"/>
                  </a:ext>
                </a:extLst>
              </p:cNvPr>
              <p:cNvGrpSpPr/>
              <p:nvPr/>
            </p:nvGrpSpPr>
            <p:grpSpPr>
              <a:xfrm>
                <a:off x="7320281" y="1308323"/>
                <a:ext cx="727801" cy="232844"/>
                <a:chOff x="6561481" y="1836490"/>
                <a:chExt cx="727801" cy="232844"/>
              </a:xfrm>
            </p:grpSpPr>
            <p:pic>
              <p:nvPicPr>
                <p:cNvPr id="103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B24DFE45-50F7-3FCC-5A53-F077F63E8C6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561481" y="1836490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04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0556640B-123E-4C81-D44A-FCA50C119AB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708870" y="185265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05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B4F7C2CA-8A7D-FF98-EECB-1F80C7F38DA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853973" y="187412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06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D961FAD2-1A5B-5F3F-1351-D304081C740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999076" y="189559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07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46934850-6ADA-0866-B7DF-2EF5C981381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7144179" y="1924884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5039D11B-DE62-2975-BB41-9C32628720BB}"/>
                  </a:ext>
                </a:extLst>
              </p:cNvPr>
              <p:cNvGrpSpPr/>
              <p:nvPr/>
            </p:nvGrpSpPr>
            <p:grpSpPr>
              <a:xfrm>
                <a:off x="7197429" y="1376289"/>
                <a:ext cx="727801" cy="232844"/>
                <a:chOff x="6561481" y="1836490"/>
                <a:chExt cx="727801" cy="232844"/>
              </a:xfrm>
            </p:grpSpPr>
            <p:pic>
              <p:nvPicPr>
                <p:cNvPr id="98" name="Picture 97" descr="3d Sphere Sphere PNG &amp; clipart images | TOPpng">
                  <a:extLst>
                    <a:ext uri="{FF2B5EF4-FFF2-40B4-BE49-F238E27FC236}">
                      <a16:creationId xmlns:a16="http://schemas.microsoft.com/office/drawing/2014/main" id="{03FF4F34-048B-3621-CCEE-792F0EB0D04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561481" y="1836490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99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88D1D4F3-4F2C-7E31-FD2F-A0C68547F3A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707156" y="185265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00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69A12837-15F4-CA64-C1BC-DA9E11B79DF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852831" y="187412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01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B80119A9-3F89-CEE1-1C5F-900F40D8948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998506" y="190425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02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29752470-CEC7-AA53-EE20-78FD610E69B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7144179" y="1924884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</p:grp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D723D4A0-1793-706A-4849-A33D1D590A23}"/>
                </a:ext>
              </a:extLst>
            </p:cNvPr>
            <p:cNvGrpSpPr/>
            <p:nvPr/>
          </p:nvGrpSpPr>
          <p:grpSpPr>
            <a:xfrm rot="9957433">
              <a:off x="3638032" y="2294293"/>
              <a:ext cx="1265946" cy="551465"/>
              <a:chOff x="1743355" y="1349070"/>
              <a:chExt cx="717595" cy="312595"/>
            </a:xfrm>
          </p:grpSpPr>
          <p:pic>
            <p:nvPicPr>
              <p:cNvPr id="118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3E63A111-63E7-0681-18EE-1EB7D92DEEC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1743355" y="1605587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9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C6FAE7FC-3B86-4C1C-B915-2DB2F8F93B8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007715" y="1605587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0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02080C72-B0E6-EC52-18C6-FBD48AF9C2D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188281" y="1473734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1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D3BF67BA-1EE7-E523-0B53-F38C30C9B59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404618" y="1540239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2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FA808988-CF1C-C0A6-A60D-39FBCB63427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1925263" y="1501773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3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75CF8900-48C9-6565-ADE4-63A0655E8A9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048155" y="1452884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4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A227CFD7-8446-6130-5626-F9EC5764778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312515" y="1452884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5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61CABD5C-2138-73B3-F368-A4CF2ED21B1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230063" y="1349070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pic>
        <p:nvPicPr>
          <p:cNvPr id="4097" name="Picture 2" descr="Atomic Layer Deposition (ALD) and Atomic Layer Etching (ALE) - AIP  Publishing LLC">
            <a:extLst>
              <a:ext uri="{FF2B5EF4-FFF2-40B4-BE49-F238E27FC236}">
                <a16:creationId xmlns:a16="http://schemas.microsoft.com/office/drawing/2014/main" id="{615070AD-025F-2491-CA91-FBC4E10E66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4539" y="884423"/>
            <a:ext cx="2793087" cy="2747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82328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856BFB9D-13E1-D8C8-A601-BDFDBBDBD749}"/>
              </a:ext>
            </a:extLst>
          </p:cNvPr>
          <p:cNvGrpSpPr/>
          <p:nvPr/>
        </p:nvGrpSpPr>
        <p:grpSpPr>
          <a:xfrm>
            <a:off x="6316324" y="468175"/>
            <a:ext cx="2280000" cy="1110000"/>
            <a:chOff x="3360000" y="1243200"/>
            <a:chExt cx="2280000" cy="1110000"/>
          </a:xfrm>
        </p:grpSpPr>
        <p:sp>
          <p:nvSpPr>
            <p:cNvPr id="5" name="Rounded Rectangle 54">
              <a:extLst>
                <a:ext uri="{FF2B5EF4-FFF2-40B4-BE49-F238E27FC236}">
                  <a16:creationId xmlns:a16="http://schemas.microsoft.com/office/drawing/2014/main" id="{931FE0B6-9EA6-E5ED-9B79-18E661F5246A}"/>
                </a:ext>
              </a:extLst>
            </p:cNvPr>
            <p:cNvSpPr/>
            <p:nvPr/>
          </p:nvSpPr>
          <p:spPr>
            <a:xfrm>
              <a:off x="3360000" y="1243200"/>
              <a:ext cx="1026000" cy="378000"/>
            </a:xfrm>
            <a:prstGeom prst="roundRect">
              <a:avLst/>
            </a:prstGeom>
            <a:solidFill>
              <a:srgbClr val="1976D2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5018F13-6BF4-EF8E-4578-B096A6F01E28}"/>
                </a:ext>
              </a:extLst>
            </p:cNvPr>
            <p:cNvSpPr txBox="1"/>
            <p:nvPr/>
          </p:nvSpPr>
          <p:spPr>
            <a:xfrm>
              <a:off x="3360000" y="1279200"/>
              <a:ext cx="1026000" cy="18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1" dirty="0">
                  <a:solidFill>
                    <a:srgbClr val="FFFFFF"/>
                  </a:solidFill>
                  <a:latin typeface="맑은 고딕"/>
                </a:rPr>
                <a:t>① </a:t>
              </a:r>
              <a:r>
                <a:rPr sz="900" b="1" dirty="0" err="1">
                  <a:solidFill>
                    <a:srgbClr val="FFFFFF"/>
                  </a:solidFill>
                  <a:latin typeface="맑은 고딕"/>
                </a:rPr>
                <a:t>전구체</a:t>
              </a:r>
              <a:r>
                <a:rPr sz="900" b="1" dirty="0">
                  <a:solidFill>
                    <a:srgbClr val="FFFFFF"/>
                  </a:solidFill>
                  <a:latin typeface="맑은 고딕"/>
                </a:rPr>
                <a:t> </a:t>
              </a:r>
              <a:r>
                <a:rPr sz="900" b="1" dirty="0" err="1">
                  <a:solidFill>
                    <a:srgbClr val="FFFFFF"/>
                  </a:solidFill>
                  <a:latin typeface="맑은 고딕"/>
                </a:rPr>
                <a:t>노출</a:t>
              </a:r>
              <a:endParaRPr sz="900" b="1" dirty="0">
                <a:solidFill>
                  <a:srgbClr val="FFFFFF"/>
                </a:solidFill>
                <a:latin typeface="맑은 고딕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183275F-2E94-BAD2-5A4B-79C543D044E1}"/>
                </a:ext>
              </a:extLst>
            </p:cNvPr>
            <p:cNvSpPr txBox="1"/>
            <p:nvPr/>
          </p:nvSpPr>
          <p:spPr>
            <a:xfrm>
              <a:off x="3360000" y="1452000"/>
              <a:ext cx="1026000" cy="151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dirty="0">
                  <a:solidFill>
                    <a:srgbClr val="FFFFFF"/>
                  </a:solidFill>
                  <a:latin typeface="맑은 고딕"/>
                </a:rPr>
                <a:t>(DEZ </a:t>
              </a:r>
              <a:r>
                <a:rPr sz="800" b="0" dirty="0" err="1">
                  <a:solidFill>
                    <a:srgbClr val="FFFFFF"/>
                  </a:solidFill>
                  <a:latin typeface="맑은 고딕"/>
                </a:rPr>
                <a:t>펄스</a:t>
              </a:r>
              <a:r>
                <a:rPr sz="800" b="0" dirty="0">
                  <a:solidFill>
                    <a:srgbClr val="FFFFFF"/>
                  </a:solidFill>
                  <a:latin typeface="맑은 고딕"/>
                </a:rPr>
                <a:t>)</a:t>
              </a:r>
            </a:p>
          </p:txBody>
        </p:sp>
        <p:sp>
          <p:nvSpPr>
            <p:cNvPr id="8" name="Rounded Rectangle 57">
              <a:extLst>
                <a:ext uri="{FF2B5EF4-FFF2-40B4-BE49-F238E27FC236}">
                  <a16:creationId xmlns:a16="http://schemas.microsoft.com/office/drawing/2014/main" id="{FED0D28B-6961-4F8A-36A8-A6EB2C6C4151}"/>
                </a:ext>
              </a:extLst>
            </p:cNvPr>
            <p:cNvSpPr/>
            <p:nvPr/>
          </p:nvSpPr>
          <p:spPr>
            <a:xfrm>
              <a:off x="4614000" y="1243200"/>
              <a:ext cx="1026000" cy="378000"/>
            </a:xfrm>
            <a:prstGeom prst="roundRect">
              <a:avLst/>
            </a:prstGeom>
            <a:solidFill>
              <a:srgbClr val="F9A825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D3BB6FF-4235-9047-1C1B-B1229B130B65}"/>
                </a:ext>
              </a:extLst>
            </p:cNvPr>
            <p:cNvSpPr txBox="1"/>
            <p:nvPr/>
          </p:nvSpPr>
          <p:spPr>
            <a:xfrm>
              <a:off x="4614000" y="1279200"/>
              <a:ext cx="1026000" cy="18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맑은 고딕"/>
                </a:rPr>
                <a:t>② 퍼지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7DFF5C5-21A9-1015-3787-FFE3A5A5B0F5}"/>
                </a:ext>
              </a:extLst>
            </p:cNvPr>
            <p:cNvSpPr txBox="1"/>
            <p:nvPr/>
          </p:nvSpPr>
          <p:spPr>
            <a:xfrm>
              <a:off x="4614000" y="1452000"/>
              <a:ext cx="1026000" cy="151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>
                  <a:solidFill>
                    <a:srgbClr val="FFFFFF"/>
                  </a:solidFill>
                  <a:latin typeface="맑은 고딕"/>
                </a:rPr>
                <a:t>(N₂ 가스)</a:t>
              </a:r>
            </a:p>
          </p:txBody>
        </p:sp>
        <p:sp>
          <p:nvSpPr>
            <p:cNvPr id="11" name="Rounded Rectangle 60">
              <a:extLst>
                <a:ext uri="{FF2B5EF4-FFF2-40B4-BE49-F238E27FC236}">
                  <a16:creationId xmlns:a16="http://schemas.microsoft.com/office/drawing/2014/main" id="{DDE1FE33-3073-D158-3CB5-5CEBC7CDA515}"/>
                </a:ext>
              </a:extLst>
            </p:cNvPr>
            <p:cNvSpPr/>
            <p:nvPr/>
          </p:nvSpPr>
          <p:spPr>
            <a:xfrm>
              <a:off x="4614000" y="1975200"/>
              <a:ext cx="1026000" cy="378000"/>
            </a:xfrm>
            <a:prstGeom prst="roundRect">
              <a:avLst/>
            </a:prstGeom>
            <a:solidFill>
              <a:srgbClr val="43A047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E24724B-A0C9-616A-92D7-A4357C43D204}"/>
                </a:ext>
              </a:extLst>
            </p:cNvPr>
            <p:cNvSpPr txBox="1"/>
            <p:nvPr/>
          </p:nvSpPr>
          <p:spPr>
            <a:xfrm>
              <a:off x="4614000" y="2011199"/>
              <a:ext cx="1026000" cy="18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맑은 고딕"/>
                </a:rPr>
                <a:t>③ 반응물 노출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D0540BD-35FA-B587-1B15-8963DA28B373}"/>
                </a:ext>
              </a:extLst>
            </p:cNvPr>
            <p:cNvSpPr txBox="1"/>
            <p:nvPr/>
          </p:nvSpPr>
          <p:spPr>
            <a:xfrm>
              <a:off x="4614000" y="2184000"/>
              <a:ext cx="1026000" cy="151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dirty="0">
                  <a:solidFill>
                    <a:srgbClr val="FFFFFF"/>
                  </a:solidFill>
                  <a:latin typeface="맑은 고딕"/>
                </a:rPr>
                <a:t>(</a:t>
              </a:r>
              <a:r>
                <a:rPr sz="800" b="0" dirty="0" err="1">
                  <a:solidFill>
                    <a:srgbClr val="FFFFFF"/>
                  </a:solidFill>
                  <a:latin typeface="맑은 고딕"/>
                </a:rPr>
                <a:t>HF·py</a:t>
              </a:r>
              <a:r>
                <a:rPr sz="800" b="0" dirty="0">
                  <a:solidFill>
                    <a:srgbClr val="FFFFFF"/>
                  </a:solidFill>
                  <a:latin typeface="맑은 고딕"/>
                </a:rPr>
                <a:t> </a:t>
              </a:r>
              <a:r>
                <a:rPr sz="800" b="0" dirty="0" err="1">
                  <a:solidFill>
                    <a:srgbClr val="FFFFFF"/>
                  </a:solidFill>
                  <a:latin typeface="맑은 고딕"/>
                </a:rPr>
                <a:t>펄스</a:t>
              </a:r>
              <a:r>
                <a:rPr sz="800" b="0" dirty="0">
                  <a:solidFill>
                    <a:srgbClr val="FFFFFF"/>
                  </a:solidFill>
                  <a:latin typeface="맑은 고딕"/>
                </a:rPr>
                <a:t>)</a:t>
              </a:r>
            </a:p>
          </p:txBody>
        </p:sp>
        <p:sp>
          <p:nvSpPr>
            <p:cNvPr id="14" name="Rounded Rectangle 63">
              <a:extLst>
                <a:ext uri="{FF2B5EF4-FFF2-40B4-BE49-F238E27FC236}">
                  <a16:creationId xmlns:a16="http://schemas.microsoft.com/office/drawing/2014/main" id="{FC557D3E-0DD0-B852-E83B-79C4EEB28ECF}"/>
                </a:ext>
              </a:extLst>
            </p:cNvPr>
            <p:cNvSpPr/>
            <p:nvPr/>
          </p:nvSpPr>
          <p:spPr>
            <a:xfrm>
              <a:off x="3360000" y="1975200"/>
              <a:ext cx="1026000" cy="378000"/>
            </a:xfrm>
            <a:prstGeom prst="roundRect">
              <a:avLst/>
            </a:prstGeom>
            <a:solidFill>
              <a:srgbClr val="EF5350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EF07DEB-7D15-F101-BE80-1976204D8F0A}"/>
                </a:ext>
              </a:extLst>
            </p:cNvPr>
            <p:cNvSpPr txBox="1"/>
            <p:nvPr/>
          </p:nvSpPr>
          <p:spPr>
            <a:xfrm>
              <a:off x="3360000" y="2011199"/>
              <a:ext cx="1026000" cy="18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맑은 고딕"/>
                </a:rPr>
                <a:t>④ 퍼지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6EF375F-7633-5D6A-9A72-28D1A2C7114E}"/>
                </a:ext>
              </a:extLst>
            </p:cNvPr>
            <p:cNvSpPr txBox="1"/>
            <p:nvPr/>
          </p:nvSpPr>
          <p:spPr>
            <a:xfrm>
              <a:off x="3360000" y="2184000"/>
              <a:ext cx="1026000" cy="151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>
                  <a:solidFill>
                    <a:srgbClr val="FFFFFF"/>
                  </a:solidFill>
                  <a:latin typeface="맑은 고딕"/>
                </a:rPr>
                <a:t>(N₂ 가스)</a:t>
              </a:r>
            </a:p>
          </p:txBody>
        </p:sp>
        <p:cxnSp>
          <p:nvCxnSpPr>
            <p:cNvPr id="17" name="Connector 66">
              <a:extLst>
                <a:ext uri="{FF2B5EF4-FFF2-40B4-BE49-F238E27FC236}">
                  <a16:creationId xmlns:a16="http://schemas.microsoft.com/office/drawing/2014/main" id="{9A186306-B95E-EBD5-9F66-961213304272}"/>
                </a:ext>
              </a:extLst>
            </p:cNvPr>
            <p:cNvCxnSpPr/>
            <p:nvPr/>
          </p:nvCxnSpPr>
          <p:spPr>
            <a:xfrm>
              <a:off x="4386000" y="1432200"/>
              <a:ext cx="228000" cy="0"/>
            </a:xfrm>
            <a:prstGeom prst="line">
              <a:avLst/>
            </a:prstGeom>
            <a:ln w="25400">
              <a:solidFill>
                <a:srgbClr val="37474F"/>
              </a:solidFill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67">
              <a:extLst>
                <a:ext uri="{FF2B5EF4-FFF2-40B4-BE49-F238E27FC236}">
                  <a16:creationId xmlns:a16="http://schemas.microsoft.com/office/drawing/2014/main" id="{E4E53586-257C-FC3C-EA27-8E07E4148CB6}"/>
                </a:ext>
              </a:extLst>
            </p:cNvPr>
            <p:cNvCxnSpPr/>
            <p:nvPr/>
          </p:nvCxnSpPr>
          <p:spPr>
            <a:xfrm>
              <a:off x="5127000" y="1621199"/>
              <a:ext cx="0" cy="354001"/>
            </a:xfrm>
            <a:prstGeom prst="line">
              <a:avLst/>
            </a:prstGeom>
            <a:ln w="25400">
              <a:solidFill>
                <a:srgbClr val="37474F"/>
              </a:solidFill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68">
              <a:extLst>
                <a:ext uri="{FF2B5EF4-FFF2-40B4-BE49-F238E27FC236}">
                  <a16:creationId xmlns:a16="http://schemas.microsoft.com/office/drawing/2014/main" id="{53522592-96A6-675C-68E2-DB3646F0FF23}"/>
                </a:ext>
              </a:extLst>
            </p:cNvPr>
            <p:cNvCxnSpPr/>
            <p:nvPr/>
          </p:nvCxnSpPr>
          <p:spPr>
            <a:xfrm flipH="1">
              <a:off x="4386000" y="2164200"/>
              <a:ext cx="228000" cy="0"/>
            </a:xfrm>
            <a:prstGeom prst="line">
              <a:avLst/>
            </a:prstGeom>
            <a:ln w="25400">
              <a:solidFill>
                <a:srgbClr val="37474F"/>
              </a:solidFill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69">
              <a:extLst>
                <a:ext uri="{FF2B5EF4-FFF2-40B4-BE49-F238E27FC236}">
                  <a16:creationId xmlns:a16="http://schemas.microsoft.com/office/drawing/2014/main" id="{683475D0-3D01-722D-87F1-D32440AB4ECB}"/>
                </a:ext>
              </a:extLst>
            </p:cNvPr>
            <p:cNvCxnSpPr/>
            <p:nvPr/>
          </p:nvCxnSpPr>
          <p:spPr>
            <a:xfrm flipV="1">
              <a:off x="3873000" y="1621199"/>
              <a:ext cx="0" cy="354001"/>
            </a:xfrm>
            <a:prstGeom prst="line">
              <a:avLst/>
            </a:prstGeom>
            <a:ln w="25400">
              <a:solidFill>
                <a:srgbClr val="37474F"/>
              </a:solidFill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ounded Rectangle 70">
              <a:extLst>
                <a:ext uri="{FF2B5EF4-FFF2-40B4-BE49-F238E27FC236}">
                  <a16:creationId xmlns:a16="http://schemas.microsoft.com/office/drawing/2014/main" id="{8E016410-A56D-4AED-3E06-B834B5CEAF30}"/>
                </a:ext>
              </a:extLst>
            </p:cNvPr>
            <p:cNvSpPr/>
            <p:nvPr/>
          </p:nvSpPr>
          <p:spPr>
            <a:xfrm>
              <a:off x="4104000" y="1690199"/>
              <a:ext cx="792000" cy="216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9C27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27A714D-5CCB-B823-9832-9DA774B4EA25}"/>
                </a:ext>
              </a:extLst>
            </p:cNvPr>
            <p:cNvSpPr txBox="1"/>
            <p:nvPr/>
          </p:nvSpPr>
          <p:spPr>
            <a:xfrm>
              <a:off x="4104000" y="1690199"/>
              <a:ext cx="792000" cy="216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1">
                  <a:solidFill>
                    <a:srgbClr val="6A1B9A"/>
                  </a:solidFill>
                  <a:latin typeface="맑은 고딕"/>
                </a:rPr>
                <a:t>ALD 1 사이클 반복</a:t>
              </a:r>
            </a:p>
          </p:txBody>
        </p:sp>
      </p:grpSp>
      <p:grpSp>
        <p:nvGrpSpPr>
          <p:cNvPr id="4156" name="Group 4155">
            <a:extLst>
              <a:ext uri="{FF2B5EF4-FFF2-40B4-BE49-F238E27FC236}">
                <a16:creationId xmlns:a16="http://schemas.microsoft.com/office/drawing/2014/main" id="{D0F62874-2F77-713A-F92F-FA046FB0A7ED}"/>
              </a:ext>
            </a:extLst>
          </p:cNvPr>
          <p:cNvGrpSpPr/>
          <p:nvPr/>
        </p:nvGrpSpPr>
        <p:grpSpPr>
          <a:xfrm>
            <a:off x="1092469" y="1012562"/>
            <a:ext cx="3790535" cy="3629418"/>
            <a:chOff x="1092469" y="1012562"/>
            <a:chExt cx="3790535" cy="3629418"/>
          </a:xfrm>
        </p:grpSpPr>
        <p:pic>
          <p:nvPicPr>
            <p:cNvPr id="4098" name="Picture 2" descr="Three Arrow Circle Sign Reload, Loop Symbol - Download Free 3D model by  B1Blender (@B1Blender) [549c9fb]">
              <a:extLst>
                <a:ext uri="{FF2B5EF4-FFF2-40B4-BE49-F238E27FC236}">
                  <a16:creationId xmlns:a16="http://schemas.microsoft.com/office/drawing/2014/main" id="{3BB5357D-4978-2910-8979-2736C80AED6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6667" b="76852" l="32396" r="67500">
                          <a14:foregroundMark x1="55625" y1="19167" x2="55677" y2="22130"/>
                          <a14:foregroundMark x1="63542" y1="36574" x2="65729" y2="46296"/>
                          <a14:foregroundMark x1="65729" y1="46296" x2="65313" y2="63241"/>
                          <a14:foregroundMark x1="65313" y1="63241" x2="60208" y2="73241"/>
                          <a14:foregroundMark x1="60208" y1="73241" x2="59948" y2="73148"/>
                          <a14:foregroundMark x1="37031" y1="57315" x2="45052" y2="73333"/>
                          <a14:foregroundMark x1="45052" y1="73333" x2="50625" y2="76944"/>
                          <a14:foregroundMark x1="50625" y1="76944" x2="54948" y2="76759"/>
                          <a14:foregroundMark x1="67656" y1="49815" x2="67448" y2="60556"/>
                          <a14:foregroundMark x1="55625" y1="16759" x2="55625" y2="16759"/>
                          <a14:foregroundMark x1="34479" y1="61204" x2="33698" y2="64630"/>
                          <a14:foregroundMark x1="32396" y1="65926" x2="32396" y2="65926"/>
                        </a14:backgroundRemoval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597" t="14558" r="30422" b="19185"/>
            <a:stretch/>
          </p:blipFill>
          <p:spPr bwMode="auto">
            <a:xfrm>
              <a:off x="2436294" y="1840558"/>
              <a:ext cx="1051318" cy="10316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380D62E7-30BD-AADE-63EF-05E7D6350933}"/>
                </a:ext>
              </a:extLst>
            </p:cNvPr>
            <p:cNvGrpSpPr/>
            <p:nvPr/>
          </p:nvGrpSpPr>
          <p:grpSpPr>
            <a:xfrm>
              <a:off x="3471348" y="1111998"/>
              <a:ext cx="1100652" cy="1288395"/>
              <a:chOff x="4540535" y="510372"/>
              <a:chExt cx="1100652" cy="1288395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333984E4-A79A-EE28-5BF1-3296B4CDC186}"/>
                  </a:ext>
                </a:extLst>
              </p:cNvPr>
              <p:cNvSpPr/>
              <p:nvPr/>
            </p:nvSpPr>
            <p:spPr>
              <a:xfrm>
                <a:off x="4562956" y="510372"/>
                <a:ext cx="1037842" cy="1288395"/>
              </a:xfrm>
              <a:prstGeom prst="rect">
                <a:avLst/>
              </a:prstGeom>
              <a:gradFill>
                <a:gsLst>
                  <a:gs pos="0">
                    <a:schemeClr val="bg2">
                      <a:lumMod val="90000"/>
                    </a:schemeClr>
                  </a:gs>
                  <a:gs pos="100000">
                    <a:schemeClr val="bg2">
                      <a:lumMod val="75000"/>
                      <a:alpha val="63000"/>
                    </a:schemeClr>
                  </a:gs>
                </a:gsLst>
              </a:gradFill>
              <a:ln>
                <a:noFill/>
              </a:ln>
              <a:scene3d>
                <a:camera prst="isometricOffAxis2Top"/>
                <a:lightRig rig="morning" dir="t"/>
              </a:scene3d>
              <a:sp3d extrusionH="95250" prstMaterial="flat"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FF05AB71-B7BA-11AA-6D55-7A3DEC618ECC}"/>
                  </a:ext>
                </a:extLst>
              </p:cNvPr>
              <p:cNvGrpSpPr/>
              <p:nvPr/>
            </p:nvGrpSpPr>
            <p:grpSpPr>
              <a:xfrm>
                <a:off x="4540535" y="907639"/>
                <a:ext cx="1100652" cy="457076"/>
                <a:chOff x="7197429" y="1152057"/>
                <a:chExt cx="1100652" cy="457076"/>
              </a:xfrm>
            </p:grpSpPr>
            <p:grpSp>
              <p:nvGrpSpPr>
                <p:cNvPr id="32" name="Group 31">
                  <a:extLst>
                    <a:ext uri="{FF2B5EF4-FFF2-40B4-BE49-F238E27FC236}">
                      <a16:creationId xmlns:a16="http://schemas.microsoft.com/office/drawing/2014/main" id="{27E98972-38B5-284F-81EB-E26D06C468CE}"/>
                    </a:ext>
                  </a:extLst>
                </p:cNvPr>
                <p:cNvGrpSpPr/>
                <p:nvPr/>
              </p:nvGrpSpPr>
              <p:grpSpPr>
                <a:xfrm>
                  <a:off x="7570280" y="1152057"/>
                  <a:ext cx="727801" cy="232844"/>
                  <a:chOff x="6561481" y="1836490"/>
                  <a:chExt cx="727801" cy="232844"/>
                </a:xfrm>
              </p:grpSpPr>
              <p:pic>
                <p:nvPicPr>
                  <p:cNvPr id="51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EEF68FD8-9ED6-F850-A3D3-D456DD1E2D81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561481" y="1836490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2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DA297D37-0D61-8D3A-1181-15AC4A29D801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708870" y="185265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3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D07F5C1B-D5C4-BF1E-F2BD-7A1369678C8F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853973" y="187412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4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6A9635B8-F4AC-0E68-84AD-29AF6D45A469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999076" y="189559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5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12DC617B-0433-B8DC-AE8C-DDB5678F10A1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7144179" y="1924884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grpSp>
              <p:nvGrpSpPr>
                <p:cNvPr id="33" name="Group 32">
                  <a:extLst>
                    <a:ext uri="{FF2B5EF4-FFF2-40B4-BE49-F238E27FC236}">
                      <a16:creationId xmlns:a16="http://schemas.microsoft.com/office/drawing/2014/main" id="{A30ECDEE-94B3-C956-A614-2008B0B1C4A0}"/>
                    </a:ext>
                  </a:extLst>
                </p:cNvPr>
                <p:cNvGrpSpPr/>
                <p:nvPr/>
              </p:nvGrpSpPr>
              <p:grpSpPr>
                <a:xfrm>
                  <a:off x="7451507" y="1229540"/>
                  <a:ext cx="727801" cy="232844"/>
                  <a:chOff x="6561481" y="1836490"/>
                  <a:chExt cx="727801" cy="232844"/>
                </a:xfrm>
              </p:grpSpPr>
              <p:pic>
                <p:nvPicPr>
                  <p:cNvPr id="46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820C4664-8024-C99A-25AE-B236C6FAE376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561481" y="1836490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47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EFFD70A1-20F3-0667-166C-E63148069CFA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708870" y="185265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48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E27E839E-6FE7-A95F-DB09-B00B4371F689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853973" y="187412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49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D7F78BEF-6B1F-2B09-CDE8-6572BE1F298D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999076" y="189559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0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9B3978EC-E3C5-59C8-2C74-C12926DA7B4E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7144179" y="1924884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grpSp>
              <p:nvGrpSpPr>
                <p:cNvPr id="34" name="Group 33">
                  <a:extLst>
                    <a:ext uri="{FF2B5EF4-FFF2-40B4-BE49-F238E27FC236}">
                      <a16:creationId xmlns:a16="http://schemas.microsoft.com/office/drawing/2014/main" id="{2AC1CA7B-18D9-1B9E-9771-E91982BDED30}"/>
                    </a:ext>
                  </a:extLst>
                </p:cNvPr>
                <p:cNvGrpSpPr/>
                <p:nvPr/>
              </p:nvGrpSpPr>
              <p:grpSpPr>
                <a:xfrm>
                  <a:off x="7320281" y="1308323"/>
                  <a:ext cx="727801" cy="232844"/>
                  <a:chOff x="6561481" y="1836490"/>
                  <a:chExt cx="727801" cy="232844"/>
                </a:xfrm>
              </p:grpSpPr>
              <p:pic>
                <p:nvPicPr>
                  <p:cNvPr id="41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BAA03C3E-0B7D-1FF1-6CEC-6A935F5680FA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561481" y="1836490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42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73015EFD-979C-B490-6D2E-6996BCC45905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708870" y="185265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43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53404D7F-7839-046B-3C35-2138149AA32F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853973" y="187412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44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AD26D323-423A-1987-71CE-502F58E770FD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999076" y="189559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45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2C1FB855-92DA-2521-0B5A-A9A5FB827EE0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7144179" y="1924884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grpSp>
              <p:nvGrpSpPr>
                <p:cNvPr id="35" name="Group 34">
                  <a:extLst>
                    <a:ext uri="{FF2B5EF4-FFF2-40B4-BE49-F238E27FC236}">
                      <a16:creationId xmlns:a16="http://schemas.microsoft.com/office/drawing/2014/main" id="{3148019D-00EF-3EC7-0E6A-D723A20233E2}"/>
                    </a:ext>
                  </a:extLst>
                </p:cNvPr>
                <p:cNvGrpSpPr/>
                <p:nvPr/>
              </p:nvGrpSpPr>
              <p:grpSpPr>
                <a:xfrm>
                  <a:off x="7197429" y="1376289"/>
                  <a:ext cx="727801" cy="232844"/>
                  <a:chOff x="6561481" y="1836490"/>
                  <a:chExt cx="727801" cy="232844"/>
                </a:xfrm>
              </p:grpSpPr>
              <p:pic>
                <p:nvPicPr>
                  <p:cNvPr id="36" name="Picture 35" descr="3d Sphere Sphere PNG &amp; clipart images | TOPpng">
                    <a:extLst>
                      <a:ext uri="{FF2B5EF4-FFF2-40B4-BE49-F238E27FC236}">
                        <a16:creationId xmlns:a16="http://schemas.microsoft.com/office/drawing/2014/main" id="{99C000A8-89E1-823B-1737-74FD8E329B72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561481" y="1836490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37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004D65A5-0ED5-C2B1-0C46-6346444ACCC3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707156" y="185265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38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EDA93036-0C86-4DBC-87CA-7F0FF85D8D57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852831" y="187412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39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30343E5A-B715-2C4F-CE9B-EF43669F0961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998506" y="190425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40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B14A443C-4C09-709E-32F2-C0950B0A6FE1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7144179" y="1924884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</p:grpSp>
        </p:grp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A63EC4C-7D60-0BC5-8627-79443CCBF7E6}"/>
                </a:ext>
              </a:extLst>
            </p:cNvPr>
            <p:cNvSpPr/>
            <p:nvPr/>
          </p:nvSpPr>
          <p:spPr>
            <a:xfrm>
              <a:off x="1687676" y="1111998"/>
              <a:ext cx="1037842" cy="1288395"/>
            </a:xfrm>
            <a:prstGeom prst="rect">
              <a:avLst/>
            </a:prstGeom>
            <a:gradFill>
              <a:gsLst>
                <a:gs pos="0">
                  <a:schemeClr val="bg2">
                    <a:lumMod val="90000"/>
                  </a:schemeClr>
                </a:gs>
                <a:gs pos="100000">
                  <a:schemeClr val="bg2">
                    <a:lumMod val="75000"/>
                    <a:alpha val="63000"/>
                  </a:schemeClr>
                </a:gs>
              </a:gsLst>
            </a:gradFill>
            <a:ln>
              <a:noFill/>
            </a:ln>
            <a:scene3d>
              <a:camera prst="isometricOffAxis2Top"/>
              <a:lightRig rig="morning" dir="t"/>
            </a:scene3d>
            <a:sp3d extrusionH="95250" prstMaterial="flat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096" name="Group 4095">
              <a:extLst>
                <a:ext uri="{FF2B5EF4-FFF2-40B4-BE49-F238E27FC236}">
                  <a16:creationId xmlns:a16="http://schemas.microsoft.com/office/drawing/2014/main" id="{692F7127-1D43-B772-8061-6A84E624C4ED}"/>
                </a:ext>
              </a:extLst>
            </p:cNvPr>
            <p:cNvGrpSpPr/>
            <p:nvPr/>
          </p:nvGrpSpPr>
          <p:grpSpPr>
            <a:xfrm>
              <a:off x="1485111" y="1470629"/>
              <a:ext cx="1449434" cy="337229"/>
              <a:chOff x="1590955" y="1300484"/>
              <a:chExt cx="897356" cy="208781"/>
            </a:xfrm>
          </p:grpSpPr>
          <p:pic>
            <p:nvPicPr>
              <p:cNvPr id="56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5492B58F-1699-5019-2324-DBFE4EEF328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1590955" y="1453187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7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8E86C5BF-0CFC-EBF6-CC19-88183595C90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1855315" y="1453187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8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A6661BA1-F58C-CC89-976D-7FF3C1DF8C8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035881" y="1321334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9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8FA95ABE-24A1-C2EB-17B0-CA7131FD0EE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431979" y="1367170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0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D70DB861-AA70-C560-1616-9D176A665AD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252218" y="1387839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1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8D760EE2-E0E7-FA89-34A9-7D562A1D396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1772863" y="1349373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2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6A30DECB-64BC-2581-B6A0-C91F1A46902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1895755" y="1300484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3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5D0E421B-F053-F125-CAA3-5A0D6845F2A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160115" y="1300484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4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F2FA1183-D9E4-2635-0321-E121060CA23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308550" y="1304319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697DA111-3EC6-6D9C-0527-81CFC807ED0B}"/>
                </a:ext>
              </a:extLst>
            </p:cNvPr>
            <p:cNvGrpSpPr/>
            <p:nvPr/>
          </p:nvGrpSpPr>
          <p:grpSpPr>
            <a:xfrm>
              <a:off x="3481469" y="2454602"/>
              <a:ext cx="1100652" cy="1288395"/>
              <a:chOff x="3481469" y="2556202"/>
              <a:chExt cx="1100652" cy="1288395"/>
            </a:xfrm>
          </p:grpSpPr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6BA875C6-A1BE-3EDA-3F04-FF8252700F7D}"/>
                  </a:ext>
                </a:extLst>
              </p:cNvPr>
              <p:cNvSpPr/>
              <p:nvPr/>
            </p:nvSpPr>
            <p:spPr>
              <a:xfrm>
                <a:off x="3503890" y="2556202"/>
                <a:ext cx="1037842" cy="1288395"/>
              </a:xfrm>
              <a:prstGeom prst="rect">
                <a:avLst/>
              </a:prstGeom>
              <a:gradFill>
                <a:gsLst>
                  <a:gs pos="0">
                    <a:schemeClr val="bg2">
                      <a:lumMod val="90000"/>
                    </a:schemeClr>
                  </a:gs>
                  <a:gs pos="100000">
                    <a:schemeClr val="bg2">
                      <a:lumMod val="75000"/>
                      <a:alpha val="63000"/>
                    </a:schemeClr>
                  </a:gs>
                </a:gsLst>
              </a:gradFill>
              <a:ln>
                <a:noFill/>
              </a:ln>
              <a:scene3d>
                <a:camera prst="isometricOffAxis2Top"/>
                <a:lightRig rig="morning" dir="t"/>
              </a:scene3d>
              <a:sp3d extrusionH="95250" prstMaterial="flat"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0B767613-2FD2-08D7-5B53-400DADC05F06}"/>
                  </a:ext>
                </a:extLst>
              </p:cNvPr>
              <p:cNvGrpSpPr/>
              <p:nvPr/>
            </p:nvGrpSpPr>
            <p:grpSpPr>
              <a:xfrm>
                <a:off x="3481469" y="2953469"/>
                <a:ext cx="1100652" cy="457076"/>
                <a:chOff x="7197429" y="1152057"/>
                <a:chExt cx="1100652" cy="457076"/>
              </a:xfrm>
            </p:grpSpPr>
            <p:grpSp>
              <p:nvGrpSpPr>
                <p:cNvPr id="68" name="Group 67">
                  <a:extLst>
                    <a:ext uri="{FF2B5EF4-FFF2-40B4-BE49-F238E27FC236}">
                      <a16:creationId xmlns:a16="http://schemas.microsoft.com/office/drawing/2014/main" id="{D077ECB7-4DF7-EA2B-9701-5529069F97B5}"/>
                    </a:ext>
                  </a:extLst>
                </p:cNvPr>
                <p:cNvGrpSpPr/>
                <p:nvPr/>
              </p:nvGrpSpPr>
              <p:grpSpPr>
                <a:xfrm>
                  <a:off x="7570280" y="1152057"/>
                  <a:ext cx="727801" cy="232844"/>
                  <a:chOff x="6561481" y="1836490"/>
                  <a:chExt cx="727801" cy="232844"/>
                </a:xfrm>
              </p:grpSpPr>
              <p:pic>
                <p:nvPicPr>
                  <p:cNvPr id="87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A6257091-2060-A24B-A9F2-A02ACA712408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561481" y="1836490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88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8739340F-910A-E0F2-6A4B-9F83A6786393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708870" y="185265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89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3E8761CC-0B6D-6673-D6D6-9F4D2A9DF500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853973" y="187412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90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ED89A540-5839-B6BD-F03F-04110E3A4D0A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999076" y="189559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91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032C53F8-527F-4660-90B5-72D74D8C1BD2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7144179" y="1924884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grpSp>
              <p:nvGrpSpPr>
                <p:cNvPr id="69" name="Group 68">
                  <a:extLst>
                    <a:ext uri="{FF2B5EF4-FFF2-40B4-BE49-F238E27FC236}">
                      <a16:creationId xmlns:a16="http://schemas.microsoft.com/office/drawing/2014/main" id="{94CC80F7-A4C1-1EC6-FC14-B9692681E2C9}"/>
                    </a:ext>
                  </a:extLst>
                </p:cNvPr>
                <p:cNvGrpSpPr/>
                <p:nvPr/>
              </p:nvGrpSpPr>
              <p:grpSpPr>
                <a:xfrm>
                  <a:off x="7451507" y="1229540"/>
                  <a:ext cx="727801" cy="232844"/>
                  <a:chOff x="6561481" y="1836490"/>
                  <a:chExt cx="727801" cy="232844"/>
                </a:xfrm>
              </p:grpSpPr>
              <p:pic>
                <p:nvPicPr>
                  <p:cNvPr id="82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81D66CF5-6376-82CE-5CEC-32C39B9B7318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561481" y="1836490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83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8AA6E301-A7BB-662E-5190-290D38B4622E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duotone>
                      <a:prstClr val="black"/>
                      <a:srgbClr val="00B050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708870" y="185265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84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83C21817-D6AD-1E82-BCD5-698C4009002D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853973" y="187412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85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B2C93DAE-AC61-D6AD-C214-E3C5CE807811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999076" y="189559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86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3A5372F3-6936-41B6-65A1-A2AE4B841DA1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7144179" y="1924884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grpSp>
              <p:nvGrpSpPr>
                <p:cNvPr id="70" name="Group 69">
                  <a:extLst>
                    <a:ext uri="{FF2B5EF4-FFF2-40B4-BE49-F238E27FC236}">
                      <a16:creationId xmlns:a16="http://schemas.microsoft.com/office/drawing/2014/main" id="{C27F0BEA-92D6-E6D8-9392-5645D36989AD}"/>
                    </a:ext>
                  </a:extLst>
                </p:cNvPr>
                <p:cNvGrpSpPr/>
                <p:nvPr/>
              </p:nvGrpSpPr>
              <p:grpSpPr>
                <a:xfrm>
                  <a:off x="7320281" y="1308323"/>
                  <a:ext cx="727801" cy="232844"/>
                  <a:chOff x="6561481" y="1836490"/>
                  <a:chExt cx="727801" cy="232844"/>
                </a:xfrm>
              </p:grpSpPr>
              <p:pic>
                <p:nvPicPr>
                  <p:cNvPr id="77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17D81A43-75F2-9B78-8EB1-6D366C680C9F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duotone>
                      <a:prstClr val="black"/>
                      <a:srgbClr val="00B050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561481" y="1836490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78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42DAF6FE-01C1-BEE0-0CCB-6FB2E7F0B6C5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duotone>
                      <a:prstClr val="black"/>
                      <a:srgbClr val="00B050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708870" y="185265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79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CBAC3BD4-0620-C10A-9841-F430545B6D21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853973" y="187412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80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8614B54C-8FB2-6D10-B353-A79835CBB5FC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duotone>
                      <a:prstClr val="black"/>
                      <a:srgbClr val="00B050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999076" y="189559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81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158E73AA-BFDF-FD94-FCD8-C5694109B061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duotone>
                      <a:prstClr val="black"/>
                      <a:srgbClr val="00B050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7144179" y="1924884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grpSp>
              <p:nvGrpSpPr>
                <p:cNvPr id="71" name="Group 70">
                  <a:extLst>
                    <a:ext uri="{FF2B5EF4-FFF2-40B4-BE49-F238E27FC236}">
                      <a16:creationId xmlns:a16="http://schemas.microsoft.com/office/drawing/2014/main" id="{C3DA5784-B710-2C55-51A1-2AAE8EBC21FD}"/>
                    </a:ext>
                  </a:extLst>
                </p:cNvPr>
                <p:cNvGrpSpPr/>
                <p:nvPr/>
              </p:nvGrpSpPr>
              <p:grpSpPr>
                <a:xfrm>
                  <a:off x="7197429" y="1376289"/>
                  <a:ext cx="727801" cy="232844"/>
                  <a:chOff x="6561481" y="1836490"/>
                  <a:chExt cx="727801" cy="232844"/>
                </a:xfrm>
              </p:grpSpPr>
              <p:pic>
                <p:nvPicPr>
                  <p:cNvPr id="72" name="Picture 71" descr="3d Sphere Sphere PNG &amp; clipart images | TOPpng">
                    <a:extLst>
                      <a:ext uri="{FF2B5EF4-FFF2-40B4-BE49-F238E27FC236}">
                        <a16:creationId xmlns:a16="http://schemas.microsoft.com/office/drawing/2014/main" id="{4436FC83-6CC4-86B2-20D1-1D4F591CAF6A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duotone>
                      <a:prstClr val="black"/>
                      <a:srgbClr val="00B050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561481" y="1836490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73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DBA1D31F-6040-BEE3-C513-FB7CC833569D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duotone>
                      <a:prstClr val="black"/>
                      <a:srgbClr val="00B050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707156" y="185265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74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10DD7707-F59F-1353-7F8D-A7C79544A0DB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duotone>
                      <a:prstClr val="black"/>
                      <a:srgbClr val="00B050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852831" y="187412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75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60B51022-D242-05C2-BC48-C5E663AB0EFC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duotone>
                      <a:prstClr val="black"/>
                      <a:srgbClr val="00B050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998506" y="190425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76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B4F6AA1F-752C-1E4F-0EFE-AE33928DF0A8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duotone>
                      <a:prstClr val="black"/>
                      <a:srgbClr val="00B050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7144179" y="1924884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</p:grpSp>
        </p:grp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54B12F8B-CD01-4A12-F8FE-6C33220B1C63}"/>
                </a:ext>
              </a:extLst>
            </p:cNvPr>
            <p:cNvSpPr/>
            <p:nvPr/>
          </p:nvSpPr>
          <p:spPr>
            <a:xfrm>
              <a:off x="1724313" y="2454602"/>
              <a:ext cx="1037842" cy="1288395"/>
            </a:xfrm>
            <a:prstGeom prst="rect">
              <a:avLst/>
            </a:prstGeom>
            <a:gradFill>
              <a:gsLst>
                <a:gs pos="0">
                  <a:schemeClr val="bg2">
                    <a:lumMod val="90000"/>
                  </a:schemeClr>
                </a:gs>
                <a:gs pos="100000">
                  <a:schemeClr val="bg2">
                    <a:lumMod val="75000"/>
                    <a:alpha val="63000"/>
                  </a:schemeClr>
                </a:gs>
              </a:gsLst>
            </a:gradFill>
            <a:ln>
              <a:noFill/>
            </a:ln>
            <a:scene3d>
              <a:camera prst="isometricOffAxis2Top"/>
              <a:lightRig rig="morning" dir="t"/>
            </a:scene3d>
            <a:sp3d extrusionH="95250" prstMaterial="flat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9D08A800-13CA-F16A-5394-A88CEFC7757B}"/>
                </a:ext>
              </a:extLst>
            </p:cNvPr>
            <p:cNvGrpSpPr/>
            <p:nvPr/>
          </p:nvGrpSpPr>
          <p:grpSpPr>
            <a:xfrm>
              <a:off x="1701892" y="2851869"/>
              <a:ext cx="1100652" cy="457076"/>
              <a:chOff x="7197429" y="1152057"/>
              <a:chExt cx="1100652" cy="457076"/>
            </a:xfrm>
          </p:grpSpPr>
          <p:grpSp>
            <p:nvGrpSpPr>
              <p:cNvPr id="94" name="Group 93">
                <a:extLst>
                  <a:ext uri="{FF2B5EF4-FFF2-40B4-BE49-F238E27FC236}">
                    <a16:creationId xmlns:a16="http://schemas.microsoft.com/office/drawing/2014/main" id="{E2378FDC-F31C-2A83-2F1E-DC219190CC7F}"/>
                  </a:ext>
                </a:extLst>
              </p:cNvPr>
              <p:cNvGrpSpPr/>
              <p:nvPr/>
            </p:nvGrpSpPr>
            <p:grpSpPr>
              <a:xfrm>
                <a:off x="7570280" y="1152057"/>
                <a:ext cx="727801" cy="232844"/>
                <a:chOff x="6561481" y="1836490"/>
                <a:chExt cx="727801" cy="232844"/>
              </a:xfrm>
            </p:grpSpPr>
            <p:pic>
              <p:nvPicPr>
                <p:cNvPr id="113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FA5D6E23-3CEB-E36A-709A-ABB0CBCD70B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561481" y="1836490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14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E7EE948F-508B-BBB0-FD2B-7A615022367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708870" y="185265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15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3220D546-BB94-78F5-25C1-B465E0D010A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853973" y="187412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16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464FFF8C-0BD1-C17C-8985-2F9F7A67490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999076" y="189559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17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81F5F87F-6B85-E4E2-F646-5EDC129D153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7144179" y="1924884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95" name="Group 94">
                <a:extLst>
                  <a:ext uri="{FF2B5EF4-FFF2-40B4-BE49-F238E27FC236}">
                    <a16:creationId xmlns:a16="http://schemas.microsoft.com/office/drawing/2014/main" id="{1C4DED0A-F445-00AA-F733-C689E75D09B8}"/>
                  </a:ext>
                </a:extLst>
              </p:cNvPr>
              <p:cNvGrpSpPr/>
              <p:nvPr/>
            </p:nvGrpSpPr>
            <p:grpSpPr>
              <a:xfrm>
                <a:off x="7451507" y="1229540"/>
                <a:ext cx="727801" cy="232844"/>
                <a:chOff x="6561481" y="1836490"/>
                <a:chExt cx="727801" cy="232844"/>
              </a:xfrm>
            </p:grpSpPr>
            <p:pic>
              <p:nvPicPr>
                <p:cNvPr id="108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403896B1-B560-0C54-28DB-E3E4544F656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561481" y="1836490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09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8F4FA0E1-39FD-E4FE-38F7-067C8AEC930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708870" y="185265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10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808316BF-C138-E4DA-4241-7D6E08D8266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853973" y="187412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11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87719874-EDE5-47C7-9CED-D4B329029CD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999076" y="189559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12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B349525D-4335-8246-929C-F0972CF1D7A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7144179" y="1924884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96" name="Group 95">
                <a:extLst>
                  <a:ext uri="{FF2B5EF4-FFF2-40B4-BE49-F238E27FC236}">
                    <a16:creationId xmlns:a16="http://schemas.microsoft.com/office/drawing/2014/main" id="{708FEE60-DAEC-FCD7-7570-21AB03070F83}"/>
                  </a:ext>
                </a:extLst>
              </p:cNvPr>
              <p:cNvGrpSpPr/>
              <p:nvPr/>
            </p:nvGrpSpPr>
            <p:grpSpPr>
              <a:xfrm>
                <a:off x="7320281" y="1308323"/>
                <a:ext cx="727801" cy="232844"/>
                <a:chOff x="6561481" y="1836490"/>
                <a:chExt cx="727801" cy="232844"/>
              </a:xfrm>
            </p:grpSpPr>
            <p:pic>
              <p:nvPicPr>
                <p:cNvPr id="103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B24DFE45-50F7-3FCC-5A53-F077F63E8C6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561481" y="1836490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04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0556640B-123E-4C81-D44A-FCA50C119AB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708870" y="185265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05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B4F7C2CA-8A7D-FF98-EECB-1F80C7F38DA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853973" y="187412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06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D961FAD2-1A5B-5F3F-1351-D304081C740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999076" y="189559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07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46934850-6ADA-0866-B7DF-2EF5C981381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7144179" y="1924884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5039D11B-DE62-2975-BB41-9C32628720BB}"/>
                  </a:ext>
                </a:extLst>
              </p:cNvPr>
              <p:cNvGrpSpPr/>
              <p:nvPr/>
            </p:nvGrpSpPr>
            <p:grpSpPr>
              <a:xfrm>
                <a:off x="7197429" y="1376289"/>
                <a:ext cx="727801" cy="232844"/>
                <a:chOff x="6561481" y="1836490"/>
                <a:chExt cx="727801" cy="232844"/>
              </a:xfrm>
            </p:grpSpPr>
            <p:pic>
              <p:nvPicPr>
                <p:cNvPr id="98" name="Picture 97" descr="3d Sphere Sphere PNG &amp; clipart images | TOPpng">
                  <a:extLst>
                    <a:ext uri="{FF2B5EF4-FFF2-40B4-BE49-F238E27FC236}">
                      <a16:creationId xmlns:a16="http://schemas.microsoft.com/office/drawing/2014/main" id="{03FF4F34-048B-3621-CCEE-792F0EB0D04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561481" y="1836490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99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88D1D4F3-4F2C-7E31-FD2F-A0C68547F3A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707156" y="185265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00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69A12837-15F4-CA64-C1BC-DA9E11B79DF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852831" y="187412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01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B80119A9-3F89-CEE1-1C5F-900F40D8948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998506" y="190425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02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29752470-CEC7-AA53-EE20-78FD610E69B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7144179" y="1924884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</p:grp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D723D4A0-1793-706A-4849-A33D1D590A23}"/>
                </a:ext>
              </a:extLst>
            </p:cNvPr>
            <p:cNvGrpSpPr/>
            <p:nvPr/>
          </p:nvGrpSpPr>
          <p:grpSpPr>
            <a:xfrm rot="971198">
              <a:off x="3620692" y="2540343"/>
              <a:ext cx="951271" cy="368321"/>
              <a:chOff x="1921727" y="1452884"/>
              <a:chExt cx="539223" cy="208781"/>
            </a:xfrm>
          </p:grpSpPr>
          <p:pic>
            <p:nvPicPr>
              <p:cNvPr id="119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C6FAE7FC-3B86-4C1C-B915-2DB2F8F93B8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007715" y="1605587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0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02080C72-B0E6-EC52-18C6-FBD48AF9C2D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188281" y="1473734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1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D3BF67BA-1EE7-E523-0B53-F38C30C9B59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404618" y="1540239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2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FA808988-CF1C-C0A6-A60D-39FBCB63427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1921727" y="1562794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3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75CF8900-48C9-6565-ADE4-63A0655E8A9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032984" y="1535223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4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A227CFD7-8446-6130-5626-F9EC5764778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312515" y="1452884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5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61CABD5C-2138-73B3-F368-A4CF2ED21B1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129310" y="1538994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97EDF88-6BF1-0A47-53CD-B4BA703A3746}"/>
                </a:ext>
              </a:extLst>
            </p:cNvPr>
            <p:cNvSpPr txBox="1"/>
            <p:nvPr/>
          </p:nvSpPr>
          <p:spPr>
            <a:xfrm>
              <a:off x="2523914" y="2158956"/>
              <a:ext cx="878733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ALD</a:t>
              </a:r>
              <a:b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</a:b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1 cycle</a:t>
              </a:r>
              <a:endPara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4FD1EE8-322C-1315-C552-FD1F5A311CF9}"/>
                </a:ext>
              </a:extLst>
            </p:cNvPr>
            <p:cNvGrpSpPr/>
            <p:nvPr/>
          </p:nvGrpSpPr>
          <p:grpSpPr>
            <a:xfrm flipH="1">
              <a:off x="3503890" y="1370956"/>
              <a:ext cx="1131422" cy="201954"/>
              <a:chOff x="1772863" y="1300484"/>
              <a:chExt cx="715448" cy="122764"/>
            </a:xfrm>
          </p:grpSpPr>
          <p:pic>
            <p:nvPicPr>
              <p:cNvPr id="27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A2B46EE5-19A0-A7AB-56F0-FDD605ACCA2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035881" y="1321334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8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6A7F225C-1DDA-ED35-EC31-F56BDF33D7D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431979" y="1367170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101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67B2781A-B930-CEDA-0AEC-56FC0DC90BD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1772863" y="1349373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102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96BA5B7F-22A4-9A82-FB76-E277EAEF51D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1895755" y="1300484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103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7666D8C1-4B4E-FBB9-CB61-8039E3536C4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160115" y="1300484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104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34A93823-A007-EA1F-127F-D034E83BAC3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303438" y="1323596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105" name="Group 4104">
              <a:extLst>
                <a:ext uri="{FF2B5EF4-FFF2-40B4-BE49-F238E27FC236}">
                  <a16:creationId xmlns:a16="http://schemas.microsoft.com/office/drawing/2014/main" id="{3B60EA35-C18D-4367-DC8F-231B625C176A}"/>
                </a:ext>
              </a:extLst>
            </p:cNvPr>
            <p:cNvGrpSpPr/>
            <p:nvPr/>
          </p:nvGrpSpPr>
          <p:grpSpPr>
            <a:xfrm rot="9070823" flipH="1">
              <a:off x="1518466" y="2537611"/>
              <a:ext cx="848451" cy="512228"/>
              <a:chOff x="1871546" y="1349070"/>
              <a:chExt cx="497301" cy="316630"/>
            </a:xfrm>
          </p:grpSpPr>
          <p:pic>
            <p:nvPicPr>
              <p:cNvPr id="4106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7961A3C7-60C2-B5BD-DF77-04E69D1965E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1871546" y="1609622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107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6B37BD47-1360-FFAF-7247-849C7D750BB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007715" y="1605587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108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2C5B3762-2E09-6A46-678A-BAA850F6279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188281" y="1473734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110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E75CCF68-5D3A-DC97-ABF7-D0AB5C63CE8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1925263" y="1501773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111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8889BF0D-1196-606D-EBEB-1F955DDB7CB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048155" y="1452884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112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848902C7-C2C9-B577-D750-080F35DD986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312515" y="1452884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113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A5772A9C-FC86-559F-87BC-E96D00C62ED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230063" y="1349070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4115" name="TextBox 4114">
              <a:extLst>
                <a:ext uri="{FF2B5EF4-FFF2-40B4-BE49-F238E27FC236}">
                  <a16:creationId xmlns:a16="http://schemas.microsoft.com/office/drawing/2014/main" id="{FEACB8BA-261B-E8F1-685A-AEE83C7B19B5}"/>
                </a:ext>
              </a:extLst>
            </p:cNvPr>
            <p:cNvSpPr txBox="1"/>
            <p:nvPr/>
          </p:nvSpPr>
          <p:spPr>
            <a:xfrm>
              <a:off x="1311732" y="1058283"/>
              <a:ext cx="992680" cy="276999"/>
            </a:xfrm>
            <a:prstGeom prst="rect">
              <a:avLst/>
            </a:prstGeom>
            <a:solidFill>
              <a:srgbClr val="1976D2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DEZ Supply</a:t>
              </a:r>
              <a:endParaRPr lang="en-US" altLang="ko-KR" sz="1200" dirty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프리젠테이션 9 Black" pitchFamily="2" charset="-127"/>
                <a:ea typeface="프리젠테이션 9 Black" pitchFamily="2" charset="-127"/>
                <a:cs typeface="Arial" panose="020B0604020202020204" pitchFamily="34" charset="0"/>
              </a:endParaRPr>
            </a:p>
          </p:txBody>
        </p:sp>
        <p:sp>
          <p:nvSpPr>
            <p:cNvPr id="4118" name="TextBox 4117">
              <a:extLst>
                <a:ext uri="{FF2B5EF4-FFF2-40B4-BE49-F238E27FC236}">
                  <a16:creationId xmlns:a16="http://schemas.microsoft.com/office/drawing/2014/main" id="{E7F8A0AA-4D88-0D46-1F45-34DD668F001A}"/>
                </a:ext>
              </a:extLst>
            </p:cNvPr>
            <p:cNvSpPr txBox="1"/>
            <p:nvPr/>
          </p:nvSpPr>
          <p:spPr>
            <a:xfrm>
              <a:off x="3645930" y="2192265"/>
              <a:ext cx="1163567" cy="276999"/>
            </a:xfrm>
            <a:prstGeom prst="rect">
              <a:avLst/>
            </a:prstGeom>
            <a:solidFill>
              <a:srgbClr val="43A047"/>
            </a:solidFill>
          </p:spPr>
          <p:txBody>
            <a:bodyPr wrap="square">
              <a:spAutoFit/>
            </a:bodyPr>
            <a:lstStyle>
              <a:defPPr>
                <a:defRPr lang="en-US"/>
              </a:defPPr>
              <a:lvl1pPr algn="ctr">
                <a:defRPr sz="1200">
                  <a:solidFill>
                    <a:schemeClr val="bg1"/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defRPr>
              </a:lvl1pPr>
            </a:lstStyle>
            <a:p>
              <a:r>
                <a:rPr lang="en-US" dirty="0" err="1"/>
                <a:t>HF·Py</a:t>
              </a:r>
              <a:r>
                <a:rPr lang="en-US" dirty="0"/>
                <a:t> Supply </a:t>
              </a:r>
            </a:p>
          </p:txBody>
        </p:sp>
        <p:sp>
          <p:nvSpPr>
            <p:cNvPr id="4119" name="TextBox 4118">
              <a:extLst>
                <a:ext uri="{FF2B5EF4-FFF2-40B4-BE49-F238E27FC236}">
                  <a16:creationId xmlns:a16="http://schemas.microsoft.com/office/drawing/2014/main" id="{69095E05-69C3-919B-D5F9-EC158E49B6F0}"/>
                </a:ext>
              </a:extLst>
            </p:cNvPr>
            <p:cNvSpPr txBox="1"/>
            <p:nvPr/>
          </p:nvSpPr>
          <p:spPr>
            <a:xfrm>
              <a:off x="3870907" y="1058283"/>
              <a:ext cx="902188" cy="276999"/>
            </a:xfrm>
            <a:prstGeom prst="rect">
              <a:avLst/>
            </a:prstGeom>
            <a:solidFill>
              <a:srgbClr val="F9A825"/>
            </a:solidFill>
          </p:spPr>
          <p:txBody>
            <a:bodyPr wrap="square">
              <a:spAutoFit/>
            </a:bodyPr>
            <a:lstStyle>
              <a:defPPr>
                <a:defRPr lang="en-US"/>
              </a:defPPr>
              <a:lvl1pPr algn="ctr">
                <a:defRPr sz="1200">
                  <a:solidFill>
                    <a:schemeClr val="bg1"/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defRPr>
              </a:lvl1pPr>
            </a:lstStyle>
            <a:p>
              <a:r>
                <a:rPr lang="en-US" dirty="0"/>
                <a:t>DEZ Purge</a:t>
              </a:r>
              <a:endParaRPr lang="en-US" altLang="ko-KR" dirty="0"/>
            </a:p>
          </p:txBody>
        </p:sp>
        <p:sp>
          <p:nvSpPr>
            <p:cNvPr id="4120" name="TextBox 4119">
              <a:extLst>
                <a:ext uri="{FF2B5EF4-FFF2-40B4-BE49-F238E27FC236}">
                  <a16:creationId xmlns:a16="http://schemas.microsoft.com/office/drawing/2014/main" id="{295CF497-A069-3605-3F17-D2DBC9BA9B36}"/>
                </a:ext>
              </a:extLst>
            </p:cNvPr>
            <p:cNvSpPr txBox="1"/>
            <p:nvPr/>
          </p:nvSpPr>
          <p:spPr>
            <a:xfrm>
              <a:off x="1305520" y="2192265"/>
              <a:ext cx="1082949" cy="276999"/>
            </a:xfrm>
            <a:prstGeom prst="rect">
              <a:avLst/>
            </a:prstGeom>
            <a:solidFill>
              <a:srgbClr val="EF5350"/>
            </a:solidFill>
          </p:spPr>
          <p:txBody>
            <a:bodyPr wrap="square">
              <a:spAutoFit/>
            </a:bodyPr>
            <a:lstStyle>
              <a:defPPr>
                <a:defRPr lang="en-US"/>
              </a:defPPr>
              <a:lvl1pPr algn="ctr">
                <a:defRPr sz="1200">
                  <a:solidFill>
                    <a:schemeClr val="bg1"/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defRPr>
              </a:lvl1pPr>
            </a:lstStyle>
            <a:p>
              <a:r>
                <a:rPr lang="en-US" dirty="0" err="1"/>
                <a:t>HF·Py</a:t>
              </a:r>
              <a:r>
                <a:rPr lang="en-US" dirty="0"/>
                <a:t> Purge</a:t>
              </a:r>
            </a:p>
          </p:txBody>
        </p:sp>
        <p:sp>
          <p:nvSpPr>
            <p:cNvPr id="4122" name="TextBox 4121">
              <a:extLst>
                <a:ext uri="{FF2B5EF4-FFF2-40B4-BE49-F238E27FC236}">
                  <a16:creationId xmlns:a16="http://schemas.microsoft.com/office/drawing/2014/main" id="{DEAC4F17-2DFB-D268-47CE-ECE47A239B81}"/>
                </a:ext>
              </a:extLst>
            </p:cNvPr>
            <p:cNvSpPr txBox="1"/>
            <p:nvPr/>
          </p:nvSpPr>
          <p:spPr>
            <a:xfrm>
              <a:off x="1417790" y="3409806"/>
              <a:ext cx="1620420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dirty="0"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ea typeface="프리젠테이션 9 Black" pitchFamily="2" charset="-127"/>
                  <a:cs typeface="Arial" panose="020B0604020202020204" pitchFamily="34" charset="0"/>
                </a:rPr>
                <a:t>DEZ:</a:t>
              </a:r>
              <a:r>
                <a:rPr lang="pl-PL" sz="1100" dirty="0"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ea typeface="프리젠테이션 9 Black" pitchFamily="2" charset="-127"/>
                  <a:cs typeface="Arial" panose="020B0604020202020204" pitchFamily="34" charset="0"/>
                </a:rPr>
                <a:t>  Zn(CH</a:t>
              </a:r>
              <a:r>
                <a:rPr lang="pl-PL" sz="1100" baseline="-25000" dirty="0"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ea typeface="프리젠테이션 9 Black" pitchFamily="2" charset="-127"/>
                  <a:cs typeface="Arial" panose="020B0604020202020204" pitchFamily="34" charset="0"/>
                </a:rPr>
                <a:t>2</a:t>
              </a:r>
              <a:r>
                <a:rPr lang="pl-PL" sz="1100" dirty="0"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ea typeface="프리젠테이션 9 Black" pitchFamily="2" charset="-127"/>
                  <a:cs typeface="Arial" panose="020B0604020202020204" pitchFamily="34" charset="0"/>
                </a:rPr>
                <a:t>CH</a:t>
              </a:r>
              <a:r>
                <a:rPr lang="pl-PL" sz="1100" baseline="-25000" dirty="0"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ea typeface="프리젠테이션 9 Black" pitchFamily="2" charset="-127"/>
                  <a:cs typeface="Arial" panose="020B0604020202020204" pitchFamily="34" charset="0"/>
                </a:rPr>
                <a:t>3</a:t>
              </a:r>
              <a:r>
                <a:rPr lang="pl-PL" sz="1100" dirty="0"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ea typeface="프리젠테이션 9 Black" pitchFamily="2" charset="-127"/>
                  <a:cs typeface="Arial" panose="020B0604020202020204" pitchFamily="34" charset="0"/>
                </a:rPr>
                <a:t>)</a:t>
              </a:r>
              <a:r>
                <a:rPr lang="pl-PL" sz="1100" baseline="-25000" dirty="0"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ea typeface="프리젠테이션 9 Black" pitchFamily="2" charset="-127"/>
                  <a:cs typeface="Arial" panose="020B0604020202020204" pitchFamily="34" charset="0"/>
                </a:rPr>
                <a:t>2</a:t>
              </a:r>
              <a:r>
                <a:rPr lang="en-US" sz="1100" dirty="0"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ea typeface="프리젠테이션 9 Black" pitchFamily="2" charset="-127"/>
                  <a:cs typeface="Arial" panose="020B0604020202020204" pitchFamily="34" charset="0"/>
                </a:rPr>
                <a:t> </a:t>
              </a:r>
            </a:p>
          </p:txBody>
        </p:sp>
        <p:sp>
          <p:nvSpPr>
            <p:cNvPr id="4123" name="TextBox 4122">
              <a:extLst>
                <a:ext uri="{FF2B5EF4-FFF2-40B4-BE49-F238E27FC236}">
                  <a16:creationId xmlns:a16="http://schemas.microsoft.com/office/drawing/2014/main" id="{F45A9474-8CB6-21FC-F3C4-449B282EC034}"/>
                </a:ext>
              </a:extLst>
            </p:cNvPr>
            <p:cNvSpPr txBox="1"/>
            <p:nvPr/>
          </p:nvSpPr>
          <p:spPr>
            <a:xfrm>
              <a:off x="2558267" y="3409806"/>
              <a:ext cx="1620420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dirty="0"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ea typeface="프리젠테이션 9 Black" pitchFamily="2" charset="-127"/>
                  <a:cs typeface="Arial" panose="020B0604020202020204" pitchFamily="34" charset="0"/>
                </a:rPr>
                <a:t>HF:</a:t>
              </a:r>
              <a:r>
                <a:rPr lang="pl-PL" sz="1100" dirty="0"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ea typeface="프리젠테이션 9 Black" pitchFamily="2" charset="-127"/>
                  <a:cs typeface="Arial" panose="020B0604020202020204" pitchFamily="34" charset="0"/>
                </a:rPr>
                <a:t>  </a:t>
              </a:r>
              <a:r>
                <a:rPr lang="en-US" sz="1100" dirty="0"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ea typeface="프리젠테이션 9 Black" pitchFamily="2" charset="-127"/>
                  <a:cs typeface="Arial" panose="020B0604020202020204" pitchFamily="34" charset="0"/>
                </a:rPr>
                <a:t>Hydrogen fluoride</a:t>
              </a:r>
            </a:p>
          </p:txBody>
        </p:sp>
        <p:sp>
          <p:nvSpPr>
            <p:cNvPr id="4124" name="TextBox 4123">
              <a:extLst>
                <a:ext uri="{FF2B5EF4-FFF2-40B4-BE49-F238E27FC236}">
                  <a16:creationId xmlns:a16="http://schemas.microsoft.com/office/drawing/2014/main" id="{8FC1A3F9-DD8D-C264-CC05-D55B52E1C4A5}"/>
                </a:ext>
              </a:extLst>
            </p:cNvPr>
            <p:cNvSpPr txBox="1"/>
            <p:nvPr/>
          </p:nvSpPr>
          <p:spPr>
            <a:xfrm>
              <a:off x="3970790" y="3409010"/>
              <a:ext cx="91221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dirty="0" err="1"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ea typeface="프리젠테이션 9 Black" pitchFamily="2" charset="-127"/>
                  <a:cs typeface="Arial" panose="020B0604020202020204" pitchFamily="34" charset="0"/>
                </a:rPr>
                <a:t>Py</a:t>
              </a:r>
              <a:r>
                <a:rPr lang="en-US" sz="1100" dirty="0"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ea typeface="프리젠테이션 9 Black" pitchFamily="2" charset="-127"/>
                  <a:cs typeface="Arial" panose="020B0604020202020204" pitchFamily="34" charset="0"/>
                </a:rPr>
                <a:t>:</a:t>
              </a:r>
              <a:r>
                <a:rPr lang="pl-PL" sz="1100" dirty="0"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ea typeface="프리젠테이션 9 Black" pitchFamily="2" charset="-127"/>
                  <a:cs typeface="Arial" panose="020B0604020202020204" pitchFamily="34" charset="0"/>
                </a:rPr>
                <a:t>  </a:t>
              </a:r>
              <a:r>
                <a:rPr lang="en-US" sz="1100" dirty="0"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ea typeface="프리젠테이션 9 Black" pitchFamily="2" charset="-127"/>
                  <a:cs typeface="Arial" panose="020B0604020202020204" pitchFamily="34" charset="0"/>
                </a:rPr>
                <a:t>Pyridine</a:t>
              </a:r>
            </a:p>
          </p:txBody>
        </p:sp>
        <p:sp>
          <p:nvSpPr>
            <p:cNvPr id="4129" name="Rectangle 4128">
              <a:extLst>
                <a:ext uri="{FF2B5EF4-FFF2-40B4-BE49-F238E27FC236}">
                  <a16:creationId xmlns:a16="http://schemas.microsoft.com/office/drawing/2014/main" id="{BD39B192-337F-B6B7-CEF5-4B95427F53D6}"/>
                </a:ext>
              </a:extLst>
            </p:cNvPr>
            <p:cNvSpPr/>
            <p:nvPr/>
          </p:nvSpPr>
          <p:spPr>
            <a:xfrm>
              <a:off x="1281517" y="1012562"/>
              <a:ext cx="3554644" cy="2628373"/>
            </a:xfrm>
            <a:prstGeom prst="rect">
              <a:avLst/>
            </a:prstGeom>
            <a:noFill/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152" name="Group 4151">
              <a:extLst>
                <a:ext uri="{FF2B5EF4-FFF2-40B4-BE49-F238E27FC236}">
                  <a16:creationId xmlns:a16="http://schemas.microsoft.com/office/drawing/2014/main" id="{54399D52-8E1A-423A-7DAD-3E6E996D0800}"/>
                </a:ext>
              </a:extLst>
            </p:cNvPr>
            <p:cNvGrpSpPr/>
            <p:nvPr/>
          </p:nvGrpSpPr>
          <p:grpSpPr>
            <a:xfrm>
              <a:off x="1092469" y="3754636"/>
              <a:ext cx="3778565" cy="887344"/>
              <a:chOff x="1133496" y="3707498"/>
              <a:chExt cx="3778565" cy="887344"/>
            </a:xfrm>
          </p:grpSpPr>
          <p:grpSp>
            <p:nvGrpSpPr>
              <p:cNvPr id="4125" name="Group 4124">
                <a:extLst>
                  <a:ext uri="{FF2B5EF4-FFF2-40B4-BE49-F238E27FC236}">
                    <a16:creationId xmlns:a16="http://schemas.microsoft.com/office/drawing/2014/main" id="{BDAFF663-25EA-641B-8897-1F77F5CA7401}"/>
                  </a:ext>
                </a:extLst>
              </p:cNvPr>
              <p:cNvGrpSpPr/>
              <p:nvPr/>
            </p:nvGrpSpPr>
            <p:grpSpPr>
              <a:xfrm>
                <a:off x="1133496" y="3772935"/>
                <a:ext cx="3250094" cy="784423"/>
                <a:chOff x="3293632" y="4015904"/>
                <a:chExt cx="1852988" cy="679556"/>
              </a:xfrm>
            </p:grpSpPr>
            <p:pic>
              <p:nvPicPr>
                <p:cNvPr id="4126" name="Picture 6">
                  <a:extLst>
                    <a:ext uri="{FF2B5EF4-FFF2-40B4-BE49-F238E27FC236}">
                      <a16:creationId xmlns:a16="http://schemas.microsoft.com/office/drawing/2014/main" id="{1B49E89D-ABBB-DA7D-BD37-298902691CA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b="34006"/>
                <a:stretch/>
              </p:blipFill>
              <p:spPr bwMode="auto">
                <a:xfrm>
                  <a:off x="3293632" y="4015904"/>
                  <a:ext cx="1852988" cy="45358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cxnSp>
              <p:nvCxnSpPr>
                <p:cNvPr id="4127" name="Straight Arrow Connector 4126">
                  <a:extLst>
                    <a:ext uri="{FF2B5EF4-FFF2-40B4-BE49-F238E27FC236}">
                      <a16:creationId xmlns:a16="http://schemas.microsoft.com/office/drawing/2014/main" id="{7FFAC6E5-72C0-B898-C2FD-FDF21921DA17}"/>
                    </a:ext>
                  </a:extLst>
                </p:cNvPr>
                <p:cNvCxnSpPr/>
                <p:nvPr/>
              </p:nvCxnSpPr>
              <p:spPr>
                <a:xfrm>
                  <a:off x="3598088" y="4506483"/>
                  <a:ext cx="1265234" cy="0"/>
                </a:xfrm>
                <a:prstGeom prst="straightConnector1">
                  <a:avLst/>
                </a:prstGeom>
                <a:ln w="9525">
                  <a:solidFill>
                    <a:schemeClr val="tx1">
                      <a:lumMod val="75000"/>
                      <a:lumOff val="2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128" name="TextBox 4127">
                  <a:extLst>
                    <a:ext uri="{FF2B5EF4-FFF2-40B4-BE49-F238E27FC236}">
                      <a16:creationId xmlns:a16="http://schemas.microsoft.com/office/drawing/2014/main" id="{177C2DC4-50B9-9087-10EA-D906F5CF80DA}"/>
                    </a:ext>
                  </a:extLst>
                </p:cNvPr>
                <p:cNvSpPr txBox="1"/>
                <p:nvPr/>
              </p:nvSpPr>
              <p:spPr>
                <a:xfrm>
                  <a:off x="3692308" y="4468824"/>
                  <a:ext cx="1084855" cy="22663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ko-KR" sz="1100" b="1" dirty="0">
                      <a:effectLst/>
                      <a:latin typeface="프리젠테이션 7 Bold" pitchFamily="2" charset="-127"/>
                      <a:ea typeface="프리젠테이션 7 Bold" pitchFamily="2" charset="-127"/>
                    </a:rPr>
                    <a:t># of ALD cycles</a:t>
                  </a:r>
                  <a:endParaRPr lang="ko-KR" altLang="en-US" sz="1100" b="1" dirty="0">
                    <a:effectLst/>
                    <a:latin typeface="프리젠테이션 7 Bold" pitchFamily="2" charset="-127"/>
                    <a:ea typeface="프리젠테이션 7 Bold" pitchFamily="2" charset="-127"/>
                  </a:endParaRPr>
                </a:p>
              </p:txBody>
            </p:sp>
          </p:grpSp>
          <p:cxnSp>
            <p:nvCxnSpPr>
              <p:cNvPr id="4131" name="Straight Arrow Connector 4130">
                <a:extLst>
                  <a:ext uri="{FF2B5EF4-FFF2-40B4-BE49-F238E27FC236}">
                    <a16:creationId xmlns:a16="http://schemas.microsoft.com/office/drawing/2014/main" id="{3ECBD46C-FD6A-32C9-8FE1-102D8244EEC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083312" y="3882181"/>
                <a:ext cx="238689" cy="83829"/>
              </a:xfrm>
              <a:prstGeom prst="straightConnector1">
                <a:avLst/>
              </a:prstGeom>
              <a:ln w="6350">
                <a:solidFill>
                  <a:schemeClr val="tx1">
                    <a:lumMod val="75000"/>
                    <a:lumOff val="25000"/>
                  </a:schemeClr>
                </a:solidFill>
                <a:tailEnd type="arrow"/>
              </a:ln>
              <a:effectLst>
                <a:glow rad="63500">
                  <a:srgbClr val="43A047">
                    <a:alpha val="40000"/>
                  </a:srgbClr>
                </a:glow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36" name="TextBox 4135">
                <a:extLst>
                  <a:ext uri="{FF2B5EF4-FFF2-40B4-BE49-F238E27FC236}">
                    <a16:creationId xmlns:a16="http://schemas.microsoft.com/office/drawing/2014/main" id="{74FFC4C6-9016-2AD5-7A82-F78F1E948813}"/>
                  </a:ext>
                </a:extLst>
              </p:cNvPr>
              <p:cNvSpPr txBox="1"/>
              <p:nvPr/>
            </p:nvSpPr>
            <p:spPr>
              <a:xfrm>
                <a:off x="4281794" y="3707498"/>
                <a:ext cx="47104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200" b="1" dirty="0" err="1">
                    <a:latin typeface="프리젠테이션 7 Bold" pitchFamily="2" charset="-127"/>
                    <a:ea typeface="프리젠테이션 7 Bold" pitchFamily="2" charset="-127"/>
                  </a:rPr>
                  <a:t>MF</a:t>
                </a:r>
                <a:r>
                  <a:rPr lang="en-US" altLang="ko-KR" sz="1200" b="1" baseline="-25000" dirty="0" err="1">
                    <a:latin typeface="프리젠테이션 7 Bold" pitchFamily="2" charset="-127"/>
                    <a:ea typeface="프리젠테이션 7 Bold" pitchFamily="2" charset="-127"/>
                  </a:rPr>
                  <a:t>x</a:t>
                </a:r>
                <a:endParaRPr lang="en-US" sz="1200" b="1" baseline="-25000" dirty="0">
                  <a:latin typeface="프리젠테이션 7 Bold" pitchFamily="2" charset="-127"/>
                  <a:ea typeface="프리젠테이션 7 Bold" pitchFamily="2" charset="-127"/>
                </a:endParaRPr>
              </a:p>
            </p:txBody>
          </p:sp>
          <p:sp>
            <p:nvSpPr>
              <p:cNvPr id="4141" name="TextBox 4140">
                <a:extLst>
                  <a:ext uri="{FF2B5EF4-FFF2-40B4-BE49-F238E27FC236}">
                    <a16:creationId xmlns:a16="http://schemas.microsoft.com/office/drawing/2014/main" id="{205CC2C5-B06E-3DB9-DF4D-B84681671CC3}"/>
                  </a:ext>
                </a:extLst>
              </p:cNvPr>
              <p:cNvSpPr txBox="1"/>
              <p:nvPr/>
            </p:nvSpPr>
            <p:spPr>
              <a:xfrm>
                <a:off x="3731940" y="4348621"/>
                <a:ext cx="1180121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000" dirty="0" err="1">
                    <a:effectLst>
                      <a:outerShdw blurRad="50800" dist="38100" dir="8100000" algn="tr" rotWithShape="0">
                        <a:prstClr val="black">
                          <a:alpha val="40000"/>
                        </a:prstClr>
                      </a:outerShdw>
                    </a:effectLst>
                    <a:ea typeface="프리젠테이션 9 Black" pitchFamily="2" charset="-127"/>
                    <a:cs typeface="Arial" panose="020B0604020202020204" pitchFamily="34" charset="0"/>
                  </a:rPr>
                  <a:t>MF</a:t>
                </a:r>
                <a:r>
                  <a:rPr lang="en-US" altLang="ko-KR" sz="1000" baseline="-25000" dirty="0" err="1">
                    <a:effectLst>
                      <a:outerShdw blurRad="50800" dist="38100" dir="8100000" algn="tr" rotWithShape="0">
                        <a:prstClr val="black">
                          <a:alpha val="40000"/>
                        </a:prstClr>
                      </a:outerShdw>
                    </a:effectLst>
                    <a:ea typeface="프리젠테이션 9 Black" pitchFamily="2" charset="-127"/>
                    <a:cs typeface="Arial" panose="020B0604020202020204" pitchFamily="34" charset="0"/>
                  </a:rPr>
                  <a:t>x</a:t>
                </a:r>
                <a:r>
                  <a:rPr lang="en-US" altLang="ko-KR" sz="1000" dirty="0" err="1">
                    <a:effectLst>
                      <a:outerShdw blurRad="50800" dist="38100" dir="8100000" algn="tr" rotWithShape="0">
                        <a:prstClr val="black">
                          <a:alpha val="40000"/>
                        </a:prstClr>
                      </a:outerShdw>
                    </a:effectLst>
                    <a:ea typeface="프리젠테이션 9 Black" pitchFamily="2" charset="-127"/>
                    <a:cs typeface="Arial" panose="020B0604020202020204" pitchFamily="34" charset="0"/>
                  </a:rPr>
                  <a:t>:Metal</a:t>
                </a:r>
                <a:r>
                  <a:rPr lang="en-US" altLang="ko-KR" sz="1000" dirty="0">
                    <a:effectLst>
                      <a:outerShdw blurRad="50800" dist="38100" dir="8100000" algn="tr" rotWithShape="0">
                        <a:prstClr val="black">
                          <a:alpha val="40000"/>
                        </a:prstClr>
                      </a:outerShdw>
                    </a:effectLst>
                    <a:ea typeface="프리젠테이션 9 Black" pitchFamily="2" charset="-127"/>
                    <a:cs typeface="Arial" panose="020B0604020202020204" pitchFamily="34" charset="0"/>
                  </a:rPr>
                  <a:t> Fluoride</a:t>
                </a:r>
                <a:endParaRPr lang="en-US" sz="1000" dirty="0"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ea typeface="프리젠테이션 9 Black" pitchFamily="2" charset="-127"/>
                  <a:cs typeface="Arial" panose="020B0604020202020204" pitchFamily="34" charset="0"/>
                </a:endParaRPr>
              </a:p>
            </p:txBody>
          </p:sp>
          <p:cxnSp>
            <p:nvCxnSpPr>
              <p:cNvPr id="4143" name="Straight Arrow Connector 4142">
                <a:extLst>
                  <a:ext uri="{FF2B5EF4-FFF2-40B4-BE49-F238E27FC236}">
                    <a16:creationId xmlns:a16="http://schemas.microsoft.com/office/drawing/2014/main" id="{04BD7FDA-DB1F-E8D1-6165-20C83780DBB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018969" y="4086055"/>
                <a:ext cx="195200" cy="91742"/>
              </a:xfrm>
              <a:prstGeom prst="straightConnector1">
                <a:avLst/>
              </a:prstGeom>
              <a:ln w="6350">
                <a:solidFill>
                  <a:schemeClr val="tx1">
                    <a:lumMod val="75000"/>
                    <a:lumOff val="25000"/>
                  </a:schemeClr>
                </a:solidFill>
                <a:tailEnd type="arrow"/>
              </a:ln>
              <a:effectLst>
                <a:glow rad="139700">
                  <a:schemeClr val="accent6">
                    <a:satMod val="175000"/>
                    <a:alpha val="40000"/>
                  </a:schemeClr>
                </a:glow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47" name="TextBox 4146">
                <a:extLst>
                  <a:ext uri="{FF2B5EF4-FFF2-40B4-BE49-F238E27FC236}">
                    <a16:creationId xmlns:a16="http://schemas.microsoft.com/office/drawing/2014/main" id="{79118846-6CBB-3B43-03C6-B9B8AD6A17FA}"/>
                  </a:ext>
                </a:extLst>
              </p:cNvPr>
              <p:cNvSpPr txBox="1"/>
              <p:nvPr/>
            </p:nvSpPr>
            <p:spPr>
              <a:xfrm>
                <a:off x="4171313" y="4059504"/>
                <a:ext cx="516544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200" b="1" dirty="0">
                    <a:effectLst/>
                    <a:latin typeface="프리젠테이션 7 Bold" pitchFamily="2" charset="-127"/>
                    <a:ea typeface="프리젠테이션 7 Bold" pitchFamily="2" charset="-127"/>
                  </a:rPr>
                  <a:t>Cu</a:t>
                </a:r>
                <a:endParaRPr lang="en-US" sz="1200" dirty="0"/>
              </a:p>
            </p:txBody>
          </p:sp>
        </p:grpSp>
        <p:sp>
          <p:nvSpPr>
            <p:cNvPr id="4149" name="Rectangle 4148">
              <a:extLst>
                <a:ext uri="{FF2B5EF4-FFF2-40B4-BE49-F238E27FC236}">
                  <a16:creationId xmlns:a16="http://schemas.microsoft.com/office/drawing/2014/main" id="{5C0B121C-1C61-E390-59B0-102D382FD9B7}"/>
                </a:ext>
              </a:extLst>
            </p:cNvPr>
            <p:cNvSpPr/>
            <p:nvPr/>
          </p:nvSpPr>
          <p:spPr>
            <a:xfrm>
              <a:off x="1281517" y="3672997"/>
              <a:ext cx="3554644" cy="952827"/>
            </a:xfrm>
            <a:prstGeom prst="rect">
              <a:avLst/>
            </a:prstGeom>
            <a:noFill/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51" name="TextBox 4150">
              <a:extLst>
                <a:ext uri="{FF2B5EF4-FFF2-40B4-BE49-F238E27FC236}">
                  <a16:creationId xmlns:a16="http://schemas.microsoft.com/office/drawing/2014/main" id="{280FB938-B210-61E1-0FC2-ABB800167697}"/>
                </a:ext>
              </a:extLst>
            </p:cNvPr>
            <p:cNvSpPr txBox="1"/>
            <p:nvPr/>
          </p:nvSpPr>
          <p:spPr>
            <a:xfrm>
              <a:off x="2224491" y="3632024"/>
              <a:ext cx="1648324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dirty="0">
                  <a:solidFill>
                    <a:srgbClr val="6A1B9A"/>
                  </a:solidFill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박막 형성 단면 모식도</a:t>
              </a:r>
            </a:p>
          </p:txBody>
        </p:sp>
      </p:grpSp>
      <p:sp>
        <p:nvSpPr>
          <p:cNvPr id="4154" name="Rectangle 4153">
            <a:extLst>
              <a:ext uri="{FF2B5EF4-FFF2-40B4-BE49-F238E27FC236}">
                <a16:creationId xmlns:a16="http://schemas.microsoft.com/office/drawing/2014/main" id="{126D3596-7739-0E3B-8E16-85AD706C20CF}"/>
              </a:ext>
            </a:extLst>
          </p:cNvPr>
          <p:cNvSpPr/>
          <p:nvPr/>
        </p:nvSpPr>
        <p:spPr>
          <a:xfrm>
            <a:off x="5380731" y="1353711"/>
            <a:ext cx="3578233" cy="2552545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1319965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" descr="E:\PNG\화살표\1304 - 복사본.png">
            <a:extLst>
              <a:ext uri="{FF2B5EF4-FFF2-40B4-BE49-F238E27FC236}">
                <a16:creationId xmlns:a16="http://schemas.microsoft.com/office/drawing/2014/main" id="{D3974CB5-A3AF-4E87-2AD6-AFD4AFE5B1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531774" y="2512179"/>
            <a:ext cx="555412" cy="1376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C35E459-6A23-9C1E-CFA9-D2F7550D91DE}"/>
              </a:ext>
            </a:extLst>
          </p:cNvPr>
          <p:cNvSpPr txBox="1"/>
          <p:nvPr/>
        </p:nvSpPr>
        <p:spPr>
          <a:xfrm>
            <a:off x="535320" y="2933881"/>
            <a:ext cx="554960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 dirty="0">
                <a:solidFill>
                  <a:srgbClr val="FF0000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Zn</a:t>
            </a:r>
            <a:r>
              <a:rPr lang="en-US" sz="1300" b="1" dirty="0">
                <a:solidFill>
                  <a:srgbClr val="FF0000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</a:effectLst>
                <a:latin typeface="Arial" panose="020B0604020202020204" pitchFamily="34" charset="0"/>
                <a:ea typeface="Malgun Gothic" panose="020B0503020000020004" pitchFamily="34" charset="-127"/>
              </a:rPr>
              <a:t>F</a:t>
            </a:r>
            <a:r>
              <a:rPr lang="en-US" sz="1300" b="1" baseline="-25000" dirty="0">
                <a:solidFill>
                  <a:srgbClr val="FF0000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</a:effectLst>
                <a:latin typeface="Arial" panose="020B0604020202020204" pitchFamily="34" charset="0"/>
                <a:ea typeface="Malgun Gothic" panose="020B0503020000020004" pitchFamily="34" charset="-127"/>
              </a:rPr>
              <a:t>2</a:t>
            </a:r>
            <a:endParaRPr lang="en-US" sz="1300" b="1" baseline="-25000" dirty="0">
              <a:solidFill>
                <a:srgbClr val="FF0000"/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</a:effectLst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  <a:p>
            <a:pPr algn="ctr"/>
            <a:r>
              <a:rPr lang="en-US" sz="1300" b="1" dirty="0">
                <a:solidFill>
                  <a:srgbClr val="FF0000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ALD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08B353F7-2E44-628B-7A15-9C7A4D676039}"/>
              </a:ext>
            </a:extLst>
          </p:cNvPr>
          <p:cNvGrpSpPr/>
          <p:nvPr/>
        </p:nvGrpSpPr>
        <p:grpSpPr>
          <a:xfrm>
            <a:off x="1932819" y="987409"/>
            <a:ext cx="3617394" cy="1881194"/>
            <a:chOff x="1932819" y="987409"/>
            <a:chExt cx="3617394" cy="1881194"/>
          </a:xfrm>
        </p:grpSpPr>
        <p:pic>
          <p:nvPicPr>
            <p:cNvPr id="3" name="Picture 7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19EBFD7E-D425-BD30-D8AD-C9B1D6D4B27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133" t="37899" r="16806" b="12022"/>
            <a:stretch/>
          </p:blipFill>
          <p:spPr>
            <a:xfrm rot="5520000">
              <a:off x="1433172" y="1571518"/>
              <a:ext cx="1548270" cy="548976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62EEB72-BFF1-182D-05E3-11053082709E}"/>
                </a:ext>
              </a:extLst>
            </p:cNvPr>
            <p:cNvSpPr txBox="1"/>
            <p:nvPr/>
          </p:nvSpPr>
          <p:spPr>
            <a:xfrm>
              <a:off x="2003738" y="2570560"/>
              <a:ext cx="386644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00" dirty="0">
                  <a:solidFill>
                    <a:schemeClr val="accent2">
                      <a:lumMod val="75000"/>
                    </a:schemeClr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Cu</a:t>
              </a:r>
            </a:p>
          </p:txBody>
        </p:sp>
        <p:pic>
          <p:nvPicPr>
            <p:cNvPr id="9" name="Picture 56" descr="A picture containing tool, brush&#10;&#10;Description automatically generated">
              <a:extLst>
                <a:ext uri="{FF2B5EF4-FFF2-40B4-BE49-F238E27FC236}">
                  <a16:creationId xmlns:a16="http://schemas.microsoft.com/office/drawing/2014/main" id="{54204652-094E-21F0-2005-4D04AE360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520000">
              <a:off x="4185099" y="1520224"/>
              <a:ext cx="1839765" cy="774135"/>
            </a:xfrm>
            <a:prstGeom prst="rect">
              <a:avLst/>
            </a:prstGeom>
          </p:spPr>
        </p:pic>
        <p:pic>
          <p:nvPicPr>
            <p:cNvPr id="10" name="Picture 1077" descr="A round orange object with white specks on it&#10;&#10;Description automatically generated">
              <a:extLst>
                <a:ext uri="{FF2B5EF4-FFF2-40B4-BE49-F238E27FC236}">
                  <a16:creationId xmlns:a16="http://schemas.microsoft.com/office/drawing/2014/main" id="{2B2709A1-43A1-1A49-102E-62D4218347C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566" t="53983" r="27720" b="14461"/>
            <a:stretch/>
          </p:blipFill>
          <p:spPr>
            <a:xfrm rot="5520000">
              <a:off x="2733709" y="1519658"/>
              <a:ext cx="1755308" cy="746947"/>
            </a:xfrm>
            <a:prstGeom prst="rect">
              <a:avLst/>
            </a:prstGeom>
          </p:spPr>
        </p:pic>
        <p:pic>
          <p:nvPicPr>
            <p:cNvPr id="11" name="Picture 1078" descr="E:\PNG\화살표\1304 - 복사본.png">
              <a:extLst>
                <a:ext uri="{FF2B5EF4-FFF2-40B4-BE49-F238E27FC236}">
                  <a16:creationId xmlns:a16="http://schemas.microsoft.com/office/drawing/2014/main" id="{1ED72ACA-A894-3C49-5B81-119BD47389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64624" y="1313064"/>
              <a:ext cx="1039596" cy="11149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35EA719-E913-F246-870A-3B5E9D584B1F}"/>
                </a:ext>
              </a:extLst>
            </p:cNvPr>
            <p:cNvSpPr txBox="1"/>
            <p:nvPr/>
          </p:nvSpPr>
          <p:spPr>
            <a:xfrm>
              <a:off x="2415085" y="1629718"/>
              <a:ext cx="829073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>
                  <a:latin typeface="프리젠테이션 7 Bold" pitchFamily="2" charset="-127"/>
                  <a:ea typeface="프리젠테이션 7 Bold" pitchFamily="2" charset="-127"/>
                  <a:cs typeface="Arial" panose="020B0604020202020204" pitchFamily="34" charset="0"/>
                </a:rPr>
                <a:t>Li</a:t>
              </a:r>
            </a:p>
            <a:p>
              <a:pPr algn="ctr"/>
              <a:r>
                <a:rPr lang="en-US" sz="1100" dirty="0">
                  <a:latin typeface="프리젠테이션 7 Bold" pitchFamily="2" charset="-127"/>
                  <a:ea typeface="프리젠테이션 7 Bold" pitchFamily="2" charset="-127"/>
                  <a:cs typeface="Arial" panose="020B0604020202020204" pitchFamily="34" charset="0"/>
                </a:rPr>
                <a:t>nucleation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8FFAC72-32A2-BAA4-E347-26C82A1BE1EC}"/>
                </a:ext>
              </a:extLst>
            </p:cNvPr>
            <p:cNvSpPr txBox="1"/>
            <p:nvPr/>
          </p:nvSpPr>
          <p:spPr>
            <a:xfrm>
              <a:off x="2732675" y="2568896"/>
              <a:ext cx="1725280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00" dirty="0">
                  <a:solidFill>
                    <a:srgbClr val="C00000"/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Uneven</a:t>
              </a:r>
              <a:r>
                <a:rPr lang="en-US" sz="1300" dirty="0"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 Li nucleation</a:t>
              </a:r>
            </a:p>
          </p:txBody>
        </p:sp>
        <p:pic>
          <p:nvPicPr>
            <p:cNvPr id="14" name="Picture 24" descr="E:\PNG\화살표\1304 - 복사본.png">
              <a:extLst>
                <a:ext uri="{FF2B5EF4-FFF2-40B4-BE49-F238E27FC236}">
                  <a16:creationId xmlns:a16="http://schemas.microsoft.com/office/drawing/2014/main" id="{AF52B302-EF39-0CC9-4CEC-9A5EE57CBA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12575" y="1349793"/>
              <a:ext cx="1039596" cy="11149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8EC1F3F-B5D1-D040-6446-CFE5A9079CDE}"/>
                </a:ext>
              </a:extLst>
            </p:cNvPr>
            <p:cNvSpPr txBox="1"/>
            <p:nvPr/>
          </p:nvSpPr>
          <p:spPr>
            <a:xfrm>
              <a:off x="3768330" y="1655118"/>
              <a:ext cx="829073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>
                  <a:latin typeface="프리젠테이션 7 Bold" pitchFamily="2" charset="-127"/>
                  <a:ea typeface="프리젠테이션 7 Bold" pitchFamily="2" charset="-127"/>
                  <a:cs typeface="Arial" panose="020B0604020202020204" pitchFamily="34" charset="0"/>
                </a:rPr>
                <a:t>Li</a:t>
              </a:r>
            </a:p>
            <a:p>
              <a:pPr algn="ctr"/>
              <a:r>
                <a:rPr lang="en-US" sz="1100" dirty="0">
                  <a:latin typeface="프리젠테이션 7 Bold" pitchFamily="2" charset="-127"/>
                  <a:ea typeface="프리젠테이션 7 Bold" pitchFamily="2" charset="-127"/>
                  <a:cs typeface="Arial" panose="020B0604020202020204" pitchFamily="34" charset="0"/>
                </a:rPr>
                <a:t>deposition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12DB5D5-C3F4-15B3-FD32-FCEA9C8CEA4D}"/>
                </a:ext>
              </a:extLst>
            </p:cNvPr>
            <p:cNvSpPr txBox="1"/>
            <p:nvPr/>
          </p:nvSpPr>
          <p:spPr>
            <a:xfrm>
              <a:off x="4490051" y="2576215"/>
              <a:ext cx="1060162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00" dirty="0"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Li dendrites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8EBDB4B-21FC-33FD-0DDA-1E24B8F0579C}"/>
                </a:ext>
              </a:extLst>
            </p:cNvPr>
            <p:cNvSpPr txBox="1"/>
            <p:nvPr/>
          </p:nvSpPr>
          <p:spPr>
            <a:xfrm>
              <a:off x="3775007" y="1108571"/>
              <a:ext cx="115200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1" dirty="0" err="1">
                  <a:effectLst/>
                  <a:latin typeface="프리젠테이션 7 Bold" pitchFamily="2" charset="-127"/>
                  <a:ea typeface="프리젠테이션 7 Bold" pitchFamily="2" charset="-127"/>
                </a:rPr>
                <a:t>불균일·파단</a:t>
              </a:r>
              <a:r>
                <a:rPr sz="900" b="1" dirty="0">
                  <a:effectLst/>
                  <a:latin typeface="프리젠테이션 7 Bold" pitchFamily="2" charset="-127"/>
                  <a:ea typeface="프리젠테이션 7 Bold" pitchFamily="2" charset="-127"/>
                </a:rPr>
                <a:t> SEI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930FF60-25C1-C541-0A77-5AD6232DB69B}"/>
                </a:ext>
              </a:extLst>
            </p:cNvPr>
            <p:cNvCxnSpPr/>
            <p:nvPr/>
          </p:nvCxnSpPr>
          <p:spPr>
            <a:xfrm>
              <a:off x="4578412" y="1321313"/>
              <a:ext cx="280413" cy="220134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tailEnd type="arrow" w="sm" len="sm"/>
            </a:ln>
            <a:effectLst>
              <a:glow rad="63500">
                <a:schemeClr val="accent5">
                  <a:satMod val="175000"/>
                  <a:alpha val="40000"/>
                </a:schemeClr>
              </a:glow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B286F80-D682-E30C-241C-D993C1B9945B}"/>
                </a:ext>
              </a:extLst>
            </p:cNvPr>
            <p:cNvCxnSpPr>
              <a:cxnSpLocks/>
            </p:cNvCxnSpPr>
            <p:nvPr/>
          </p:nvCxnSpPr>
          <p:spPr>
            <a:xfrm>
              <a:off x="3328698" y="1349793"/>
              <a:ext cx="260113" cy="139135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tailEnd type="arrow" w="sm" len="sm"/>
            </a:ln>
            <a:effectLst>
              <a:glow rad="63500">
                <a:schemeClr val="accent5">
                  <a:satMod val="175000"/>
                  <a:alpha val="40000"/>
                </a:schemeClr>
              </a:glow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2C7F586-E2F0-6A75-4B76-092777A122AD}"/>
                </a:ext>
              </a:extLst>
            </p:cNvPr>
            <p:cNvSpPr txBox="1"/>
            <p:nvPr/>
          </p:nvSpPr>
          <p:spPr>
            <a:xfrm>
              <a:off x="2418180" y="1129574"/>
              <a:ext cx="115200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1" dirty="0" err="1">
                  <a:effectLst/>
                  <a:latin typeface="프리젠테이션 7 Bold" pitchFamily="2" charset="-127"/>
                  <a:ea typeface="프리젠테이션 7 Bold" pitchFamily="2" charset="-127"/>
                </a:rPr>
                <a:t>불균일</a:t>
              </a:r>
              <a:r>
                <a:rPr lang="en-US" sz="900" b="1" dirty="0">
                  <a:effectLst/>
                  <a:latin typeface="프리젠테이션 7 Bold" pitchFamily="2" charset="-127"/>
                  <a:ea typeface="프리젠테이션 7 Bold" pitchFamily="2" charset="-127"/>
                </a:rPr>
                <a:t> Li </a:t>
              </a:r>
              <a:r>
                <a:rPr lang="ko-KR" altLang="en-US" sz="900" b="1" dirty="0">
                  <a:effectLst/>
                  <a:latin typeface="프리젠테이션 7 Bold" pitchFamily="2" charset="-127"/>
                  <a:ea typeface="프리젠테이션 7 Bold" pitchFamily="2" charset="-127"/>
                </a:rPr>
                <a:t>핵생성</a:t>
              </a:r>
              <a:endParaRPr sz="900" b="1" dirty="0">
                <a:effectLst/>
                <a:latin typeface="프리젠테이션 7 Bold" pitchFamily="2" charset="-127"/>
                <a:ea typeface="프리젠테이션 7 Bold" pitchFamily="2" charset="-127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0FEBAB7-C7BF-9F33-7730-E4FB61362781}"/>
              </a:ext>
            </a:extLst>
          </p:cNvPr>
          <p:cNvGrpSpPr/>
          <p:nvPr/>
        </p:nvGrpSpPr>
        <p:grpSpPr>
          <a:xfrm>
            <a:off x="1822446" y="4037861"/>
            <a:ext cx="4069353" cy="2200096"/>
            <a:chOff x="1822446" y="4037861"/>
            <a:chExt cx="4069353" cy="2200096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0B10D8A-976F-29E5-13C2-E02DDBC9A55A}"/>
                </a:ext>
              </a:extLst>
            </p:cNvPr>
            <p:cNvSpPr txBox="1"/>
            <p:nvPr/>
          </p:nvSpPr>
          <p:spPr>
            <a:xfrm>
              <a:off x="1822446" y="5651763"/>
              <a:ext cx="868892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00" dirty="0" err="1">
                  <a:solidFill>
                    <a:srgbClr val="0070C0"/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MF</a:t>
              </a:r>
              <a:r>
                <a:rPr lang="en-US" sz="1300" baseline="-25000" dirty="0" err="1">
                  <a:solidFill>
                    <a:srgbClr val="0070C0"/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x</a:t>
              </a:r>
              <a:r>
                <a:rPr lang="en-US" sz="1300" dirty="0" err="1">
                  <a:solidFill>
                    <a:schemeClr val="accent2">
                      <a:lumMod val="75000"/>
                    </a:schemeClr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@Cu</a:t>
              </a:r>
              <a:endParaRPr lang="en-US" sz="1300" dirty="0">
                <a:solidFill>
                  <a:schemeClr val="accent2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프리젠테이션 9 Black" pitchFamily="2" charset="-127"/>
                <a:ea typeface="프리젠테이션 9 Black" pitchFamily="2" charset="-127"/>
                <a:cs typeface="Arial" panose="020B0604020202020204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6A1ECC0-59BB-C2D7-1AD8-AEFA70414D36}"/>
                </a:ext>
              </a:extLst>
            </p:cNvPr>
            <p:cNvSpPr txBox="1"/>
            <p:nvPr/>
          </p:nvSpPr>
          <p:spPr>
            <a:xfrm>
              <a:off x="2515460" y="5354465"/>
              <a:ext cx="83708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 err="1">
                  <a:solidFill>
                    <a:srgbClr val="FF00FF"/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LiF</a:t>
              </a:r>
              <a:r>
                <a:rPr lang="en-US" sz="1000" dirty="0">
                  <a:solidFill>
                    <a:srgbClr val="FF00FF"/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-rich SEI</a:t>
              </a:r>
            </a:p>
          </p:txBody>
        </p:sp>
        <p:pic>
          <p:nvPicPr>
            <p:cNvPr id="16" name="Picture 26" descr="E:\PNG\화살표\1304 - 복사본.png">
              <a:extLst>
                <a:ext uri="{FF2B5EF4-FFF2-40B4-BE49-F238E27FC236}">
                  <a16:creationId xmlns:a16="http://schemas.microsoft.com/office/drawing/2014/main" id="{0A655A29-1775-0532-2D90-C199F8CF08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70751" y="4274806"/>
              <a:ext cx="1099140" cy="11823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CBD0D84-20BB-7928-E0BA-21B88E7E2A3C}"/>
                </a:ext>
              </a:extLst>
            </p:cNvPr>
            <p:cNvSpPr txBox="1"/>
            <p:nvPr/>
          </p:nvSpPr>
          <p:spPr>
            <a:xfrm>
              <a:off x="2454637" y="4744764"/>
              <a:ext cx="80983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>
                  <a:latin typeface="프리젠테이션 7 Bold" pitchFamily="2" charset="-127"/>
                  <a:ea typeface="프리젠테이션 7 Bold" pitchFamily="2" charset="-127"/>
                  <a:cs typeface="Arial" panose="020B0604020202020204" pitchFamily="34" charset="0"/>
                </a:rPr>
                <a:t>Activation</a:t>
              </a:r>
            </a:p>
          </p:txBody>
        </p:sp>
        <p:pic>
          <p:nvPicPr>
            <p:cNvPr id="18" name="Picture 34" descr="E:\PNG\화살표\1304 - 복사본.png">
              <a:extLst>
                <a:ext uri="{FF2B5EF4-FFF2-40B4-BE49-F238E27FC236}">
                  <a16:creationId xmlns:a16="http://schemas.microsoft.com/office/drawing/2014/main" id="{2F60D7D7-34D1-EDD4-1310-4F7A044561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22773" y="4342114"/>
              <a:ext cx="1039596" cy="11149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E206620-0036-9E31-EA93-04B144DFC933}"/>
                </a:ext>
              </a:extLst>
            </p:cNvPr>
            <p:cNvSpPr txBox="1"/>
            <p:nvPr/>
          </p:nvSpPr>
          <p:spPr>
            <a:xfrm>
              <a:off x="3775007" y="4653560"/>
              <a:ext cx="835485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>
                  <a:latin typeface="프리젠테이션 7 Bold" pitchFamily="2" charset="-127"/>
                  <a:ea typeface="프리젠테이션 7 Bold" pitchFamily="2" charset="-127"/>
                  <a:cs typeface="Arial" panose="020B0604020202020204" pitchFamily="34" charset="0"/>
                </a:rPr>
                <a:t>Li</a:t>
              </a:r>
            </a:p>
            <a:p>
              <a:pPr algn="ctr"/>
              <a:r>
                <a:rPr lang="en-US" sz="1100" dirty="0">
                  <a:latin typeface="프리젠테이션 7 Bold" pitchFamily="2" charset="-127"/>
                  <a:ea typeface="프리젠테이션 7 Bold" pitchFamily="2" charset="-127"/>
                  <a:cs typeface="Arial" panose="020B0604020202020204" pitchFamily="34" charset="0"/>
                </a:rPr>
                <a:t>deposition</a:t>
              </a:r>
            </a:p>
          </p:txBody>
        </p:sp>
        <p:pic>
          <p:nvPicPr>
            <p:cNvPr id="20" name="그림 48">
              <a:extLst>
                <a:ext uri="{FF2B5EF4-FFF2-40B4-BE49-F238E27FC236}">
                  <a16:creationId xmlns:a16="http://schemas.microsoft.com/office/drawing/2014/main" id="{D4785107-4B5D-C455-84E2-AADD9E71C64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696" t="55369" r="32060" b="18589"/>
            <a:stretch/>
          </p:blipFill>
          <p:spPr>
            <a:xfrm rot="5520000">
              <a:off x="4245635" y="4522666"/>
              <a:ext cx="1627317" cy="657707"/>
            </a:xfrm>
            <a:prstGeom prst="rect">
              <a:avLst/>
            </a:prstGeom>
          </p:spPr>
        </p:pic>
        <p:pic>
          <p:nvPicPr>
            <p:cNvPr id="21" name="그림 49">
              <a:extLst>
                <a:ext uri="{FF2B5EF4-FFF2-40B4-BE49-F238E27FC236}">
                  <a16:creationId xmlns:a16="http://schemas.microsoft.com/office/drawing/2014/main" id="{96030CAA-22DF-22C7-2B6C-9FD60CBC389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662" t="60262" r="32160" b="19073"/>
            <a:stretch/>
          </p:blipFill>
          <p:spPr>
            <a:xfrm rot="5520000">
              <a:off x="2791381" y="4620012"/>
              <a:ext cx="1619532" cy="520380"/>
            </a:xfrm>
            <a:prstGeom prst="rect">
              <a:avLst/>
            </a:prstGeom>
          </p:spPr>
        </p:pic>
        <p:pic>
          <p:nvPicPr>
            <p:cNvPr id="22" name="그림 50">
              <a:extLst>
                <a:ext uri="{FF2B5EF4-FFF2-40B4-BE49-F238E27FC236}">
                  <a16:creationId xmlns:a16="http://schemas.microsoft.com/office/drawing/2014/main" id="{C598EF39-389B-91F2-13DF-992ABDDC26C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476" t="59391" r="32375" b="18926"/>
            <a:stretch/>
          </p:blipFill>
          <p:spPr>
            <a:xfrm rot="5520000">
              <a:off x="1480934" y="4584474"/>
              <a:ext cx="1581371" cy="533552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69B98B7-55FA-035A-9405-CB6593C63737}"/>
                </a:ext>
              </a:extLst>
            </p:cNvPr>
            <p:cNvSpPr txBox="1"/>
            <p:nvPr/>
          </p:nvSpPr>
          <p:spPr>
            <a:xfrm>
              <a:off x="4318163" y="5651763"/>
              <a:ext cx="1573636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00" dirty="0">
                  <a:solidFill>
                    <a:srgbClr val="C00000"/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Uniform</a:t>
              </a:r>
              <a:r>
                <a:rPr lang="en-US" sz="1300" dirty="0"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 Li platting</a:t>
              </a:r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5309FC9-ECA4-1078-EB97-6BB7BD10FDB8}"/>
                </a:ext>
              </a:extLst>
            </p:cNvPr>
            <p:cNvCxnSpPr/>
            <p:nvPr/>
          </p:nvCxnSpPr>
          <p:spPr>
            <a:xfrm>
              <a:off x="3182561" y="4353707"/>
              <a:ext cx="280413" cy="220134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tailEnd type="arrow" w="sm" len="sm"/>
            </a:ln>
            <a:effectLst>
              <a:glow rad="63500">
                <a:schemeClr val="accent5">
                  <a:satMod val="175000"/>
                  <a:alpha val="40000"/>
                </a:schemeClr>
              </a:glow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FCE7F096-C4A3-94A6-78DB-49998918D1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52097" y="5296946"/>
              <a:ext cx="259266" cy="209526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tailEnd type="arrow" w="sm" len="sm"/>
            </a:ln>
            <a:effectLst>
              <a:glow rad="63500">
                <a:schemeClr val="accent5">
                  <a:satMod val="175000"/>
                  <a:alpha val="40000"/>
                </a:schemeClr>
              </a:glow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DEB460F-5502-CC4F-C3FD-B133C142FDED}"/>
                </a:ext>
              </a:extLst>
            </p:cNvPr>
            <p:cNvSpPr txBox="1"/>
            <p:nvPr/>
          </p:nvSpPr>
          <p:spPr>
            <a:xfrm>
              <a:off x="2793258" y="5651763"/>
              <a:ext cx="1524905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00" dirty="0">
                  <a:solidFill>
                    <a:srgbClr val="C00000"/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Even</a:t>
              </a:r>
              <a:r>
                <a:rPr lang="en-US" sz="1300" dirty="0"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 Li nucleation</a:t>
              </a:r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BE685A04-BAD1-9C23-1CAE-34D50A1E8596}"/>
                </a:ext>
              </a:extLst>
            </p:cNvPr>
            <p:cNvCxnSpPr>
              <a:cxnSpLocks/>
            </p:cNvCxnSpPr>
            <p:nvPr/>
          </p:nvCxnSpPr>
          <p:spPr>
            <a:xfrm>
              <a:off x="4726132" y="4314477"/>
              <a:ext cx="228028" cy="179010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tailEnd type="arrow" w="sm" len="sm"/>
            </a:ln>
            <a:effectLst>
              <a:glow rad="63500">
                <a:schemeClr val="accent5">
                  <a:satMod val="175000"/>
                  <a:alpha val="40000"/>
                </a:schemeClr>
              </a:glow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ACFECB5-BED5-F76B-3ED9-950C6AB02DA9}"/>
                </a:ext>
              </a:extLst>
            </p:cNvPr>
            <p:cNvSpPr txBox="1"/>
            <p:nvPr/>
          </p:nvSpPr>
          <p:spPr>
            <a:xfrm>
              <a:off x="2464038" y="4095324"/>
              <a:ext cx="97174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 err="1">
                  <a:solidFill>
                    <a:srgbClr val="00B050"/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Lithiophilic</a:t>
              </a:r>
              <a:r>
                <a:rPr lang="en-US" sz="900" dirty="0">
                  <a:solidFill>
                    <a:srgbClr val="00B050"/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 </a:t>
              </a:r>
              <a:r>
                <a:rPr lang="en-US" sz="900" dirty="0" err="1">
                  <a:solidFill>
                    <a:srgbClr val="00B050"/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LiM</a:t>
              </a:r>
              <a:endParaRPr lang="en-US" sz="900" dirty="0">
                <a:solidFill>
                  <a:srgbClr val="00B050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프리젠테이션 9 Black" pitchFamily="2" charset="-127"/>
                <a:ea typeface="프리젠테이션 9 Black" pitchFamily="2" charset="-127"/>
                <a:cs typeface="Arial" panose="020B0604020202020204" pitchFamily="34" charset="0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5C5B792-2BCC-5307-6BEB-3BE36E0A3ADB}"/>
                </a:ext>
              </a:extLst>
            </p:cNvPr>
            <p:cNvSpPr txBox="1"/>
            <p:nvPr/>
          </p:nvSpPr>
          <p:spPr>
            <a:xfrm>
              <a:off x="3671031" y="4098096"/>
              <a:ext cx="1325363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effectLst/>
                  <a:latin typeface="프리젠테이션 7 Bold" pitchFamily="2" charset="-127"/>
                  <a:ea typeface="프리젠테이션 7 Bold" pitchFamily="2" charset="-127"/>
                </a:rPr>
                <a:t>균일하고 평탄한 </a:t>
              </a:r>
              <a:r>
                <a:rPr lang="en-US" altLang="ko-KR" sz="900" b="1" dirty="0">
                  <a:effectLst/>
                  <a:latin typeface="프리젠테이션 7 Bold" pitchFamily="2" charset="-127"/>
                  <a:ea typeface="프리젠테이션 7 Bold" pitchFamily="2" charset="-127"/>
                </a:rPr>
                <a:t>Li </a:t>
              </a:r>
              <a:r>
                <a:rPr lang="ko-KR" altLang="en-US" sz="900" b="1" dirty="0">
                  <a:effectLst/>
                  <a:latin typeface="프리젠테이션 7 Bold" pitchFamily="2" charset="-127"/>
                  <a:ea typeface="프리젠테이션 7 Bold" pitchFamily="2" charset="-127"/>
                </a:rPr>
                <a:t>증착층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AB11A4C-483A-3160-AE40-ED3F06E3A61D}"/>
                </a:ext>
              </a:extLst>
            </p:cNvPr>
            <p:cNvSpPr txBox="1"/>
            <p:nvPr/>
          </p:nvSpPr>
          <p:spPr>
            <a:xfrm>
              <a:off x="1822446" y="5976347"/>
              <a:ext cx="2698913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ea typeface="프리젠테이션 9 Black" pitchFamily="2" charset="-127"/>
                  <a:cs typeface="Arial" panose="020B0604020202020204" pitchFamily="34" charset="0"/>
                </a:rPr>
                <a:t>MF</a:t>
              </a:r>
              <a:r>
                <a:rPr lang="en-US" sz="1100" baseline="-250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ea typeface="프리젠테이션 9 Black" pitchFamily="2" charset="-127"/>
                  <a:cs typeface="Arial" panose="020B0604020202020204" pitchFamily="34" charset="0"/>
                </a:rPr>
                <a:t>x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ea typeface="프리젠테이션 9 Black" pitchFamily="2" charset="-127"/>
                  <a:cs typeface="Arial" panose="020B0604020202020204" pitchFamily="34" charset="0"/>
                </a:rPr>
                <a:t>: Metal Fluoride,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ea typeface="프리젠테이션 9 Black" pitchFamily="2" charset="-127"/>
                  <a:cs typeface="Arial" panose="020B0604020202020204" pitchFamily="34" charset="0"/>
                </a:rPr>
                <a:t>eg.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ea typeface="프리젠테이션 9 Black" pitchFamily="2" charset="-127"/>
                  <a:cs typeface="Arial" panose="020B0604020202020204" pitchFamily="34" charset="0"/>
                </a:rPr>
                <a:t> ZnF</a:t>
              </a:r>
              <a:r>
                <a:rPr lang="en-US" sz="1100" baseline="-250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ea typeface="프리젠테이션 9 Black" pitchFamily="2" charset="-127"/>
                  <a:cs typeface="Arial" panose="020B0604020202020204" pitchFamily="34" charset="0"/>
                </a:rPr>
                <a:t>2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ea typeface="프리젠테이션 9 Black" pitchFamily="2" charset="-127"/>
                  <a:cs typeface="Arial" panose="020B0604020202020204" pitchFamily="34" charset="0"/>
                </a:rPr>
                <a:t>, MgF</a:t>
              </a:r>
              <a:r>
                <a:rPr lang="en-US" sz="1100" baseline="-250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ea typeface="프리젠테이션 9 Black" pitchFamily="2" charset="-127"/>
                  <a:cs typeface="Arial" panose="020B0604020202020204" pitchFamily="34" charset="0"/>
                </a:rPr>
                <a:t>2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ea typeface="프리젠테이션 9 Black" pitchFamily="2" charset="-127"/>
                  <a:cs typeface="Arial" panose="020B0604020202020204" pitchFamily="34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ea typeface="프리젠테이션 9 Black" pitchFamily="2" charset="-127"/>
                  <a:cs typeface="Arial" panose="020B0604020202020204" pitchFamily="34" charset="0"/>
                </a:rPr>
                <a:t>etc</a:t>
              </a:r>
              <a:endPara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80314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13999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18000"/>
            <a:ext cx="9144000" cy="37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[그림 2]  연구 로드맵 및 Task 구성도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13999"/>
            <a:ext cx="9144000" cy="2466000"/>
          </a:xfrm>
          <a:prstGeom prst="rect">
            <a:avLst/>
          </a:prstGeom>
          <a:solidFill>
            <a:srgbClr val="F1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000" y="432000"/>
            <a:ext cx="18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3F51B5"/>
                </a:solidFill>
                <a:latin typeface="맑은 고딕"/>
              </a:rPr>
              <a:t>▶ 연구 단계별 흐름</a:t>
            </a:r>
          </a:p>
        </p:txBody>
      </p:sp>
      <p:sp>
        <p:nvSpPr>
          <p:cNvPr id="6" name="Rectangle 5"/>
          <p:cNvSpPr/>
          <p:nvPr/>
        </p:nvSpPr>
        <p:spPr>
          <a:xfrm>
            <a:off x="260999" y="576000"/>
            <a:ext cx="2700000" cy="2250000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60999" y="576000"/>
            <a:ext cx="2700000" cy="396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60999" y="594000"/>
            <a:ext cx="2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맑은 고딕"/>
              </a:rPr>
              <a:t>Task 1.  ALD </a:t>
            </a:r>
            <a:r>
              <a:rPr sz="1000" b="1" dirty="0" err="1">
                <a:solidFill>
                  <a:srgbClr val="FFFFFF"/>
                </a:solidFill>
                <a:latin typeface="맑은 고딕"/>
              </a:rPr>
              <a:t>불화물</a:t>
            </a:r>
            <a:r>
              <a:rPr sz="10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000" b="1" dirty="0" err="1">
                <a:solidFill>
                  <a:srgbClr val="FFFFFF"/>
                </a:solidFill>
                <a:latin typeface="맑은 고딕"/>
              </a:rPr>
              <a:t>박막</a:t>
            </a:r>
            <a:r>
              <a:rPr sz="10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000" b="1" dirty="0" err="1">
                <a:solidFill>
                  <a:srgbClr val="FFFFFF"/>
                </a:solidFill>
                <a:latin typeface="맑은 고딕"/>
              </a:rPr>
              <a:t>합성</a:t>
            </a:r>
            <a:endParaRPr sz="1000" b="1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0999" y="763200"/>
            <a:ext cx="2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및 계면 특성 분석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70999" y="1008000"/>
            <a:ext cx="1080000" cy="151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0999" y="1008000"/>
            <a:ext cx="108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■  1년차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199" y="1224000"/>
            <a:ext cx="2541600" cy="1136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</a:pPr>
            <a:r>
              <a:rPr sz="850">
                <a:solidFill>
                  <a:srgbClr val="1A237E"/>
                </a:solidFill>
                <a:latin typeface="맑은 고딕"/>
              </a:rPr>
              <a:t>• 전구체·반응물 최적화 (ZnF₂, AlF₃, LiF)</a:t>
            </a:r>
          </a:p>
          <a:p>
            <a:pPr algn="l">
              <a:lnSpc>
                <a:spcPts val="1350"/>
              </a:lnSpc>
            </a:pPr>
            <a:r>
              <a:rPr sz="850">
                <a:solidFill>
                  <a:srgbClr val="1A237E"/>
                </a:solidFill>
                <a:latin typeface="맑은 고딕"/>
              </a:rPr>
              <a:t>• 증착 조건 탐색 (두께 5~100 nm)</a:t>
            </a:r>
          </a:p>
          <a:p>
            <a:pPr algn="l">
              <a:lnSpc>
                <a:spcPts val="1350"/>
              </a:lnSpc>
            </a:pPr>
            <a:r>
              <a:rPr sz="850">
                <a:solidFill>
                  <a:srgbClr val="1A237E"/>
                </a:solidFill>
                <a:latin typeface="맑은 고딕"/>
              </a:rPr>
              <a:t>• XRD·XPS·TEM/EDS 결정구조 분석</a:t>
            </a:r>
          </a:p>
          <a:p>
            <a:pPr algn="l">
              <a:lnSpc>
                <a:spcPts val="1350"/>
              </a:lnSpc>
            </a:pPr>
            <a:r>
              <a:rPr sz="850">
                <a:solidFill>
                  <a:srgbClr val="1A237E"/>
                </a:solidFill>
                <a:latin typeface="맑은 고딕"/>
              </a:rPr>
              <a:t>• ToF-SIMS 계면 결합 상태 분석</a:t>
            </a:r>
          </a:p>
          <a:p>
            <a:pPr algn="l">
              <a:lnSpc>
                <a:spcPts val="1350"/>
              </a:lnSpc>
            </a:pPr>
            <a:r>
              <a:rPr sz="850">
                <a:solidFill>
                  <a:srgbClr val="1A237E"/>
                </a:solidFill>
                <a:latin typeface="맑은 고딕"/>
              </a:rPr>
              <a:t>• EIS · Li⁺ 이온전도도 평가</a:t>
            </a:r>
          </a:p>
          <a:p>
            <a:pPr algn="l">
              <a:lnSpc>
                <a:spcPts val="1350"/>
              </a:lnSpc>
            </a:pPr>
            <a:r>
              <a:rPr sz="850">
                <a:solidFill>
                  <a:srgbClr val="1A237E"/>
                </a:solidFill>
                <a:latin typeface="맑은 고딕"/>
              </a:rPr>
              <a:t>• Pinhole-free 합성 조건 확립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4999" y="2638799"/>
            <a:ext cx="306000" cy="144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14999" y="2638799"/>
            <a:ext cx="306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XRD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6999" y="2638799"/>
            <a:ext cx="306000" cy="144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6999" y="2638799"/>
            <a:ext cx="306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XPS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8999" y="2638799"/>
            <a:ext cx="306000" cy="144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98999" y="2638799"/>
            <a:ext cx="306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TEM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40999" y="2638799"/>
            <a:ext cx="270000" cy="144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340999" y="2638799"/>
            <a:ext cx="27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EIS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46999" y="2638799"/>
            <a:ext cx="503999" cy="144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646999" y="2638799"/>
            <a:ext cx="503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ToF-SIMS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21999" y="576000"/>
            <a:ext cx="2700000" cy="225000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221999" y="576000"/>
            <a:ext cx="2700000" cy="396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21999" y="594000"/>
            <a:ext cx="2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Task 2.  In-situ/Operando 분석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21999" y="763200"/>
            <a:ext cx="2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Li 핵생성 메커니즘 규명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31999" y="1008000"/>
            <a:ext cx="1080000" cy="151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031999" y="1008000"/>
            <a:ext cx="108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■  1~2년차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01200" y="1224000"/>
            <a:ext cx="2541600" cy="965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</a:pPr>
            <a:r>
              <a:rPr sz="850">
                <a:solidFill>
                  <a:srgbClr val="1B5E20"/>
                </a:solidFill>
                <a:latin typeface="맑은 고딕"/>
              </a:rPr>
              <a:t>• Cryo-TEM·AFM  Li 핵생성 실시간 관찰</a:t>
            </a:r>
          </a:p>
          <a:p>
            <a:pPr algn="l">
              <a:lnSpc>
                <a:spcPts val="1350"/>
              </a:lnSpc>
            </a:pPr>
            <a:r>
              <a:rPr sz="850">
                <a:solidFill>
                  <a:srgbClr val="1B5E20"/>
                </a:solidFill>
                <a:latin typeface="맑은 고딕"/>
              </a:rPr>
              <a:t>• Operando XRD  충·방전 중 Li 거동</a:t>
            </a:r>
          </a:p>
          <a:p>
            <a:pPr algn="l">
              <a:lnSpc>
                <a:spcPts val="1350"/>
              </a:lnSpc>
            </a:pPr>
            <a:r>
              <a:rPr sz="850">
                <a:solidFill>
                  <a:srgbClr val="1B5E20"/>
                </a:solidFill>
                <a:latin typeface="맑은 고딕"/>
              </a:rPr>
              <a:t>• in-situ SEM  SEI 진화 모니터링</a:t>
            </a:r>
          </a:p>
          <a:p>
            <a:pPr algn="l">
              <a:lnSpc>
                <a:spcPts val="1350"/>
              </a:lnSpc>
            </a:pPr>
            <a:r>
              <a:rPr sz="850">
                <a:solidFill>
                  <a:srgbClr val="1B5E20"/>
                </a:solidFill>
                <a:latin typeface="맑은 고딕"/>
              </a:rPr>
              <a:t>• DFT: 불화물/Li 계면 확산 배리어</a:t>
            </a:r>
          </a:p>
          <a:p>
            <a:pPr algn="l">
              <a:lnSpc>
                <a:spcPts val="1350"/>
              </a:lnSpc>
            </a:pPr>
            <a:r>
              <a:rPr sz="850">
                <a:solidFill>
                  <a:srgbClr val="1B5E20"/>
                </a:solidFill>
                <a:latin typeface="맑은 고딕"/>
              </a:rPr>
              <a:t>• 과전압·증착 균일도 데이터베이스 구축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76000" y="2638799"/>
            <a:ext cx="558000" cy="144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76000" y="2638799"/>
            <a:ext cx="55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Cryo-TEM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70000" y="2638799"/>
            <a:ext cx="306000" cy="144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870000" y="2638799"/>
            <a:ext cx="306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AFM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12000" y="2638799"/>
            <a:ext cx="450000" cy="144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212000" y="2638799"/>
            <a:ext cx="45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Op.XRD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8000" y="2638799"/>
            <a:ext cx="306000" cy="144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698000" y="2638799"/>
            <a:ext cx="306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DFT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39999" y="2638799"/>
            <a:ext cx="612000" cy="144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39999" y="2638799"/>
            <a:ext cx="612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in-situ SEM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82999" y="576000"/>
            <a:ext cx="2700000" cy="2250000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182999" y="576000"/>
            <a:ext cx="2700000" cy="3960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182999" y="594000"/>
            <a:ext cx="2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Task 3.  Full Cell 평가 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82999" y="763200"/>
            <a:ext cx="2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인공 SEI 설계 원칙 도출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92999" y="1008000"/>
            <a:ext cx="1080000" cy="15120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992999" y="1008000"/>
            <a:ext cx="108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■  2~3년차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2199" y="1224000"/>
            <a:ext cx="2541600" cy="1136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</a:pPr>
            <a:r>
              <a:rPr sz="850">
                <a:solidFill>
                  <a:srgbClr val="BF360C"/>
                </a:solidFill>
                <a:latin typeface="맑은 고딕"/>
              </a:rPr>
              <a:t>• Li||NCM 풀 셀 제작 및 장기 사이클</a:t>
            </a:r>
          </a:p>
          <a:p>
            <a:pPr algn="l">
              <a:lnSpc>
                <a:spcPts val="1350"/>
              </a:lnSpc>
            </a:pPr>
            <a:r>
              <a:rPr sz="850">
                <a:solidFill>
                  <a:srgbClr val="BF360C"/>
                </a:solidFill>
                <a:latin typeface="맑은 고딕"/>
              </a:rPr>
              <a:t>  (&gt;300 사이클,  CE &gt;99.5%)</a:t>
            </a:r>
          </a:p>
          <a:p>
            <a:pPr algn="l">
              <a:lnSpc>
                <a:spcPts val="1350"/>
              </a:lnSpc>
            </a:pPr>
            <a:r>
              <a:rPr sz="850">
                <a:solidFill>
                  <a:srgbClr val="BF360C"/>
                </a:solidFill>
                <a:latin typeface="맑은 고딕"/>
              </a:rPr>
              <a:t>• Post-mortem XPS/TEM SEI 분석</a:t>
            </a:r>
          </a:p>
          <a:p>
            <a:pPr algn="l">
              <a:lnSpc>
                <a:spcPts val="1350"/>
              </a:lnSpc>
            </a:pPr>
            <a:r>
              <a:rPr sz="850">
                <a:solidFill>
                  <a:srgbClr val="BF360C"/>
                </a:solidFill>
                <a:latin typeface="맑은 고딕"/>
              </a:rPr>
              <a:t>• ZnF₂ vs AlF₃ vs LiF 비교 분석</a:t>
            </a:r>
          </a:p>
          <a:p>
            <a:pPr algn="l">
              <a:lnSpc>
                <a:spcPts val="1350"/>
              </a:lnSpc>
            </a:pPr>
            <a:r>
              <a:rPr sz="850">
                <a:solidFill>
                  <a:srgbClr val="BF360C"/>
                </a:solidFill>
                <a:latin typeface="맑은 고딕"/>
              </a:rPr>
              <a:t>• ALD 기반 인공 SEI 설계 원칙 제안</a:t>
            </a:r>
          </a:p>
          <a:p>
            <a:pPr algn="l">
              <a:lnSpc>
                <a:spcPts val="1350"/>
              </a:lnSpc>
            </a:pPr>
            <a:r>
              <a:rPr sz="850">
                <a:solidFill>
                  <a:srgbClr val="BF360C"/>
                </a:solidFill>
                <a:latin typeface="맑은 고딕"/>
              </a:rPr>
              <a:t>  목표: 용량유지율 &gt;80% (300 사이클)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36999" y="2638799"/>
            <a:ext cx="306000" cy="1440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236999" y="2638799"/>
            <a:ext cx="306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XPS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78999" y="2638799"/>
            <a:ext cx="306000" cy="1440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578999" y="2638799"/>
            <a:ext cx="306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TEM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920999" y="2638799"/>
            <a:ext cx="558000" cy="1440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920999" y="2638799"/>
            <a:ext cx="55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Full-Cell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514999" y="2638799"/>
            <a:ext cx="720000" cy="1440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514999" y="2638799"/>
            <a:ext cx="7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Post-mortem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2961000" y="1700999"/>
            <a:ext cx="260999" cy="0"/>
          </a:xfrm>
          <a:prstGeom prst="line">
            <a:avLst/>
          </a:prstGeom>
          <a:ln w="31750">
            <a:solidFill>
              <a:srgbClr val="455A64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2875499" y="1503000"/>
            <a:ext cx="43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46E7A"/>
                </a:solidFill>
                <a:latin typeface="맑은 고딕"/>
              </a:rPr>
              <a:t>계면
정보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922000" y="1700999"/>
            <a:ext cx="260999" cy="0"/>
          </a:xfrm>
          <a:prstGeom prst="line">
            <a:avLst/>
          </a:prstGeom>
          <a:ln w="31750">
            <a:solidFill>
              <a:srgbClr val="455A64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5818500" y="1503000"/>
            <a:ext cx="46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46E7A"/>
                </a:solidFill>
                <a:latin typeface="맑은 고딕"/>
              </a:rPr>
              <a:t>메커니즘
규명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2880000"/>
            <a:ext cx="9144000" cy="36000"/>
          </a:xfrm>
          <a:prstGeom prst="rect">
            <a:avLst/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8000" y="2934000"/>
            <a:ext cx="288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3F51B5"/>
                </a:solidFill>
                <a:latin typeface="맑은 고딕"/>
              </a:rPr>
              <a:t>▶ 연차별 연구 추진 일정 (간트 차트)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854000" y="3103199"/>
            <a:ext cx="2417999" cy="23760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854000" y="3103199"/>
            <a:ext cx="2417999" cy="23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237E"/>
                </a:solidFill>
                <a:latin typeface="맑은 고딕"/>
              </a:rPr>
              <a:t>1년차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72000" y="3103199"/>
            <a:ext cx="2417999" cy="23760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272000" y="3103199"/>
            <a:ext cx="2417999" cy="23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47A1"/>
                </a:solidFill>
                <a:latin typeface="맑은 고딕"/>
              </a:rPr>
              <a:t>2년차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90000" y="3103199"/>
            <a:ext cx="2417999" cy="237600"/>
          </a:xfrm>
          <a:prstGeom prst="rect">
            <a:avLst/>
          </a:prstGeom>
          <a:solidFill>
            <a:srgbClr val="B3E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690000" y="3103199"/>
            <a:ext cx="2417999" cy="23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1579B"/>
                </a:solidFill>
                <a:latin typeface="맑은 고딕"/>
              </a:rPr>
              <a:t>3년차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854000" y="3340800"/>
            <a:ext cx="7253999" cy="162000"/>
          </a:xfrm>
          <a:prstGeom prst="rect">
            <a:avLst/>
          </a:prstGeom>
          <a:solidFill>
            <a:srgbClr val="EDE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854000" y="3340800"/>
            <a:ext cx="60449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C6BC0"/>
                </a:solidFill>
                <a:latin typeface="Arial"/>
              </a:rPr>
              <a:t>1Q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458500" y="3340800"/>
            <a:ext cx="60449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C6BC0"/>
                </a:solidFill>
                <a:latin typeface="Arial"/>
              </a:rPr>
              <a:t>2Q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063000" y="3340800"/>
            <a:ext cx="60449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C6BC0"/>
                </a:solidFill>
                <a:latin typeface="Arial"/>
              </a:rPr>
              <a:t>3Q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67500" y="3340800"/>
            <a:ext cx="60449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C6BC0"/>
                </a:solidFill>
                <a:latin typeface="Arial"/>
              </a:rPr>
              <a:t>4Q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272000" y="3340800"/>
            <a:ext cx="60449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C6BC0"/>
                </a:solidFill>
                <a:latin typeface="Arial"/>
              </a:rPr>
              <a:t>1Q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876500" y="3340800"/>
            <a:ext cx="60449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C6BC0"/>
                </a:solidFill>
                <a:latin typeface="Arial"/>
              </a:rPr>
              <a:t>2Q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481000" y="3340800"/>
            <a:ext cx="60449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C6BC0"/>
                </a:solidFill>
                <a:latin typeface="Arial"/>
              </a:rPr>
              <a:t>3Q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5499" y="3340800"/>
            <a:ext cx="60449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C6BC0"/>
                </a:solidFill>
                <a:latin typeface="Arial"/>
              </a:rPr>
              <a:t>4Q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690000" y="3340800"/>
            <a:ext cx="60449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C6BC0"/>
                </a:solidFill>
                <a:latin typeface="Arial"/>
              </a:rPr>
              <a:t>1Q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294500" y="3340800"/>
            <a:ext cx="60449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C6BC0"/>
                </a:solidFill>
                <a:latin typeface="Arial"/>
              </a:rPr>
              <a:t>2Q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898999" y="3340800"/>
            <a:ext cx="60449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C6BC0"/>
                </a:solidFill>
                <a:latin typeface="Arial"/>
              </a:rPr>
              <a:t>3Q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503499" y="3340800"/>
            <a:ext cx="60449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C6BC0"/>
                </a:solidFill>
                <a:latin typeface="Arial"/>
              </a:rPr>
              <a:t>4Q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1854000" y="3340800"/>
            <a:ext cx="0" cy="3085200"/>
          </a:xfrm>
          <a:prstGeom prst="line">
            <a:avLst/>
          </a:prstGeom>
          <a:ln w="12700">
            <a:solidFill>
              <a:srgbClr val="7986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458500" y="3340800"/>
            <a:ext cx="0" cy="3085200"/>
          </a:xfrm>
          <a:prstGeom prst="line">
            <a:avLst/>
          </a:prstGeom>
          <a:ln w="635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3063000" y="3340800"/>
            <a:ext cx="0" cy="3085200"/>
          </a:xfrm>
          <a:prstGeom prst="line">
            <a:avLst/>
          </a:prstGeom>
          <a:ln w="635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3667500" y="3340800"/>
            <a:ext cx="0" cy="3085200"/>
          </a:xfrm>
          <a:prstGeom prst="line">
            <a:avLst/>
          </a:prstGeom>
          <a:ln w="635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4272000" y="3340800"/>
            <a:ext cx="0" cy="3085200"/>
          </a:xfrm>
          <a:prstGeom prst="line">
            <a:avLst/>
          </a:prstGeom>
          <a:ln w="12700">
            <a:solidFill>
              <a:srgbClr val="7986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4876500" y="3340800"/>
            <a:ext cx="0" cy="3085200"/>
          </a:xfrm>
          <a:prstGeom prst="line">
            <a:avLst/>
          </a:prstGeom>
          <a:ln w="635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5481000" y="3340800"/>
            <a:ext cx="0" cy="3085200"/>
          </a:xfrm>
          <a:prstGeom prst="line">
            <a:avLst/>
          </a:prstGeom>
          <a:ln w="635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6085499" y="3340800"/>
            <a:ext cx="0" cy="3085200"/>
          </a:xfrm>
          <a:prstGeom prst="line">
            <a:avLst/>
          </a:prstGeom>
          <a:ln w="635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6690000" y="3340800"/>
            <a:ext cx="0" cy="3085200"/>
          </a:xfrm>
          <a:prstGeom prst="line">
            <a:avLst/>
          </a:prstGeom>
          <a:ln w="12700">
            <a:solidFill>
              <a:srgbClr val="7986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7294500" y="3340800"/>
            <a:ext cx="0" cy="3085200"/>
          </a:xfrm>
          <a:prstGeom prst="line">
            <a:avLst/>
          </a:prstGeom>
          <a:ln w="635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7898999" y="3340800"/>
            <a:ext cx="0" cy="3085200"/>
          </a:xfrm>
          <a:prstGeom prst="line">
            <a:avLst/>
          </a:prstGeom>
          <a:ln w="635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503499" y="3340800"/>
            <a:ext cx="0" cy="3085200"/>
          </a:xfrm>
          <a:prstGeom prst="line">
            <a:avLst/>
          </a:prstGeom>
          <a:ln w="635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9107999" y="3340800"/>
            <a:ext cx="0" cy="3085200"/>
          </a:xfrm>
          <a:prstGeom prst="line">
            <a:avLst/>
          </a:prstGeom>
          <a:ln w="12700">
            <a:solidFill>
              <a:srgbClr val="7986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ectangle 92"/>
          <p:cNvSpPr/>
          <p:nvPr/>
        </p:nvSpPr>
        <p:spPr>
          <a:xfrm>
            <a:off x="0" y="3315599"/>
            <a:ext cx="1854000" cy="3456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0" y="3315599"/>
            <a:ext cx="64800" cy="3456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90000" y="3329999"/>
            <a:ext cx="174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>
                <a:solidFill>
                  <a:srgbClr val="1565C0"/>
                </a:solidFill>
                <a:latin typeface="맑은 고딕"/>
              </a:rPr>
              <a:t>① ALD 증착 조건 최적화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0000" y="3481200"/>
            <a:ext cx="1746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1565C0"/>
                </a:solidFill>
                <a:latin typeface="맑은 고딕"/>
              </a:rPr>
              <a:t>(ZnF₂, AlF₃, LiF)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854000" y="3315599"/>
            <a:ext cx="7253999" cy="345600"/>
          </a:xfrm>
          <a:prstGeom prst="rect">
            <a:avLst/>
          </a:prstGeom>
          <a:solidFill>
            <a:srgbClr val="FA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1868400" y="3394800"/>
            <a:ext cx="2389199" cy="1872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1868400" y="3394800"/>
            <a:ext cx="2389199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" b="0">
                <a:solidFill>
                  <a:srgbClr val="FFFFFF"/>
                </a:solidFill>
                <a:latin typeface="맑은 고딕"/>
              </a:rPr>
              <a:t>전구체 최적화 및 ALD 파라미터 탐색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0" y="3661199"/>
            <a:ext cx="9144000" cy="0"/>
          </a:xfrm>
          <a:prstGeom prst="line">
            <a:avLst/>
          </a:prstGeom>
          <a:ln w="508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Rectangle 100"/>
          <p:cNvSpPr/>
          <p:nvPr/>
        </p:nvSpPr>
        <p:spPr>
          <a:xfrm>
            <a:off x="0" y="3661199"/>
            <a:ext cx="1854000" cy="3456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0" y="3661199"/>
            <a:ext cx="64800" cy="3456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90000" y="3675599"/>
            <a:ext cx="174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>
                <a:solidFill>
                  <a:srgbClr val="1565C0"/>
                </a:solidFill>
                <a:latin typeface="맑은 고딕"/>
              </a:rPr>
              <a:t>② 박막 구조·화학 조성 분석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0000" y="3826799"/>
            <a:ext cx="1746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1565C0"/>
                </a:solidFill>
                <a:latin typeface="맑은 고딕"/>
              </a:rPr>
              <a:t>(XRD / XPS / TEM / ToF-SIMS)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854000" y="3661199"/>
            <a:ext cx="7253999" cy="345600"/>
          </a:xfrm>
          <a:prstGeom prst="rect">
            <a:avLst/>
          </a:prstGeom>
          <a:solidFill>
            <a:srgbClr val="FA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2472900" y="3740399"/>
            <a:ext cx="2993699" cy="1872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2472900" y="3740399"/>
            <a:ext cx="2993699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" b="0">
                <a:solidFill>
                  <a:srgbClr val="FFFFFF"/>
                </a:solidFill>
                <a:latin typeface="맑은 고딕"/>
              </a:rPr>
              <a:t>XRD / XPS / TEM-EDS / ToF-SIMS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0" y="4006799"/>
            <a:ext cx="9144000" cy="0"/>
          </a:xfrm>
          <a:prstGeom prst="line">
            <a:avLst/>
          </a:prstGeom>
          <a:ln w="508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Rectangle 108"/>
          <p:cNvSpPr/>
          <p:nvPr/>
        </p:nvSpPr>
        <p:spPr>
          <a:xfrm>
            <a:off x="0" y="4006799"/>
            <a:ext cx="1854000" cy="3456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0" y="4006799"/>
            <a:ext cx="64800" cy="3456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90000" y="4021199"/>
            <a:ext cx="174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>
                <a:solidFill>
                  <a:srgbClr val="1565C0"/>
                </a:solidFill>
                <a:latin typeface="맑은 고딕"/>
              </a:rPr>
              <a:t>③ EIS · Li⁺ 이온전도도 평가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0000" y="4172400"/>
            <a:ext cx="1746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1565C0"/>
                </a:solidFill>
                <a:latin typeface="맑은 고딕"/>
              </a:rPr>
              <a:t>(pinhole-free 조건 확립)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854000" y="4006799"/>
            <a:ext cx="7253999" cy="345600"/>
          </a:xfrm>
          <a:prstGeom prst="rect">
            <a:avLst/>
          </a:prstGeom>
          <a:solidFill>
            <a:srgbClr val="FA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3077399" y="4086000"/>
            <a:ext cx="1180199" cy="18720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3077399" y="4086000"/>
            <a:ext cx="1180199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" b="0">
                <a:solidFill>
                  <a:srgbClr val="FFFFFF"/>
                </a:solidFill>
                <a:latin typeface="맑은 고딕"/>
              </a:rPr>
              <a:t>EIS · Li⁺ 이온전도도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0" y="4352400"/>
            <a:ext cx="9144000" cy="0"/>
          </a:xfrm>
          <a:prstGeom prst="line">
            <a:avLst/>
          </a:prstGeom>
          <a:ln w="12700">
            <a:solidFill>
              <a:srgbClr val="7986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Rectangle 116"/>
          <p:cNvSpPr/>
          <p:nvPr/>
        </p:nvSpPr>
        <p:spPr>
          <a:xfrm>
            <a:off x="0" y="4352400"/>
            <a:ext cx="1854000" cy="3456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0" y="4352400"/>
            <a:ext cx="64800" cy="345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90000" y="4366800"/>
            <a:ext cx="174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>
                <a:solidFill>
                  <a:srgbClr val="2E7D32"/>
                </a:solidFill>
                <a:latin typeface="맑은 고딕"/>
              </a:rPr>
              <a:t>④ Cryo-TEM / AFM 핵생성 관찰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0000" y="4518000"/>
            <a:ext cx="1746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2E7D32"/>
                </a:solidFill>
                <a:latin typeface="맑은 고딕"/>
              </a:rPr>
              <a:t>Li 핵생성 나노구조 실시간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854000" y="4352400"/>
            <a:ext cx="7253999" cy="345600"/>
          </a:xfrm>
          <a:prstGeom prst="rect">
            <a:avLst/>
          </a:prstGeom>
          <a:solidFill>
            <a:srgbClr val="F5F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3077399" y="4431600"/>
            <a:ext cx="3598199" cy="18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3077399" y="4431600"/>
            <a:ext cx="3598199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" b="0">
                <a:solidFill>
                  <a:srgbClr val="FFFFFF"/>
                </a:solidFill>
                <a:latin typeface="맑은 고딕"/>
              </a:rPr>
              <a:t>Cryo-TEM / AFM — Li 핵생성 나노구조 관찰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0" y="4698000"/>
            <a:ext cx="9144000" cy="0"/>
          </a:xfrm>
          <a:prstGeom prst="line">
            <a:avLst/>
          </a:prstGeom>
          <a:ln w="508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Rectangle 124"/>
          <p:cNvSpPr/>
          <p:nvPr/>
        </p:nvSpPr>
        <p:spPr>
          <a:xfrm>
            <a:off x="0" y="4698000"/>
            <a:ext cx="1854000" cy="3456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0" y="4698000"/>
            <a:ext cx="64800" cy="345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90000" y="4712399"/>
            <a:ext cx="174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>
                <a:solidFill>
                  <a:srgbClr val="2E7D32"/>
                </a:solidFill>
                <a:latin typeface="맑은 고딕"/>
              </a:rPr>
              <a:t>⑤ Operando XRD / in-situ SEM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90000" y="4863600"/>
            <a:ext cx="1746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2E7D32"/>
                </a:solidFill>
                <a:latin typeface="맑은 고딕"/>
              </a:rPr>
              <a:t>Li 증착·용해 거동 모니터링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854000" y="4698000"/>
            <a:ext cx="7253999" cy="345600"/>
          </a:xfrm>
          <a:prstGeom prst="rect">
            <a:avLst/>
          </a:prstGeom>
          <a:solidFill>
            <a:srgbClr val="F5F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3681899" y="4777200"/>
            <a:ext cx="2993699" cy="187200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3681899" y="4777200"/>
            <a:ext cx="2993699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" b="0">
                <a:solidFill>
                  <a:srgbClr val="FFFFFF"/>
                </a:solidFill>
                <a:latin typeface="맑은 고딕"/>
              </a:rPr>
              <a:t>Operando XRD / in-situ SEM 모니터링</a:t>
            </a:r>
          </a:p>
        </p:txBody>
      </p:sp>
      <p:cxnSp>
        <p:nvCxnSpPr>
          <p:cNvPr id="132" name="Connector 131"/>
          <p:cNvCxnSpPr/>
          <p:nvPr/>
        </p:nvCxnSpPr>
        <p:spPr>
          <a:xfrm>
            <a:off x="0" y="5043599"/>
            <a:ext cx="9144000" cy="0"/>
          </a:xfrm>
          <a:prstGeom prst="line">
            <a:avLst/>
          </a:prstGeom>
          <a:ln w="508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Rectangle 132"/>
          <p:cNvSpPr/>
          <p:nvPr/>
        </p:nvSpPr>
        <p:spPr>
          <a:xfrm>
            <a:off x="0" y="5043599"/>
            <a:ext cx="1854000" cy="3456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ectangle 133"/>
          <p:cNvSpPr/>
          <p:nvPr/>
        </p:nvSpPr>
        <p:spPr>
          <a:xfrm>
            <a:off x="0" y="5043599"/>
            <a:ext cx="64800" cy="345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90000" y="5057999"/>
            <a:ext cx="174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>
                <a:solidFill>
                  <a:srgbClr val="2E7D32"/>
                </a:solidFill>
                <a:latin typeface="맑은 고딕"/>
              </a:rPr>
              <a:t>⑥ DFT 이론 계산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0000" y="5209200"/>
            <a:ext cx="1746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2E7D32"/>
                </a:solidFill>
                <a:latin typeface="맑은 고딕"/>
              </a:rPr>
              <a:t>계면 Li⁺ 확산 에너지 배리어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854000" y="5043599"/>
            <a:ext cx="7253999" cy="345600"/>
          </a:xfrm>
          <a:prstGeom prst="rect">
            <a:avLst/>
          </a:prstGeom>
          <a:solidFill>
            <a:srgbClr val="F5F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3681899" y="5122799"/>
            <a:ext cx="2993699" cy="18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3681899" y="5122799"/>
            <a:ext cx="2993699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" b="0">
                <a:solidFill>
                  <a:srgbClr val="FFFFFF"/>
                </a:solidFill>
                <a:latin typeface="맑은 고딕"/>
              </a:rPr>
              <a:t>DFT: 불화물/Li 계면 Li⁺ 확산 에너지</a:t>
            </a:r>
          </a:p>
        </p:txBody>
      </p:sp>
      <p:cxnSp>
        <p:nvCxnSpPr>
          <p:cNvPr id="140" name="Connector 139"/>
          <p:cNvCxnSpPr/>
          <p:nvPr/>
        </p:nvCxnSpPr>
        <p:spPr>
          <a:xfrm>
            <a:off x="0" y="5389200"/>
            <a:ext cx="9144000" cy="0"/>
          </a:xfrm>
          <a:prstGeom prst="line">
            <a:avLst/>
          </a:prstGeom>
          <a:ln w="12700">
            <a:solidFill>
              <a:srgbClr val="7986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Rectangle 140"/>
          <p:cNvSpPr/>
          <p:nvPr/>
        </p:nvSpPr>
        <p:spPr>
          <a:xfrm>
            <a:off x="0" y="5389200"/>
            <a:ext cx="1854000" cy="3456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0" y="5389200"/>
            <a:ext cx="64800" cy="3456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90000" y="5403599"/>
            <a:ext cx="174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>
                <a:solidFill>
                  <a:srgbClr val="E65100"/>
                </a:solidFill>
                <a:latin typeface="맑은 고딕"/>
              </a:rPr>
              <a:t>⑦ Li||NCM 풀 셀 장기 사이클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90000" y="5554800"/>
            <a:ext cx="1746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E65100"/>
                </a:solidFill>
                <a:latin typeface="맑은 고딕"/>
              </a:rPr>
              <a:t>&gt;300 사이클, CE &gt;99.5%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854000" y="5389200"/>
            <a:ext cx="7253999" cy="3456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Rectangle 145"/>
          <p:cNvSpPr/>
          <p:nvPr/>
        </p:nvSpPr>
        <p:spPr>
          <a:xfrm>
            <a:off x="5495400" y="5468400"/>
            <a:ext cx="3598199" cy="1872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5495400" y="5468400"/>
            <a:ext cx="3598199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" b="0">
                <a:solidFill>
                  <a:srgbClr val="FFFFFF"/>
                </a:solidFill>
                <a:latin typeface="맑은 고딕"/>
              </a:rPr>
              <a:t>Li||NCM Full Cell 장기 사이클링 (&gt;300 cycles)</a:t>
            </a:r>
          </a:p>
        </p:txBody>
      </p:sp>
      <p:cxnSp>
        <p:nvCxnSpPr>
          <p:cNvPr id="148" name="Connector 147"/>
          <p:cNvCxnSpPr/>
          <p:nvPr/>
        </p:nvCxnSpPr>
        <p:spPr>
          <a:xfrm>
            <a:off x="0" y="5734800"/>
            <a:ext cx="9144000" cy="0"/>
          </a:xfrm>
          <a:prstGeom prst="line">
            <a:avLst/>
          </a:prstGeom>
          <a:ln w="508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Rectangle 148"/>
          <p:cNvSpPr/>
          <p:nvPr/>
        </p:nvSpPr>
        <p:spPr>
          <a:xfrm>
            <a:off x="0" y="5734800"/>
            <a:ext cx="1854000" cy="3456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0" y="5734800"/>
            <a:ext cx="64800" cy="3456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90000" y="5749200"/>
            <a:ext cx="174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>
                <a:solidFill>
                  <a:srgbClr val="E65100"/>
                </a:solidFill>
                <a:latin typeface="맑은 고딕"/>
              </a:rPr>
              <a:t>⑧ Post-mortem XPS/TEM 분석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90000" y="5900400"/>
            <a:ext cx="1746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E65100"/>
                </a:solidFill>
                <a:latin typeface="맑은 고딕"/>
              </a:rPr>
              <a:t>SEI 조성 변화·열화 메커니즘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854000" y="5734800"/>
            <a:ext cx="7253999" cy="3456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Rectangle 153"/>
          <p:cNvSpPr/>
          <p:nvPr/>
        </p:nvSpPr>
        <p:spPr>
          <a:xfrm>
            <a:off x="6704399" y="5813999"/>
            <a:ext cx="2389199" cy="1872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6704399" y="5813999"/>
            <a:ext cx="2389199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" b="0">
                <a:solidFill>
                  <a:srgbClr val="FFFFFF"/>
                </a:solidFill>
                <a:latin typeface="맑은 고딕"/>
              </a:rPr>
              <a:t>Post-mortem XPS / TEM 분석</a:t>
            </a:r>
          </a:p>
        </p:txBody>
      </p:sp>
      <p:cxnSp>
        <p:nvCxnSpPr>
          <p:cNvPr id="156" name="Connector 155"/>
          <p:cNvCxnSpPr/>
          <p:nvPr/>
        </p:nvCxnSpPr>
        <p:spPr>
          <a:xfrm>
            <a:off x="0" y="6080400"/>
            <a:ext cx="9144000" cy="0"/>
          </a:xfrm>
          <a:prstGeom prst="line">
            <a:avLst/>
          </a:prstGeom>
          <a:ln w="508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Rectangle 156"/>
          <p:cNvSpPr/>
          <p:nvPr/>
        </p:nvSpPr>
        <p:spPr>
          <a:xfrm>
            <a:off x="0" y="6080400"/>
            <a:ext cx="1854000" cy="3456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Rectangle 157"/>
          <p:cNvSpPr/>
          <p:nvPr/>
        </p:nvSpPr>
        <p:spPr>
          <a:xfrm>
            <a:off x="0" y="6080400"/>
            <a:ext cx="64800" cy="3456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90000" y="6094800"/>
            <a:ext cx="174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>
                <a:solidFill>
                  <a:srgbClr val="E65100"/>
                </a:solidFill>
                <a:latin typeface="맑은 고딕"/>
              </a:rPr>
              <a:t>⑨ ALD 인공 SEI 설계 원칙 도출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90000" y="6246000"/>
            <a:ext cx="1746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E65100"/>
                </a:solidFill>
                <a:latin typeface="맑은 고딕"/>
              </a:rPr>
              <a:t>ZnF₂/AlF₃/LiF 비교 정립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854000" y="6080400"/>
            <a:ext cx="7253999" cy="3456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Rectangle 161"/>
          <p:cNvSpPr/>
          <p:nvPr/>
        </p:nvSpPr>
        <p:spPr>
          <a:xfrm>
            <a:off x="7308899" y="6159600"/>
            <a:ext cx="1784699" cy="18720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7308899" y="6159600"/>
            <a:ext cx="1784699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" b="0">
                <a:solidFill>
                  <a:srgbClr val="FFFFFF"/>
                </a:solidFill>
                <a:latin typeface="맑은 고딕"/>
              </a:rPr>
              <a:t>범용 ALD-SEI 설계 원칙 정립</a:t>
            </a:r>
          </a:p>
        </p:txBody>
      </p:sp>
      <p:cxnSp>
        <p:nvCxnSpPr>
          <p:cNvPr id="164" name="Connector 163"/>
          <p:cNvCxnSpPr/>
          <p:nvPr/>
        </p:nvCxnSpPr>
        <p:spPr>
          <a:xfrm>
            <a:off x="0" y="6426000"/>
            <a:ext cx="9144000" cy="0"/>
          </a:xfrm>
          <a:prstGeom prst="line">
            <a:avLst/>
          </a:prstGeom>
          <a:ln w="508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1854000" y="3315599"/>
            <a:ext cx="0" cy="3110401"/>
          </a:xfrm>
          <a:prstGeom prst="line">
            <a:avLst/>
          </a:prstGeom>
          <a:ln w="12700">
            <a:solidFill>
              <a:srgbClr val="7986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Rectangle 165"/>
          <p:cNvSpPr/>
          <p:nvPr/>
        </p:nvSpPr>
        <p:spPr>
          <a:xfrm>
            <a:off x="0" y="6372000"/>
            <a:ext cx="9144000" cy="2880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13999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18000"/>
            <a:ext cx="9144000" cy="37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[그림 2]  연구 로드맵 및 Task 구성도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13999"/>
            <a:ext cx="9144000" cy="2466000"/>
          </a:xfrm>
          <a:prstGeom prst="rect">
            <a:avLst/>
          </a:prstGeom>
          <a:solidFill>
            <a:srgbClr val="F1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000" y="432000"/>
            <a:ext cx="18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3F51B5"/>
                </a:solidFill>
                <a:latin typeface="맑은 고딕"/>
              </a:rPr>
              <a:t>▶ 연구 단계별 흐름</a:t>
            </a:r>
          </a:p>
        </p:txBody>
      </p:sp>
      <p:sp>
        <p:nvSpPr>
          <p:cNvPr id="6" name="Rectangle 5"/>
          <p:cNvSpPr/>
          <p:nvPr/>
        </p:nvSpPr>
        <p:spPr>
          <a:xfrm>
            <a:off x="260999" y="576000"/>
            <a:ext cx="2700000" cy="2250000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60999" y="576000"/>
            <a:ext cx="2700000" cy="396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60999" y="594000"/>
            <a:ext cx="2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Task 1.  ALD 불화물 박막 합성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999" y="763200"/>
            <a:ext cx="2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및 계면 특성 분석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70999" y="1008000"/>
            <a:ext cx="1080000" cy="151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0999" y="1008000"/>
            <a:ext cx="108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■  1년차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199" y="1224000"/>
            <a:ext cx="2541600" cy="1136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</a:pPr>
            <a:r>
              <a:rPr sz="850">
                <a:solidFill>
                  <a:srgbClr val="1A237E"/>
                </a:solidFill>
                <a:latin typeface="맑은 고딕"/>
              </a:rPr>
              <a:t>• 전구체·반응물 최적화 (ZnF₂, AlF₃, LiF)</a:t>
            </a:r>
          </a:p>
          <a:p>
            <a:pPr algn="l">
              <a:lnSpc>
                <a:spcPts val="1350"/>
              </a:lnSpc>
            </a:pPr>
            <a:r>
              <a:rPr sz="850">
                <a:solidFill>
                  <a:srgbClr val="1A237E"/>
                </a:solidFill>
                <a:latin typeface="맑은 고딕"/>
              </a:rPr>
              <a:t>• 증착 조건 탐색 (두께 5~100 nm)</a:t>
            </a:r>
          </a:p>
          <a:p>
            <a:pPr algn="l">
              <a:lnSpc>
                <a:spcPts val="1350"/>
              </a:lnSpc>
            </a:pPr>
            <a:r>
              <a:rPr sz="850">
                <a:solidFill>
                  <a:srgbClr val="1A237E"/>
                </a:solidFill>
                <a:latin typeface="맑은 고딕"/>
              </a:rPr>
              <a:t>• XRD·XPS·TEM/EDS 결정구조 분석</a:t>
            </a:r>
          </a:p>
          <a:p>
            <a:pPr algn="l">
              <a:lnSpc>
                <a:spcPts val="1350"/>
              </a:lnSpc>
            </a:pPr>
            <a:r>
              <a:rPr sz="850">
                <a:solidFill>
                  <a:srgbClr val="1A237E"/>
                </a:solidFill>
                <a:latin typeface="맑은 고딕"/>
              </a:rPr>
              <a:t>• ToF-SIMS 계면 결합 상태 분석</a:t>
            </a:r>
          </a:p>
          <a:p>
            <a:pPr algn="l">
              <a:lnSpc>
                <a:spcPts val="1350"/>
              </a:lnSpc>
            </a:pPr>
            <a:r>
              <a:rPr sz="850">
                <a:solidFill>
                  <a:srgbClr val="1A237E"/>
                </a:solidFill>
                <a:latin typeface="맑은 고딕"/>
              </a:rPr>
              <a:t>• EIS · Li⁺ 이온전도도 평가</a:t>
            </a:r>
          </a:p>
          <a:p>
            <a:pPr algn="l">
              <a:lnSpc>
                <a:spcPts val="1350"/>
              </a:lnSpc>
            </a:pPr>
            <a:r>
              <a:rPr sz="850">
                <a:solidFill>
                  <a:srgbClr val="1A237E"/>
                </a:solidFill>
                <a:latin typeface="맑은 고딕"/>
              </a:rPr>
              <a:t>• Pinhole-free 합성 조건 확립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4999" y="2638799"/>
            <a:ext cx="306000" cy="144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14999" y="2638799"/>
            <a:ext cx="306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XRD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6999" y="2638799"/>
            <a:ext cx="306000" cy="144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6999" y="2638799"/>
            <a:ext cx="306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XPS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8999" y="2638799"/>
            <a:ext cx="306000" cy="144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98999" y="2638799"/>
            <a:ext cx="306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TEM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40999" y="2638799"/>
            <a:ext cx="270000" cy="144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340999" y="2638799"/>
            <a:ext cx="27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EIS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46999" y="2638799"/>
            <a:ext cx="503999" cy="144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646999" y="2638799"/>
            <a:ext cx="503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ToF-SIMS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21999" y="576000"/>
            <a:ext cx="2700000" cy="225000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221999" y="576000"/>
            <a:ext cx="2700000" cy="396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21999" y="594000"/>
            <a:ext cx="2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Task 2.  In-situ/Operando 분석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21999" y="763200"/>
            <a:ext cx="2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Li 핵생성 메커니즘 규명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31999" y="1008000"/>
            <a:ext cx="1080000" cy="151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031999" y="1008000"/>
            <a:ext cx="108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■  1~2년차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01200" y="1224000"/>
            <a:ext cx="2541600" cy="965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</a:pPr>
            <a:r>
              <a:rPr sz="850">
                <a:solidFill>
                  <a:srgbClr val="1B5E20"/>
                </a:solidFill>
                <a:latin typeface="맑은 고딕"/>
              </a:rPr>
              <a:t>• Cryo-TEM·AFM  Li 핵생성 실시간 관찰</a:t>
            </a:r>
          </a:p>
          <a:p>
            <a:pPr algn="l">
              <a:lnSpc>
                <a:spcPts val="1350"/>
              </a:lnSpc>
            </a:pPr>
            <a:r>
              <a:rPr sz="850">
                <a:solidFill>
                  <a:srgbClr val="1B5E20"/>
                </a:solidFill>
                <a:latin typeface="맑은 고딕"/>
              </a:rPr>
              <a:t>• Operando XRD  충·방전 중 Li 거동</a:t>
            </a:r>
          </a:p>
          <a:p>
            <a:pPr algn="l">
              <a:lnSpc>
                <a:spcPts val="1350"/>
              </a:lnSpc>
            </a:pPr>
            <a:r>
              <a:rPr sz="850">
                <a:solidFill>
                  <a:srgbClr val="1B5E20"/>
                </a:solidFill>
                <a:latin typeface="맑은 고딕"/>
              </a:rPr>
              <a:t>• in-situ SEM  SEI 진화 모니터링</a:t>
            </a:r>
          </a:p>
          <a:p>
            <a:pPr algn="l">
              <a:lnSpc>
                <a:spcPts val="1350"/>
              </a:lnSpc>
            </a:pPr>
            <a:r>
              <a:rPr sz="850">
                <a:solidFill>
                  <a:srgbClr val="1B5E20"/>
                </a:solidFill>
                <a:latin typeface="맑은 고딕"/>
              </a:rPr>
              <a:t>• DFT: 불화물/Li 계면 확산 배리어</a:t>
            </a:r>
          </a:p>
          <a:p>
            <a:pPr algn="l">
              <a:lnSpc>
                <a:spcPts val="1350"/>
              </a:lnSpc>
            </a:pPr>
            <a:r>
              <a:rPr sz="850">
                <a:solidFill>
                  <a:srgbClr val="1B5E20"/>
                </a:solidFill>
                <a:latin typeface="맑은 고딕"/>
              </a:rPr>
              <a:t>• 과전압·증착 균일도 데이터베이스 구축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76000" y="2638799"/>
            <a:ext cx="558000" cy="144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76000" y="2638799"/>
            <a:ext cx="55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Cryo-TEM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70000" y="2638799"/>
            <a:ext cx="306000" cy="144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870000" y="2638799"/>
            <a:ext cx="306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AFM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12000" y="2638799"/>
            <a:ext cx="450000" cy="144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212000" y="2638799"/>
            <a:ext cx="45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Op.XRD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8000" y="2638799"/>
            <a:ext cx="306000" cy="144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698000" y="2638799"/>
            <a:ext cx="306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DFT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39999" y="2638799"/>
            <a:ext cx="612000" cy="144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39999" y="2638799"/>
            <a:ext cx="612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in-situ SEM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82999" y="576000"/>
            <a:ext cx="2700000" cy="2250000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182999" y="576000"/>
            <a:ext cx="2700000" cy="3960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182999" y="594000"/>
            <a:ext cx="2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Task 3.  Full Cell 평가 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82999" y="763200"/>
            <a:ext cx="2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인공 SEI 설계 원칙 도출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92999" y="1008000"/>
            <a:ext cx="1080000" cy="15120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992999" y="1008000"/>
            <a:ext cx="108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■  2~3년차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2199" y="1224000"/>
            <a:ext cx="2541600" cy="1136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</a:pPr>
            <a:r>
              <a:rPr sz="850">
                <a:solidFill>
                  <a:srgbClr val="BF360C"/>
                </a:solidFill>
                <a:latin typeface="맑은 고딕"/>
              </a:rPr>
              <a:t>• Li||NCM 풀 셀 제작 및 장기 사이클</a:t>
            </a:r>
          </a:p>
          <a:p>
            <a:pPr algn="l">
              <a:lnSpc>
                <a:spcPts val="1350"/>
              </a:lnSpc>
            </a:pPr>
            <a:r>
              <a:rPr sz="850">
                <a:solidFill>
                  <a:srgbClr val="BF360C"/>
                </a:solidFill>
                <a:latin typeface="맑은 고딕"/>
              </a:rPr>
              <a:t>  (&gt;300 사이클,  CE &gt;99.5%)</a:t>
            </a:r>
          </a:p>
          <a:p>
            <a:pPr algn="l">
              <a:lnSpc>
                <a:spcPts val="1350"/>
              </a:lnSpc>
            </a:pPr>
            <a:r>
              <a:rPr sz="850">
                <a:solidFill>
                  <a:srgbClr val="BF360C"/>
                </a:solidFill>
                <a:latin typeface="맑은 고딕"/>
              </a:rPr>
              <a:t>• Post-mortem XPS/TEM SEI 분석</a:t>
            </a:r>
          </a:p>
          <a:p>
            <a:pPr algn="l">
              <a:lnSpc>
                <a:spcPts val="1350"/>
              </a:lnSpc>
            </a:pPr>
            <a:r>
              <a:rPr sz="850">
                <a:solidFill>
                  <a:srgbClr val="BF360C"/>
                </a:solidFill>
                <a:latin typeface="맑은 고딕"/>
              </a:rPr>
              <a:t>• ZnF₂ vs AlF₃ vs LiF 비교 분석</a:t>
            </a:r>
          </a:p>
          <a:p>
            <a:pPr algn="l">
              <a:lnSpc>
                <a:spcPts val="1350"/>
              </a:lnSpc>
            </a:pPr>
            <a:r>
              <a:rPr sz="850">
                <a:solidFill>
                  <a:srgbClr val="BF360C"/>
                </a:solidFill>
                <a:latin typeface="맑은 고딕"/>
              </a:rPr>
              <a:t>• ALD 기반 인공 SEI 설계 원칙 제안</a:t>
            </a:r>
          </a:p>
          <a:p>
            <a:pPr algn="l">
              <a:lnSpc>
                <a:spcPts val="1350"/>
              </a:lnSpc>
            </a:pPr>
            <a:r>
              <a:rPr sz="850">
                <a:solidFill>
                  <a:srgbClr val="BF360C"/>
                </a:solidFill>
                <a:latin typeface="맑은 고딕"/>
              </a:rPr>
              <a:t>  목표: 용량유지율 &gt;80% (300 사이클)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36999" y="2638799"/>
            <a:ext cx="306000" cy="1440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236999" y="2638799"/>
            <a:ext cx="306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XPS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78999" y="2638799"/>
            <a:ext cx="306000" cy="1440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578999" y="2638799"/>
            <a:ext cx="306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TEM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920999" y="2638799"/>
            <a:ext cx="558000" cy="1440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920999" y="2638799"/>
            <a:ext cx="55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Full-Cell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514999" y="2638799"/>
            <a:ext cx="720000" cy="1440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514999" y="2638799"/>
            <a:ext cx="7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Post-mortem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2961000" y="1700999"/>
            <a:ext cx="260999" cy="0"/>
          </a:xfrm>
          <a:prstGeom prst="line">
            <a:avLst/>
          </a:prstGeom>
          <a:ln w="31750">
            <a:solidFill>
              <a:srgbClr val="455A64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2875499" y="1503000"/>
            <a:ext cx="43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46E7A"/>
                </a:solidFill>
                <a:latin typeface="맑은 고딕"/>
              </a:rPr>
              <a:t>계면
정보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922000" y="1700999"/>
            <a:ext cx="260999" cy="0"/>
          </a:xfrm>
          <a:prstGeom prst="line">
            <a:avLst/>
          </a:prstGeom>
          <a:ln w="31750">
            <a:solidFill>
              <a:srgbClr val="455A64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5818500" y="1503000"/>
            <a:ext cx="46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46E7A"/>
                </a:solidFill>
                <a:latin typeface="맑은 고딕"/>
              </a:rPr>
              <a:t>메커니즘
규명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2880000"/>
            <a:ext cx="9144000" cy="36000"/>
          </a:xfrm>
          <a:prstGeom prst="rect">
            <a:avLst/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8000" y="2934000"/>
            <a:ext cx="288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dirty="0">
                <a:solidFill>
                  <a:srgbClr val="3F51B5"/>
                </a:solidFill>
                <a:latin typeface="맑은 고딕"/>
              </a:rPr>
              <a:t>▶ </a:t>
            </a:r>
            <a:r>
              <a:rPr sz="850" b="1" dirty="0" err="1">
                <a:solidFill>
                  <a:srgbClr val="3F51B5"/>
                </a:solidFill>
                <a:latin typeface="맑은 고딕"/>
              </a:rPr>
              <a:t>연차별</a:t>
            </a:r>
            <a:r>
              <a:rPr sz="850" b="1" dirty="0">
                <a:solidFill>
                  <a:srgbClr val="3F51B5"/>
                </a:solidFill>
                <a:latin typeface="맑은 고딕"/>
              </a:rPr>
              <a:t> </a:t>
            </a:r>
            <a:r>
              <a:rPr sz="850" b="1" dirty="0" err="1">
                <a:solidFill>
                  <a:srgbClr val="3F51B5"/>
                </a:solidFill>
                <a:latin typeface="맑은 고딕"/>
              </a:rPr>
              <a:t>연구</a:t>
            </a:r>
            <a:r>
              <a:rPr sz="850" b="1" dirty="0">
                <a:solidFill>
                  <a:srgbClr val="3F51B5"/>
                </a:solidFill>
                <a:latin typeface="맑은 고딕"/>
              </a:rPr>
              <a:t> </a:t>
            </a:r>
            <a:r>
              <a:rPr sz="850" b="1" dirty="0" err="1">
                <a:solidFill>
                  <a:srgbClr val="3F51B5"/>
                </a:solidFill>
                <a:latin typeface="맑은 고딕"/>
              </a:rPr>
              <a:t>추진</a:t>
            </a:r>
            <a:r>
              <a:rPr sz="850" b="1" dirty="0">
                <a:solidFill>
                  <a:srgbClr val="3F51B5"/>
                </a:solidFill>
                <a:latin typeface="맑은 고딕"/>
              </a:rPr>
              <a:t> </a:t>
            </a:r>
            <a:r>
              <a:rPr sz="850" b="1" dirty="0" err="1">
                <a:solidFill>
                  <a:srgbClr val="3F51B5"/>
                </a:solidFill>
                <a:latin typeface="맑은 고딕"/>
              </a:rPr>
              <a:t>일정</a:t>
            </a:r>
            <a:r>
              <a:rPr sz="850" b="1" dirty="0">
                <a:solidFill>
                  <a:srgbClr val="3F51B5"/>
                </a:solidFill>
                <a:latin typeface="맑은 고딕"/>
              </a:rPr>
              <a:t> (</a:t>
            </a:r>
            <a:r>
              <a:rPr sz="850" b="1" dirty="0" err="1">
                <a:solidFill>
                  <a:srgbClr val="3F51B5"/>
                </a:solidFill>
                <a:latin typeface="맑은 고딕"/>
              </a:rPr>
              <a:t>간트</a:t>
            </a:r>
            <a:r>
              <a:rPr sz="850" b="1" dirty="0">
                <a:solidFill>
                  <a:srgbClr val="3F51B5"/>
                </a:solidFill>
                <a:latin typeface="맑은 고딕"/>
              </a:rPr>
              <a:t> </a:t>
            </a:r>
            <a:r>
              <a:rPr sz="850" b="1" dirty="0" err="1">
                <a:solidFill>
                  <a:srgbClr val="3F51B5"/>
                </a:solidFill>
                <a:latin typeface="맑은 고딕"/>
              </a:rPr>
              <a:t>차트</a:t>
            </a:r>
            <a:r>
              <a:rPr sz="850" b="1" dirty="0">
                <a:solidFill>
                  <a:srgbClr val="3F51B5"/>
                </a:solidFill>
                <a:latin typeface="맑은 고딕"/>
              </a:rPr>
              <a:t>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854000" y="3103199"/>
            <a:ext cx="2417999" cy="23760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854000" y="3103199"/>
            <a:ext cx="2417999" cy="23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237E"/>
                </a:solidFill>
                <a:latin typeface="맑은 고딕"/>
              </a:rPr>
              <a:t>1년차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72000" y="3103199"/>
            <a:ext cx="2417999" cy="23760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272000" y="3103199"/>
            <a:ext cx="2417999" cy="23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47A1"/>
                </a:solidFill>
                <a:latin typeface="맑은 고딕"/>
              </a:rPr>
              <a:t>2년차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90000" y="3103199"/>
            <a:ext cx="2417999" cy="237600"/>
          </a:xfrm>
          <a:prstGeom prst="rect">
            <a:avLst/>
          </a:prstGeom>
          <a:solidFill>
            <a:srgbClr val="B3E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690000" y="3103199"/>
            <a:ext cx="2417999" cy="23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1579B"/>
                </a:solidFill>
                <a:latin typeface="맑은 고딕"/>
              </a:rPr>
              <a:t>3년차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854000" y="3340800"/>
            <a:ext cx="7253999" cy="162000"/>
          </a:xfrm>
          <a:prstGeom prst="rect">
            <a:avLst/>
          </a:prstGeom>
          <a:solidFill>
            <a:srgbClr val="EDE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854000" y="3340800"/>
            <a:ext cx="60449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C6BC0"/>
                </a:solidFill>
                <a:latin typeface="Arial"/>
              </a:rPr>
              <a:t>1Q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458500" y="3340800"/>
            <a:ext cx="60449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C6BC0"/>
                </a:solidFill>
                <a:latin typeface="Arial"/>
              </a:rPr>
              <a:t>2Q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063000" y="3340800"/>
            <a:ext cx="60449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C6BC0"/>
                </a:solidFill>
                <a:latin typeface="Arial"/>
              </a:rPr>
              <a:t>3Q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67500" y="3340800"/>
            <a:ext cx="60449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C6BC0"/>
                </a:solidFill>
                <a:latin typeface="Arial"/>
              </a:rPr>
              <a:t>4Q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272000" y="3340800"/>
            <a:ext cx="60449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C6BC0"/>
                </a:solidFill>
                <a:latin typeface="Arial"/>
              </a:rPr>
              <a:t>1Q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876500" y="3340800"/>
            <a:ext cx="60449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C6BC0"/>
                </a:solidFill>
                <a:latin typeface="Arial"/>
              </a:rPr>
              <a:t>2Q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481000" y="3340800"/>
            <a:ext cx="60449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C6BC0"/>
                </a:solidFill>
                <a:latin typeface="Arial"/>
              </a:rPr>
              <a:t>3Q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5499" y="3340800"/>
            <a:ext cx="60449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C6BC0"/>
                </a:solidFill>
                <a:latin typeface="Arial"/>
              </a:rPr>
              <a:t>4Q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690000" y="3340800"/>
            <a:ext cx="60449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C6BC0"/>
                </a:solidFill>
                <a:latin typeface="Arial"/>
              </a:rPr>
              <a:t>1Q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294500" y="3340800"/>
            <a:ext cx="60449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C6BC0"/>
                </a:solidFill>
                <a:latin typeface="Arial"/>
              </a:rPr>
              <a:t>2Q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898999" y="3340800"/>
            <a:ext cx="60449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C6BC0"/>
                </a:solidFill>
                <a:latin typeface="Arial"/>
              </a:rPr>
              <a:t>3Q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503499" y="3340800"/>
            <a:ext cx="60449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C6BC0"/>
                </a:solidFill>
                <a:latin typeface="Arial"/>
              </a:rPr>
              <a:t>4Q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1854000" y="3340800"/>
            <a:ext cx="0" cy="3085200"/>
          </a:xfrm>
          <a:prstGeom prst="line">
            <a:avLst/>
          </a:prstGeom>
          <a:ln w="12700">
            <a:solidFill>
              <a:srgbClr val="7986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458500" y="3340800"/>
            <a:ext cx="0" cy="3085200"/>
          </a:xfrm>
          <a:prstGeom prst="line">
            <a:avLst/>
          </a:prstGeom>
          <a:ln w="635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3063000" y="3340800"/>
            <a:ext cx="0" cy="3085200"/>
          </a:xfrm>
          <a:prstGeom prst="line">
            <a:avLst/>
          </a:prstGeom>
          <a:ln w="635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3667500" y="3340800"/>
            <a:ext cx="0" cy="3085200"/>
          </a:xfrm>
          <a:prstGeom prst="line">
            <a:avLst/>
          </a:prstGeom>
          <a:ln w="635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4272000" y="3340800"/>
            <a:ext cx="0" cy="3085200"/>
          </a:xfrm>
          <a:prstGeom prst="line">
            <a:avLst/>
          </a:prstGeom>
          <a:ln w="12700">
            <a:solidFill>
              <a:srgbClr val="7986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4876500" y="3340800"/>
            <a:ext cx="0" cy="3085200"/>
          </a:xfrm>
          <a:prstGeom prst="line">
            <a:avLst/>
          </a:prstGeom>
          <a:ln w="635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5481000" y="3340800"/>
            <a:ext cx="0" cy="3085200"/>
          </a:xfrm>
          <a:prstGeom prst="line">
            <a:avLst/>
          </a:prstGeom>
          <a:ln w="635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6085499" y="3340800"/>
            <a:ext cx="0" cy="3085200"/>
          </a:xfrm>
          <a:prstGeom prst="line">
            <a:avLst/>
          </a:prstGeom>
          <a:ln w="635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6690000" y="3340800"/>
            <a:ext cx="0" cy="3085200"/>
          </a:xfrm>
          <a:prstGeom prst="line">
            <a:avLst/>
          </a:prstGeom>
          <a:ln w="12700">
            <a:solidFill>
              <a:srgbClr val="7986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7294500" y="3340800"/>
            <a:ext cx="0" cy="3085200"/>
          </a:xfrm>
          <a:prstGeom prst="line">
            <a:avLst/>
          </a:prstGeom>
          <a:ln w="635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7898999" y="3340800"/>
            <a:ext cx="0" cy="3085200"/>
          </a:xfrm>
          <a:prstGeom prst="line">
            <a:avLst/>
          </a:prstGeom>
          <a:ln w="635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503499" y="3340800"/>
            <a:ext cx="0" cy="3085200"/>
          </a:xfrm>
          <a:prstGeom prst="line">
            <a:avLst/>
          </a:prstGeom>
          <a:ln w="635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9107999" y="3340800"/>
            <a:ext cx="0" cy="3085200"/>
          </a:xfrm>
          <a:prstGeom prst="line">
            <a:avLst/>
          </a:prstGeom>
          <a:ln w="12700">
            <a:solidFill>
              <a:srgbClr val="7986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ectangle 92"/>
          <p:cNvSpPr/>
          <p:nvPr/>
        </p:nvSpPr>
        <p:spPr>
          <a:xfrm>
            <a:off x="0" y="3315599"/>
            <a:ext cx="1854000" cy="3456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0" y="3315599"/>
            <a:ext cx="64800" cy="3456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90000" y="3329999"/>
            <a:ext cx="174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>
                <a:solidFill>
                  <a:srgbClr val="1565C0"/>
                </a:solidFill>
                <a:latin typeface="맑은 고딕"/>
              </a:rPr>
              <a:t>① ALD 증착 조건 최적화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0000" y="3481200"/>
            <a:ext cx="1746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1565C0"/>
                </a:solidFill>
                <a:latin typeface="맑은 고딕"/>
              </a:rPr>
              <a:t>(ZnF₂, AlF₃, LiF)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854000" y="3315599"/>
            <a:ext cx="7253999" cy="345600"/>
          </a:xfrm>
          <a:prstGeom prst="rect">
            <a:avLst/>
          </a:prstGeom>
          <a:solidFill>
            <a:srgbClr val="FA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1868400" y="3394800"/>
            <a:ext cx="2389199" cy="1872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1868400" y="3394800"/>
            <a:ext cx="2389199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" b="0" dirty="0" err="1">
                <a:solidFill>
                  <a:srgbClr val="FFFFFF"/>
                </a:solidFill>
                <a:latin typeface="맑은 고딕"/>
              </a:rPr>
              <a:t>전구체</a:t>
            </a:r>
            <a:r>
              <a:rPr sz="720" b="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720" b="0" dirty="0" err="1">
                <a:solidFill>
                  <a:srgbClr val="FFFFFF"/>
                </a:solidFill>
                <a:latin typeface="맑은 고딕"/>
              </a:rPr>
              <a:t>최적화</a:t>
            </a:r>
            <a:r>
              <a:rPr sz="720" b="0" dirty="0">
                <a:solidFill>
                  <a:srgbClr val="FFFFFF"/>
                </a:solidFill>
                <a:latin typeface="맑은 고딕"/>
              </a:rPr>
              <a:t> 및 ALD </a:t>
            </a:r>
            <a:r>
              <a:rPr sz="720" b="0" dirty="0" err="1">
                <a:solidFill>
                  <a:srgbClr val="FFFFFF"/>
                </a:solidFill>
                <a:latin typeface="맑은 고딕"/>
              </a:rPr>
              <a:t>파라미터</a:t>
            </a:r>
            <a:r>
              <a:rPr sz="720" b="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720" b="0" dirty="0" err="1">
                <a:solidFill>
                  <a:srgbClr val="FFFFFF"/>
                </a:solidFill>
                <a:latin typeface="맑은 고딕"/>
              </a:rPr>
              <a:t>탐색</a:t>
            </a:r>
            <a:endParaRPr sz="720" b="0" dirty="0">
              <a:solidFill>
                <a:srgbClr val="FFFFFF"/>
              </a:solidFill>
              <a:latin typeface="맑은 고딕"/>
            </a:endParaRPr>
          </a:p>
        </p:txBody>
      </p:sp>
      <p:cxnSp>
        <p:nvCxnSpPr>
          <p:cNvPr id="100" name="Connector 99"/>
          <p:cNvCxnSpPr/>
          <p:nvPr/>
        </p:nvCxnSpPr>
        <p:spPr>
          <a:xfrm>
            <a:off x="0" y="3661199"/>
            <a:ext cx="9144000" cy="0"/>
          </a:xfrm>
          <a:prstGeom prst="line">
            <a:avLst/>
          </a:prstGeom>
          <a:ln w="508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Rectangle 100"/>
          <p:cNvSpPr/>
          <p:nvPr/>
        </p:nvSpPr>
        <p:spPr>
          <a:xfrm>
            <a:off x="0" y="3661199"/>
            <a:ext cx="1854000" cy="3456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0" y="3661199"/>
            <a:ext cx="64800" cy="3456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90000" y="3675599"/>
            <a:ext cx="174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>
                <a:solidFill>
                  <a:srgbClr val="1565C0"/>
                </a:solidFill>
                <a:latin typeface="맑은 고딕"/>
              </a:rPr>
              <a:t>② 박막 구조·화학 조성 분석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0000" y="3826799"/>
            <a:ext cx="1746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1565C0"/>
                </a:solidFill>
                <a:latin typeface="맑은 고딕"/>
              </a:rPr>
              <a:t>(XRD / XPS / TEM / ToF-SIMS)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854000" y="3661199"/>
            <a:ext cx="7253999" cy="345600"/>
          </a:xfrm>
          <a:prstGeom prst="rect">
            <a:avLst/>
          </a:prstGeom>
          <a:solidFill>
            <a:srgbClr val="FA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2472900" y="3740399"/>
            <a:ext cx="2993699" cy="1872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2472900" y="3740399"/>
            <a:ext cx="2993699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" b="0">
                <a:solidFill>
                  <a:srgbClr val="FFFFFF"/>
                </a:solidFill>
                <a:latin typeface="맑은 고딕"/>
              </a:rPr>
              <a:t>XRD / XPS / TEM-EDS / ToF-SIMS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0" y="4006799"/>
            <a:ext cx="9144000" cy="0"/>
          </a:xfrm>
          <a:prstGeom prst="line">
            <a:avLst/>
          </a:prstGeom>
          <a:ln w="508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Rectangle 108"/>
          <p:cNvSpPr/>
          <p:nvPr/>
        </p:nvSpPr>
        <p:spPr>
          <a:xfrm>
            <a:off x="0" y="4006799"/>
            <a:ext cx="1854000" cy="3456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0" y="4006799"/>
            <a:ext cx="64800" cy="3456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90000" y="4021199"/>
            <a:ext cx="174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>
                <a:solidFill>
                  <a:srgbClr val="1565C0"/>
                </a:solidFill>
                <a:latin typeface="맑은 고딕"/>
              </a:rPr>
              <a:t>③ EIS · Li⁺ 이온전도도 평가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0000" y="4172400"/>
            <a:ext cx="1746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1565C0"/>
                </a:solidFill>
                <a:latin typeface="맑은 고딕"/>
              </a:rPr>
              <a:t>(pinhole-free 조건 확립)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854000" y="4006799"/>
            <a:ext cx="7253999" cy="345600"/>
          </a:xfrm>
          <a:prstGeom prst="rect">
            <a:avLst/>
          </a:prstGeom>
          <a:solidFill>
            <a:srgbClr val="FA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3077399" y="4086000"/>
            <a:ext cx="1180199" cy="18720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3077399" y="4086000"/>
            <a:ext cx="1180199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" b="0">
                <a:solidFill>
                  <a:srgbClr val="FFFFFF"/>
                </a:solidFill>
                <a:latin typeface="맑은 고딕"/>
              </a:rPr>
              <a:t>EIS · Li⁺ 이온전도도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0" y="4352400"/>
            <a:ext cx="9144000" cy="0"/>
          </a:xfrm>
          <a:prstGeom prst="line">
            <a:avLst/>
          </a:prstGeom>
          <a:ln w="12700">
            <a:solidFill>
              <a:srgbClr val="7986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Rectangle 116"/>
          <p:cNvSpPr/>
          <p:nvPr/>
        </p:nvSpPr>
        <p:spPr>
          <a:xfrm>
            <a:off x="0" y="4352400"/>
            <a:ext cx="1854000" cy="3456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0" y="4352400"/>
            <a:ext cx="64800" cy="345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90000" y="4366800"/>
            <a:ext cx="174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>
                <a:solidFill>
                  <a:srgbClr val="2E7D32"/>
                </a:solidFill>
                <a:latin typeface="맑은 고딕"/>
              </a:rPr>
              <a:t>④ Cryo-TEM / AFM 핵생성 관찰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0000" y="4518000"/>
            <a:ext cx="1746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2E7D32"/>
                </a:solidFill>
                <a:latin typeface="맑은 고딕"/>
              </a:rPr>
              <a:t>Li 핵생성 나노구조 실시간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854000" y="4352400"/>
            <a:ext cx="7253999" cy="345600"/>
          </a:xfrm>
          <a:prstGeom prst="rect">
            <a:avLst/>
          </a:prstGeom>
          <a:solidFill>
            <a:srgbClr val="F5F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3077399" y="4431600"/>
            <a:ext cx="3598199" cy="18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3077399" y="4431600"/>
            <a:ext cx="3598199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" b="0">
                <a:solidFill>
                  <a:srgbClr val="FFFFFF"/>
                </a:solidFill>
                <a:latin typeface="맑은 고딕"/>
              </a:rPr>
              <a:t>Cryo-TEM / AFM — Li 핵생성 나노구조 관찰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0" y="4698000"/>
            <a:ext cx="9144000" cy="0"/>
          </a:xfrm>
          <a:prstGeom prst="line">
            <a:avLst/>
          </a:prstGeom>
          <a:ln w="508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Rectangle 124"/>
          <p:cNvSpPr/>
          <p:nvPr/>
        </p:nvSpPr>
        <p:spPr>
          <a:xfrm>
            <a:off x="0" y="4698000"/>
            <a:ext cx="1854000" cy="3456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0" y="4698000"/>
            <a:ext cx="64800" cy="345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90000" y="4712399"/>
            <a:ext cx="174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>
                <a:solidFill>
                  <a:srgbClr val="2E7D32"/>
                </a:solidFill>
                <a:latin typeface="맑은 고딕"/>
              </a:rPr>
              <a:t>⑤ Operando XRD / in-situ SEM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90000" y="4863600"/>
            <a:ext cx="1746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2E7D32"/>
                </a:solidFill>
                <a:latin typeface="맑은 고딕"/>
              </a:rPr>
              <a:t>Li 증착·용해 거동 모니터링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854000" y="4698000"/>
            <a:ext cx="7253999" cy="345600"/>
          </a:xfrm>
          <a:prstGeom prst="rect">
            <a:avLst/>
          </a:prstGeom>
          <a:solidFill>
            <a:srgbClr val="F5F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3681899" y="4777200"/>
            <a:ext cx="2993699" cy="187200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3681899" y="4777200"/>
            <a:ext cx="2993699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" b="0">
                <a:solidFill>
                  <a:srgbClr val="FFFFFF"/>
                </a:solidFill>
                <a:latin typeface="맑은 고딕"/>
              </a:rPr>
              <a:t>Operando XRD / in-situ SEM 모니터링</a:t>
            </a:r>
          </a:p>
        </p:txBody>
      </p:sp>
      <p:cxnSp>
        <p:nvCxnSpPr>
          <p:cNvPr id="132" name="Connector 131"/>
          <p:cNvCxnSpPr/>
          <p:nvPr/>
        </p:nvCxnSpPr>
        <p:spPr>
          <a:xfrm>
            <a:off x="0" y="5043599"/>
            <a:ext cx="9144000" cy="0"/>
          </a:xfrm>
          <a:prstGeom prst="line">
            <a:avLst/>
          </a:prstGeom>
          <a:ln w="508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Rectangle 132"/>
          <p:cNvSpPr/>
          <p:nvPr/>
        </p:nvSpPr>
        <p:spPr>
          <a:xfrm>
            <a:off x="0" y="5043599"/>
            <a:ext cx="1854000" cy="3456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ectangle 133"/>
          <p:cNvSpPr/>
          <p:nvPr/>
        </p:nvSpPr>
        <p:spPr>
          <a:xfrm>
            <a:off x="0" y="5043599"/>
            <a:ext cx="64800" cy="345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90000" y="5057999"/>
            <a:ext cx="174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>
                <a:solidFill>
                  <a:srgbClr val="2E7D32"/>
                </a:solidFill>
                <a:latin typeface="맑은 고딕"/>
              </a:rPr>
              <a:t>⑥ DFT 이론 계산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0000" y="5209200"/>
            <a:ext cx="1746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2E7D32"/>
                </a:solidFill>
                <a:latin typeface="맑은 고딕"/>
              </a:rPr>
              <a:t>계면 Li⁺ 확산 에너지 배리어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854000" y="5043599"/>
            <a:ext cx="7253999" cy="345600"/>
          </a:xfrm>
          <a:prstGeom prst="rect">
            <a:avLst/>
          </a:prstGeom>
          <a:solidFill>
            <a:srgbClr val="F5F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3681899" y="5122799"/>
            <a:ext cx="2993699" cy="18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3681899" y="5122799"/>
            <a:ext cx="2993699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" b="0">
                <a:solidFill>
                  <a:srgbClr val="FFFFFF"/>
                </a:solidFill>
                <a:latin typeface="맑은 고딕"/>
              </a:rPr>
              <a:t>DFT: 불화물/Li 계면 Li⁺ 확산 에너지</a:t>
            </a:r>
          </a:p>
        </p:txBody>
      </p:sp>
      <p:cxnSp>
        <p:nvCxnSpPr>
          <p:cNvPr id="140" name="Connector 139"/>
          <p:cNvCxnSpPr/>
          <p:nvPr/>
        </p:nvCxnSpPr>
        <p:spPr>
          <a:xfrm>
            <a:off x="0" y="5389200"/>
            <a:ext cx="9144000" cy="0"/>
          </a:xfrm>
          <a:prstGeom prst="line">
            <a:avLst/>
          </a:prstGeom>
          <a:ln w="12700">
            <a:solidFill>
              <a:srgbClr val="7986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Rectangle 140"/>
          <p:cNvSpPr/>
          <p:nvPr/>
        </p:nvSpPr>
        <p:spPr>
          <a:xfrm>
            <a:off x="0" y="5389200"/>
            <a:ext cx="1854000" cy="3456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0" y="5389200"/>
            <a:ext cx="64800" cy="3456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90000" y="5403599"/>
            <a:ext cx="174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>
                <a:solidFill>
                  <a:srgbClr val="E65100"/>
                </a:solidFill>
                <a:latin typeface="맑은 고딕"/>
              </a:rPr>
              <a:t>⑦ Li||NCM 풀 셀 장기 사이클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90000" y="5554800"/>
            <a:ext cx="1746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E65100"/>
                </a:solidFill>
                <a:latin typeface="맑은 고딕"/>
              </a:rPr>
              <a:t>&gt;300 사이클, CE &gt;99.5%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854000" y="5389200"/>
            <a:ext cx="7253999" cy="3456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Rectangle 145"/>
          <p:cNvSpPr/>
          <p:nvPr/>
        </p:nvSpPr>
        <p:spPr>
          <a:xfrm>
            <a:off x="5495400" y="5468400"/>
            <a:ext cx="3598199" cy="1872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5495400" y="5468400"/>
            <a:ext cx="3598199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" b="0">
                <a:solidFill>
                  <a:srgbClr val="FFFFFF"/>
                </a:solidFill>
                <a:latin typeface="맑은 고딕"/>
              </a:rPr>
              <a:t>Li||NCM Full Cell 장기 사이클링 (&gt;300 cycles)</a:t>
            </a:r>
          </a:p>
        </p:txBody>
      </p:sp>
      <p:cxnSp>
        <p:nvCxnSpPr>
          <p:cNvPr id="148" name="Connector 147"/>
          <p:cNvCxnSpPr/>
          <p:nvPr/>
        </p:nvCxnSpPr>
        <p:spPr>
          <a:xfrm>
            <a:off x="0" y="5734800"/>
            <a:ext cx="9144000" cy="0"/>
          </a:xfrm>
          <a:prstGeom prst="line">
            <a:avLst/>
          </a:prstGeom>
          <a:ln w="508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Rectangle 148"/>
          <p:cNvSpPr/>
          <p:nvPr/>
        </p:nvSpPr>
        <p:spPr>
          <a:xfrm>
            <a:off x="0" y="5734800"/>
            <a:ext cx="1854000" cy="3456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0" y="5734800"/>
            <a:ext cx="64800" cy="3456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90000" y="5749200"/>
            <a:ext cx="174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>
                <a:solidFill>
                  <a:srgbClr val="E65100"/>
                </a:solidFill>
                <a:latin typeface="맑은 고딕"/>
              </a:rPr>
              <a:t>⑧ Post-mortem XPS/TEM 분석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90000" y="5900400"/>
            <a:ext cx="1746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E65100"/>
                </a:solidFill>
                <a:latin typeface="맑은 고딕"/>
              </a:rPr>
              <a:t>SEI 조성 변화·열화 메커니즘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854000" y="5734800"/>
            <a:ext cx="7253999" cy="3456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Rectangle 153"/>
          <p:cNvSpPr/>
          <p:nvPr/>
        </p:nvSpPr>
        <p:spPr>
          <a:xfrm>
            <a:off x="6704399" y="5813999"/>
            <a:ext cx="2389199" cy="1872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6704399" y="5813999"/>
            <a:ext cx="2389199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" b="0">
                <a:solidFill>
                  <a:srgbClr val="FFFFFF"/>
                </a:solidFill>
                <a:latin typeface="맑은 고딕"/>
              </a:rPr>
              <a:t>Post-mortem XPS / TEM 분석</a:t>
            </a:r>
          </a:p>
        </p:txBody>
      </p:sp>
      <p:cxnSp>
        <p:nvCxnSpPr>
          <p:cNvPr id="156" name="Connector 155"/>
          <p:cNvCxnSpPr/>
          <p:nvPr/>
        </p:nvCxnSpPr>
        <p:spPr>
          <a:xfrm>
            <a:off x="0" y="6080400"/>
            <a:ext cx="9144000" cy="0"/>
          </a:xfrm>
          <a:prstGeom prst="line">
            <a:avLst/>
          </a:prstGeom>
          <a:ln w="508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Rectangle 156"/>
          <p:cNvSpPr/>
          <p:nvPr/>
        </p:nvSpPr>
        <p:spPr>
          <a:xfrm>
            <a:off x="0" y="6080400"/>
            <a:ext cx="1854000" cy="3456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Rectangle 157"/>
          <p:cNvSpPr/>
          <p:nvPr/>
        </p:nvSpPr>
        <p:spPr>
          <a:xfrm>
            <a:off x="0" y="6080400"/>
            <a:ext cx="64800" cy="3456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90000" y="6094800"/>
            <a:ext cx="174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>
                <a:solidFill>
                  <a:srgbClr val="E65100"/>
                </a:solidFill>
                <a:latin typeface="맑은 고딕"/>
              </a:rPr>
              <a:t>⑨ ALD 인공 SEI 설계 원칙 도출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90000" y="6246000"/>
            <a:ext cx="1746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E65100"/>
                </a:solidFill>
                <a:latin typeface="맑은 고딕"/>
              </a:rPr>
              <a:t>ZnF₂/AlF₃/LiF 비교 정립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854000" y="6080400"/>
            <a:ext cx="7253999" cy="3456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Rectangle 161"/>
          <p:cNvSpPr/>
          <p:nvPr/>
        </p:nvSpPr>
        <p:spPr>
          <a:xfrm>
            <a:off x="7308899" y="6159600"/>
            <a:ext cx="1784699" cy="18720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7308899" y="6159600"/>
            <a:ext cx="1784699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" b="0">
                <a:solidFill>
                  <a:srgbClr val="FFFFFF"/>
                </a:solidFill>
                <a:latin typeface="맑은 고딕"/>
              </a:rPr>
              <a:t>범용 ALD-SEI 설계 원칙 정립</a:t>
            </a:r>
          </a:p>
        </p:txBody>
      </p:sp>
      <p:cxnSp>
        <p:nvCxnSpPr>
          <p:cNvPr id="164" name="Connector 163"/>
          <p:cNvCxnSpPr/>
          <p:nvPr/>
        </p:nvCxnSpPr>
        <p:spPr>
          <a:xfrm>
            <a:off x="0" y="6426000"/>
            <a:ext cx="9144000" cy="0"/>
          </a:xfrm>
          <a:prstGeom prst="line">
            <a:avLst/>
          </a:prstGeom>
          <a:ln w="508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1854000" y="3315599"/>
            <a:ext cx="0" cy="3110401"/>
          </a:xfrm>
          <a:prstGeom prst="line">
            <a:avLst/>
          </a:prstGeom>
          <a:ln w="12700">
            <a:solidFill>
              <a:srgbClr val="7986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Rectangle 165"/>
          <p:cNvSpPr/>
          <p:nvPr/>
        </p:nvSpPr>
        <p:spPr>
          <a:xfrm>
            <a:off x="0" y="6372000"/>
            <a:ext cx="9144000" cy="2880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8995194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angle 109">
            <a:extLst>
              <a:ext uri="{FF2B5EF4-FFF2-40B4-BE49-F238E27FC236}">
                <a16:creationId xmlns:a16="http://schemas.microsoft.com/office/drawing/2014/main" id="{DC18ED00-46B3-76E6-EB8B-FA73BF8060D7}"/>
              </a:ext>
            </a:extLst>
          </p:cNvPr>
          <p:cNvSpPr/>
          <p:nvPr/>
        </p:nvSpPr>
        <p:spPr>
          <a:xfrm>
            <a:off x="-158768" y="473900"/>
            <a:ext cx="9144000" cy="36000"/>
          </a:xfrm>
          <a:prstGeom prst="rect">
            <a:avLst/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6D4885DE-EE80-DFCB-2E3A-468ED1C8513A}"/>
              </a:ext>
            </a:extLst>
          </p:cNvPr>
          <p:cNvSpPr txBox="1"/>
          <p:nvPr/>
        </p:nvSpPr>
        <p:spPr>
          <a:xfrm>
            <a:off x="-122766" y="550031"/>
            <a:ext cx="288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dirty="0">
                <a:solidFill>
                  <a:srgbClr val="3F51B5"/>
                </a:solidFill>
                <a:latin typeface="맑은 고딕"/>
              </a:rPr>
              <a:t>▶ </a:t>
            </a:r>
            <a:r>
              <a:rPr sz="850" b="1" dirty="0" err="1">
                <a:solidFill>
                  <a:srgbClr val="3F51B5"/>
                </a:solidFill>
                <a:latin typeface="맑은 고딕"/>
              </a:rPr>
              <a:t>연차별</a:t>
            </a:r>
            <a:r>
              <a:rPr sz="850" b="1" dirty="0">
                <a:solidFill>
                  <a:srgbClr val="3F51B5"/>
                </a:solidFill>
                <a:latin typeface="맑은 고딕"/>
              </a:rPr>
              <a:t> </a:t>
            </a:r>
            <a:r>
              <a:rPr sz="850" b="1" dirty="0" err="1">
                <a:solidFill>
                  <a:srgbClr val="3F51B5"/>
                </a:solidFill>
                <a:latin typeface="맑은 고딕"/>
              </a:rPr>
              <a:t>연구</a:t>
            </a:r>
            <a:r>
              <a:rPr sz="850" b="1" dirty="0">
                <a:solidFill>
                  <a:srgbClr val="3F51B5"/>
                </a:solidFill>
                <a:latin typeface="맑은 고딕"/>
              </a:rPr>
              <a:t> </a:t>
            </a:r>
            <a:r>
              <a:rPr sz="850" b="1" dirty="0" err="1">
                <a:solidFill>
                  <a:srgbClr val="3F51B5"/>
                </a:solidFill>
                <a:latin typeface="맑은 고딕"/>
              </a:rPr>
              <a:t>추진</a:t>
            </a:r>
            <a:r>
              <a:rPr sz="850" b="1" dirty="0">
                <a:solidFill>
                  <a:srgbClr val="3F51B5"/>
                </a:solidFill>
                <a:latin typeface="맑은 고딕"/>
              </a:rPr>
              <a:t> </a:t>
            </a:r>
            <a:r>
              <a:rPr sz="850" b="1" dirty="0" err="1">
                <a:solidFill>
                  <a:srgbClr val="3F51B5"/>
                </a:solidFill>
                <a:latin typeface="맑은 고딕"/>
              </a:rPr>
              <a:t>일정</a:t>
            </a:r>
            <a:r>
              <a:rPr sz="850" b="1" dirty="0">
                <a:solidFill>
                  <a:srgbClr val="3F51B5"/>
                </a:solidFill>
                <a:latin typeface="맑은 고딕"/>
              </a:rPr>
              <a:t> (</a:t>
            </a:r>
            <a:r>
              <a:rPr sz="850" b="1" dirty="0" err="1">
                <a:solidFill>
                  <a:srgbClr val="3F51B5"/>
                </a:solidFill>
                <a:latin typeface="맑은 고딕"/>
              </a:rPr>
              <a:t>간트</a:t>
            </a:r>
            <a:r>
              <a:rPr sz="850" b="1" dirty="0">
                <a:solidFill>
                  <a:srgbClr val="3F51B5"/>
                </a:solidFill>
                <a:latin typeface="맑은 고딕"/>
              </a:rPr>
              <a:t> </a:t>
            </a:r>
            <a:r>
              <a:rPr sz="850" b="1" dirty="0" err="1">
                <a:solidFill>
                  <a:srgbClr val="3F51B5"/>
                </a:solidFill>
                <a:latin typeface="맑은 고딕"/>
              </a:rPr>
              <a:t>차트</a:t>
            </a:r>
            <a:r>
              <a:rPr sz="850" b="1" dirty="0">
                <a:solidFill>
                  <a:srgbClr val="3F51B5"/>
                </a:solidFill>
                <a:latin typeface="맑은 고딕"/>
              </a:rPr>
              <a:t>)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503881FD-E899-0FE3-7A97-6AD16115C2C0}"/>
              </a:ext>
            </a:extLst>
          </p:cNvPr>
          <p:cNvSpPr/>
          <p:nvPr/>
        </p:nvSpPr>
        <p:spPr>
          <a:xfrm>
            <a:off x="1100668" y="2224032"/>
            <a:ext cx="1854000" cy="3456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D869DAAF-2B9A-6103-C452-C6C1EF27FEEF}"/>
              </a:ext>
            </a:extLst>
          </p:cNvPr>
          <p:cNvSpPr/>
          <p:nvPr/>
        </p:nvSpPr>
        <p:spPr>
          <a:xfrm>
            <a:off x="1100668" y="2224032"/>
            <a:ext cx="64800" cy="3456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47212D52-F7FF-D74B-8BD7-9260C5BEB11A}"/>
              </a:ext>
            </a:extLst>
          </p:cNvPr>
          <p:cNvSpPr txBox="1"/>
          <p:nvPr/>
        </p:nvSpPr>
        <p:spPr>
          <a:xfrm>
            <a:off x="1190668" y="2238432"/>
            <a:ext cx="1746000" cy="212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dirty="0">
                <a:solidFill>
                  <a:srgbClr val="1565C0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① ALD </a:t>
            </a:r>
            <a:r>
              <a:rPr sz="780" b="1" dirty="0" err="1">
                <a:solidFill>
                  <a:srgbClr val="1565C0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증착</a:t>
            </a:r>
            <a:r>
              <a:rPr sz="780" b="1" dirty="0">
                <a:solidFill>
                  <a:srgbClr val="1565C0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 </a:t>
            </a:r>
            <a:r>
              <a:rPr sz="780" b="1" dirty="0" err="1">
                <a:solidFill>
                  <a:srgbClr val="1565C0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조건</a:t>
            </a:r>
            <a:r>
              <a:rPr sz="780" b="1" dirty="0">
                <a:solidFill>
                  <a:srgbClr val="1565C0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 </a:t>
            </a:r>
            <a:r>
              <a:rPr sz="780" b="1" dirty="0" err="1">
                <a:solidFill>
                  <a:srgbClr val="1565C0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최적화</a:t>
            </a:r>
            <a:endParaRPr sz="780" b="1" dirty="0">
              <a:solidFill>
                <a:srgbClr val="1565C0"/>
              </a:solidFill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0F92BC18-E963-B9B7-0676-B9B844D69AD8}"/>
              </a:ext>
            </a:extLst>
          </p:cNvPr>
          <p:cNvSpPr txBox="1"/>
          <p:nvPr/>
        </p:nvSpPr>
        <p:spPr>
          <a:xfrm>
            <a:off x="1190668" y="2389633"/>
            <a:ext cx="1746000" cy="203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1565C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(ZnF₂, AlF₃, LiF)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7436005D-A88D-BABF-8B59-64F9D41028B1}"/>
              </a:ext>
            </a:extLst>
          </p:cNvPr>
          <p:cNvSpPr/>
          <p:nvPr/>
        </p:nvSpPr>
        <p:spPr>
          <a:xfrm>
            <a:off x="1100668" y="2569632"/>
            <a:ext cx="1854000" cy="3456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EC0893CC-1AAA-15DC-79C5-DF8E1D6B8BBA}"/>
              </a:ext>
            </a:extLst>
          </p:cNvPr>
          <p:cNvSpPr/>
          <p:nvPr/>
        </p:nvSpPr>
        <p:spPr>
          <a:xfrm>
            <a:off x="1100668" y="2569632"/>
            <a:ext cx="64800" cy="3456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0528BA99-B718-87A9-C3B3-412A533A1C8B}"/>
              </a:ext>
            </a:extLst>
          </p:cNvPr>
          <p:cNvSpPr txBox="1"/>
          <p:nvPr/>
        </p:nvSpPr>
        <p:spPr>
          <a:xfrm>
            <a:off x="1190668" y="2584032"/>
            <a:ext cx="1746000" cy="212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>
                <a:solidFill>
                  <a:srgbClr val="1565C0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② 박막 구조·화학 조성 분석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8BAE8CE8-FE70-6CC9-99CD-34272DF216A1}"/>
              </a:ext>
            </a:extLst>
          </p:cNvPr>
          <p:cNvSpPr txBox="1"/>
          <p:nvPr/>
        </p:nvSpPr>
        <p:spPr>
          <a:xfrm>
            <a:off x="1190668" y="2735232"/>
            <a:ext cx="1746000" cy="203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1565C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(XRD / XPS / TEM / ToF-SIMS)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D5892ACD-1478-6E73-BDCE-EBD1B57943ED}"/>
              </a:ext>
            </a:extLst>
          </p:cNvPr>
          <p:cNvSpPr/>
          <p:nvPr/>
        </p:nvSpPr>
        <p:spPr>
          <a:xfrm>
            <a:off x="1100668" y="2915232"/>
            <a:ext cx="1854000" cy="3456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C2497B53-7DAE-0B5D-494E-F17694FFDBB2}"/>
              </a:ext>
            </a:extLst>
          </p:cNvPr>
          <p:cNvSpPr/>
          <p:nvPr/>
        </p:nvSpPr>
        <p:spPr>
          <a:xfrm>
            <a:off x="1100668" y="2915232"/>
            <a:ext cx="64800" cy="3456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8782AC62-D03A-3A0C-5B56-64CAAC58611E}"/>
              </a:ext>
            </a:extLst>
          </p:cNvPr>
          <p:cNvSpPr txBox="1"/>
          <p:nvPr/>
        </p:nvSpPr>
        <p:spPr>
          <a:xfrm>
            <a:off x="1190668" y="2929632"/>
            <a:ext cx="1746000" cy="212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>
                <a:solidFill>
                  <a:srgbClr val="1565C0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③ EIS · Li⁺ 이온전도도 평가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742294A1-B8C3-04FD-EE81-68618603F38F}"/>
              </a:ext>
            </a:extLst>
          </p:cNvPr>
          <p:cNvSpPr txBox="1"/>
          <p:nvPr/>
        </p:nvSpPr>
        <p:spPr>
          <a:xfrm>
            <a:off x="1190668" y="3080833"/>
            <a:ext cx="1746000" cy="203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1565C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(pinhole-free 조건 확립)</a:t>
            </a: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6FF4C663-746F-C66E-F9BE-8005E1B5B7F5}"/>
              </a:ext>
            </a:extLst>
          </p:cNvPr>
          <p:cNvSpPr/>
          <p:nvPr/>
        </p:nvSpPr>
        <p:spPr>
          <a:xfrm>
            <a:off x="1100668" y="3260833"/>
            <a:ext cx="1854000" cy="3456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5AC6882D-67FB-97CD-935A-A36F889C150F}"/>
              </a:ext>
            </a:extLst>
          </p:cNvPr>
          <p:cNvSpPr/>
          <p:nvPr/>
        </p:nvSpPr>
        <p:spPr>
          <a:xfrm>
            <a:off x="1100668" y="3260833"/>
            <a:ext cx="64800" cy="345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1DBE1854-04A5-A75E-9743-589ACED2CE48}"/>
              </a:ext>
            </a:extLst>
          </p:cNvPr>
          <p:cNvSpPr txBox="1"/>
          <p:nvPr/>
        </p:nvSpPr>
        <p:spPr>
          <a:xfrm>
            <a:off x="1190668" y="3275233"/>
            <a:ext cx="1746000" cy="212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dirty="0">
                <a:solidFill>
                  <a:srgbClr val="2E7D32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④ Cryo-TEM </a:t>
            </a:r>
            <a:r>
              <a:rPr sz="780" b="1" dirty="0" err="1">
                <a:solidFill>
                  <a:srgbClr val="2E7D32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핵생성</a:t>
            </a:r>
            <a:r>
              <a:rPr sz="780" b="1" dirty="0">
                <a:solidFill>
                  <a:srgbClr val="2E7D32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 </a:t>
            </a:r>
            <a:r>
              <a:rPr sz="780" b="1" dirty="0" err="1">
                <a:solidFill>
                  <a:srgbClr val="2E7D32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관찰</a:t>
            </a:r>
            <a:endParaRPr sz="780" b="1" dirty="0">
              <a:solidFill>
                <a:srgbClr val="2E7D32"/>
              </a:solidFill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F7392CA3-F382-65EA-41D4-2C2E8D88BFF2}"/>
              </a:ext>
            </a:extLst>
          </p:cNvPr>
          <p:cNvSpPr txBox="1"/>
          <p:nvPr/>
        </p:nvSpPr>
        <p:spPr>
          <a:xfrm>
            <a:off x="1190668" y="3426433"/>
            <a:ext cx="1746000" cy="203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2E7D32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Li 핵생성 나노구조 실시간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52AB0769-20C6-7CC6-6946-70F1070B3047}"/>
              </a:ext>
            </a:extLst>
          </p:cNvPr>
          <p:cNvSpPr/>
          <p:nvPr/>
        </p:nvSpPr>
        <p:spPr>
          <a:xfrm>
            <a:off x="1100668" y="3606433"/>
            <a:ext cx="1854000" cy="3456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5F858564-7A9A-9669-F637-FA7D34BEE146}"/>
              </a:ext>
            </a:extLst>
          </p:cNvPr>
          <p:cNvSpPr/>
          <p:nvPr/>
        </p:nvSpPr>
        <p:spPr>
          <a:xfrm>
            <a:off x="1100668" y="3606433"/>
            <a:ext cx="64800" cy="345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551E4A4E-3893-D7BB-3582-B617501D11AF}"/>
              </a:ext>
            </a:extLst>
          </p:cNvPr>
          <p:cNvSpPr txBox="1"/>
          <p:nvPr/>
        </p:nvSpPr>
        <p:spPr>
          <a:xfrm>
            <a:off x="1190668" y="3620832"/>
            <a:ext cx="1746000" cy="212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>
                <a:solidFill>
                  <a:srgbClr val="2E7D32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⑤ Operando XRD / in-situ SEM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3349C5C8-1C53-5C4F-AF52-94D473787FDC}"/>
              </a:ext>
            </a:extLst>
          </p:cNvPr>
          <p:cNvSpPr txBox="1"/>
          <p:nvPr/>
        </p:nvSpPr>
        <p:spPr>
          <a:xfrm>
            <a:off x="1190668" y="3772033"/>
            <a:ext cx="1746000" cy="203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2E7D32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Li 증착·용해 거동 모니터링</a:t>
            </a: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BC4F2B4D-7E91-E183-7CDC-BD9CF16F5631}"/>
              </a:ext>
            </a:extLst>
          </p:cNvPr>
          <p:cNvSpPr/>
          <p:nvPr/>
        </p:nvSpPr>
        <p:spPr>
          <a:xfrm>
            <a:off x="1100668" y="3952032"/>
            <a:ext cx="1854000" cy="3456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0E07732D-345D-6499-2561-BB41E0C4AC8B}"/>
              </a:ext>
            </a:extLst>
          </p:cNvPr>
          <p:cNvSpPr/>
          <p:nvPr/>
        </p:nvSpPr>
        <p:spPr>
          <a:xfrm>
            <a:off x="1100668" y="3952032"/>
            <a:ext cx="64800" cy="345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0BDB0FA3-EB15-523D-53E5-4AE02898D23A}"/>
              </a:ext>
            </a:extLst>
          </p:cNvPr>
          <p:cNvSpPr txBox="1"/>
          <p:nvPr/>
        </p:nvSpPr>
        <p:spPr>
          <a:xfrm>
            <a:off x="1190668" y="3966432"/>
            <a:ext cx="1746000" cy="212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>
                <a:solidFill>
                  <a:srgbClr val="2E7D32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⑥ DFT 이론 계산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D83242C7-0D63-6125-F10D-A718AE211FD2}"/>
              </a:ext>
            </a:extLst>
          </p:cNvPr>
          <p:cNvSpPr txBox="1"/>
          <p:nvPr/>
        </p:nvSpPr>
        <p:spPr>
          <a:xfrm>
            <a:off x="1190668" y="4117633"/>
            <a:ext cx="1746000" cy="203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2E7D32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계면 Li⁺ 확산 에너지 배리어</a:t>
            </a:r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407B01C5-CB85-94B5-1017-B5352C640543}"/>
              </a:ext>
            </a:extLst>
          </p:cNvPr>
          <p:cNvSpPr/>
          <p:nvPr/>
        </p:nvSpPr>
        <p:spPr>
          <a:xfrm>
            <a:off x="1100668" y="4297633"/>
            <a:ext cx="1854000" cy="3456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1AB50607-CD6B-A897-5E89-079FD3910EAF}"/>
              </a:ext>
            </a:extLst>
          </p:cNvPr>
          <p:cNvSpPr/>
          <p:nvPr/>
        </p:nvSpPr>
        <p:spPr>
          <a:xfrm>
            <a:off x="1100668" y="4297633"/>
            <a:ext cx="64800" cy="3456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ADE98098-44C3-7ED6-670B-E3A9ED9E53EF}"/>
              </a:ext>
            </a:extLst>
          </p:cNvPr>
          <p:cNvSpPr txBox="1"/>
          <p:nvPr/>
        </p:nvSpPr>
        <p:spPr>
          <a:xfrm>
            <a:off x="1190668" y="4312032"/>
            <a:ext cx="1746000" cy="212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>
                <a:solidFill>
                  <a:srgbClr val="E65100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⑦ Li||NCM 풀 셀 장기 사이클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9E044C84-5BDF-396B-D8D3-C79510912556}"/>
              </a:ext>
            </a:extLst>
          </p:cNvPr>
          <p:cNvSpPr txBox="1"/>
          <p:nvPr/>
        </p:nvSpPr>
        <p:spPr>
          <a:xfrm>
            <a:off x="1190668" y="4463233"/>
            <a:ext cx="1746000" cy="203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E651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&gt;300 사이클, CE &gt;99.5%</a:t>
            </a:r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48A970D1-E9C7-9A8A-60C9-B9BA449B2719}"/>
              </a:ext>
            </a:extLst>
          </p:cNvPr>
          <p:cNvSpPr/>
          <p:nvPr/>
        </p:nvSpPr>
        <p:spPr>
          <a:xfrm>
            <a:off x="1100668" y="4643233"/>
            <a:ext cx="1854000" cy="3456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47073B1A-7FB7-0FE1-C51B-0D4072830E3A}"/>
              </a:ext>
            </a:extLst>
          </p:cNvPr>
          <p:cNvSpPr/>
          <p:nvPr/>
        </p:nvSpPr>
        <p:spPr>
          <a:xfrm>
            <a:off x="1100668" y="4643233"/>
            <a:ext cx="64800" cy="3456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D9130242-FEEC-B5D1-51C9-ED7D9CE0C08E}"/>
              </a:ext>
            </a:extLst>
          </p:cNvPr>
          <p:cNvSpPr txBox="1"/>
          <p:nvPr/>
        </p:nvSpPr>
        <p:spPr>
          <a:xfrm>
            <a:off x="1190668" y="4657633"/>
            <a:ext cx="1746000" cy="212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>
                <a:solidFill>
                  <a:srgbClr val="E65100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⑧ Post-mortem XPS/TEM 분석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4EFA48A3-8BC7-95C7-0AA6-8734285B4EBD}"/>
              </a:ext>
            </a:extLst>
          </p:cNvPr>
          <p:cNvSpPr txBox="1"/>
          <p:nvPr/>
        </p:nvSpPr>
        <p:spPr>
          <a:xfrm>
            <a:off x="1190668" y="4808833"/>
            <a:ext cx="1746000" cy="203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E651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SEI 조성 변화·열화 메커니즘</a:t>
            </a: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3D1381DF-C27D-17E7-66E0-F358F9BE3CC8}"/>
              </a:ext>
            </a:extLst>
          </p:cNvPr>
          <p:cNvSpPr/>
          <p:nvPr/>
        </p:nvSpPr>
        <p:spPr>
          <a:xfrm>
            <a:off x="1100668" y="4988833"/>
            <a:ext cx="1854000" cy="3456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B0CDBBB7-5600-2C91-616C-D8E7C87AD5C0}"/>
              </a:ext>
            </a:extLst>
          </p:cNvPr>
          <p:cNvSpPr/>
          <p:nvPr/>
        </p:nvSpPr>
        <p:spPr>
          <a:xfrm>
            <a:off x="1100668" y="4988833"/>
            <a:ext cx="64800" cy="3456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2441351F-EB0B-9173-5845-A812D3819CB0}"/>
              </a:ext>
            </a:extLst>
          </p:cNvPr>
          <p:cNvSpPr txBox="1"/>
          <p:nvPr/>
        </p:nvSpPr>
        <p:spPr>
          <a:xfrm>
            <a:off x="1190668" y="5003233"/>
            <a:ext cx="1746000" cy="212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>
                <a:solidFill>
                  <a:srgbClr val="E65100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⑨ ALD 인공 SEI 설계 원칙 도출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F4D5BC69-1B0D-D297-492B-306646023BFE}"/>
              </a:ext>
            </a:extLst>
          </p:cNvPr>
          <p:cNvSpPr txBox="1"/>
          <p:nvPr/>
        </p:nvSpPr>
        <p:spPr>
          <a:xfrm>
            <a:off x="1190668" y="5154433"/>
            <a:ext cx="1746000" cy="203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 dirty="0" err="1">
                <a:solidFill>
                  <a:srgbClr val="E651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ZnF</a:t>
            </a:r>
            <a:r>
              <a:rPr sz="720" b="0" dirty="0">
                <a:solidFill>
                  <a:srgbClr val="E651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₂/</a:t>
            </a:r>
            <a:r>
              <a:rPr sz="720" b="0" dirty="0" err="1">
                <a:solidFill>
                  <a:srgbClr val="E651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AlF</a:t>
            </a:r>
            <a:r>
              <a:rPr sz="720" b="0" dirty="0">
                <a:solidFill>
                  <a:srgbClr val="E651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₃/</a:t>
            </a:r>
            <a:r>
              <a:rPr sz="720" b="0" dirty="0" err="1">
                <a:solidFill>
                  <a:srgbClr val="E651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LiF</a:t>
            </a:r>
            <a:r>
              <a:rPr sz="720" b="0" dirty="0">
                <a:solidFill>
                  <a:srgbClr val="E651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</a:t>
            </a:r>
            <a:r>
              <a:rPr sz="720" b="0" dirty="0" err="1">
                <a:solidFill>
                  <a:srgbClr val="E651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비교</a:t>
            </a:r>
            <a:r>
              <a:rPr sz="720" b="0" dirty="0">
                <a:solidFill>
                  <a:srgbClr val="E651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</a:t>
            </a:r>
            <a:r>
              <a:rPr sz="720" b="0" dirty="0" err="1">
                <a:solidFill>
                  <a:srgbClr val="E651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정립</a:t>
            </a:r>
            <a:endParaRPr sz="720" b="0" dirty="0">
              <a:solidFill>
                <a:srgbClr val="E651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D7A446D8-1C6F-715A-E753-345581674C62}"/>
              </a:ext>
            </a:extLst>
          </p:cNvPr>
          <p:cNvSpPr/>
          <p:nvPr/>
        </p:nvSpPr>
        <p:spPr>
          <a:xfrm>
            <a:off x="2954668" y="2011632"/>
            <a:ext cx="1739966" cy="23760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11D64A57-A3B2-4049-7F46-25143C6B6B25}"/>
              </a:ext>
            </a:extLst>
          </p:cNvPr>
          <p:cNvSpPr txBox="1"/>
          <p:nvPr/>
        </p:nvSpPr>
        <p:spPr>
          <a:xfrm>
            <a:off x="2954668" y="2011632"/>
            <a:ext cx="1739966" cy="23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dirty="0">
                <a:solidFill>
                  <a:srgbClr val="1A237E"/>
                </a:solidFill>
                <a:latin typeface="맑은 고딕"/>
              </a:rPr>
              <a:t>1년차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63D41351-4E2C-1DB6-4D6E-BCF83B650F55}"/>
              </a:ext>
            </a:extLst>
          </p:cNvPr>
          <p:cNvSpPr/>
          <p:nvPr/>
        </p:nvSpPr>
        <p:spPr>
          <a:xfrm>
            <a:off x="4694635" y="2011632"/>
            <a:ext cx="1739966" cy="23760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C208BCA0-A120-ABB1-A9B1-9BE6CF092E07}"/>
              </a:ext>
            </a:extLst>
          </p:cNvPr>
          <p:cNvSpPr txBox="1"/>
          <p:nvPr/>
        </p:nvSpPr>
        <p:spPr>
          <a:xfrm>
            <a:off x="4694635" y="2011632"/>
            <a:ext cx="1739966" cy="23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47A1"/>
                </a:solidFill>
                <a:latin typeface="맑은 고딕"/>
              </a:rPr>
              <a:t>2년차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F34B9737-C6BD-FFC0-128D-0532AD3BB48B}"/>
              </a:ext>
            </a:extLst>
          </p:cNvPr>
          <p:cNvSpPr/>
          <p:nvPr/>
        </p:nvSpPr>
        <p:spPr>
          <a:xfrm>
            <a:off x="6434601" y="2011632"/>
            <a:ext cx="1739966" cy="237600"/>
          </a:xfrm>
          <a:prstGeom prst="rect">
            <a:avLst/>
          </a:prstGeom>
          <a:solidFill>
            <a:srgbClr val="B3E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42B6CE28-D26B-BC18-728F-5931334F53D2}"/>
              </a:ext>
            </a:extLst>
          </p:cNvPr>
          <p:cNvSpPr txBox="1"/>
          <p:nvPr/>
        </p:nvSpPr>
        <p:spPr>
          <a:xfrm>
            <a:off x="6434601" y="2011632"/>
            <a:ext cx="1739966" cy="23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1579B"/>
                </a:solidFill>
                <a:latin typeface="맑은 고딕"/>
              </a:rPr>
              <a:t>3년차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B2F04082-0C22-F309-B8CC-F1D3E30FF53E}"/>
              </a:ext>
            </a:extLst>
          </p:cNvPr>
          <p:cNvSpPr/>
          <p:nvPr/>
        </p:nvSpPr>
        <p:spPr>
          <a:xfrm>
            <a:off x="2954668" y="2249233"/>
            <a:ext cx="5219899" cy="162000"/>
          </a:xfrm>
          <a:prstGeom prst="rect">
            <a:avLst/>
          </a:prstGeom>
          <a:solidFill>
            <a:srgbClr val="EDE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7DCCCFF5-A8D7-C138-11E0-A31919CC9B0C}"/>
              </a:ext>
            </a:extLst>
          </p:cNvPr>
          <p:cNvSpPr txBox="1"/>
          <p:nvPr/>
        </p:nvSpPr>
        <p:spPr>
          <a:xfrm>
            <a:off x="2954668" y="2249233"/>
            <a:ext cx="434991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C6BC0"/>
                </a:solidFill>
                <a:latin typeface="Arial"/>
              </a:rPr>
              <a:t>1Q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1CC3E173-E79C-8660-4AD9-9555540967B9}"/>
              </a:ext>
            </a:extLst>
          </p:cNvPr>
          <p:cNvSpPr txBox="1"/>
          <p:nvPr/>
        </p:nvSpPr>
        <p:spPr>
          <a:xfrm>
            <a:off x="3389660" y="2249233"/>
            <a:ext cx="434991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C6BC0"/>
                </a:solidFill>
                <a:latin typeface="Arial"/>
              </a:rPr>
              <a:t>2Q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4A1778B3-AC96-0699-7B60-04C85CFE70C4}"/>
              </a:ext>
            </a:extLst>
          </p:cNvPr>
          <p:cNvSpPr txBox="1"/>
          <p:nvPr/>
        </p:nvSpPr>
        <p:spPr>
          <a:xfrm>
            <a:off x="3824651" y="2249233"/>
            <a:ext cx="434991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C6BC0"/>
                </a:solidFill>
                <a:latin typeface="Arial"/>
              </a:rPr>
              <a:t>3Q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9A668B2D-336D-4E94-924F-87C2E876C759}"/>
              </a:ext>
            </a:extLst>
          </p:cNvPr>
          <p:cNvSpPr txBox="1"/>
          <p:nvPr/>
        </p:nvSpPr>
        <p:spPr>
          <a:xfrm>
            <a:off x="4259643" y="2249233"/>
            <a:ext cx="434991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C6BC0"/>
                </a:solidFill>
                <a:latin typeface="Arial"/>
              </a:rPr>
              <a:t>4Q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C69C5244-9EE4-D6FB-A891-5E45E58EE2C1}"/>
              </a:ext>
            </a:extLst>
          </p:cNvPr>
          <p:cNvSpPr txBox="1"/>
          <p:nvPr/>
        </p:nvSpPr>
        <p:spPr>
          <a:xfrm>
            <a:off x="4694635" y="2249233"/>
            <a:ext cx="434991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C6BC0"/>
                </a:solidFill>
                <a:latin typeface="Arial"/>
              </a:rPr>
              <a:t>1Q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874C43DA-086D-5AA1-D3D7-1D91B87A5BAF}"/>
              </a:ext>
            </a:extLst>
          </p:cNvPr>
          <p:cNvSpPr txBox="1"/>
          <p:nvPr/>
        </p:nvSpPr>
        <p:spPr>
          <a:xfrm>
            <a:off x="5129626" y="2249233"/>
            <a:ext cx="434991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C6BC0"/>
                </a:solidFill>
                <a:latin typeface="Arial"/>
              </a:rPr>
              <a:t>2Q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BB25F716-8539-9586-CFC2-BBCCFEF786BD}"/>
              </a:ext>
            </a:extLst>
          </p:cNvPr>
          <p:cNvSpPr txBox="1"/>
          <p:nvPr/>
        </p:nvSpPr>
        <p:spPr>
          <a:xfrm>
            <a:off x="5564618" y="2249233"/>
            <a:ext cx="434991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C6BC0"/>
                </a:solidFill>
                <a:latin typeface="Arial"/>
              </a:rPr>
              <a:t>3Q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91CD4795-C956-9B9F-17FC-7B8DB5CE54EA}"/>
              </a:ext>
            </a:extLst>
          </p:cNvPr>
          <p:cNvSpPr txBox="1"/>
          <p:nvPr/>
        </p:nvSpPr>
        <p:spPr>
          <a:xfrm>
            <a:off x="5999609" y="2249233"/>
            <a:ext cx="434991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C6BC0"/>
                </a:solidFill>
                <a:latin typeface="Arial"/>
              </a:rPr>
              <a:t>4Q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051405B8-EF3A-7228-033E-A0A07E913F81}"/>
              </a:ext>
            </a:extLst>
          </p:cNvPr>
          <p:cNvSpPr txBox="1"/>
          <p:nvPr/>
        </p:nvSpPr>
        <p:spPr>
          <a:xfrm>
            <a:off x="6434601" y="2249233"/>
            <a:ext cx="434991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C6BC0"/>
                </a:solidFill>
                <a:latin typeface="Arial"/>
              </a:rPr>
              <a:t>1Q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D4C6BF81-BB8F-D37D-E545-B0D327BD2497}"/>
              </a:ext>
            </a:extLst>
          </p:cNvPr>
          <p:cNvSpPr txBox="1"/>
          <p:nvPr/>
        </p:nvSpPr>
        <p:spPr>
          <a:xfrm>
            <a:off x="6869593" y="2249233"/>
            <a:ext cx="434991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C6BC0"/>
                </a:solidFill>
                <a:latin typeface="Arial"/>
              </a:rPr>
              <a:t>2Q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9DC6BDB5-F4B3-8B5A-7A17-D63D50A48236}"/>
              </a:ext>
            </a:extLst>
          </p:cNvPr>
          <p:cNvSpPr txBox="1"/>
          <p:nvPr/>
        </p:nvSpPr>
        <p:spPr>
          <a:xfrm>
            <a:off x="7304584" y="2249233"/>
            <a:ext cx="434991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C6BC0"/>
                </a:solidFill>
                <a:latin typeface="Arial"/>
              </a:rPr>
              <a:t>3Q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0CECFAD2-4167-4531-B923-331E449F76F7}"/>
              </a:ext>
            </a:extLst>
          </p:cNvPr>
          <p:cNvSpPr txBox="1"/>
          <p:nvPr/>
        </p:nvSpPr>
        <p:spPr>
          <a:xfrm>
            <a:off x="7739575" y="2249233"/>
            <a:ext cx="434991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C6BC0"/>
                </a:solidFill>
                <a:latin typeface="Arial"/>
              </a:rPr>
              <a:t>4Q</a:t>
            </a:r>
          </a:p>
        </p:txBody>
      </p:sp>
      <p:cxnSp>
        <p:nvCxnSpPr>
          <p:cNvPr id="131" name="Connector 79">
            <a:extLst>
              <a:ext uri="{FF2B5EF4-FFF2-40B4-BE49-F238E27FC236}">
                <a16:creationId xmlns:a16="http://schemas.microsoft.com/office/drawing/2014/main" id="{757763DB-D1B2-70C4-E6E8-A18C0F2E1E91}"/>
              </a:ext>
            </a:extLst>
          </p:cNvPr>
          <p:cNvCxnSpPr/>
          <p:nvPr/>
        </p:nvCxnSpPr>
        <p:spPr>
          <a:xfrm>
            <a:off x="2954668" y="2249233"/>
            <a:ext cx="0" cy="3085200"/>
          </a:xfrm>
          <a:prstGeom prst="line">
            <a:avLst/>
          </a:prstGeom>
          <a:ln w="12700">
            <a:solidFill>
              <a:srgbClr val="7986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80">
            <a:extLst>
              <a:ext uri="{FF2B5EF4-FFF2-40B4-BE49-F238E27FC236}">
                <a16:creationId xmlns:a16="http://schemas.microsoft.com/office/drawing/2014/main" id="{098EC66F-1257-5271-906B-41B750BA6FC8}"/>
              </a:ext>
            </a:extLst>
          </p:cNvPr>
          <p:cNvCxnSpPr/>
          <p:nvPr/>
        </p:nvCxnSpPr>
        <p:spPr>
          <a:xfrm>
            <a:off x="3389660" y="2249233"/>
            <a:ext cx="0" cy="3085200"/>
          </a:xfrm>
          <a:prstGeom prst="line">
            <a:avLst/>
          </a:prstGeom>
          <a:ln w="635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81">
            <a:extLst>
              <a:ext uri="{FF2B5EF4-FFF2-40B4-BE49-F238E27FC236}">
                <a16:creationId xmlns:a16="http://schemas.microsoft.com/office/drawing/2014/main" id="{2567E60E-DBF3-5D38-DE95-BC03496996F5}"/>
              </a:ext>
            </a:extLst>
          </p:cNvPr>
          <p:cNvCxnSpPr/>
          <p:nvPr/>
        </p:nvCxnSpPr>
        <p:spPr>
          <a:xfrm>
            <a:off x="3824651" y="2249233"/>
            <a:ext cx="0" cy="3085200"/>
          </a:xfrm>
          <a:prstGeom prst="line">
            <a:avLst/>
          </a:prstGeom>
          <a:ln w="635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82">
            <a:extLst>
              <a:ext uri="{FF2B5EF4-FFF2-40B4-BE49-F238E27FC236}">
                <a16:creationId xmlns:a16="http://schemas.microsoft.com/office/drawing/2014/main" id="{86D17D0B-EA34-F7B7-E554-CDB8B0EA5A75}"/>
              </a:ext>
            </a:extLst>
          </p:cNvPr>
          <p:cNvCxnSpPr/>
          <p:nvPr/>
        </p:nvCxnSpPr>
        <p:spPr>
          <a:xfrm>
            <a:off x="4259643" y="2249233"/>
            <a:ext cx="0" cy="3085200"/>
          </a:xfrm>
          <a:prstGeom prst="line">
            <a:avLst/>
          </a:prstGeom>
          <a:ln w="635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83">
            <a:extLst>
              <a:ext uri="{FF2B5EF4-FFF2-40B4-BE49-F238E27FC236}">
                <a16:creationId xmlns:a16="http://schemas.microsoft.com/office/drawing/2014/main" id="{1F8EA9DF-1E6E-BF97-9619-4203766D95A1}"/>
              </a:ext>
            </a:extLst>
          </p:cNvPr>
          <p:cNvCxnSpPr/>
          <p:nvPr/>
        </p:nvCxnSpPr>
        <p:spPr>
          <a:xfrm>
            <a:off x="4694635" y="2249233"/>
            <a:ext cx="0" cy="3085200"/>
          </a:xfrm>
          <a:prstGeom prst="line">
            <a:avLst/>
          </a:prstGeom>
          <a:ln w="12700">
            <a:solidFill>
              <a:srgbClr val="7986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84">
            <a:extLst>
              <a:ext uri="{FF2B5EF4-FFF2-40B4-BE49-F238E27FC236}">
                <a16:creationId xmlns:a16="http://schemas.microsoft.com/office/drawing/2014/main" id="{F19D1068-D027-548C-E3E4-DD4524FA18ED}"/>
              </a:ext>
            </a:extLst>
          </p:cNvPr>
          <p:cNvCxnSpPr/>
          <p:nvPr/>
        </p:nvCxnSpPr>
        <p:spPr>
          <a:xfrm>
            <a:off x="5129626" y="2249233"/>
            <a:ext cx="0" cy="3085200"/>
          </a:xfrm>
          <a:prstGeom prst="line">
            <a:avLst/>
          </a:prstGeom>
          <a:ln w="635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85">
            <a:extLst>
              <a:ext uri="{FF2B5EF4-FFF2-40B4-BE49-F238E27FC236}">
                <a16:creationId xmlns:a16="http://schemas.microsoft.com/office/drawing/2014/main" id="{C87A9C0E-92F7-8C18-0148-A70BA2C71CDC}"/>
              </a:ext>
            </a:extLst>
          </p:cNvPr>
          <p:cNvCxnSpPr/>
          <p:nvPr/>
        </p:nvCxnSpPr>
        <p:spPr>
          <a:xfrm>
            <a:off x="5564618" y="2249233"/>
            <a:ext cx="0" cy="3085200"/>
          </a:xfrm>
          <a:prstGeom prst="line">
            <a:avLst/>
          </a:prstGeom>
          <a:ln w="635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86">
            <a:extLst>
              <a:ext uri="{FF2B5EF4-FFF2-40B4-BE49-F238E27FC236}">
                <a16:creationId xmlns:a16="http://schemas.microsoft.com/office/drawing/2014/main" id="{D56A04C9-0E75-31B4-2493-8C8D693B6AEB}"/>
              </a:ext>
            </a:extLst>
          </p:cNvPr>
          <p:cNvCxnSpPr/>
          <p:nvPr/>
        </p:nvCxnSpPr>
        <p:spPr>
          <a:xfrm>
            <a:off x="5999609" y="2249233"/>
            <a:ext cx="0" cy="3085200"/>
          </a:xfrm>
          <a:prstGeom prst="line">
            <a:avLst/>
          </a:prstGeom>
          <a:ln w="635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87">
            <a:extLst>
              <a:ext uri="{FF2B5EF4-FFF2-40B4-BE49-F238E27FC236}">
                <a16:creationId xmlns:a16="http://schemas.microsoft.com/office/drawing/2014/main" id="{3F16021E-3C29-5C6A-44A2-BA1AFCCE01C8}"/>
              </a:ext>
            </a:extLst>
          </p:cNvPr>
          <p:cNvCxnSpPr/>
          <p:nvPr/>
        </p:nvCxnSpPr>
        <p:spPr>
          <a:xfrm>
            <a:off x="6434601" y="2249233"/>
            <a:ext cx="0" cy="3085200"/>
          </a:xfrm>
          <a:prstGeom prst="line">
            <a:avLst/>
          </a:prstGeom>
          <a:ln w="12700">
            <a:solidFill>
              <a:srgbClr val="7986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88">
            <a:extLst>
              <a:ext uri="{FF2B5EF4-FFF2-40B4-BE49-F238E27FC236}">
                <a16:creationId xmlns:a16="http://schemas.microsoft.com/office/drawing/2014/main" id="{DF229B76-FB26-C79A-6BA5-7823BAFBAB39}"/>
              </a:ext>
            </a:extLst>
          </p:cNvPr>
          <p:cNvCxnSpPr/>
          <p:nvPr/>
        </p:nvCxnSpPr>
        <p:spPr>
          <a:xfrm>
            <a:off x="6869593" y="2249233"/>
            <a:ext cx="0" cy="3085200"/>
          </a:xfrm>
          <a:prstGeom prst="line">
            <a:avLst/>
          </a:prstGeom>
          <a:ln w="635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89">
            <a:extLst>
              <a:ext uri="{FF2B5EF4-FFF2-40B4-BE49-F238E27FC236}">
                <a16:creationId xmlns:a16="http://schemas.microsoft.com/office/drawing/2014/main" id="{C12359A7-7732-4DD8-9F5F-D1270EECBAB5}"/>
              </a:ext>
            </a:extLst>
          </p:cNvPr>
          <p:cNvCxnSpPr/>
          <p:nvPr/>
        </p:nvCxnSpPr>
        <p:spPr>
          <a:xfrm>
            <a:off x="7304584" y="2249233"/>
            <a:ext cx="0" cy="3085200"/>
          </a:xfrm>
          <a:prstGeom prst="line">
            <a:avLst/>
          </a:prstGeom>
          <a:ln w="635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90">
            <a:extLst>
              <a:ext uri="{FF2B5EF4-FFF2-40B4-BE49-F238E27FC236}">
                <a16:creationId xmlns:a16="http://schemas.microsoft.com/office/drawing/2014/main" id="{452F4D21-F144-B312-26B2-D08DC8F141EA}"/>
              </a:ext>
            </a:extLst>
          </p:cNvPr>
          <p:cNvCxnSpPr/>
          <p:nvPr/>
        </p:nvCxnSpPr>
        <p:spPr>
          <a:xfrm>
            <a:off x="7739575" y="2249233"/>
            <a:ext cx="0" cy="3085200"/>
          </a:xfrm>
          <a:prstGeom prst="line">
            <a:avLst/>
          </a:prstGeom>
          <a:ln w="635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91">
            <a:extLst>
              <a:ext uri="{FF2B5EF4-FFF2-40B4-BE49-F238E27FC236}">
                <a16:creationId xmlns:a16="http://schemas.microsoft.com/office/drawing/2014/main" id="{BFC24B34-DD0D-E422-5C9A-7C72D37328DB}"/>
              </a:ext>
            </a:extLst>
          </p:cNvPr>
          <p:cNvCxnSpPr/>
          <p:nvPr/>
        </p:nvCxnSpPr>
        <p:spPr>
          <a:xfrm>
            <a:off x="8174567" y="2249233"/>
            <a:ext cx="0" cy="3085200"/>
          </a:xfrm>
          <a:prstGeom prst="line">
            <a:avLst/>
          </a:prstGeom>
          <a:ln w="12700">
            <a:solidFill>
              <a:srgbClr val="7986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Rectangle 147">
            <a:extLst>
              <a:ext uri="{FF2B5EF4-FFF2-40B4-BE49-F238E27FC236}">
                <a16:creationId xmlns:a16="http://schemas.microsoft.com/office/drawing/2014/main" id="{E32782F6-1339-CF72-6541-D661CD5EA757}"/>
              </a:ext>
            </a:extLst>
          </p:cNvPr>
          <p:cNvSpPr/>
          <p:nvPr/>
        </p:nvSpPr>
        <p:spPr>
          <a:xfrm>
            <a:off x="2954668" y="2224032"/>
            <a:ext cx="5219899" cy="345600"/>
          </a:xfrm>
          <a:prstGeom prst="rect">
            <a:avLst/>
          </a:prstGeom>
          <a:solidFill>
            <a:srgbClr val="FA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C9C1B6CE-301E-E80B-534B-52CD4B0B1E9B}"/>
              </a:ext>
            </a:extLst>
          </p:cNvPr>
          <p:cNvSpPr/>
          <p:nvPr/>
        </p:nvSpPr>
        <p:spPr>
          <a:xfrm>
            <a:off x="2965030" y="2303233"/>
            <a:ext cx="1719242" cy="1872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30250A0C-C752-E8F1-CD8E-7333166D1EA0}"/>
              </a:ext>
            </a:extLst>
          </p:cNvPr>
          <p:cNvSpPr txBox="1"/>
          <p:nvPr/>
        </p:nvSpPr>
        <p:spPr>
          <a:xfrm>
            <a:off x="2911318" y="2295033"/>
            <a:ext cx="178935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dirty="0" err="1">
                <a:solidFill>
                  <a:srgbClr val="FFFFF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전구체</a:t>
            </a:r>
            <a:r>
              <a:rPr sz="800" b="0" dirty="0">
                <a:solidFill>
                  <a:srgbClr val="FFFFF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</a:t>
            </a:r>
            <a:r>
              <a:rPr sz="800" b="0" dirty="0" err="1">
                <a:solidFill>
                  <a:srgbClr val="FFFFF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최적화</a:t>
            </a:r>
            <a:r>
              <a:rPr sz="800" b="0" dirty="0">
                <a:solidFill>
                  <a:srgbClr val="FFFFF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및 ALD </a:t>
            </a:r>
            <a:r>
              <a:rPr sz="800" b="0" dirty="0" err="1">
                <a:solidFill>
                  <a:srgbClr val="FFFFF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파라미터</a:t>
            </a:r>
            <a:r>
              <a:rPr sz="800" b="0" dirty="0">
                <a:solidFill>
                  <a:srgbClr val="FFFFF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</a:t>
            </a:r>
            <a:r>
              <a:rPr sz="800" b="0" dirty="0" err="1">
                <a:solidFill>
                  <a:srgbClr val="FFFFF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탐색</a:t>
            </a:r>
            <a:endParaRPr sz="800" b="0" dirty="0">
              <a:solidFill>
                <a:srgbClr val="FFFFFF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52F9318E-CA32-86BB-BB73-7BBAB04362D7}"/>
              </a:ext>
            </a:extLst>
          </p:cNvPr>
          <p:cNvSpPr/>
          <p:nvPr/>
        </p:nvSpPr>
        <p:spPr>
          <a:xfrm>
            <a:off x="2954668" y="2569632"/>
            <a:ext cx="5219899" cy="345600"/>
          </a:xfrm>
          <a:prstGeom prst="rect">
            <a:avLst/>
          </a:prstGeom>
          <a:solidFill>
            <a:srgbClr val="FA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3FA7D43D-C162-8535-267B-029240BB1A04}"/>
              </a:ext>
            </a:extLst>
          </p:cNvPr>
          <p:cNvSpPr/>
          <p:nvPr/>
        </p:nvSpPr>
        <p:spPr>
          <a:xfrm>
            <a:off x="3400022" y="2648832"/>
            <a:ext cx="2154233" cy="1872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B70FA59A-EEF0-BD7A-030B-077D1D7E0717}"/>
              </a:ext>
            </a:extLst>
          </p:cNvPr>
          <p:cNvSpPr txBox="1"/>
          <p:nvPr/>
        </p:nvSpPr>
        <p:spPr>
          <a:xfrm>
            <a:off x="3400022" y="2648832"/>
            <a:ext cx="215423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XRD / XPS / TEM-EDS / ToF-SIMS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471CE5D1-E068-5535-48A0-3DA2655D16FD}"/>
              </a:ext>
            </a:extLst>
          </p:cNvPr>
          <p:cNvSpPr/>
          <p:nvPr/>
        </p:nvSpPr>
        <p:spPr>
          <a:xfrm>
            <a:off x="2954668" y="2915232"/>
            <a:ext cx="5219899" cy="345600"/>
          </a:xfrm>
          <a:prstGeom prst="rect">
            <a:avLst/>
          </a:prstGeom>
          <a:solidFill>
            <a:srgbClr val="FA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8FC7B023-3416-5CF9-AEAE-8EADC78A9299}"/>
              </a:ext>
            </a:extLst>
          </p:cNvPr>
          <p:cNvSpPr/>
          <p:nvPr/>
        </p:nvSpPr>
        <p:spPr>
          <a:xfrm>
            <a:off x="3617415" y="2994433"/>
            <a:ext cx="1066856" cy="18720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984DE01C-9BE0-9A0F-A2D1-CF2236F05B34}"/>
              </a:ext>
            </a:extLst>
          </p:cNvPr>
          <p:cNvSpPr txBox="1"/>
          <p:nvPr/>
        </p:nvSpPr>
        <p:spPr>
          <a:xfrm>
            <a:off x="3594184" y="2990453"/>
            <a:ext cx="114968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dirty="0">
                <a:solidFill>
                  <a:srgbClr val="FFFFF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EIS · Li⁺ </a:t>
            </a:r>
            <a:r>
              <a:rPr sz="800" b="0" dirty="0" err="1">
                <a:solidFill>
                  <a:srgbClr val="FFFFF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이온전도도</a:t>
            </a:r>
            <a:endParaRPr sz="800" b="0" dirty="0">
              <a:solidFill>
                <a:srgbClr val="FFFFFF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32193BCD-B4AB-9989-695D-E50EFD4CBB2A}"/>
              </a:ext>
            </a:extLst>
          </p:cNvPr>
          <p:cNvSpPr/>
          <p:nvPr/>
        </p:nvSpPr>
        <p:spPr>
          <a:xfrm>
            <a:off x="2954668" y="3260833"/>
            <a:ext cx="5219899" cy="345600"/>
          </a:xfrm>
          <a:prstGeom prst="rect">
            <a:avLst/>
          </a:prstGeom>
          <a:solidFill>
            <a:srgbClr val="F5F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57A632D6-D0EF-4098-FA43-FEBB216A22C1}"/>
              </a:ext>
            </a:extLst>
          </p:cNvPr>
          <p:cNvSpPr/>
          <p:nvPr/>
        </p:nvSpPr>
        <p:spPr>
          <a:xfrm>
            <a:off x="3835013" y="3340033"/>
            <a:ext cx="2589225" cy="18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4E393352-50DB-6D06-2014-F92B0EF30C84}"/>
              </a:ext>
            </a:extLst>
          </p:cNvPr>
          <p:cNvSpPr txBox="1"/>
          <p:nvPr/>
        </p:nvSpPr>
        <p:spPr>
          <a:xfrm>
            <a:off x="3835013" y="3340033"/>
            <a:ext cx="258922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dirty="0">
                <a:solidFill>
                  <a:srgbClr val="FFFFF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Cryo-TEM Li </a:t>
            </a:r>
            <a:r>
              <a:rPr sz="800" b="0" dirty="0" err="1">
                <a:solidFill>
                  <a:srgbClr val="FFFFF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핵생성</a:t>
            </a:r>
            <a:r>
              <a:rPr sz="800" b="0" dirty="0">
                <a:solidFill>
                  <a:srgbClr val="FFFFF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</a:t>
            </a:r>
            <a:r>
              <a:rPr sz="800" b="0" dirty="0" err="1">
                <a:solidFill>
                  <a:srgbClr val="FFFFF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나노구조</a:t>
            </a:r>
            <a:r>
              <a:rPr sz="800" b="0" dirty="0">
                <a:solidFill>
                  <a:srgbClr val="FFFFF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</a:t>
            </a:r>
            <a:r>
              <a:rPr sz="800" b="0" dirty="0" err="1">
                <a:solidFill>
                  <a:srgbClr val="FFFFF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관찰</a:t>
            </a:r>
            <a:endParaRPr sz="800" b="0" dirty="0">
              <a:solidFill>
                <a:srgbClr val="FFFFFF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F2F58E69-6B4A-3993-04B4-A6C495EB29D6}"/>
              </a:ext>
            </a:extLst>
          </p:cNvPr>
          <p:cNvSpPr/>
          <p:nvPr/>
        </p:nvSpPr>
        <p:spPr>
          <a:xfrm>
            <a:off x="2954668" y="3606433"/>
            <a:ext cx="5219899" cy="345600"/>
          </a:xfrm>
          <a:prstGeom prst="rect">
            <a:avLst/>
          </a:prstGeom>
          <a:solidFill>
            <a:srgbClr val="F5F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F0EAD0D8-B0C0-EE0C-5516-71D7A7C7A372}"/>
              </a:ext>
            </a:extLst>
          </p:cNvPr>
          <p:cNvSpPr/>
          <p:nvPr/>
        </p:nvSpPr>
        <p:spPr>
          <a:xfrm>
            <a:off x="4270004" y="3685633"/>
            <a:ext cx="2154233" cy="187200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B228ABA5-2415-1F59-DC7D-2AFCADA28CAB}"/>
              </a:ext>
            </a:extLst>
          </p:cNvPr>
          <p:cNvSpPr txBox="1"/>
          <p:nvPr/>
        </p:nvSpPr>
        <p:spPr>
          <a:xfrm>
            <a:off x="4270004" y="3685633"/>
            <a:ext cx="215423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Operando XRD / in-situ SEM 모니터링</a:t>
            </a: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02FDAAB6-F178-5C68-C544-7541EB7F2193}"/>
              </a:ext>
            </a:extLst>
          </p:cNvPr>
          <p:cNvSpPr/>
          <p:nvPr/>
        </p:nvSpPr>
        <p:spPr>
          <a:xfrm>
            <a:off x="2954668" y="3952032"/>
            <a:ext cx="5219899" cy="345600"/>
          </a:xfrm>
          <a:prstGeom prst="rect">
            <a:avLst/>
          </a:prstGeom>
          <a:solidFill>
            <a:srgbClr val="F5F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5AF677B8-EE66-D3D6-8C5C-BA526A1CAF46}"/>
              </a:ext>
            </a:extLst>
          </p:cNvPr>
          <p:cNvSpPr/>
          <p:nvPr/>
        </p:nvSpPr>
        <p:spPr>
          <a:xfrm>
            <a:off x="4270004" y="4031232"/>
            <a:ext cx="2154233" cy="18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BF6B294A-4754-6FD2-D8D4-14219D2CB8CA}"/>
              </a:ext>
            </a:extLst>
          </p:cNvPr>
          <p:cNvSpPr txBox="1"/>
          <p:nvPr/>
        </p:nvSpPr>
        <p:spPr>
          <a:xfrm>
            <a:off x="4270004" y="4031232"/>
            <a:ext cx="215423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DFT: 불화물/Li 계면 Li⁺ 확산 에너지</a:t>
            </a: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BE710C44-8B28-8FA1-2F86-0C10883F5259}"/>
              </a:ext>
            </a:extLst>
          </p:cNvPr>
          <p:cNvSpPr/>
          <p:nvPr/>
        </p:nvSpPr>
        <p:spPr>
          <a:xfrm>
            <a:off x="2954668" y="4297633"/>
            <a:ext cx="5219899" cy="3456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CD4141BB-5CA0-0006-D16A-D8D6AA52ABE2}"/>
              </a:ext>
            </a:extLst>
          </p:cNvPr>
          <p:cNvSpPr/>
          <p:nvPr/>
        </p:nvSpPr>
        <p:spPr>
          <a:xfrm>
            <a:off x="5574980" y="4376833"/>
            <a:ext cx="2589225" cy="1872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9BAAF75E-BF49-818B-593E-21D9730509CB}"/>
              </a:ext>
            </a:extLst>
          </p:cNvPr>
          <p:cNvSpPr txBox="1"/>
          <p:nvPr/>
        </p:nvSpPr>
        <p:spPr>
          <a:xfrm>
            <a:off x="5574980" y="4376833"/>
            <a:ext cx="258922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Li||NCM Full Cell 장기 사이클링 (&gt;300 cycles)</a:t>
            </a:r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D3EF0248-7C0F-9241-57EF-365C7FBE1762}"/>
              </a:ext>
            </a:extLst>
          </p:cNvPr>
          <p:cNvSpPr/>
          <p:nvPr/>
        </p:nvSpPr>
        <p:spPr>
          <a:xfrm>
            <a:off x="2954668" y="4643233"/>
            <a:ext cx="5219899" cy="3456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B44ED841-E4E0-7E9B-DB37-B994FF483C18}"/>
              </a:ext>
            </a:extLst>
          </p:cNvPr>
          <p:cNvSpPr/>
          <p:nvPr/>
        </p:nvSpPr>
        <p:spPr>
          <a:xfrm>
            <a:off x="6444963" y="4722432"/>
            <a:ext cx="1719242" cy="1872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0F24B811-EAAF-AC1D-7CA2-4D914D2910C8}"/>
              </a:ext>
            </a:extLst>
          </p:cNvPr>
          <p:cNvSpPr txBox="1"/>
          <p:nvPr/>
        </p:nvSpPr>
        <p:spPr>
          <a:xfrm>
            <a:off x="6444963" y="4722432"/>
            <a:ext cx="171924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Post-mortem XPS / TEM 분석</a:t>
            </a:r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9D3EE103-B7F5-0958-6459-229795E0FF8C}"/>
              </a:ext>
            </a:extLst>
          </p:cNvPr>
          <p:cNvSpPr/>
          <p:nvPr/>
        </p:nvSpPr>
        <p:spPr>
          <a:xfrm>
            <a:off x="2954668" y="4988833"/>
            <a:ext cx="5219899" cy="3456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18CD2B0E-38E1-964A-022C-AC5875361863}"/>
              </a:ext>
            </a:extLst>
          </p:cNvPr>
          <p:cNvSpPr/>
          <p:nvPr/>
        </p:nvSpPr>
        <p:spPr>
          <a:xfrm>
            <a:off x="6741138" y="5068033"/>
            <a:ext cx="1423066" cy="18720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F6B0CF69-AEDC-ECD2-DE99-E06A9B1065ED}"/>
              </a:ext>
            </a:extLst>
          </p:cNvPr>
          <p:cNvSpPr txBox="1"/>
          <p:nvPr/>
        </p:nvSpPr>
        <p:spPr>
          <a:xfrm>
            <a:off x="6741138" y="5060083"/>
            <a:ext cx="149476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dirty="0" err="1">
                <a:solidFill>
                  <a:srgbClr val="FFFFF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범용</a:t>
            </a:r>
            <a:r>
              <a:rPr sz="800" b="0" dirty="0">
                <a:solidFill>
                  <a:srgbClr val="FFFFF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ALD-SEI </a:t>
            </a:r>
            <a:r>
              <a:rPr sz="800" b="0" dirty="0" err="1">
                <a:solidFill>
                  <a:srgbClr val="FFFFF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설계</a:t>
            </a:r>
            <a:r>
              <a:rPr sz="800" b="0" dirty="0">
                <a:solidFill>
                  <a:srgbClr val="FFFFF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</a:t>
            </a:r>
            <a:r>
              <a:rPr sz="800" b="0" dirty="0" err="1">
                <a:solidFill>
                  <a:srgbClr val="FFFFF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원칙</a:t>
            </a:r>
            <a:r>
              <a:rPr sz="800" b="0" dirty="0">
                <a:solidFill>
                  <a:srgbClr val="FFFFF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</a:t>
            </a:r>
            <a:r>
              <a:rPr sz="800" b="0" dirty="0" err="1">
                <a:solidFill>
                  <a:srgbClr val="FFFFF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정립</a:t>
            </a:r>
            <a:endParaRPr sz="800" b="0" dirty="0">
              <a:solidFill>
                <a:srgbClr val="FFFFFF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cxnSp>
        <p:nvCxnSpPr>
          <p:cNvPr id="216" name="Connector 164">
            <a:extLst>
              <a:ext uri="{FF2B5EF4-FFF2-40B4-BE49-F238E27FC236}">
                <a16:creationId xmlns:a16="http://schemas.microsoft.com/office/drawing/2014/main" id="{28B9EAD6-21D6-89E9-F633-9AE885B4A7EB}"/>
              </a:ext>
            </a:extLst>
          </p:cNvPr>
          <p:cNvCxnSpPr/>
          <p:nvPr/>
        </p:nvCxnSpPr>
        <p:spPr>
          <a:xfrm>
            <a:off x="2954668" y="2224032"/>
            <a:ext cx="0" cy="3110401"/>
          </a:xfrm>
          <a:prstGeom prst="line">
            <a:avLst/>
          </a:prstGeom>
          <a:ln w="12700">
            <a:solidFill>
              <a:srgbClr val="7986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339346E2-7AD3-8CF9-3CF0-729A941BF577}"/>
              </a:ext>
            </a:extLst>
          </p:cNvPr>
          <p:cNvGrpSpPr/>
          <p:nvPr/>
        </p:nvGrpSpPr>
        <p:grpSpPr>
          <a:xfrm>
            <a:off x="1092468" y="2569632"/>
            <a:ext cx="7085923" cy="2793601"/>
            <a:chOff x="-133366" y="1932432"/>
            <a:chExt cx="9159545" cy="2793601"/>
          </a:xfrm>
        </p:grpSpPr>
        <p:cxnSp>
          <p:nvCxnSpPr>
            <p:cNvPr id="151" name="Connector 99">
              <a:extLst>
                <a:ext uri="{FF2B5EF4-FFF2-40B4-BE49-F238E27FC236}">
                  <a16:creationId xmlns:a16="http://schemas.microsoft.com/office/drawing/2014/main" id="{E2797AD0-54EA-9A46-3AD4-8C8A579226FD}"/>
                </a:ext>
              </a:extLst>
            </p:cNvPr>
            <p:cNvCxnSpPr/>
            <p:nvPr/>
          </p:nvCxnSpPr>
          <p:spPr>
            <a:xfrm>
              <a:off x="-122766" y="1932432"/>
              <a:ext cx="9144000" cy="0"/>
            </a:xfrm>
            <a:prstGeom prst="line">
              <a:avLst/>
            </a:prstGeom>
            <a:ln w="5080">
              <a:solidFill>
                <a:srgbClr val="C5CA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Connector 107">
              <a:extLst>
                <a:ext uri="{FF2B5EF4-FFF2-40B4-BE49-F238E27FC236}">
                  <a16:creationId xmlns:a16="http://schemas.microsoft.com/office/drawing/2014/main" id="{95C3023A-0A1A-401E-E2F4-985EB628C9E9}"/>
                </a:ext>
              </a:extLst>
            </p:cNvPr>
            <p:cNvCxnSpPr/>
            <p:nvPr/>
          </p:nvCxnSpPr>
          <p:spPr>
            <a:xfrm>
              <a:off x="-122766" y="2278032"/>
              <a:ext cx="9144000" cy="0"/>
            </a:xfrm>
            <a:prstGeom prst="line">
              <a:avLst/>
            </a:prstGeom>
            <a:ln w="5080">
              <a:solidFill>
                <a:srgbClr val="C5CA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Connector 115">
              <a:extLst>
                <a:ext uri="{FF2B5EF4-FFF2-40B4-BE49-F238E27FC236}">
                  <a16:creationId xmlns:a16="http://schemas.microsoft.com/office/drawing/2014/main" id="{B8654474-C37A-6732-0206-CBDBE8E6821E}"/>
                </a:ext>
              </a:extLst>
            </p:cNvPr>
            <p:cNvCxnSpPr/>
            <p:nvPr/>
          </p:nvCxnSpPr>
          <p:spPr>
            <a:xfrm>
              <a:off x="-122766" y="2623633"/>
              <a:ext cx="9144000" cy="0"/>
            </a:xfrm>
            <a:prstGeom prst="line">
              <a:avLst/>
            </a:prstGeom>
            <a:ln w="12700">
              <a:solidFill>
                <a:srgbClr val="7986C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Connector 123">
              <a:extLst>
                <a:ext uri="{FF2B5EF4-FFF2-40B4-BE49-F238E27FC236}">
                  <a16:creationId xmlns:a16="http://schemas.microsoft.com/office/drawing/2014/main" id="{6207829D-65CA-4D20-5E4E-3C6BA78B2D8A}"/>
                </a:ext>
              </a:extLst>
            </p:cNvPr>
            <p:cNvCxnSpPr/>
            <p:nvPr/>
          </p:nvCxnSpPr>
          <p:spPr>
            <a:xfrm>
              <a:off x="-122766" y="2969233"/>
              <a:ext cx="9144000" cy="0"/>
            </a:xfrm>
            <a:prstGeom prst="line">
              <a:avLst/>
            </a:prstGeom>
            <a:ln w="5080">
              <a:solidFill>
                <a:srgbClr val="C5CA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Connector 131">
              <a:extLst>
                <a:ext uri="{FF2B5EF4-FFF2-40B4-BE49-F238E27FC236}">
                  <a16:creationId xmlns:a16="http://schemas.microsoft.com/office/drawing/2014/main" id="{C36B9063-D760-6E9B-E56A-DB3AC64D43B0}"/>
                </a:ext>
              </a:extLst>
            </p:cNvPr>
            <p:cNvCxnSpPr/>
            <p:nvPr/>
          </p:nvCxnSpPr>
          <p:spPr>
            <a:xfrm>
              <a:off x="-122766" y="3314832"/>
              <a:ext cx="9144000" cy="0"/>
            </a:xfrm>
            <a:prstGeom prst="line">
              <a:avLst/>
            </a:prstGeom>
            <a:ln w="5080">
              <a:solidFill>
                <a:srgbClr val="C5CA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Connector 139">
              <a:extLst>
                <a:ext uri="{FF2B5EF4-FFF2-40B4-BE49-F238E27FC236}">
                  <a16:creationId xmlns:a16="http://schemas.microsoft.com/office/drawing/2014/main" id="{0E1A01BF-BE0E-FE91-2A88-B7E3103AD123}"/>
                </a:ext>
              </a:extLst>
            </p:cNvPr>
            <p:cNvCxnSpPr/>
            <p:nvPr/>
          </p:nvCxnSpPr>
          <p:spPr>
            <a:xfrm>
              <a:off x="-122766" y="3660433"/>
              <a:ext cx="9144000" cy="0"/>
            </a:xfrm>
            <a:prstGeom prst="line">
              <a:avLst/>
            </a:prstGeom>
            <a:ln w="12700">
              <a:solidFill>
                <a:srgbClr val="7986C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Connector 147">
              <a:extLst>
                <a:ext uri="{FF2B5EF4-FFF2-40B4-BE49-F238E27FC236}">
                  <a16:creationId xmlns:a16="http://schemas.microsoft.com/office/drawing/2014/main" id="{38541502-E9B2-6114-1ECE-2F2C7C9AB549}"/>
                </a:ext>
              </a:extLst>
            </p:cNvPr>
            <p:cNvCxnSpPr/>
            <p:nvPr/>
          </p:nvCxnSpPr>
          <p:spPr>
            <a:xfrm>
              <a:off x="-122766" y="4006033"/>
              <a:ext cx="9144000" cy="0"/>
            </a:xfrm>
            <a:prstGeom prst="line">
              <a:avLst/>
            </a:prstGeom>
            <a:ln w="5080">
              <a:solidFill>
                <a:srgbClr val="C5CA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Connector 155">
              <a:extLst>
                <a:ext uri="{FF2B5EF4-FFF2-40B4-BE49-F238E27FC236}">
                  <a16:creationId xmlns:a16="http://schemas.microsoft.com/office/drawing/2014/main" id="{1289DC5B-9E46-9E3D-D707-B780DE9338F7}"/>
                </a:ext>
              </a:extLst>
            </p:cNvPr>
            <p:cNvCxnSpPr/>
            <p:nvPr/>
          </p:nvCxnSpPr>
          <p:spPr>
            <a:xfrm>
              <a:off x="-122766" y="4351633"/>
              <a:ext cx="9144000" cy="0"/>
            </a:xfrm>
            <a:prstGeom prst="line">
              <a:avLst/>
            </a:prstGeom>
            <a:ln w="5080">
              <a:solidFill>
                <a:srgbClr val="C5CA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Connector 163">
              <a:extLst>
                <a:ext uri="{FF2B5EF4-FFF2-40B4-BE49-F238E27FC236}">
                  <a16:creationId xmlns:a16="http://schemas.microsoft.com/office/drawing/2014/main" id="{61AA2879-B0DA-6F41-9D58-DD91145F8316}"/>
                </a:ext>
              </a:extLst>
            </p:cNvPr>
            <p:cNvCxnSpPr/>
            <p:nvPr/>
          </p:nvCxnSpPr>
          <p:spPr>
            <a:xfrm>
              <a:off x="-133366" y="4697233"/>
              <a:ext cx="9144000" cy="0"/>
            </a:xfrm>
            <a:prstGeom prst="line">
              <a:avLst/>
            </a:prstGeom>
            <a:ln w="5080">
              <a:solidFill>
                <a:srgbClr val="C5CA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7" name="Rectangle 216">
              <a:extLst>
                <a:ext uri="{FF2B5EF4-FFF2-40B4-BE49-F238E27FC236}">
                  <a16:creationId xmlns:a16="http://schemas.microsoft.com/office/drawing/2014/main" id="{6BA035E6-8E2B-F2B9-D81B-166283BC7D91}"/>
                </a:ext>
              </a:extLst>
            </p:cNvPr>
            <p:cNvSpPr/>
            <p:nvPr/>
          </p:nvSpPr>
          <p:spPr>
            <a:xfrm>
              <a:off x="-117822" y="4697233"/>
              <a:ext cx="9144001" cy="28800"/>
            </a:xfrm>
            <a:prstGeom prst="rect">
              <a:avLst/>
            </a:prstGeom>
            <a:solidFill>
              <a:srgbClr val="28359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20" name="Rectangle 219">
            <a:extLst>
              <a:ext uri="{FF2B5EF4-FFF2-40B4-BE49-F238E27FC236}">
                <a16:creationId xmlns:a16="http://schemas.microsoft.com/office/drawing/2014/main" id="{CEAD66CB-5F9A-6FCA-C176-E947B3124986}"/>
              </a:ext>
            </a:extLst>
          </p:cNvPr>
          <p:cNvSpPr/>
          <p:nvPr/>
        </p:nvSpPr>
        <p:spPr>
          <a:xfrm>
            <a:off x="1059392" y="1547231"/>
            <a:ext cx="7073898" cy="2880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26327DF5-EAB5-9DEA-1FFD-78917F86B510}"/>
              </a:ext>
            </a:extLst>
          </p:cNvPr>
          <p:cNvSpPr/>
          <p:nvPr/>
        </p:nvSpPr>
        <p:spPr>
          <a:xfrm>
            <a:off x="301368" y="2011632"/>
            <a:ext cx="7883373" cy="33459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5A7FB96B-0DC2-589C-E311-5A05A63DB823}"/>
              </a:ext>
            </a:extLst>
          </p:cNvPr>
          <p:cNvSpPr/>
          <p:nvPr/>
        </p:nvSpPr>
        <p:spPr>
          <a:xfrm>
            <a:off x="301368" y="2229966"/>
            <a:ext cx="794276" cy="102240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Task 1</a:t>
            </a:r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1CF39448-0FAF-024A-EEDD-AC37C1FD6605}"/>
              </a:ext>
            </a:extLst>
          </p:cNvPr>
          <p:cNvSpPr/>
          <p:nvPr/>
        </p:nvSpPr>
        <p:spPr>
          <a:xfrm>
            <a:off x="301368" y="3264117"/>
            <a:ext cx="794276" cy="1022401"/>
          </a:xfrm>
          <a:prstGeom prst="rect">
            <a:avLst/>
          </a:prstGeom>
          <a:gradFill>
            <a:gsLst>
              <a:gs pos="0">
                <a:srgbClr val="00B050"/>
              </a:gs>
              <a:gs pos="100000">
                <a:schemeClr val="accent3">
                  <a:lumMod val="60000"/>
                  <a:lumOff val="40000"/>
                </a:schemeClr>
              </a:gs>
            </a:gsLst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Task 2</a:t>
            </a:r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323F7E1E-9B73-328D-B4D5-EB7626D79884}"/>
              </a:ext>
            </a:extLst>
          </p:cNvPr>
          <p:cNvSpPr/>
          <p:nvPr/>
        </p:nvSpPr>
        <p:spPr>
          <a:xfrm>
            <a:off x="301368" y="4303515"/>
            <a:ext cx="794276" cy="1030918"/>
          </a:xfrm>
          <a:prstGeom prst="rect">
            <a:avLst/>
          </a:prstGeom>
          <a:gradFill>
            <a:gsLst>
              <a:gs pos="0">
                <a:schemeClr val="accent6">
                  <a:lumMod val="75000"/>
                </a:schemeClr>
              </a:gs>
              <a:gs pos="100000">
                <a:schemeClr val="accent6">
                  <a:lumMod val="40000"/>
                  <a:lumOff val="60000"/>
                </a:schemeClr>
              </a:gs>
            </a:gsLst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Task 3</a:t>
            </a:r>
          </a:p>
        </p:txBody>
      </p:sp>
    </p:spTree>
    <p:extLst>
      <p:ext uri="{BB962C8B-B14F-4D97-AF65-F5344CB8AC3E}">
        <p14:creationId xmlns:p14="http://schemas.microsoft.com/office/powerpoint/2010/main" val="3713158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50DD9DC-847D-29A0-8A11-8ECAB600D0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14575" y="785812"/>
            <a:ext cx="7562850" cy="528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9033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angle 109">
            <a:extLst>
              <a:ext uri="{FF2B5EF4-FFF2-40B4-BE49-F238E27FC236}">
                <a16:creationId xmlns:a16="http://schemas.microsoft.com/office/drawing/2014/main" id="{DC18ED00-46B3-76E6-EB8B-FA73BF8060D7}"/>
              </a:ext>
            </a:extLst>
          </p:cNvPr>
          <p:cNvSpPr/>
          <p:nvPr/>
        </p:nvSpPr>
        <p:spPr>
          <a:xfrm>
            <a:off x="-158768" y="473900"/>
            <a:ext cx="9144000" cy="36000"/>
          </a:xfrm>
          <a:prstGeom prst="rect">
            <a:avLst/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6D4885DE-EE80-DFCB-2E3A-468ED1C8513A}"/>
              </a:ext>
            </a:extLst>
          </p:cNvPr>
          <p:cNvSpPr txBox="1"/>
          <p:nvPr/>
        </p:nvSpPr>
        <p:spPr>
          <a:xfrm>
            <a:off x="-122766" y="550031"/>
            <a:ext cx="288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dirty="0">
                <a:solidFill>
                  <a:srgbClr val="3F51B5"/>
                </a:solidFill>
                <a:latin typeface="맑은 고딕"/>
              </a:rPr>
              <a:t>▶ </a:t>
            </a:r>
            <a:r>
              <a:rPr sz="850" b="1" dirty="0" err="1">
                <a:solidFill>
                  <a:srgbClr val="3F51B5"/>
                </a:solidFill>
                <a:latin typeface="맑은 고딕"/>
              </a:rPr>
              <a:t>연차별</a:t>
            </a:r>
            <a:r>
              <a:rPr sz="850" b="1" dirty="0">
                <a:solidFill>
                  <a:srgbClr val="3F51B5"/>
                </a:solidFill>
                <a:latin typeface="맑은 고딕"/>
              </a:rPr>
              <a:t> </a:t>
            </a:r>
            <a:r>
              <a:rPr sz="850" b="1" dirty="0" err="1">
                <a:solidFill>
                  <a:srgbClr val="3F51B5"/>
                </a:solidFill>
                <a:latin typeface="맑은 고딕"/>
              </a:rPr>
              <a:t>연구</a:t>
            </a:r>
            <a:r>
              <a:rPr sz="850" b="1" dirty="0">
                <a:solidFill>
                  <a:srgbClr val="3F51B5"/>
                </a:solidFill>
                <a:latin typeface="맑은 고딕"/>
              </a:rPr>
              <a:t> </a:t>
            </a:r>
            <a:r>
              <a:rPr sz="850" b="1" dirty="0" err="1">
                <a:solidFill>
                  <a:srgbClr val="3F51B5"/>
                </a:solidFill>
                <a:latin typeface="맑은 고딕"/>
              </a:rPr>
              <a:t>추진</a:t>
            </a:r>
            <a:r>
              <a:rPr sz="850" b="1" dirty="0">
                <a:solidFill>
                  <a:srgbClr val="3F51B5"/>
                </a:solidFill>
                <a:latin typeface="맑은 고딕"/>
              </a:rPr>
              <a:t> </a:t>
            </a:r>
            <a:r>
              <a:rPr sz="850" b="1" dirty="0" err="1">
                <a:solidFill>
                  <a:srgbClr val="3F51B5"/>
                </a:solidFill>
                <a:latin typeface="맑은 고딕"/>
              </a:rPr>
              <a:t>일정</a:t>
            </a:r>
            <a:r>
              <a:rPr sz="850" b="1" dirty="0">
                <a:solidFill>
                  <a:srgbClr val="3F51B5"/>
                </a:solidFill>
                <a:latin typeface="맑은 고딕"/>
              </a:rPr>
              <a:t> (</a:t>
            </a:r>
            <a:r>
              <a:rPr sz="850" b="1" dirty="0" err="1">
                <a:solidFill>
                  <a:srgbClr val="3F51B5"/>
                </a:solidFill>
                <a:latin typeface="맑은 고딕"/>
              </a:rPr>
              <a:t>간트</a:t>
            </a:r>
            <a:r>
              <a:rPr sz="850" b="1" dirty="0">
                <a:solidFill>
                  <a:srgbClr val="3F51B5"/>
                </a:solidFill>
                <a:latin typeface="맑은 고딕"/>
              </a:rPr>
              <a:t> </a:t>
            </a:r>
            <a:r>
              <a:rPr sz="850" b="1" dirty="0" err="1">
                <a:solidFill>
                  <a:srgbClr val="3F51B5"/>
                </a:solidFill>
                <a:latin typeface="맑은 고딕"/>
              </a:rPr>
              <a:t>차트</a:t>
            </a:r>
            <a:r>
              <a:rPr sz="850" b="1" dirty="0">
                <a:solidFill>
                  <a:srgbClr val="3F51B5"/>
                </a:solidFill>
                <a:latin typeface="맑은 고딕"/>
              </a:rPr>
              <a:t>)</a:t>
            </a:r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CEAD66CB-5F9A-6FCA-C176-E947B3124986}"/>
              </a:ext>
            </a:extLst>
          </p:cNvPr>
          <p:cNvSpPr/>
          <p:nvPr/>
        </p:nvSpPr>
        <p:spPr>
          <a:xfrm>
            <a:off x="1059392" y="1547231"/>
            <a:ext cx="7073898" cy="2880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23AEC1B-2685-ACCA-DF96-D419DE28A4B1}"/>
              </a:ext>
            </a:extLst>
          </p:cNvPr>
          <p:cNvGrpSpPr/>
          <p:nvPr/>
        </p:nvGrpSpPr>
        <p:grpSpPr>
          <a:xfrm>
            <a:off x="320684" y="2011632"/>
            <a:ext cx="7915217" cy="3345934"/>
            <a:chOff x="320684" y="2011632"/>
            <a:chExt cx="7915217" cy="3345934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AE10864-A4BA-1E19-39D6-FB40BFF72EE0}"/>
                </a:ext>
              </a:extLst>
            </p:cNvPr>
            <p:cNvGrpSpPr/>
            <p:nvPr/>
          </p:nvGrpSpPr>
          <p:grpSpPr>
            <a:xfrm>
              <a:off x="320684" y="2011632"/>
              <a:ext cx="7915217" cy="3345934"/>
              <a:chOff x="320684" y="2011632"/>
              <a:chExt cx="7915217" cy="3345934"/>
            </a:xfrm>
          </p:grpSpPr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503881FD-E899-0FE3-7A97-6AD16115C2C0}"/>
                  </a:ext>
                </a:extLst>
              </p:cNvPr>
              <p:cNvSpPr/>
              <p:nvPr/>
            </p:nvSpPr>
            <p:spPr>
              <a:xfrm>
                <a:off x="1100668" y="2224032"/>
                <a:ext cx="1854000" cy="345600"/>
              </a:xfrm>
              <a:prstGeom prst="rect">
                <a:avLst/>
              </a:prstGeom>
              <a:solidFill>
                <a:srgbClr val="E3F2FD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5" name="Rectangle 144">
                <a:extLst>
                  <a:ext uri="{FF2B5EF4-FFF2-40B4-BE49-F238E27FC236}">
                    <a16:creationId xmlns:a16="http://schemas.microsoft.com/office/drawing/2014/main" id="{D869DAAF-2B9A-6103-C452-C6C1EF27FEEF}"/>
                  </a:ext>
                </a:extLst>
              </p:cNvPr>
              <p:cNvSpPr/>
              <p:nvPr/>
            </p:nvSpPr>
            <p:spPr>
              <a:xfrm>
                <a:off x="1100668" y="2224032"/>
                <a:ext cx="64800" cy="345600"/>
              </a:xfrm>
              <a:prstGeom prst="rect">
                <a:avLst/>
              </a:prstGeom>
              <a:solidFill>
                <a:srgbClr val="1565C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47212D52-F7FF-D74B-8BD7-9260C5BEB11A}"/>
                  </a:ext>
                </a:extLst>
              </p:cNvPr>
              <p:cNvSpPr txBox="1"/>
              <p:nvPr/>
            </p:nvSpPr>
            <p:spPr>
              <a:xfrm>
                <a:off x="1190668" y="2238432"/>
                <a:ext cx="1746000" cy="2123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780" b="1" dirty="0">
                    <a:solidFill>
                      <a:srgbClr val="1565C0"/>
                    </a:solidFill>
                    <a:latin typeface="에스코어 드림 6 Bold" panose="020B0703030302020204" pitchFamily="34" charset="-127"/>
                    <a:ea typeface="에스코어 드림 6 Bold" panose="020B0703030302020204" pitchFamily="34" charset="-127"/>
                  </a:rPr>
                  <a:t>① ALD </a:t>
                </a:r>
                <a:r>
                  <a:rPr sz="780" b="1" dirty="0" err="1">
                    <a:solidFill>
                      <a:srgbClr val="1565C0"/>
                    </a:solidFill>
                    <a:latin typeface="에스코어 드림 6 Bold" panose="020B0703030302020204" pitchFamily="34" charset="-127"/>
                    <a:ea typeface="에스코어 드림 6 Bold" panose="020B0703030302020204" pitchFamily="34" charset="-127"/>
                  </a:rPr>
                  <a:t>증착</a:t>
                </a:r>
                <a:r>
                  <a:rPr sz="780" b="1" dirty="0">
                    <a:solidFill>
                      <a:srgbClr val="1565C0"/>
                    </a:solidFill>
                    <a:latin typeface="에스코어 드림 6 Bold" panose="020B0703030302020204" pitchFamily="34" charset="-127"/>
                    <a:ea typeface="에스코어 드림 6 Bold" panose="020B0703030302020204" pitchFamily="34" charset="-127"/>
                  </a:rPr>
                  <a:t> </a:t>
                </a:r>
                <a:r>
                  <a:rPr sz="780" b="1" dirty="0" err="1">
                    <a:solidFill>
                      <a:srgbClr val="1565C0"/>
                    </a:solidFill>
                    <a:latin typeface="에스코어 드림 6 Bold" panose="020B0703030302020204" pitchFamily="34" charset="-127"/>
                    <a:ea typeface="에스코어 드림 6 Bold" panose="020B0703030302020204" pitchFamily="34" charset="-127"/>
                  </a:rPr>
                  <a:t>조건</a:t>
                </a:r>
                <a:r>
                  <a:rPr sz="780" b="1" dirty="0">
                    <a:solidFill>
                      <a:srgbClr val="1565C0"/>
                    </a:solidFill>
                    <a:latin typeface="에스코어 드림 6 Bold" panose="020B0703030302020204" pitchFamily="34" charset="-127"/>
                    <a:ea typeface="에스코어 드림 6 Bold" panose="020B0703030302020204" pitchFamily="34" charset="-127"/>
                  </a:rPr>
                  <a:t> </a:t>
                </a:r>
                <a:r>
                  <a:rPr sz="780" b="1" dirty="0" err="1">
                    <a:solidFill>
                      <a:srgbClr val="1565C0"/>
                    </a:solidFill>
                    <a:latin typeface="에스코어 드림 6 Bold" panose="020B0703030302020204" pitchFamily="34" charset="-127"/>
                    <a:ea typeface="에스코어 드림 6 Bold" panose="020B0703030302020204" pitchFamily="34" charset="-127"/>
                  </a:rPr>
                  <a:t>최적화</a:t>
                </a:r>
                <a:endParaRPr sz="780" b="1" dirty="0">
                  <a:solidFill>
                    <a:srgbClr val="1565C0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endParaRPr>
              </a:p>
            </p:txBody>
          </p:sp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0F92BC18-E963-B9B7-0676-B9B844D69AD8}"/>
                  </a:ext>
                </a:extLst>
              </p:cNvPr>
              <p:cNvSpPr txBox="1"/>
              <p:nvPr/>
            </p:nvSpPr>
            <p:spPr>
              <a:xfrm>
                <a:off x="1190668" y="2389633"/>
                <a:ext cx="1746000" cy="2031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720" b="0">
                    <a:solidFill>
                      <a:srgbClr val="1565C0"/>
                    </a:solidFill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rPr>
                  <a:t>(ZnF₂, AlF₃, LiF)</a:t>
                </a:r>
              </a:p>
            </p:txBody>
          </p:sp>
          <p:sp>
            <p:nvSpPr>
              <p:cNvPr id="152" name="Rectangle 151">
                <a:extLst>
                  <a:ext uri="{FF2B5EF4-FFF2-40B4-BE49-F238E27FC236}">
                    <a16:creationId xmlns:a16="http://schemas.microsoft.com/office/drawing/2014/main" id="{7436005D-A88D-BABF-8B59-64F9D41028B1}"/>
                  </a:ext>
                </a:extLst>
              </p:cNvPr>
              <p:cNvSpPr/>
              <p:nvPr/>
            </p:nvSpPr>
            <p:spPr>
              <a:xfrm>
                <a:off x="1100668" y="2569632"/>
                <a:ext cx="1854000" cy="345600"/>
              </a:xfrm>
              <a:prstGeom prst="rect">
                <a:avLst/>
              </a:prstGeom>
              <a:solidFill>
                <a:srgbClr val="E3F2FD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EC0893CC-1AAA-15DC-79C5-DF8E1D6B8BBA}"/>
                  </a:ext>
                </a:extLst>
              </p:cNvPr>
              <p:cNvSpPr/>
              <p:nvPr/>
            </p:nvSpPr>
            <p:spPr>
              <a:xfrm>
                <a:off x="1100668" y="2569632"/>
                <a:ext cx="64800" cy="345600"/>
              </a:xfrm>
              <a:prstGeom prst="rect">
                <a:avLst/>
              </a:prstGeom>
              <a:solidFill>
                <a:srgbClr val="1565C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0528BA99-B718-87A9-C3B3-412A533A1C8B}"/>
                  </a:ext>
                </a:extLst>
              </p:cNvPr>
              <p:cNvSpPr txBox="1"/>
              <p:nvPr/>
            </p:nvSpPr>
            <p:spPr>
              <a:xfrm>
                <a:off x="1190668" y="2584032"/>
                <a:ext cx="1746000" cy="2123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780" b="1">
                    <a:solidFill>
                      <a:srgbClr val="1565C0"/>
                    </a:solidFill>
                    <a:latin typeface="에스코어 드림 6 Bold" panose="020B0703030302020204" pitchFamily="34" charset="-127"/>
                    <a:ea typeface="에스코어 드림 6 Bold" panose="020B0703030302020204" pitchFamily="34" charset="-127"/>
                  </a:rPr>
                  <a:t>② 박막 구조·화학 조성 분석</a:t>
                </a:r>
              </a:p>
            </p:txBody>
          </p:sp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8BAE8CE8-FE70-6CC9-99CD-34272DF216A1}"/>
                  </a:ext>
                </a:extLst>
              </p:cNvPr>
              <p:cNvSpPr txBox="1"/>
              <p:nvPr/>
            </p:nvSpPr>
            <p:spPr>
              <a:xfrm>
                <a:off x="1190668" y="2735232"/>
                <a:ext cx="1746000" cy="2031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720" b="0">
                    <a:solidFill>
                      <a:srgbClr val="1565C0"/>
                    </a:solidFill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rPr>
                  <a:t>(XRD / XPS / TEM / ToF-SIMS)</a:t>
                </a:r>
              </a:p>
            </p:txBody>
          </p:sp>
          <p:sp>
            <p:nvSpPr>
              <p:cNvPr id="160" name="Rectangle 159">
                <a:extLst>
                  <a:ext uri="{FF2B5EF4-FFF2-40B4-BE49-F238E27FC236}">
                    <a16:creationId xmlns:a16="http://schemas.microsoft.com/office/drawing/2014/main" id="{D5892ACD-1478-6E73-BDCE-EBD1B57943ED}"/>
                  </a:ext>
                </a:extLst>
              </p:cNvPr>
              <p:cNvSpPr/>
              <p:nvPr/>
            </p:nvSpPr>
            <p:spPr>
              <a:xfrm>
                <a:off x="1100668" y="2915232"/>
                <a:ext cx="1854000" cy="345600"/>
              </a:xfrm>
              <a:prstGeom prst="rect">
                <a:avLst/>
              </a:prstGeom>
              <a:solidFill>
                <a:srgbClr val="E3F2FD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C2497B53-7DAE-0B5D-494E-F17694FFDBB2}"/>
                  </a:ext>
                </a:extLst>
              </p:cNvPr>
              <p:cNvSpPr/>
              <p:nvPr/>
            </p:nvSpPr>
            <p:spPr>
              <a:xfrm>
                <a:off x="1100668" y="2915232"/>
                <a:ext cx="64800" cy="345600"/>
              </a:xfrm>
              <a:prstGeom prst="rect">
                <a:avLst/>
              </a:prstGeom>
              <a:solidFill>
                <a:srgbClr val="1565C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8782AC62-D03A-3A0C-5B56-64CAAC58611E}"/>
                  </a:ext>
                </a:extLst>
              </p:cNvPr>
              <p:cNvSpPr txBox="1"/>
              <p:nvPr/>
            </p:nvSpPr>
            <p:spPr>
              <a:xfrm>
                <a:off x="1190668" y="2929632"/>
                <a:ext cx="1746000" cy="2123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780" b="1">
                    <a:solidFill>
                      <a:srgbClr val="1565C0"/>
                    </a:solidFill>
                    <a:latin typeface="에스코어 드림 6 Bold" panose="020B0703030302020204" pitchFamily="34" charset="-127"/>
                    <a:ea typeface="에스코어 드림 6 Bold" panose="020B0703030302020204" pitchFamily="34" charset="-127"/>
                  </a:rPr>
                  <a:t>③ EIS · Li⁺ 이온전도도 평가</a:t>
                </a:r>
              </a:p>
            </p:txBody>
          </p:sp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742294A1-B8C3-04FD-EE81-68618603F38F}"/>
                  </a:ext>
                </a:extLst>
              </p:cNvPr>
              <p:cNvSpPr txBox="1"/>
              <p:nvPr/>
            </p:nvSpPr>
            <p:spPr>
              <a:xfrm>
                <a:off x="1190668" y="3080833"/>
                <a:ext cx="1746000" cy="2031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720" b="0">
                    <a:solidFill>
                      <a:srgbClr val="1565C0"/>
                    </a:solidFill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rPr>
                  <a:t>(pinhole-free 조건 확립)</a:t>
                </a:r>
              </a:p>
            </p:txBody>
          </p:sp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6FF4C663-746F-C66E-F9BE-8005E1B5B7F5}"/>
                  </a:ext>
                </a:extLst>
              </p:cNvPr>
              <p:cNvSpPr/>
              <p:nvPr/>
            </p:nvSpPr>
            <p:spPr>
              <a:xfrm>
                <a:off x="1100668" y="3260833"/>
                <a:ext cx="1854000" cy="345600"/>
              </a:xfrm>
              <a:prstGeom prst="rect">
                <a:avLst/>
              </a:prstGeom>
              <a:solidFill>
                <a:srgbClr val="E8F5E9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5AC6882D-67FB-97CD-935A-A36F889C150F}"/>
                  </a:ext>
                </a:extLst>
              </p:cNvPr>
              <p:cNvSpPr/>
              <p:nvPr/>
            </p:nvSpPr>
            <p:spPr>
              <a:xfrm>
                <a:off x="1100668" y="3260833"/>
                <a:ext cx="64800" cy="345600"/>
              </a:xfrm>
              <a:prstGeom prst="rect">
                <a:avLst/>
              </a:prstGeom>
              <a:solidFill>
                <a:srgbClr val="2E7D3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1DBE1854-04A5-A75E-9743-589ACED2CE48}"/>
                  </a:ext>
                </a:extLst>
              </p:cNvPr>
              <p:cNvSpPr txBox="1"/>
              <p:nvPr/>
            </p:nvSpPr>
            <p:spPr>
              <a:xfrm>
                <a:off x="1190668" y="3275233"/>
                <a:ext cx="1746000" cy="2123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780" b="1" dirty="0">
                    <a:solidFill>
                      <a:srgbClr val="2E7D32"/>
                    </a:solidFill>
                    <a:latin typeface="에스코어 드림 6 Bold" panose="020B0703030302020204" pitchFamily="34" charset="-127"/>
                    <a:ea typeface="에스코어 드림 6 Bold" panose="020B0703030302020204" pitchFamily="34" charset="-127"/>
                  </a:rPr>
                  <a:t>④ Cryo-TEM </a:t>
                </a:r>
                <a:r>
                  <a:rPr sz="780" b="1" dirty="0" err="1">
                    <a:solidFill>
                      <a:srgbClr val="2E7D32"/>
                    </a:solidFill>
                    <a:latin typeface="에스코어 드림 6 Bold" panose="020B0703030302020204" pitchFamily="34" charset="-127"/>
                    <a:ea typeface="에스코어 드림 6 Bold" panose="020B0703030302020204" pitchFamily="34" charset="-127"/>
                  </a:rPr>
                  <a:t>핵생성</a:t>
                </a:r>
                <a:r>
                  <a:rPr sz="780" b="1" dirty="0">
                    <a:solidFill>
                      <a:srgbClr val="2E7D32"/>
                    </a:solidFill>
                    <a:latin typeface="에스코어 드림 6 Bold" panose="020B0703030302020204" pitchFamily="34" charset="-127"/>
                    <a:ea typeface="에스코어 드림 6 Bold" panose="020B0703030302020204" pitchFamily="34" charset="-127"/>
                  </a:rPr>
                  <a:t> </a:t>
                </a:r>
                <a:r>
                  <a:rPr sz="780" b="1" dirty="0" err="1">
                    <a:solidFill>
                      <a:srgbClr val="2E7D32"/>
                    </a:solidFill>
                    <a:latin typeface="에스코어 드림 6 Bold" panose="020B0703030302020204" pitchFamily="34" charset="-127"/>
                    <a:ea typeface="에스코어 드림 6 Bold" panose="020B0703030302020204" pitchFamily="34" charset="-127"/>
                  </a:rPr>
                  <a:t>관찰</a:t>
                </a:r>
                <a:endParaRPr sz="780" b="1" dirty="0">
                  <a:solidFill>
                    <a:srgbClr val="2E7D32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endParaRPr>
              </a:p>
            </p:txBody>
          </p:sp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F7392CA3-F382-65EA-41D4-2C2E8D88BFF2}"/>
                  </a:ext>
                </a:extLst>
              </p:cNvPr>
              <p:cNvSpPr txBox="1"/>
              <p:nvPr/>
            </p:nvSpPr>
            <p:spPr>
              <a:xfrm>
                <a:off x="1190668" y="3426433"/>
                <a:ext cx="1746000" cy="2031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720" b="0">
                    <a:solidFill>
                      <a:srgbClr val="2E7D32"/>
                    </a:solidFill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rPr>
                  <a:t>Li 핵생성 나노구조 실시간</a:t>
                </a:r>
              </a:p>
            </p:txBody>
          </p:sp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52AB0769-20C6-7CC6-6946-70F1070B3047}"/>
                  </a:ext>
                </a:extLst>
              </p:cNvPr>
              <p:cNvSpPr/>
              <p:nvPr/>
            </p:nvSpPr>
            <p:spPr>
              <a:xfrm>
                <a:off x="1100668" y="3606433"/>
                <a:ext cx="1854000" cy="345600"/>
              </a:xfrm>
              <a:prstGeom prst="rect">
                <a:avLst/>
              </a:prstGeom>
              <a:solidFill>
                <a:srgbClr val="E8F5E9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5F858564-7A9A-9669-F637-FA7D34BEE146}"/>
                  </a:ext>
                </a:extLst>
              </p:cNvPr>
              <p:cNvSpPr/>
              <p:nvPr/>
            </p:nvSpPr>
            <p:spPr>
              <a:xfrm>
                <a:off x="1100668" y="3606433"/>
                <a:ext cx="64800" cy="345600"/>
              </a:xfrm>
              <a:prstGeom prst="rect">
                <a:avLst/>
              </a:prstGeom>
              <a:solidFill>
                <a:srgbClr val="2E7D3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551E4A4E-3893-D7BB-3582-B617501D11AF}"/>
                  </a:ext>
                </a:extLst>
              </p:cNvPr>
              <p:cNvSpPr txBox="1"/>
              <p:nvPr/>
            </p:nvSpPr>
            <p:spPr>
              <a:xfrm>
                <a:off x="1190668" y="3620832"/>
                <a:ext cx="1746000" cy="2123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780" b="1">
                    <a:solidFill>
                      <a:srgbClr val="2E7D32"/>
                    </a:solidFill>
                    <a:latin typeface="에스코어 드림 6 Bold" panose="020B0703030302020204" pitchFamily="34" charset="-127"/>
                    <a:ea typeface="에스코어 드림 6 Bold" panose="020B0703030302020204" pitchFamily="34" charset="-127"/>
                  </a:rPr>
                  <a:t>⑤ Operando XRD / in-situ SEM</a:t>
                </a:r>
              </a:p>
            </p:txBody>
          </p:sp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3349C5C8-1C53-5C4F-AF52-94D473787FDC}"/>
                  </a:ext>
                </a:extLst>
              </p:cNvPr>
              <p:cNvSpPr txBox="1"/>
              <p:nvPr/>
            </p:nvSpPr>
            <p:spPr>
              <a:xfrm>
                <a:off x="1190668" y="3772033"/>
                <a:ext cx="1746000" cy="2031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720" b="0">
                    <a:solidFill>
                      <a:srgbClr val="2E7D32"/>
                    </a:solidFill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rPr>
                  <a:t>Li 증착·용해 거동 모니터링</a:t>
                </a:r>
              </a:p>
            </p:txBody>
          </p:sp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BC4F2B4D-7E91-E183-7CDC-BD9CF16F5631}"/>
                  </a:ext>
                </a:extLst>
              </p:cNvPr>
              <p:cNvSpPr/>
              <p:nvPr/>
            </p:nvSpPr>
            <p:spPr>
              <a:xfrm>
                <a:off x="1100668" y="3952032"/>
                <a:ext cx="1854000" cy="345600"/>
              </a:xfrm>
              <a:prstGeom prst="rect">
                <a:avLst/>
              </a:prstGeom>
              <a:solidFill>
                <a:srgbClr val="E8F5E9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5" name="Rectangle 184">
                <a:extLst>
                  <a:ext uri="{FF2B5EF4-FFF2-40B4-BE49-F238E27FC236}">
                    <a16:creationId xmlns:a16="http://schemas.microsoft.com/office/drawing/2014/main" id="{0E07732D-345D-6499-2561-BB41E0C4AC8B}"/>
                  </a:ext>
                </a:extLst>
              </p:cNvPr>
              <p:cNvSpPr/>
              <p:nvPr/>
            </p:nvSpPr>
            <p:spPr>
              <a:xfrm>
                <a:off x="1100668" y="3952032"/>
                <a:ext cx="64800" cy="345600"/>
              </a:xfrm>
              <a:prstGeom prst="rect">
                <a:avLst/>
              </a:prstGeom>
              <a:solidFill>
                <a:srgbClr val="2E7D3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0BDB0FA3-EB15-523D-53E5-4AE02898D23A}"/>
                  </a:ext>
                </a:extLst>
              </p:cNvPr>
              <p:cNvSpPr txBox="1"/>
              <p:nvPr/>
            </p:nvSpPr>
            <p:spPr>
              <a:xfrm>
                <a:off x="1190668" y="3966432"/>
                <a:ext cx="1746000" cy="2123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780" b="1">
                    <a:solidFill>
                      <a:srgbClr val="2E7D32"/>
                    </a:solidFill>
                    <a:latin typeface="에스코어 드림 6 Bold" panose="020B0703030302020204" pitchFamily="34" charset="-127"/>
                    <a:ea typeface="에스코어 드림 6 Bold" panose="020B0703030302020204" pitchFamily="34" charset="-127"/>
                  </a:rPr>
                  <a:t>⑥ DFT 이론 계산</a:t>
                </a:r>
              </a:p>
            </p:txBody>
          </p:sp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D83242C7-0D63-6125-F10D-A718AE211FD2}"/>
                  </a:ext>
                </a:extLst>
              </p:cNvPr>
              <p:cNvSpPr txBox="1"/>
              <p:nvPr/>
            </p:nvSpPr>
            <p:spPr>
              <a:xfrm>
                <a:off x="1190668" y="4117633"/>
                <a:ext cx="1746000" cy="2031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720" b="0">
                    <a:solidFill>
                      <a:srgbClr val="2E7D32"/>
                    </a:solidFill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rPr>
                  <a:t>계면 Li⁺ 확산 에너지 배리어</a:t>
                </a:r>
              </a:p>
            </p:txBody>
          </p:sp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407B01C5-CB85-94B5-1017-B5352C640543}"/>
                  </a:ext>
                </a:extLst>
              </p:cNvPr>
              <p:cNvSpPr/>
              <p:nvPr/>
            </p:nvSpPr>
            <p:spPr>
              <a:xfrm>
                <a:off x="1100668" y="4297633"/>
                <a:ext cx="1854000" cy="345600"/>
              </a:xfrm>
              <a:prstGeom prst="rect">
                <a:avLst/>
              </a:prstGeom>
              <a:solidFill>
                <a:srgbClr val="FFF3E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1AB50607-CD6B-A897-5E89-079FD3910EAF}"/>
                  </a:ext>
                </a:extLst>
              </p:cNvPr>
              <p:cNvSpPr/>
              <p:nvPr/>
            </p:nvSpPr>
            <p:spPr>
              <a:xfrm>
                <a:off x="1100668" y="4297633"/>
                <a:ext cx="64800" cy="345600"/>
              </a:xfrm>
              <a:prstGeom prst="rect">
                <a:avLst/>
              </a:prstGeom>
              <a:solidFill>
                <a:srgbClr val="E651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ADE98098-44C3-7ED6-670B-E3A9ED9E53EF}"/>
                  </a:ext>
                </a:extLst>
              </p:cNvPr>
              <p:cNvSpPr txBox="1"/>
              <p:nvPr/>
            </p:nvSpPr>
            <p:spPr>
              <a:xfrm>
                <a:off x="1190668" y="4312032"/>
                <a:ext cx="1746000" cy="2123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780" b="1">
                    <a:solidFill>
                      <a:srgbClr val="E65100"/>
                    </a:solidFill>
                    <a:latin typeface="에스코어 드림 6 Bold" panose="020B0703030302020204" pitchFamily="34" charset="-127"/>
                    <a:ea typeface="에스코어 드림 6 Bold" panose="020B0703030302020204" pitchFamily="34" charset="-127"/>
                  </a:rPr>
                  <a:t>⑦ Li||NCM 풀 셀 장기 사이클</a:t>
                </a:r>
              </a:p>
            </p:txBody>
          </p:sp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9E044C84-5BDF-396B-D8D3-C79510912556}"/>
                  </a:ext>
                </a:extLst>
              </p:cNvPr>
              <p:cNvSpPr txBox="1"/>
              <p:nvPr/>
            </p:nvSpPr>
            <p:spPr>
              <a:xfrm>
                <a:off x="1190668" y="4463233"/>
                <a:ext cx="1746000" cy="2031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720" b="0">
                    <a:solidFill>
                      <a:srgbClr val="E65100"/>
                    </a:solidFill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rPr>
                  <a:t>&gt;300 사이클, CE &gt;99.5%</a:t>
                </a:r>
              </a:p>
            </p:txBody>
          </p:sp>
          <p:sp>
            <p:nvSpPr>
              <p:cNvPr id="200" name="Rectangle 199">
                <a:extLst>
                  <a:ext uri="{FF2B5EF4-FFF2-40B4-BE49-F238E27FC236}">
                    <a16:creationId xmlns:a16="http://schemas.microsoft.com/office/drawing/2014/main" id="{48A970D1-E9C7-9A8A-60C9-B9BA449B2719}"/>
                  </a:ext>
                </a:extLst>
              </p:cNvPr>
              <p:cNvSpPr/>
              <p:nvPr/>
            </p:nvSpPr>
            <p:spPr>
              <a:xfrm>
                <a:off x="1100668" y="4643233"/>
                <a:ext cx="1854000" cy="345600"/>
              </a:xfrm>
              <a:prstGeom prst="rect">
                <a:avLst/>
              </a:prstGeom>
              <a:solidFill>
                <a:srgbClr val="FFF3E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47073B1A-7FB7-0FE1-C51B-0D4072830E3A}"/>
                  </a:ext>
                </a:extLst>
              </p:cNvPr>
              <p:cNvSpPr/>
              <p:nvPr/>
            </p:nvSpPr>
            <p:spPr>
              <a:xfrm>
                <a:off x="1100668" y="4643233"/>
                <a:ext cx="64800" cy="345600"/>
              </a:xfrm>
              <a:prstGeom prst="rect">
                <a:avLst/>
              </a:prstGeom>
              <a:solidFill>
                <a:srgbClr val="E651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D9130242-FEEC-B5D1-51C9-ED7D9CE0C08E}"/>
                  </a:ext>
                </a:extLst>
              </p:cNvPr>
              <p:cNvSpPr txBox="1"/>
              <p:nvPr/>
            </p:nvSpPr>
            <p:spPr>
              <a:xfrm>
                <a:off x="1190668" y="4657633"/>
                <a:ext cx="1746000" cy="2123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780" b="1">
                    <a:solidFill>
                      <a:srgbClr val="E65100"/>
                    </a:solidFill>
                    <a:latin typeface="에스코어 드림 6 Bold" panose="020B0703030302020204" pitchFamily="34" charset="-127"/>
                    <a:ea typeface="에스코어 드림 6 Bold" panose="020B0703030302020204" pitchFamily="34" charset="-127"/>
                  </a:rPr>
                  <a:t>⑧ Post-mortem XPS/TEM 분석</a:t>
                </a:r>
              </a:p>
            </p:txBody>
          </p:sp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4EFA48A3-8BC7-95C7-0AA6-8734285B4EBD}"/>
                  </a:ext>
                </a:extLst>
              </p:cNvPr>
              <p:cNvSpPr txBox="1"/>
              <p:nvPr/>
            </p:nvSpPr>
            <p:spPr>
              <a:xfrm>
                <a:off x="1190668" y="4808833"/>
                <a:ext cx="1746000" cy="2031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720" b="0">
                    <a:solidFill>
                      <a:srgbClr val="E65100"/>
                    </a:solidFill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rPr>
                  <a:t>SEI 조성 변화·열화 메커니즘</a:t>
                </a:r>
              </a:p>
            </p:txBody>
          </p:sp>
          <p:sp>
            <p:nvSpPr>
              <p:cNvPr id="208" name="Rectangle 207">
                <a:extLst>
                  <a:ext uri="{FF2B5EF4-FFF2-40B4-BE49-F238E27FC236}">
                    <a16:creationId xmlns:a16="http://schemas.microsoft.com/office/drawing/2014/main" id="{3D1381DF-C27D-17E7-66E0-F358F9BE3CC8}"/>
                  </a:ext>
                </a:extLst>
              </p:cNvPr>
              <p:cNvSpPr/>
              <p:nvPr/>
            </p:nvSpPr>
            <p:spPr>
              <a:xfrm>
                <a:off x="1100668" y="4988833"/>
                <a:ext cx="1854000" cy="345600"/>
              </a:xfrm>
              <a:prstGeom prst="rect">
                <a:avLst/>
              </a:prstGeom>
              <a:solidFill>
                <a:srgbClr val="FFF3E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9" name="Rectangle 208">
                <a:extLst>
                  <a:ext uri="{FF2B5EF4-FFF2-40B4-BE49-F238E27FC236}">
                    <a16:creationId xmlns:a16="http://schemas.microsoft.com/office/drawing/2014/main" id="{B0CDBBB7-5600-2C91-616C-D8E7C87AD5C0}"/>
                  </a:ext>
                </a:extLst>
              </p:cNvPr>
              <p:cNvSpPr/>
              <p:nvPr/>
            </p:nvSpPr>
            <p:spPr>
              <a:xfrm>
                <a:off x="1100668" y="4988833"/>
                <a:ext cx="64800" cy="345600"/>
              </a:xfrm>
              <a:prstGeom prst="rect">
                <a:avLst/>
              </a:prstGeom>
              <a:solidFill>
                <a:srgbClr val="E651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2441351F-EB0B-9173-5845-A812D3819CB0}"/>
                  </a:ext>
                </a:extLst>
              </p:cNvPr>
              <p:cNvSpPr txBox="1"/>
              <p:nvPr/>
            </p:nvSpPr>
            <p:spPr>
              <a:xfrm>
                <a:off x="1190668" y="5003233"/>
                <a:ext cx="1746000" cy="2123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780" b="1">
                    <a:solidFill>
                      <a:srgbClr val="E65100"/>
                    </a:solidFill>
                    <a:latin typeface="에스코어 드림 6 Bold" panose="020B0703030302020204" pitchFamily="34" charset="-127"/>
                    <a:ea typeface="에스코어 드림 6 Bold" panose="020B0703030302020204" pitchFamily="34" charset="-127"/>
                  </a:rPr>
                  <a:t>⑨ ALD 인공 SEI 설계 원칙 도출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F4D5BC69-1B0D-D297-492B-306646023BFE}"/>
                  </a:ext>
                </a:extLst>
              </p:cNvPr>
              <p:cNvSpPr txBox="1"/>
              <p:nvPr/>
            </p:nvSpPr>
            <p:spPr>
              <a:xfrm>
                <a:off x="1190668" y="5154433"/>
                <a:ext cx="1746000" cy="2031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720" b="0" dirty="0" err="1">
                    <a:solidFill>
                      <a:srgbClr val="E65100"/>
                    </a:solidFill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rPr>
                  <a:t>ZnF</a:t>
                </a:r>
                <a:r>
                  <a:rPr sz="720" b="0" dirty="0">
                    <a:solidFill>
                      <a:srgbClr val="E65100"/>
                    </a:solidFill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rPr>
                  <a:t>₂/</a:t>
                </a:r>
                <a:r>
                  <a:rPr lang="en-US" sz="720" b="0" dirty="0">
                    <a:solidFill>
                      <a:srgbClr val="E65100"/>
                    </a:solidFill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rPr>
                  <a:t>Mg</a:t>
                </a:r>
                <a:r>
                  <a:rPr sz="720" b="0" dirty="0">
                    <a:solidFill>
                      <a:srgbClr val="E65100"/>
                    </a:solidFill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rPr>
                  <a:t>F</a:t>
                </a:r>
                <a:r>
                  <a:rPr lang="en-US" sz="720" b="0" baseline="-25000" dirty="0">
                    <a:solidFill>
                      <a:srgbClr val="E65100"/>
                    </a:solidFill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rPr>
                  <a:t>2</a:t>
                </a:r>
                <a:r>
                  <a:rPr sz="720" b="0" dirty="0">
                    <a:solidFill>
                      <a:srgbClr val="E65100"/>
                    </a:solidFill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rPr>
                  <a:t> </a:t>
                </a:r>
                <a:r>
                  <a:rPr sz="720" b="0" dirty="0" err="1">
                    <a:solidFill>
                      <a:srgbClr val="E65100"/>
                    </a:solidFill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rPr>
                  <a:t>비교</a:t>
                </a:r>
                <a:r>
                  <a:rPr sz="720" b="0" dirty="0">
                    <a:solidFill>
                      <a:srgbClr val="E65100"/>
                    </a:solidFill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rPr>
                  <a:t> </a:t>
                </a:r>
                <a:r>
                  <a:rPr sz="720" b="0" dirty="0" err="1">
                    <a:solidFill>
                      <a:srgbClr val="E65100"/>
                    </a:solidFill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rPr>
                  <a:t>정립</a:t>
                </a:r>
                <a:endParaRPr sz="720" b="0" dirty="0">
                  <a:solidFill>
                    <a:srgbClr val="E65100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endParaRPr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D7A446D8-1C6F-715A-E753-345581674C62}"/>
                  </a:ext>
                </a:extLst>
              </p:cNvPr>
              <p:cNvSpPr/>
              <p:nvPr/>
            </p:nvSpPr>
            <p:spPr>
              <a:xfrm>
                <a:off x="2954668" y="2011632"/>
                <a:ext cx="1739966" cy="237600"/>
              </a:xfrm>
              <a:prstGeom prst="rect">
                <a:avLst/>
              </a:prstGeom>
              <a:solidFill>
                <a:srgbClr val="C5CAE9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11D64A57-A3B2-4049-7F46-25143C6B6B25}"/>
                  </a:ext>
                </a:extLst>
              </p:cNvPr>
              <p:cNvSpPr txBox="1"/>
              <p:nvPr/>
            </p:nvSpPr>
            <p:spPr>
              <a:xfrm>
                <a:off x="2954668" y="2011632"/>
                <a:ext cx="1739966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000" b="1" dirty="0">
                    <a:solidFill>
                      <a:srgbClr val="1A237E"/>
                    </a:solidFill>
                    <a:latin typeface="에스코어 드림 7 ExtraBold" panose="020B0803030302020204" pitchFamily="34" charset="-127"/>
                    <a:ea typeface="에스코어 드림 7 ExtraBold" panose="020B0803030302020204" pitchFamily="34" charset="-127"/>
                  </a:rPr>
                  <a:t>1년차</a:t>
                </a:r>
              </a:p>
            </p:txBody>
          </p: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63D41351-4E2C-1DB6-4D6E-BCF83B650F55}"/>
                  </a:ext>
                </a:extLst>
              </p:cNvPr>
              <p:cNvSpPr/>
              <p:nvPr/>
            </p:nvSpPr>
            <p:spPr>
              <a:xfrm>
                <a:off x="4694635" y="2011632"/>
                <a:ext cx="1739966" cy="237600"/>
              </a:xfrm>
              <a:prstGeom prst="rect">
                <a:avLst/>
              </a:prstGeom>
              <a:solidFill>
                <a:srgbClr val="BBDEFB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C208BCA0-A120-ABB1-A9B1-9BE6CF092E07}"/>
                  </a:ext>
                </a:extLst>
              </p:cNvPr>
              <p:cNvSpPr txBox="1"/>
              <p:nvPr/>
            </p:nvSpPr>
            <p:spPr>
              <a:xfrm>
                <a:off x="4694635" y="2011632"/>
                <a:ext cx="1739966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000" b="1">
                    <a:solidFill>
                      <a:srgbClr val="0D47A1"/>
                    </a:solidFill>
                    <a:latin typeface="에스코어 드림 7 ExtraBold" panose="020B0803030302020204" pitchFamily="34" charset="-127"/>
                    <a:ea typeface="에스코어 드림 7 ExtraBold" panose="020B0803030302020204" pitchFamily="34" charset="-127"/>
                  </a:rPr>
                  <a:t>2년차</a:t>
                </a:r>
              </a:p>
            </p:txBody>
          </p:sp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F34B9737-C6BD-FFC0-128D-0532AD3BB48B}"/>
                  </a:ext>
                </a:extLst>
              </p:cNvPr>
              <p:cNvSpPr/>
              <p:nvPr/>
            </p:nvSpPr>
            <p:spPr>
              <a:xfrm>
                <a:off x="6434601" y="2011632"/>
                <a:ext cx="1739966" cy="237600"/>
              </a:xfrm>
              <a:prstGeom prst="rect">
                <a:avLst/>
              </a:prstGeom>
              <a:solidFill>
                <a:srgbClr val="B3E5FC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42B6CE28-D26B-BC18-728F-5931334F53D2}"/>
                  </a:ext>
                </a:extLst>
              </p:cNvPr>
              <p:cNvSpPr txBox="1"/>
              <p:nvPr/>
            </p:nvSpPr>
            <p:spPr>
              <a:xfrm>
                <a:off x="6434601" y="2011632"/>
                <a:ext cx="1739966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000" b="1">
                    <a:solidFill>
                      <a:srgbClr val="01579B"/>
                    </a:solidFill>
                    <a:latin typeface="에스코어 드림 7 ExtraBold" panose="020B0803030302020204" pitchFamily="34" charset="-127"/>
                    <a:ea typeface="에스코어 드림 7 ExtraBold" panose="020B0803030302020204" pitchFamily="34" charset="-127"/>
                  </a:rPr>
                  <a:t>3년차</a:t>
                </a:r>
              </a:p>
            </p:txBody>
          </p:sp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B2F04082-0C22-F309-B8CC-F1D3E30FF53E}"/>
                  </a:ext>
                </a:extLst>
              </p:cNvPr>
              <p:cNvSpPr/>
              <p:nvPr/>
            </p:nvSpPr>
            <p:spPr>
              <a:xfrm>
                <a:off x="2954668" y="2249233"/>
                <a:ext cx="5219899" cy="162000"/>
              </a:xfrm>
              <a:prstGeom prst="rect">
                <a:avLst/>
              </a:prstGeom>
              <a:solidFill>
                <a:srgbClr val="EDE7F6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7DCCCFF5-A8D7-C138-11E0-A31919CC9B0C}"/>
                  </a:ext>
                </a:extLst>
              </p:cNvPr>
              <p:cNvSpPr txBox="1"/>
              <p:nvPr/>
            </p:nvSpPr>
            <p:spPr>
              <a:xfrm>
                <a:off x="2954668" y="2249233"/>
                <a:ext cx="434991" cy="162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750" b="0">
                    <a:solidFill>
                      <a:srgbClr val="5C6BC0"/>
                    </a:solidFill>
                    <a:latin typeface="Arial"/>
                  </a:rPr>
                  <a:t>1Q</a:t>
                </a:r>
              </a:p>
            </p:txBody>
          </p: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1CC3E173-E79C-8660-4AD9-9555540967B9}"/>
                  </a:ext>
                </a:extLst>
              </p:cNvPr>
              <p:cNvSpPr txBox="1"/>
              <p:nvPr/>
            </p:nvSpPr>
            <p:spPr>
              <a:xfrm>
                <a:off x="3389660" y="2249233"/>
                <a:ext cx="434991" cy="162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750" b="0">
                    <a:solidFill>
                      <a:srgbClr val="5C6BC0"/>
                    </a:solidFill>
                    <a:latin typeface="Arial"/>
                  </a:rPr>
                  <a:t>2Q</a:t>
                </a:r>
              </a:p>
            </p:txBody>
          </p: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4A1778B3-AC96-0699-7B60-04C85CFE70C4}"/>
                  </a:ext>
                </a:extLst>
              </p:cNvPr>
              <p:cNvSpPr txBox="1"/>
              <p:nvPr/>
            </p:nvSpPr>
            <p:spPr>
              <a:xfrm>
                <a:off x="3824651" y="2249233"/>
                <a:ext cx="434991" cy="162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750" b="0">
                    <a:solidFill>
                      <a:srgbClr val="5C6BC0"/>
                    </a:solidFill>
                    <a:latin typeface="Arial"/>
                  </a:rPr>
                  <a:t>3Q</a:t>
                </a:r>
              </a:p>
            </p:txBody>
          </p:sp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9A668B2D-336D-4E94-924F-87C2E876C759}"/>
                  </a:ext>
                </a:extLst>
              </p:cNvPr>
              <p:cNvSpPr txBox="1"/>
              <p:nvPr/>
            </p:nvSpPr>
            <p:spPr>
              <a:xfrm>
                <a:off x="4259643" y="2249233"/>
                <a:ext cx="434991" cy="162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750" b="0">
                    <a:solidFill>
                      <a:srgbClr val="5C6BC0"/>
                    </a:solidFill>
                    <a:latin typeface="Arial"/>
                  </a:rPr>
                  <a:t>4Q</a:t>
                </a:r>
              </a:p>
            </p:txBody>
          </p:sp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C69C5244-9EE4-D6FB-A891-5E45E58EE2C1}"/>
                  </a:ext>
                </a:extLst>
              </p:cNvPr>
              <p:cNvSpPr txBox="1"/>
              <p:nvPr/>
            </p:nvSpPr>
            <p:spPr>
              <a:xfrm>
                <a:off x="4694635" y="2249233"/>
                <a:ext cx="434991" cy="162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750" b="0">
                    <a:solidFill>
                      <a:srgbClr val="5C6BC0"/>
                    </a:solidFill>
                    <a:latin typeface="Arial"/>
                  </a:rPr>
                  <a:t>1Q</a:t>
                </a:r>
              </a:p>
            </p:txBody>
          </p:sp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874C43DA-086D-5AA1-D3D7-1D91B87A5BAF}"/>
                  </a:ext>
                </a:extLst>
              </p:cNvPr>
              <p:cNvSpPr txBox="1"/>
              <p:nvPr/>
            </p:nvSpPr>
            <p:spPr>
              <a:xfrm>
                <a:off x="5129626" y="2249233"/>
                <a:ext cx="434991" cy="162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750" b="0">
                    <a:solidFill>
                      <a:srgbClr val="5C6BC0"/>
                    </a:solidFill>
                    <a:latin typeface="Arial"/>
                  </a:rPr>
                  <a:t>2Q</a:t>
                </a:r>
              </a:p>
            </p:txBody>
          </p:sp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BB25F716-8539-9586-CFC2-BBCCFEF786BD}"/>
                  </a:ext>
                </a:extLst>
              </p:cNvPr>
              <p:cNvSpPr txBox="1"/>
              <p:nvPr/>
            </p:nvSpPr>
            <p:spPr>
              <a:xfrm>
                <a:off x="5564618" y="2249233"/>
                <a:ext cx="434991" cy="162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750" b="0">
                    <a:solidFill>
                      <a:srgbClr val="5C6BC0"/>
                    </a:solidFill>
                    <a:latin typeface="Arial"/>
                  </a:rPr>
                  <a:t>3Q</a:t>
                </a:r>
              </a:p>
            </p:txBody>
          </p:sp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91CD4795-C956-9B9F-17FC-7B8DB5CE54EA}"/>
                  </a:ext>
                </a:extLst>
              </p:cNvPr>
              <p:cNvSpPr txBox="1"/>
              <p:nvPr/>
            </p:nvSpPr>
            <p:spPr>
              <a:xfrm>
                <a:off x="5999609" y="2249233"/>
                <a:ext cx="434991" cy="162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750" b="0">
                    <a:solidFill>
                      <a:srgbClr val="5C6BC0"/>
                    </a:solidFill>
                    <a:latin typeface="Arial"/>
                  </a:rPr>
                  <a:t>4Q</a:t>
                </a:r>
              </a:p>
            </p:txBody>
          </p:sp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051405B8-EF3A-7228-033E-A0A07E913F81}"/>
                  </a:ext>
                </a:extLst>
              </p:cNvPr>
              <p:cNvSpPr txBox="1"/>
              <p:nvPr/>
            </p:nvSpPr>
            <p:spPr>
              <a:xfrm>
                <a:off x="6434601" y="2249233"/>
                <a:ext cx="434991" cy="162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750" b="0">
                    <a:solidFill>
                      <a:srgbClr val="5C6BC0"/>
                    </a:solidFill>
                    <a:latin typeface="Arial"/>
                  </a:rPr>
                  <a:t>1Q</a:t>
                </a:r>
              </a:p>
            </p:txBody>
          </p:sp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D4C6BF81-BB8F-D37D-E545-B0D327BD2497}"/>
                  </a:ext>
                </a:extLst>
              </p:cNvPr>
              <p:cNvSpPr txBox="1"/>
              <p:nvPr/>
            </p:nvSpPr>
            <p:spPr>
              <a:xfrm>
                <a:off x="6869593" y="2249233"/>
                <a:ext cx="434991" cy="162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750" b="0">
                    <a:solidFill>
                      <a:srgbClr val="5C6BC0"/>
                    </a:solidFill>
                    <a:latin typeface="Arial"/>
                  </a:rPr>
                  <a:t>2Q</a:t>
                </a:r>
              </a:p>
            </p:txBody>
          </p:sp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9DC6BDB5-F4B3-8B5A-7A17-D63D50A48236}"/>
                  </a:ext>
                </a:extLst>
              </p:cNvPr>
              <p:cNvSpPr txBox="1"/>
              <p:nvPr/>
            </p:nvSpPr>
            <p:spPr>
              <a:xfrm>
                <a:off x="7304584" y="2249233"/>
                <a:ext cx="434991" cy="162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750" b="0">
                    <a:solidFill>
                      <a:srgbClr val="5C6BC0"/>
                    </a:solidFill>
                    <a:latin typeface="Arial"/>
                  </a:rPr>
                  <a:t>3Q</a:t>
                </a:r>
              </a:p>
            </p:txBody>
          </p:sp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0CECFAD2-4167-4531-B923-331E449F76F7}"/>
                  </a:ext>
                </a:extLst>
              </p:cNvPr>
              <p:cNvSpPr txBox="1"/>
              <p:nvPr/>
            </p:nvSpPr>
            <p:spPr>
              <a:xfrm>
                <a:off x="7739575" y="2249233"/>
                <a:ext cx="434991" cy="162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750" b="0">
                    <a:solidFill>
                      <a:srgbClr val="5C6BC0"/>
                    </a:solidFill>
                    <a:latin typeface="Arial"/>
                  </a:rPr>
                  <a:t>4Q</a:t>
                </a:r>
              </a:p>
            </p:txBody>
          </p:sp>
          <p:cxnSp>
            <p:nvCxnSpPr>
              <p:cNvPr id="131" name="Connector 79">
                <a:extLst>
                  <a:ext uri="{FF2B5EF4-FFF2-40B4-BE49-F238E27FC236}">
                    <a16:creationId xmlns:a16="http://schemas.microsoft.com/office/drawing/2014/main" id="{757763DB-D1B2-70C4-E6E8-A18C0F2E1E91}"/>
                  </a:ext>
                </a:extLst>
              </p:cNvPr>
              <p:cNvCxnSpPr/>
              <p:nvPr/>
            </p:nvCxnSpPr>
            <p:spPr>
              <a:xfrm>
                <a:off x="2954668" y="2249233"/>
                <a:ext cx="0" cy="3085200"/>
              </a:xfrm>
              <a:prstGeom prst="line">
                <a:avLst/>
              </a:prstGeom>
              <a:ln w="12700">
                <a:solidFill>
                  <a:srgbClr val="7986C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Connector 80">
                <a:extLst>
                  <a:ext uri="{FF2B5EF4-FFF2-40B4-BE49-F238E27FC236}">
                    <a16:creationId xmlns:a16="http://schemas.microsoft.com/office/drawing/2014/main" id="{098EC66F-1257-5271-906B-41B750BA6FC8}"/>
                  </a:ext>
                </a:extLst>
              </p:cNvPr>
              <p:cNvCxnSpPr/>
              <p:nvPr/>
            </p:nvCxnSpPr>
            <p:spPr>
              <a:xfrm>
                <a:off x="3389660" y="2249233"/>
                <a:ext cx="0" cy="3085200"/>
              </a:xfrm>
              <a:prstGeom prst="line">
                <a:avLst/>
              </a:prstGeom>
              <a:ln w="6350">
                <a:solidFill>
                  <a:srgbClr val="C5CAE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Connector 81">
                <a:extLst>
                  <a:ext uri="{FF2B5EF4-FFF2-40B4-BE49-F238E27FC236}">
                    <a16:creationId xmlns:a16="http://schemas.microsoft.com/office/drawing/2014/main" id="{2567E60E-DBF3-5D38-DE95-BC03496996F5}"/>
                  </a:ext>
                </a:extLst>
              </p:cNvPr>
              <p:cNvCxnSpPr/>
              <p:nvPr/>
            </p:nvCxnSpPr>
            <p:spPr>
              <a:xfrm>
                <a:off x="3824651" y="2249233"/>
                <a:ext cx="0" cy="3085200"/>
              </a:xfrm>
              <a:prstGeom prst="line">
                <a:avLst/>
              </a:prstGeom>
              <a:ln w="6350">
                <a:solidFill>
                  <a:srgbClr val="C5CAE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Connector 82">
                <a:extLst>
                  <a:ext uri="{FF2B5EF4-FFF2-40B4-BE49-F238E27FC236}">
                    <a16:creationId xmlns:a16="http://schemas.microsoft.com/office/drawing/2014/main" id="{86D17D0B-EA34-F7B7-E554-CDB8B0EA5A75}"/>
                  </a:ext>
                </a:extLst>
              </p:cNvPr>
              <p:cNvCxnSpPr/>
              <p:nvPr/>
            </p:nvCxnSpPr>
            <p:spPr>
              <a:xfrm>
                <a:off x="4259643" y="2249233"/>
                <a:ext cx="0" cy="3085200"/>
              </a:xfrm>
              <a:prstGeom prst="line">
                <a:avLst/>
              </a:prstGeom>
              <a:ln w="6350">
                <a:solidFill>
                  <a:srgbClr val="C5CAE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Connector 83">
                <a:extLst>
                  <a:ext uri="{FF2B5EF4-FFF2-40B4-BE49-F238E27FC236}">
                    <a16:creationId xmlns:a16="http://schemas.microsoft.com/office/drawing/2014/main" id="{1F8EA9DF-1E6E-BF97-9619-4203766D95A1}"/>
                  </a:ext>
                </a:extLst>
              </p:cNvPr>
              <p:cNvCxnSpPr/>
              <p:nvPr/>
            </p:nvCxnSpPr>
            <p:spPr>
              <a:xfrm>
                <a:off x="4694635" y="2249233"/>
                <a:ext cx="0" cy="3085200"/>
              </a:xfrm>
              <a:prstGeom prst="line">
                <a:avLst/>
              </a:prstGeom>
              <a:ln w="12700">
                <a:solidFill>
                  <a:srgbClr val="7986C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Connector 84">
                <a:extLst>
                  <a:ext uri="{FF2B5EF4-FFF2-40B4-BE49-F238E27FC236}">
                    <a16:creationId xmlns:a16="http://schemas.microsoft.com/office/drawing/2014/main" id="{F19D1068-D027-548C-E3E4-DD4524FA18ED}"/>
                  </a:ext>
                </a:extLst>
              </p:cNvPr>
              <p:cNvCxnSpPr/>
              <p:nvPr/>
            </p:nvCxnSpPr>
            <p:spPr>
              <a:xfrm>
                <a:off x="5129626" y="2249233"/>
                <a:ext cx="0" cy="3085200"/>
              </a:xfrm>
              <a:prstGeom prst="line">
                <a:avLst/>
              </a:prstGeom>
              <a:ln w="6350">
                <a:solidFill>
                  <a:srgbClr val="C5CAE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Connector 85">
                <a:extLst>
                  <a:ext uri="{FF2B5EF4-FFF2-40B4-BE49-F238E27FC236}">
                    <a16:creationId xmlns:a16="http://schemas.microsoft.com/office/drawing/2014/main" id="{C87A9C0E-92F7-8C18-0148-A70BA2C71CDC}"/>
                  </a:ext>
                </a:extLst>
              </p:cNvPr>
              <p:cNvCxnSpPr/>
              <p:nvPr/>
            </p:nvCxnSpPr>
            <p:spPr>
              <a:xfrm>
                <a:off x="5564618" y="2249233"/>
                <a:ext cx="0" cy="3085200"/>
              </a:xfrm>
              <a:prstGeom prst="line">
                <a:avLst/>
              </a:prstGeom>
              <a:ln w="6350">
                <a:solidFill>
                  <a:srgbClr val="C5CAE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Connector 86">
                <a:extLst>
                  <a:ext uri="{FF2B5EF4-FFF2-40B4-BE49-F238E27FC236}">
                    <a16:creationId xmlns:a16="http://schemas.microsoft.com/office/drawing/2014/main" id="{D56A04C9-0E75-31B4-2493-8C8D693B6AEB}"/>
                  </a:ext>
                </a:extLst>
              </p:cNvPr>
              <p:cNvCxnSpPr/>
              <p:nvPr/>
            </p:nvCxnSpPr>
            <p:spPr>
              <a:xfrm>
                <a:off x="5999609" y="2249233"/>
                <a:ext cx="0" cy="3085200"/>
              </a:xfrm>
              <a:prstGeom prst="line">
                <a:avLst/>
              </a:prstGeom>
              <a:ln w="6350">
                <a:solidFill>
                  <a:srgbClr val="C5CAE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Connector 87">
                <a:extLst>
                  <a:ext uri="{FF2B5EF4-FFF2-40B4-BE49-F238E27FC236}">
                    <a16:creationId xmlns:a16="http://schemas.microsoft.com/office/drawing/2014/main" id="{3F16021E-3C29-5C6A-44A2-BA1AFCCE01C8}"/>
                  </a:ext>
                </a:extLst>
              </p:cNvPr>
              <p:cNvCxnSpPr/>
              <p:nvPr/>
            </p:nvCxnSpPr>
            <p:spPr>
              <a:xfrm>
                <a:off x="6434601" y="2249233"/>
                <a:ext cx="0" cy="3085200"/>
              </a:xfrm>
              <a:prstGeom prst="line">
                <a:avLst/>
              </a:prstGeom>
              <a:ln w="12700">
                <a:solidFill>
                  <a:srgbClr val="7986C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Connector 88">
                <a:extLst>
                  <a:ext uri="{FF2B5EF4-FFF2-40B4-BE49-F238E27FC236}">
                    <a16:creationId xmlns:a16="http://schemas.microsoft.com/office/drawing/2014/main" id="{DF229B76-FB26-C79A-6BA5-7823BAFBAB39}"/>
                  </a:ext>
                </a:extLst>
              </p:cNvPr>
              <p:cNvCxnSpPr/>
              <p:nvPr/>
            </p:nvCxnSpPr>
            <p:spPr>
              <a:xfrm>
                <a:off x="6869593" y="2249233"/>
                <a:ext cx="0" cy="3085200"/>
              </a:xfrm>
              <a:prstGeom prst="line">
                <a:avLst/>
              </a:prstGeom>
              <a:ln w="6350">
                <a:solidFill>
                  <a:srgbClr val="C5CAE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Connector 89">
                <a:extLst>
                  <a:ext uri="{FF2B5EF4-FFF2-40B4-BE49-F238E27FC236}">
                    <a16:creationId xmlns:a16="http://schemas.microsoft.com/office/drawing/2014/main" id="{C12359A7-7732-4DD8-9F5F-D1270EECBAB5}"/>
                  </a:ext>
                </a:extLst>
              </p:cNvPr>
              <p:cNvCxnSpPr/>
              <p:nvPr/>
            </p:nvCxnSpPr>
            <p:spPr>
              <a:xfrm>
                <a:off x="7304584" y="2249233"/>
                <a:ext cx="0" cy="3085200"/>
              </a:xfrm>
              <a:prstGeom prst="line">
                <a:avLst/>
              </a:prstGeom>
              <a:ln w="6350">
                <a:solidFill>
                  <a:srgbClr val="C5CAE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Connector 90">
                <a:extLst>
                  <a:ext uri="{FF2B5EF4-FFF2-40B4-BE49-F238E27FC236}">
                    <a16:creationId xmlns:a16="http://schemas.microsoft.com/office/drawing/2014/main" id="{452F4D21-F144-B312-26B2-D08DC8F141EA}"/>
                  </a:ext>
                </a:extLst>
              </p:cNvPr>
              <p:cNvCxnSpPr/>
              <p:nvPr/>
            </p:nvCxnSpPr>
            <p:spPr>
              <a:xfrm>
                <a:off x="7739575" y="2249233"/>
                <a:ext cx="0" cy="3085200"/>
              </a:xfrm>
              <a:prstGeom prst="line">
                <a:avLst/>
              </a:prstGeom>
              <a:ln w="6350">
                <a:solidFill>
                  <a:srgbClr val="C5CAE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Connector 91">
                <a:extLst>
                  <a:ext uri="{FF2B5EF4-FFF2-40B4-BE49-F238E27FC236}">
                    <a16:creationId xmlns:a16="http://schemas.microsoft.com/office/drawing/2014/main" id="{BFC24B34-DD0D-E422-5C9A-7C72D37328DB}"/>
                  </a:ext>
                </a:extLst>
              </p:cNvPr>
              <p:cNvCxnSpPr/>
              <p:nvPr/>
            </p:nvCxnSpPr>
            <p:spPr>
              <a:xfrm>
                <a:off x="8174567" y="2249233"/>
                <a:ext cx="0" cy="3085200"/>
              </a:xfrm>
              <a:prstGeom prst="line">
                <a:avLst/>
              </a:prstGeom>
              <a:ln w="12700">
                <a:solidFill>
                  <a:srgbClr val="7986C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E32782F6-1339-CF72-6541-D661CD5EA757}"/>
                  </a:ext>
                </a:extLst>
              </p:cNvPr>
              <p:cNvSpPr/>
              <p:nvPr/>
            </p:nvSpPr>
            <p:spPr>
              <a:xfrm>
                <a:off x="2954668" y="2224032"/>
                <a:ext cx="5219899" cy="345600"/>
              </a:xfrm>
              <a:prstGeom prst="rect">
                <a:avLst/>
              </a:prstGeom>
              <a:solidFill>
                <a:srgbClr val="FAFA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C9C1B6CE-301E-E80B-534B-52CD4B0B1E9B}"/>
                  </a:ext>
                </a:extLst>
              </p:cNvPr>
              <p:cNvSpPr/>
              <p:nvPr/>
            </p:nvSpPr>
            <p:spPr>
              <a:xfrm>
                <a:off x="2965030" y="2303233"/>
                <a:ext cx="1719242" cy="187200"/>
              </a:xfrm>
              <a:prstGeom prst="rect">
                <a:avLst/>
              </a:prstGeom>
              <a:solidFill>
                <a:srgbClr val="1565C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30250A0C-C752-E8F1-CD8E-7333166D1EA0}"/>
                  </a:ext>
                </a:extLst>
              </p:cNvPr>
              <p:cNvSpPr txBox="1"/>
              <p:nvPr/>
            </p:nvSpPr>
            <p:spPr>
              <a:xfrm>
                <a:off x="2911318" y="2295033"/>
                <a:ext cx="1789354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800" b="0" dirty="0" err="1">
                    <a:solidFill>
                      <a:srgbClr val="FFFFFF"/>
                    </a:solidFill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rPr>
                  <a:t>전구체</a:t>
                </a:r>
                <a:r>
                  <a:rPr sz="800" b="0" dirty="0">
                    <a:solidFill>
                      <a:srgbClr val="FFFFFF"/>
                    </a:solidFill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rPr>
                  <a:t> </a:t>
                </a:r>
                <a:r>
                  <a:rPr sz="800" b="0" dirty="0" err="1">
                    <a:solidFill>
                      <a:srgbClr val="FFFFFF"/>
                    </a:solidFill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rPr>
                  <a:t>최적화</a:t>
                </a:r>
                <a:r>
                  <a:rPr sz="800" b="0" dirty="0">
                    <a:solidFill>
                      <a:srgbClr val="FFFFFF"/>
                    </a:solidFill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rPr>
                  <a:t> 및 ALD </a:t>
                </a:r>
                <a:r>
                  <a:rPr sz="800" b="0" dirty="0" err="1">
                    <a:solidFill>
                      <a:srgbClr val="FFFFFF"/>
                    </a:solidFill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rPr>
                  <a:t>파라미터</a:t>
                </a:r>
                <a:r>
                  <a:rPr sz="800" b="0" dirty="0">
                    <a:solidFill>
                      <a:srgbClr val="FFFFFF"/>
                    </a:solidFill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rPr>
                  <a:t> </a:t>
                </a:r>
                <a:r>
                  <a:rPr sz="800" b="0" dirty="0" err="1">
                    <a:solidFill>
                      <a:srgbClr val="FFFFFF"/>
                    </a:solidFill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rPr>
                  <a:t>탐색</a:t>
                </a:r>
                <a:endParaRPr sz="800" b="0" dirty="0">
                  <a:solidFill>
                    <a:srgbClr val="FFFFFF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endParaRPr>
              </a:p>
            </p:txBody>
          </p:sp>
          <p:sp>
            <p:nvSpPr>
              <p:cNvPr id="156" name="Rectangle 155">
                <a:extLst>
                  <a:ext uri="{FF2B5EF4-FFF2-40B4-BE49-F238E27FC236}">
                    <a16:creationId xmlns:a16="http://schemas.microsoft.com/office/drawing/2014/main" id="{52F9318E-CA32-86BB-BB73-7BBAB04362D7}"/>
                  </a:ext>
                </a:extLst>
              </p:cNvPr>
              <p:cNvSpPr/>
              <p:nvPr/>
            </p:nvSpPr>
            <p:spPr>
              <a:xfrm>
                <a:off x="2954668" y="2569632"/>
                <a:ext cx="5219899" cy="345600"/>
              </a:xfrm>
              <a:prstGeom prst="rect">
                <a:avLst/>
              </a:prstGeom>
              <a:solidFill>
                <a:srgbClr val="FAFA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7" name="Rectangle 156">
                <a:extLst>
                  <a:ext uri="{FF2B5EF4-FFF2-40B4-BE49-F238E27FC236}">
                    <a16:creationId xmlns:a16="http://schemas.microsoft.com/office/drawing/2014/main" id="{3FA7D43D-C162-8535-267B-029240BB1A04}"/>
                  </a:ext>
                </a:extLst>
              </p:cNvPr>
              <p:cNvSpPr/>
              <p:nvPr/>
            </p:nvSpPr>
            <p:spPr>
              <a:xfrm>
                <a:off x="3400022" y="2648832"/>
                <a:ext cx="2154233" cy="187200"/>
              </a:xfrm>
              <a:prstGeom prst="rect">
                <a:avLst/>
              </a:prstGeom>
              <a:solidFill>
                <a:srgbClr val="1976D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B70FA59A-EEF0-BD7A-030B-077D1D7E0717}"/>
                  </a:ext>
                </a:extLst>
              </p:cNvPr>
              <p:cNvSpPr txBox="1"/>
              <p:nvPr/>
            </p:nvSpPr>
            <p:spPr>
              <a:xfrm>
                <a:off x="3400022" y="2648832"/>
                <a:ext cx="2154233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800" b="0">
                    <a:solidFill>
                      <a:srgbClr val="FFFFFF"/>
                    </a:solidFill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rPr>
                  <a:t>XRD / XPS / TEM-EDS / ToF-SIMS</a:t>
                </a:r>
              </a:p>
            </p:txBody>
          </p:sp>
          <p:sp>
            <p:nvSpPr>
              <p:cNvPr id="164" name="Rectangle 163">
                <a:extLst>
                  <a:ext uri="{FF2B5EF4-FFF2-40B4-BE49-F238E27FC236}">
                    <a16:creationId xmlns:a16="http://schemas.microsoft.com/office/drawing/2014/main" id="{471CE5D1-E068-5535-48A0-3DA2655D16FD}"/>
                  </a:ext>
                </a:extLst>
              </p:cNvPr>
              <p:cNvSpPr/>
              <p:nvPr/>
            </p:nvSpPr>
            <p:spPr>
              <a:xfrm>
                <a:off x="2954668" y="2915232"/>
                <a:ext cx="5219899" cy="345600"/>
              </a:xfrm>
              <a:prstGeom prst="rect">
                <a:avLst/>
              </a:prstGeom>
              <a:solidFill>
                <a:srgbClr val="FAFA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5" name="Rectangle 164">
                <a:extLst>
                  <a:ext uri="{FF2B5EF4-FFF2-40B4-BE49-F238E27FC236}">
                    <a16:creationId xmlns:a16="http://schemas.microsoft.com/office/drawing/2014/main" id="{8FC7B023-3416-5CF9-AEAE-8EADC78A9299}"/>
                  </a:ext>
                </a:extLst>
              </p:cNvPr>
              <p:cNvSpPr/>
              <p:nvPr/>
            </p:nvSpPr>
            <p:spPr>
              <a:xfrm>
                <a:off x="3617415" y="2994433"/>
                <a:ext cx="1066856" cy="187200"/>
              </a:xfrm>
              <a:prstGeom prst="rect">
                <a:avLst/>
              </a:prstGeom>
              <a:solidFill>
                <a:srgbClr val="283593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984DE01C-9BE0-9A0F-A2D1-CF2236F05B34}"/>
                  </a:ext>
                </a:extLst>
              </p:cNvPr>
              <p:cNvSpPr txBox="1"/>
              <p:nvPr/>
            </p:nvSpPr>
            <p:spPr>
              <a:xfrm>
                <a:off x="3594184" y="2990453"/>
                <a:ext cx="1149684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800" b="0" dirty="0">
                    <a:solidFill>
                      <a:srgbClr val="FFFFFF"/>
                    </a:solidFill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rPr>
                  <a:t>EIS · Li⁺ </a:t>
                </a:r>
                <a:r>
                  <a:rPr sz="800" b="0" dirty="0" err="1">
                    <a:solidFill>
                      <a:srgbClr val="FFFFFF"/>
                    </a:solidFill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rPr>
                  <a:t>이온전도도</a:t>
                </a:r>
                <a:endParaRPr sz="800" b="0" dirty="0">
                  <a:solidFill>
                    <a:srgbClr val="FFFFFF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endParaRPr>
              </a:p>
            </p:txBody>
          </p:sp>
          <p:sp>
            <p:nvSpPr>
              <p:cNvPr id="172" name="Rectangle 171">
                <a:extLst>
                  <a:ext uri="{FF2B5EF4-FFF2-40B4-BE49-F238E27FC236}">
                    <a16:creationId xmlns:a16="http://schemas.microsoft.com/office/drawing/2014/main" id="{32193BCD-B4AB-9989-695D-E50EFD4CBB2A}"/>
                  </a:ext>
                </a:extLst>
              </p:cNvPr>
              <p:cNvSpPr/>
              <p:nvPr/>
            </p:nvSpPr>
            <p:spPr>
              <a:xfrm>
                <a:off x="2954668" y="3260833"/>
                <a:ext cx="5219899" cy="345600"/>
              </a:xfrm>
              <a:prstGeom prst="rect">
                <a:avLst/>
              </a:prstGeom>
              <a:solidFill>
                <a:srgbClr val="F5FFF5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57A632D6-D0EF-4098-FA43-FEBB216A22C1}"/>
                  </a:ext>
                </a:extLst>
              </p:cNvPr>
              <p:cNvSpPr/>
              <p:nvPr/>
            </p:nvSpPr>
            <p:spPr>
              <a:xfrm>
                <a:off x="3835013" y="3340033"/>
                <a:ext cx="2589225" cy="187200"/>
              </a:xfrm>
              <a:prstGeom prst="rect">
                <a:avLst/>
              </a:prstGeom>
              <a:solidFill>
                <a:srgbClr val="2E7D3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4E393352-50DB-6D06-2014-F92B0EF30C84}"/>
                  </a:ext>
                </a:extLst>
              </p:cNvPr>
              <p:cNvSpPr txBox="1"/>
              <p:nvPr/>
            </p:nvSpPr>
            <p:spPr>
              <a:xfrm>
                <a:off x="3835013" y="3340033"/>
                <a:ext cx="2589225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800" b="0" dirty="0">
                    <a:solidFill>
                      <a:srgbClr val="FFFFFF"/>
                    </a:solidFill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rPr>
                  <a:t>Cryo-TEM Li </a:t>
                </a:r>
                <a:r>
                  <a:rPr sz="800" b="0" dirty="0" err="1">
                    <a:solidFill>
                      <a:srgbClr val="FFFFFF"/>
                    </a:solidFill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rPr>
                  <a:t>핵생성</a:t>
                </a:r>
                <a:r>
                  <a:rPr sz="800" b="0" dirty="0">
                    <a:solidFill>
                      <a:srgbClr val="FFFFFF"/>
                    </a:solidFill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rPr>
                  <a:t> </a:t>
                </a:r>
                <a:r>
                  <a:rPr sz="800" b="0" dirty="0" err="1">
                    <a:solidFill>
                      <a:srgbClr val="FFFFFF"/>
                    </a:solidFill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rPr>
                  <a:t>나노구조</a:t>
                </a:r>
                <a:r>
                  <a:rPr sz="800" b="0" dirty="0">
                    <a:solidFill>
                      <a:srgbClr val="FFFFFF"/>
                    </a:solidFill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rPr>
                  <a:t> </a:t>
                </a:r>
                <a:r>
                  <a:rPr sz="800" b="0" dirty="0" err="1">
                    <a:solidFill>
                      <a:srgbClr val="FFFFFF"/>
                    </a:solidFill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rPr>
                  <a:t>관찰</a:t>
                </a:r>
                <a:endParaRPr sz="800" b="0" dirty="0">
                  <a:solidFill>
                    <a:srgbClr val="FFFFFF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endParaRPr>
              </a:p>
            </p:txBody>
          </p:sp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F2F58E69-6B4A-3993-04B4-A6C495EB29D6}"/>
                  </a:ext>
                </a:extLst>
              </p:cNvPr>
              <p:cNvSpPr/>
              <p:nvPr/>
            </p:nvSpPr>
            <p:spPr>
              <a:xfrm>
                <a:off x="2954668" y="3606433"/>
                <a:ext cx="5219899" cy="345600"/>
              </a:xfrm>
              <a:prstGeom prst="rect">
                <a:avLst/>
              </a:prstGeom>
              <a:solidFill>
                <a:srgbClr val="F5FFF5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1" name="Rectangle 180">
                <a:extLst>
                  <a:ext uri="{FF2B5EF4-FFF2-40B4-BE49-F238E27FC236}">
                    <a16:creationId xmlns:a16="http://schemas.microsoft.com/office/drawing/2014/main" id="{F0EAD0D8-B0C0-EE0C-5516-71D7A7C7A372}"/>
                  </a:ext>
                </a:extLst>
              </p:cNvPr>
              <p:cNvSpPr/>
              <p:nvPr/>
            </p:nvSpPr>
            <p:spPr>
              <a:xfrm>
                <a:off x="4270004" y="3685633"/>
                <a:ext cx="2154233" cy="187200"/>
              </a:xfrm>
              <a:prstGeom prst="rect">
                <a:avLst/>
              </a:prstGeom>
              <a:solidFill>
                <a:srgbClr val="388E3C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B228ABA5-2415-1F59-DC7D-2AFCADA28CAB}"/>
                  </a:ext>
                </a:extLst>
              </p:cNvPr>
              <p:cNvSpPr txBox="1"/>
              <p:nvPr/>
            </p:nvSpPr>
            <p:spPr>
              <a:xfrm>
                <a:off x="4270004" y="3685633"/>
                <a:ext cx="2154233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800" b="0">
                    <a:solidFill>
                      <a:srgbClr val="FFFFFF"/>
                    </a:solidFill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rPr>
                  <a:t>Operando XRD / in-situ SEM 모니터링</a:t>
                </a:r>
              </a:p>
            </p:txBody>
          </p:sp>
          <p:sp>
            <p:nvSpPr>
              <p:cNvPr id="188" name="Rectangle 187">
                <a:extLst>
                  <a:ext uri="{FF2B5EF4-FFF2-40B4-BE49-F238E27FC236}">
                    <a16:creationId xmlns:a16="http://schemas.microsoft.com/office/drawing/2014/main" id="{02FDAAB6-F178-5C68-C544-7541EB7F2193}"/>
                  </a:ext>
                </a:extLst>
              </p:cNvPr>
              <p:cNvSpPr/>
              <p:nvPr/>
            </p:nvSpPr>
            <p:spPr>
              <a:xfrm>
                <a:off x="2954668" y="3952032"/>
                <a:ext cx="5219899" cy="345600"/>
              </a:xfrm>
              <a:prstGeom prst="rect">
                <a:avLst/>
              </a:prstGeom>
              <a:solidFill>
                <a:srgbClr val="F5FFF5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5AF677B8-EE66-D3D6-8C5C-BA526A1CAF46}"/>
                  </a:ext>
                </a:extLst>
              </p:cNvPr>
              <p:cNvSpPr/>
              <p:nvPr/>
            </p:nvSpPr>
            <p:spPr>
              <a:xfrm>
                <a:off x="4270004" y="4031232"/>
                <a:ext cx="2154233" cy="187200"/>
              </a:xfrm>
              <a:prstGeom prst="rect">
                <a:avLst/>
              </a:prstGeom>
              <a:solidFill>
                <a:srgbClr val="1B5E2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BF6B294A-4754-6FD2-D8D4-14219D2CB8CA}"/>
                  </a:ext>
                </a:extLst>
              </p:cNvPr>
              <p:cNvSpPr txBox="1"/>
              <p:nvPr/>
            </p:nvSpPr>
            <p:spPr>
              <a:xfrm>
                <a:off x="4270004" y="4031232"/>
                <a:ext cx="2154233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800" b="0">
                    <a:solidFill>
                      <a:srgbClr val="FFFFFF"/>
                    </a:solidFill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rPr>
                  <a:t>DFT: 불화물/Li 계면 Li⁺ 확산 에너지</a:t>
                </a:r>
              </a:p>
            </p:txBody>
          </p:sp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BE710C44-8B28-8FA1-2F86-0C10883F5259}"/>
                  </a:ext>
                </a:extLst>
              </p:cNvPr>
              <p:cNvSpPr/>
              <p:nvPr/>
            </p:nvSpPr>
            <p:spPr>
              <a:xfrm>
                <a:off x="2954668" y="4297633"/>
                <a:ext cx="5219899" cy="345600"/>
              </a:xfrm>
              <a:prstGeom prst="rect">
                <a:avLst/>
              </a:prstGeom>
              <a:solidFill>
                <a:srgbClr val="FFFDF8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CD4141BB-5CA0-0006-D16A-D8D6AA52ABE2}"/>
                  </a:ext>
                </a:extLst>
              </p:cNvPr>
              <p:cNvSpPr/>
              <p:nvPr/>
            </p:nvSpPr>
            <p:spPr>
              <a:xfrm>
                <a:off x="5574980" y="4376833"/>
                <a:ext cx="2589225" cy="187200"/>
              </a:xfrm>
              <a:prstGeom prst="rect">
                <a:avLst/>
              </a:prstGeom>
              <a:solidFill>
                <a:srgbClr val="E651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8" name="TextBox 197">
                <a:extLst>
                  <a:ext uri="{FF2B5EF4-FFF2-40B4-BE49-F238E27FC236}">
                    <a16:creationId xmlns:a16="http://schemas.microsoft.com/office/drawing/2014/main" id="{9BAAF75E-BF49-818B-593E-21D9730509CB}"/>
                  </a:ext>
                </a:extLst>
              </p:cNvPr>
              <p:cNvSpPr txBox="1"/>
              <p:nvPr/>
            </p:nvSpPr>
            <p:spPr>
              <a:xfrm>
                <a:off x="5574980" y="4376833"/>
                <a:ext cx="2589225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800" b="0">
                    <a:solidFill>
                      <a:srgbClr val="FFFFFF"/>
                    </a:solidFill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rPr>
                  <a:t>Li||NCM Full Cell 장기 사이클링 (&gt;300 cycles)</a:t>
                </a:r>
              </a:p>
            </p:txBody>
          </p:sp>
          <p:sp>
            <p:nvSpPr>
              <p:cNvPr id="204" name="Rectangle 203">
                <a:extLst>
                  <a:ext uri="{FF2B5EF4-FFF2-40B4-BE49-F238E27FC236}">
                    <a16:creationId xmlns:a16="http://schemas.microsoft.com/office/drawing/2014/main" id="{D3EF0248-7C0F-9241-57EF-365C7FBE1762}"/>
                  </a:ext>
                </a:extLst>
              </p:cNvPr>
              <p:cNvSpPr/>
              <p:nvPr/>
            </p:nvSpPr>
            <p:spPr>
              <a:xfrm>
                <a:off x="2954668" y="4643233"/>
                <a:ext cx="5219899" cy="345600"/>
              </a:xfrm>
              <a:prstGeom prst="rect">
                <a:avLst/>
              </a:prstGeom>
              <a:solidFill>
                <a:srgbClr val="FFFDF8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5" name="Rectangle 204">
                <a:extLst>
                  <a:ext uri="{FF2B5EF4-FFF2-40B4-BE49-F238E27FC236}">
                    <a16:creationId xmlns:a16="http://schemas.microsoft.com/office/drawing/2014/main" id="{B44ED841-E4E0-7E9B-DB37-B994FF483C18}"/>
                  </a:ext>
                </a:extLst>
              </p:cNvPr>
              <p:cNvSpPr/>
              <p:nvPr/>
            </p:nvSpPr>
            <p:spPr>
              <a:xfrm>
                <a:off x="6444963" y="4722432"/>
                <a:ext cx="1719242" cy="187200"/>
              </a:xfrm>
              <a:prstGeom prst="rect">
                <a:avLst/>
              </a:prstGeom>
              <a:solidFill>
                <a:srgbClr val="F57C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0F24B811-EAAF-AC1D-7CA2-4D914D2910C8}"/>
                  </a:ext>
                </a:extLst>
              </p:cNvPr>
              <p:cNvSpPr txBox="1"/>
              <p:nvPr/>
            </p:nvSpPr>
            <p:spPr>
              <a:xfrm>
                <a:off x="6444963" y="4722432"/>
                <a:ext cx="1719242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800" b="0">
                    <a:solidFill>
                      <a:srgbClr val="FFFFFF"/>
                    </a:solidFill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rPr>
                  <a:t>Post-mortem XPS / TEM 분석</a:t>
                </a:r>
              </a:p>
            </p:txBody>
          </p:sp>
          <p:sp>
            <p:nvSpPr>
              <p:cNvPr id="212" name="Rectangle 211">
                <a:extLst>
                  <a:ext uri="{FF2B5EF4-FFF2-40B4-BE49-F238E27FC236}">
                    <a16:creationId xmlns:a16="http://schemas.microsoft.com/office/drawing/2014/main" id="{9D3EE103-B7F5-0958-6459-229795E0FF8C}"/>
                  </a:ext>
                </a:extLst>
              </p:cNvPr>
              <p:cNvSpPr/>
              <p:nvPr/>
            </p:nvSpPr>
            <p:spPr>
              <a:xfrm>
                <a:off x="2954668" y="4988833"/>
                <a:ext cx="5219899" cy="345600"/>
              </a:xfrm>
              <a:prstGeom prst="rect">
                <a:avLst/>
              </a:prstGeom>
              <a:solidFill>
                <a:srgbClr val="FFFDF8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3" name="Rectangle 212">
                <a:extLst>
                  <a:ext uri="{FF2B5EF4-FFF2-40B4-BE49-F238E27FC236}">
                    <a16:creationId xmlns:a16="http://schemas.microsoft.com/office/drawing/2014/main" id="{18CD2B0E-38E1-964A-022C-AC5875361863}"/>
                  </a:ext>
                </a:extLst>
              </p:cNvPr>
              <p:cNvSpPr/>
              <p:nvPr/>
            </p:nvSpPr>
            <p:spPr>
              <a:xfrm>
                <a:off x="6741138" y="5068033"/>
                <a:ext cx="1423066" cy="187200"/>
              </a:xfrm>
              <a:prstGeom prst="rect">
                <a:avLst/>
              </a:prstGeom>
              <a:solidFill>
                <a:srgbClr val="BF360C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F6B0CF69-AEDC-ECD2-DE99-E06A9B1065ED}"/>
                  </a:ext>
                </a:extLst>
              </p:cNvPr>
              <p:cNvSpPr txBox="1"/>
              <p:nvPr/>
            </p:nvSpPr>
            <p:spPr>
              <a:xfrm>
                <a:off x="6741138" y="5060083"/>
                <a:ext cx="1494763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800" b="0" dirty="0" err="1">
                    <a:solidFill>
                      <a:srgbClr val="FFFFFF"/>
                    </a:solidFill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rPr>
                  <a:t>범용</a:t>
                </a:r>
                <a:r>
                  <a:rPr sz="800" b="0" dirty="0">
                    <a:solidFill>
                      <a:srgbClr val="FFFFFF"/>
                    </a:solidFill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rPr>
                  <a:t> ALD-SEI </a:t>
                </a:r>
                <a:r>
                  <a:rPr sz="800" b="0" dirty="0" err="1">
                    <a:solidFill>
                      <a:srgbClr val="FFFFFF"/>
                    </a:solidFill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rPr>
                  <a:t>설계</a:t>
                </a:r>
                <a:r>
                  <a:rPr sz="800" b="0" dirty="0">
                    <a:solidFill>
                      <a:srgbClr val="FFFFFF"/>
                    </a:solidFill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rPr>
                  <a:t> </a:t>
                </a:r>
                <a:r>
                  <a:rPr sz="800" b="0" dirty="0" err="1">
                    <a:solidFill>
                      <a:srgbClr val="FFFFFF"/>
                    </a:solidFill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rPr>
                  <a:t>원칙</a:t>
                </a:r>
                <a:r>
                  <a:rPr sz="800" b="0" dirty="0">
                    <a:solidFill>
                      <a:srgbClr val="FFFFFF"/>
                    </a:solidFill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rPr>
                  <a:t> </a:t>
                </a:r>
                <a:r>
                  <a:rPr sz="800" b="0" dirty="0" err="1">
                    <a:solidFill>
                      <a:srgbClr val="FFFFFF"/>
                    </a:solidFill>
                    <a:latin typeface="에스코어 드림 4 Regular" panose="020B0503030302020204" pitchFamily="34" charset="-127"/>
                    <a:ea typeface="에스코어 드림 4 Regular" panose="020B0503030302020204" pitchFamily="34" charset="-127"/>
                  </a:rPr>
                  <a:t>정립</a:t>
                </a:r>
                <a:endParaRPr sz="800" b="0" dirty="0">
                  <a:solidFill>
                    <a:srgbClr val="FFFFFF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endParaRPr>
              </a:p>
            </p:txBody>
          </p:sp>
          <p:grpSp>
            <p:nvGrpSpPr>
              <p:cNvPr id="219" name="Group 218">
                <a:extLst>
                  <a:ext uri="{FF2B5EF4-FFF2-40B4-BE49-F238E27FC236}">
                    <a16:creationId xmlns:a16="http://schemas.microsoft.com/office/drawing/2014/main" id="{339346E2-7AD3-8CF9-3CF0-729A941BF577}"/>
                  </a:ext>
                </a:extLst>
              </p:cNvPr>
              <p:cNvGrpSpPr/>
              <p:nvPr/>
            </p:nvGrpSpPr>
            <p:grpSpPr>
              <a:xfrm>
                <a:off x="320684" y="2569632"/>
                <a:ext cx="7853881" cy="2764801"/>
                <a:chOff x="-1131005" y="1932432"/>
                <a:chExt cx="10152239" cy="2764801"/>
              </a:xfrm>
            </p:grpSpPr>
            <p:cxnSp>
              <p:nvCxnSpPr>
                <p:cNvPr id="151" name="Connector 99">
                  <a:extLst>
                    <a:ext uri="{FF2B5EF4-FFF2-40B4-BE49-F238E27FC236}">
                      <a16:creationId xmlns:a16="http://schemas.microsoft.com/office/drawing/2014/main" id="{E2797AD0-54EA-9A46-3AD4-8C8A579226FD}"/>
                    </a:ext>
                  </a:extLst>
                </p:cNvPr>
                <p:cNvCxnSpPr/>
                <p:nvPr/>
              </p:nvCxnSpPr>
              <p:spPr>
                <a:xfrm>
                  <a:off x="-122766" y="1932432"/>
                  <a:ext cx="9144000" cy="0"/>
                </a:xfrm>
                <a:prstGeom prst="line">
                  <a:avLst/>
                </a:prstGeom>
                <a:ln w="5080">
                  <a:solidFill>
                    <a:srgbClr val="C5CAE9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9" name="Connector 107">
                  <a:extLst>
                    <a:ext uri="{FF2B5EF4-FFF2-40B4-BE49-F238E27FC236}">
                      <a16:creationId xmlns:a16="http://schemas.microsoft.com/office/drawing/2014/main" id="{95C3023A-0A1A-401E-E2F4-985EB628C9E9}"/>
                    </a:ext>
                  </a:extLst>
                </p:cNvPr>
                <p:cNvCxnSpPr/>
                <p:nvPr/>
              </p:nvCxnSpPr>
              <p:spPr>
                <a:xfrm>
                  <a:off x="-122766" y="2278032"/>
                  <a:ext cx="9144000" cy="0"/>
                </a:xfrm>
                <a:prstGeom prst="line">
                  <a:avLst/>
                </a:prstGeom>
                <a:ln w="5080">
                  <a:solidFill>
                    <a:srgbClr val="C5CAE9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7" name="Connector 115">
                  <a:extLst>
                    <a:ext uri="{FF2B5EF4-FFF2-40B4-BE49-F238E27FC236}">
                      <a16:creationId xmlns:a16="http://schemas.microsoft.com/office/drawing/2014/main" id="{B8654474-C37A-6732-0206-CBDBE8E6821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-1131005" y="2623633"/>
                  <a:ext cx="10152239" cy="0"/>
                </a:xfrm>
                <a:prstGeom prst="line">
                  <a:avLst/>
                </a:prstGeom>
                <a:ln w="12700">
                  <a:solidFill>
                    <a:srgbClr val="7986CB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Connector 123">
                  <a:extLst>
                    <a:ext uri="{FF2B5EF4-FFF2-40B4-BE49-F238E27FC236}">
                      <a16:creationId xmlns:a16="http://schemas.microsoft.com/office/drawing/2014/main" id="{6207829D-65CA-4D20-5E4E-3C6BA78B2D8A}"/>
                    </a:ext>
                  </a:extLst>
                </p:cNvPr>
                <p:cNvCxnSpPr/>
                <p:nvPr/>
              </p:nvCxnSpPr>
              <p:spPr>
                <a:xfrm>
                  <a:off x="-122766" y="2969233"/>
                  <a:ext cx="9144000" cy="0"/>
                </a:xfrm>
                <a:prstGeom prst="line">
                  <a:avLst/>
                </a:prstGeom>
                <a:ln w="5080">
                  <a:solidFill>
                    <a:srgbClr val="C5CAE9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3" name="Connector 131">
                  <a:extLst>
                    <a:ext uri="{FF2B5EF4-FFF2-40B4-BE49-F238E27FC236}">
                      <a16:creationId xmlns:a16="http://schemas.microsoft.com/office/drawing/2014/main" id="{C36B9063-D760-6E9B-E56A-DB3AC64D43B0}"/>
                    </a:ext>
                  </a:extLst>
                </p:cNvPr>
                <p:cNvCxnSpPr/>
                <p:nvPr/>
              </p:nvCxnSpPr>
              <p:spPr>
                <a:xfrm>
                  <a:off x="-122766" y="3314832"/>
                  <a:ext cx="9144000" cy="0"/>
                </a:xfrm>
                <a:prstGeom prst="line">
                  <a:avLst/>
                </a:prstGeom>
                <a:ln w="5080">
                  <a:solidFill>
                    <a:srgbClr val="C5CAE9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Connector 139">
                  <a:extLst>
                    <a:ext uri="{FF2B5EF4-FFF2-40B4-BE49-F238E27FC236}">
                      <a16:creationId xmlns:a16="http://schemas.microsoft.com/office/drawing/2014/main" id="{0E1A01BF-BE0E-FE91-2A88-B7E3103AD1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-1131005" y="3660433"/>
                  <a:ext cx="10152239" cy="0"/>
                </a:xfrm>
                <a:prstGeom prst="line">
                  <a:avLst/>
                </a:prstGeom>
                <a:ln w="12700">
                  <a:solidFill>
                    <a:srgbClr val="7986CB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9" name="Connector 147">
                  <a:extLst>
                    <a:ext uri="{FF2B5EF4-FFF2-40B4-BE49-F238E27FC236}">
                      <a16:creationId xmlns:a16="http://schemas.microsoft.com/office/drawing/2014/main" id="{38541502-E9B2-6114-1ECE-2F2C7C9AB549}"/>
                    </a:ext>
                  </a:extLst>
                </p:cNvPr>
                <p:cNvCxnSpPr/>
                <p:nvPr/>
              </p:nvCxnSpPr>
              <p:spPr>
                <a:xfrm>
                  <a:off x="-122766" y="4006033"/>
                  <a:ext cx="9144000" cy="0"/>
                </a:xfrm>
                <a:prstGeom prst="line">
                  <a:avLst/>
                </a:prstGeom>
                <a:ln w="5080">
                  <a:solidFill>
                    <a:srgbClr val="C5CAE9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7" name="Connector 155">
                  <a:extLst>
                    <a:ext uri="{FF2B5EF4-FFF2-40B4-BE49-F238E27FC236}">
                      <a16:creationId xmlns:a16="http://schemas.microsoft.com/office/drawing/2014/main" id="{1289DC5B-9E46-9E3D-D707-B780DE9338F7}"/>
                    </a:ext>
                  </a:extLst>
                </p:cNvPr>
                <p:cNvCxnSpPr/>
                <p:nvPr/>
              </p:nvCxnSpPr>
              <p:spPr>
                <a:xfrm>
                  <a:off x="-122766" y="4351633"/>
                  <a:ext cx="9144000" cy="0"/>
                </a:xfrm>
                <a:prstGeom prst="line">
                  <a:avLst/>
                </a:prstGeom>
                <a:ln w="5080">
                  <a:solidFill>
                    <a:srgbClr val="C5CAE9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5" name="Connector 163">
                  <a:extLst>
                    <a:ext uri="{FF2B5EF4-FFF2-40B4-BE49-F238E27FC236}">
                      <a16:creationId xmlns:a16="http://schemas.microsoft.com/office/drawing/2014/main" id="{61AA2879-B0DA-6F41-9D58-DD91145F8316}"/>
                    </a:ext>
                  </a:extLst>
                </p:cNvPr>
                <p:cNvCxnSpPr/>
                <p:nvPr/>
              </p:nvCxnSpPr>
              <p:spPr>
                <a:xfrm>
                  <a:off x="-133366" y="4697233"/>
                  <a:ext cx="9144000" cy="0"/>
                </a:xfrm>
                <a:prstGeom prst="line">
                  <a:avLst/>
                </a:prstGeom>
                <a:ln w="5080">
                  <a:solidFill>
                    <a:srgbClr val="C5CAE9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24" name="Rectangle 223">
                <a:extLst>
                  <a:ext uri="{FF2B5EF4-FFF2-40B4-BE49-F238E27FC236}">
                    <a16:creationId xmlns:a16="http://schemas.microsoft.com/office/drawing/2014/main" id="{5A7FB96B-0DC2-589C-E311-5A05A63DB823}"/>
                  </a:ext>
                </a:extLst>
              </p:cNvPr>
              <p:cNvSpPr/>
              <p:nvPr/>
            </p:nvSpPr>
            <p:spPr>
              <a:xfrm>
                <a:off x="320684" y="2229966"/>
                <a:ext cx="774960" cy="1022401"/>
              </a:xfrm>
              <a:prstGeom prst="rect">
                <a:avLst/>
              </a:prstGeom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  <a:latin typeface="에스코어 드림 7 ExtraBold" panose="020B0803030302020204" pitchFamily="34" charset="-127"/>
                    <a:ea typeface="에스코어 드림 7 ExtraBold" panose="020B0803030302020204" pitchFamily="34" charset="-127"/>
                  </a:rPr>
                  <a:t>Task 1</a:t>
                </a:r>
              </a:p>
            </p:txBody>
          </p:sp>
          <p:sp>
            <p:nvSpPr>
              <p:cNvPr id="225" name="Rectangle 224">
                <a:extLst>
                  <a:ext uri="{FF2B5EF4-FFF2-40B4-BE49-F238E27FC236}">
                    <a16:creationId xmlns:a16="http://schemas.microsoft.com/office/drawing/2014/main" id="{1CF39448-0FAF-024A-EEDD-AC37C1FD6605}"/>
                  </a:ext>
                </a:extLst>
              </p:cNvPr>
              <p:cNvSpPr/>
              <p:nvPr/>
            </p:nvSpPr>
            <p:spPr>
              <a:xfrm>
                <a:off x="320684" y="3264117"/>
                <a:ext cx="774960" cy="1022401"/>
              </a:xfrm>
              <a:prstGeom prst="rect">
                <a:avLst/>
              </a:prstGeom>
              <a:gradFill>
                <a:gsLst>
                  <a:gs pos="0">
                    <a:srgbClr val="00B050"/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</a:gra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  <a:latin typeface="에스코어 드림 7 ExtraBold" panose="020B0803030302020204" pitchFamily="34" charset="-127"/>
                    <a:ea typeface="에스코어 드림 7 ExtraBold" panose="020B0803030302020204" pitchFamily="34" charset="-127"/>
                  </a:rPr>
                  <a:t>Task 2</a:t>
                </a:r>
              </a:p>
            </p:txBody>
          </p:sp>
          <p:sp>
            <p:nvSpPr>
              <p:cNvPr id="226" name="Rectangle 225">
                <a:extLst>
                  <a:ext uri="{FF2B5EF4-FFF2-40B4-BE49-F238E27FC236}">
                    <a16:creationId xmlns:a16="http://schemas.microsoft.com/office/drawing/2014/main" id="{323F7E1E-9B73-328D-B4D5-EB7626D79884}"/>
                  </a:ext>
                </a:extLst>
              </p:cNvPr>
              <p:cNvSpPr/>
              <p:nvPr/>
            </p:nvSpPr>
            <p:spPr>
              <a:xfrm>
                <a:off x="320684" y="4303515"/>
                <a:ext cx="774960" cy="1030918"/>
              </a:xfrm>
              <a:prstGeom prst="rect">
                <a:avLst/>
              </a:prstGeom>
              <a:gradFill>
                <a:gsLst>
                  <a:gs pos="0">
                    <a:schemeClr val="accent6">
                      <a:lumMod val="75000"/>
                    </a:schemeClr>
                  </a:gs>
                  <a:gs pos="100000">
                    <a:schemeClr val="accent6">
                      <a:lumMod val="40000"/>
                      <a:lumOff val="60000"/>
                    </a:schemeClr>
                  </a:gs>
                </a:gsLst>
              </a:gra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  <a:latin typeface="에스코어 드림 7 ExtraBold" panose="020B0803030302020204" pitchFamily="34" charset="-127"/>
                    <a:ea typeface="에스코어 드림 7 ExtraBold" panose="020B0803030302020204" pitchFamily="34" charset="-127"/>
                  </a:rPr>
                  <a:t>Task 3</a:t>
                </a:r>
              </a:p>
            </p:txBody>
          </p:sp>
          <p:sp>
            <p:nvSpPr>
              <p:cNvPr id="221" name="Rectangle 220">
                <a:extLst>
                  <a:ext uri="{FF2B5EF4-FFF2-40B4-BE49-F238E27FC236}">
                    <a16:creationId xmlns:a16="http://schemas.microsoft.com/office/drawing/2014/main" id="{26327DF5-EAB5-9DEA-1FFD-78917F86B510}"/>
                  </a:ext>
                </a:extLst>
              </p:cNvPr>
              <p:cNvSpPr/>
              <p:nvPr/>
            </p:nvSpPr>
            <p:spPr>
              <a:xfrm>
                <a:off x="320684" y="2011632"/>
                <a:ext cx="7864057" cy="3326884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" name="Straight Connector 2">
                <a:extLst>
                  <a:ext uri="{FF2B5EF4-FFF2-40B4-BE49-F238E27FC236}">
                    <a16:creationId xmlns:a16="http://schemas.microsoft.com/office/drawing/2014/main" id="{359C4DCE-44A5-5FDF-FFA1-77FEF75D86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00668" y="2011632"/>
                <a:ext cx="0" cy="3333234"/>
              </a:xfrm>
              <a:prstGeom prst="line">
                <a:avLst/>
              </a:prstGeom>
              <a:ln w="6350">
                <a:solidFill>
                  <a:srgbClr val="CDD3EA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Connector 107">
                <a:extLst>
                  <a:ext uri="{FF2B5EF4-FFF2-40B4-BE49-F238E27FC236}">
                    <a16:creationId xmlns:a16="http://schemas.microsoft.com/office/drawing/2014/main" id="{2738BB68-372E-242F-F7F0-D1CD895D58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0684" y="2224032"/>
                <a:ext cx="7864057" cy="0"/>
              </a:xfrm>
              <a:prstGeom prst="line">
                <a:avLst/>
              </a:prstGeom>
              <a:ln w="5080">
                <a:solidFill>
                  <a:srgbClr val="C5CAE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9EC8388-7ED0-559A-00F1-94BECB505212}"/>
                  </a:ext>
                </a:extLst>
              </p:cNvPr>
              <p:cNvSpPr/>
              <p:nvPr/>
            </p:nvSpPr>
            <p:spPr>
              <a:xfrm>
                <a:off x="332984" y="2017882"/>
                <a:ext cx="779983" cy="20615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  <a:latin typeface="에스코어 드림 7 ExtraBold" panose="020B0803030302020204" pitchFamily="34" charset="-127"/>
                    <a:ea typeface="에스코어 드림 7 ExtraBold" panose="020B0803030302020204" pitchFamily="34" charset="-127"/>
                  </a:rPr>
                  <a:t>Task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B029C5F-A4D6-43CE-BF7A-86B04E2FF5E5}"/>
                  </a:ext>
                </a:extLst>
              </p:cNvPr>
              <p:cNvSpPr/>
              <p:nvPr/>
            </p:nvSpPr>
            <p:spPr>
              <a:xfrm>
                <a:off x="1100668" y="2017882"/>
                <a:ext cx="1853997" cy="206150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100" dirty="0">
                    <a:solidFill>
                      <a:schemeClr val="tx1"/>
                    </a:solidFill>
                    <a:latin typeface="에스코어 드림 7 ExtraBold" panose="020B0803030302020204" pitchFamily="34" charset="-127"/>
                    <a:ea typeface="에스코어 드림 7 ExtraBold" panose="020B0803030302020204" pitchFamily="34" charset="-127"/>
                  </a:rPr>
                  <a:t>세부 연구 내용</a:t>
                </a:r>
                <a:endParaRPr lang="en-US" sz="1100" dirty="0">
                  <a:solidFill>
                    <a:schemeClr val="tx1"/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endParaRPr>
              </a:p>
            </p:txBody>
          </p:sp>
          <p:cxnSp>
            <p:nvCxnSpPr>
              <p:cNvPr id="7" name="Connector 164">
                <a:extLst>
                  <a:ext uri="{FF2B5EF4-FFF2-40B4-BE49-F238E27FC236}">
                    <a16:creationId xmlns:a16="http://schemas.microsoft.com/office/drawing/2014/main" id="{C3868DA2-7422-2351-30AE-B28ED7F34A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05761" y="2017882"/>
                <a:ext cx="0" cy="3322801"/>
              </a:xfrm>
              <a:prstGeom prst="line">
                <a:avLst/>
              </a:prstGeom>
              <a:ln w="31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Connector 164">
                <a:extLst>
                  <a:ext uri="{FF2B5EF4-FFF2-40B4-BE49-F238E27FC236}">
                    <a16:creationId xmlns:a16="http://schemas.microsoft.com/office/drawing/2014/main" id="{28B9EAD6-21D6-89E9-F633-9AE885B4A7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54668" y="2011632"/>
                <a:ext cx="0" cy="3322801"/>
              </a:xfrm>
              <a:prstGeom prst="line">
                <a:avLst/>
              </a:prstGeom>
              <a:ln w="12700">
                <a:solidFill>
                  <a:srgbClr val="7986C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Connector 164">
                <a:extLst>
                  <a:ext uri="{FF2B5EF4-FFF2-40B4-BE49-F238E27FC236}">
                    <a16:creationId xmlns:a16="http://schemas.microsoft.com/office/drawing/2014/main" id="{C70AFD3F-8C90-76E7-5243-19789B9A819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01661" y="2011632"/>
                <a:ext cx="0" cy="3322801"/>
              </a:xfrm>
              <a:prstGeom prst="line">
                <a:avLst/>
              </a:prstGeom>
              <a:ln w="12700">
                <a:solidFill>
                  <a:srgbClr val="7986C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" name="Connector 115">
              <a:extLst>
                <a:ext uri="{FF2B5EF4-FFF2-40B4-BE49-F238E27FC236}">
                  <a16:creationId xmlns:a16="http://schemas.microsoft.com/office/drawing/2014/main" id="{73BF8BD3-E4E0-6F99-3A69-62DB81DB6ECE}"/>
                </a:ext>
              </a:extLst>
            </p:cNvPr>
            <p:cNvCxnSpPr>
              <a:cxnSpLocks/>
            </p:cNvCxnSpPr>
            <p:nvPr/>
          </p:nvCxnSpPr>
          <p:spPr>
            <a:xfrm>
              <a:off x="320684" y="2224032"/>
              <a:ext cx="7866180" cy="0"/>
            </a:xfrm>
            <a:prstGeom prst="line">
              <a:avLst/>
            </a:prstGeom>
            <a:ln w="12700">
              <a:solidFill>
                <a:srgbClr val="7986C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11745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1477</TotalTime>
  <Words>2570</Words>
  <Application>Microsoft Office PowerPoint</Application>
  <PresentationFormat>Custom</PresentationFormat>
  <Paragraphs>516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8" baseType="lpstr">
      <vt:lpstr>Klavika Medium</vt:lpstr>
      <vt:lpstr>나눔스퀘어 Bold</vt:lpstr>
      <vt:lpstr>나눔스퀘어 네오 Bold</vt:lpstr>
      <vt:lpstr>맑은 고딕</vt:lpstr>
      <vt:lpstr>에스코어 드림 4 Regular</vt:lpstr>
      <vt:lpstr>에스코어 드림 6 Bold</vt:lpstr>
      <vt:lpstr>에스코어 드림 7 ExtraBold</vt:lpstr>
      <vt:lpstr>에스코어 드림 9 Black</vt:lpstr>
      <vt:lpstr>프리젠테이션 7 Bold</vt:lpstr>
      <vt:lpstr>프리젠테이션 9 Black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Seung-Mo Lee</cp:lastModifiedBy>
  <cp:revision>17</cp:revision>
  <dcterms:created xsi:type="dcterms:W3CDTF">2013-01-27T09:14:16Z</dcterms:created>
  <dcterms:modified xsi:type="dcterms:W3CDTF">2026-04-29T10:52:06Z</dcterms:modified>
  <cp:category/>
</cp:coreProperties>
</file>