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44000"/>
            <a:ext cx="3780000" cy="288000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56000" y="144000"/>
            <a:ext cx="3780000" cy="2880000"/>
          </a:xfrm>
          <a:prstGeom prst="rect">
            <a:avLst/>
          </a:prstGeom>
          <a:solidFill>
            <a:srgbClr val="F3F3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6000" y="3834000"/>
            <a:ext cx="3780000" cy="288000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000" y="3834000"/>
            <a:ext cx="3780000" cy="288000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1999" y="2943000"/>
            <a:ext cx="1800000" cy="972000"/>
          </a:xfrm>
          <a:prstGeom prst="rect">
            <a:avLst/>
          </a:prstGeom>
          <a:solidFill>
            <a:srgbClr val="F8F8FF"/>
          </a:solidFill>
          <a:ln w="19050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7999" y="2979000"/>
            <a:ext cx="17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7E"/>
                </a:solidFill>
                <a:latin typeface="맑은 고딕"/>
              </a:rPr>
              <a:t>ALD ZnF₂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7999" y="3285000"/>
            <a:ext cx="172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37E"/>
                </a:solidFill>
                <a:latin typeface="맑은 고딕"/>
              </a:rPr>
              <a:t>공정 사이클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7999" y="3555000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C0"/>
                </a:solidFill>
                <a:latin typeface="맑은 고딕"/>
              </a:rPr>
              <a:t>(ZnF₂ ALD Cycle)</a:t>
            </a:r>
          </a:p>
        </p:txBody>
      </p:sp>
      <p:sp>
        <p:nvSpPr>
          <p:cNvPr id="11" name="Can 10"/>
          <p:cNvSpPr/>
          <p:nvPr/>
        </p:nvSpPr>
        <p:spPr>
          <a:xfrm>
            <a:off x="4283999" y="864000"/>
            <a:ext cx="576000" cy="432000"/>
          </a:xfrm>
          <a:prstGeom prst="can">
            <a:avLst/>
          </a:prstGeom>
          <a:solidFill>
            <a:srgbClr val="4287C8">
              <a:alpha val="75000"/>
            </a:srgbClr>
          </a:solidFill>
          <a:ln w="6350">
            <a:solidFill>
              <a:srgbClr val="1A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uble Bracket 11"/>
          <p:cNvSpPr/>
          <p:nvPr/>
        </p:nvSpPr>
        <p:spPr>
          <a:xfrm>
            <a:off x="6930000" y="3141000"/>
            <a:ext cx="432000" cy="576000"/>
          </a:xfrm>
          <a:prstGeom prst="bracketPair">
            <a:avLst/>
          </a:prstGeom>
          <a:solidFill>
            <a:srgbClr val="4287C8">
              <a:alpha val="75000"/>
            </a:srgbClr>
          </a:solidFill>
          <a:ln w="6350">
            <a:solidFill>
              <a:srgbClr val="1A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ube 12"/>
          <p:cNvSpPr/>
          <p:nvPr/>
        </p:nvSpPr>
        <p:spPr>
          <a:xfrm>
            <a:off x="4283999" y="4554000"/>
            <a:ext cx="576000" cy="432000"/>
          </a:xfrm>
          <a:prstGeom prst="cube">
            <a:avLst/>
          </a:prstGeom>
          <a:solidFill>
            <a:srgbClr val="4287C8">
              <a:alpha val="75000"/>
            </a:srgbClr>
          </a:solidFill>
          <a:ln w="6350">
            <a:solidFill>
              <a:srgbClr val="1A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1782000" y="3141000"/>
            <a:ext cx="432000" cy="576000"/>
          </a:xfrm>
          <a:prstGeom prst="arc">
            <a:avLst/>
          </a:prstGeom>
          <a:solidFill>
            <a:srgbClr val="4287C8">
              <a:alpha val="75000"/>
            </a:srgbClr>
          </a:solidFill>
          <a:ln w="6350">
            <a:solidFill>
              <a:srgbClr val="1A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8000" y="144000"/>
            <a:ext cx="3780000" cy="2880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" y="162000"/>
            <a:ext cx="37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① DEZ 펄스  (전구체 노출)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000" y="2465100"/>
            <a:ext cx="3311999" cy="1980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2000" y="2392200"/>
            <a:ext cx="3311999" cy="558000"/>
          </a:xfrm>
          <a:prstGeom prst="ellipse">
            <a:avLst/>
          </a:prstGeom>
          <a:solidFill>
            <a:srgbClr val="303030"/>
          </a:solidFill>
          <a:ln w="381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2000" y="2214000"/>
            <a:ext cx="3311999" cy="558000"/>
          </a:xfrm>
          <a:prstGeom prst="ellipse">
            <a:avLst/>
          </a:prstGeom>
          <a:solidFill>
            <a:srgbClr val="757575"/>
          </a:solidFill>
          <a:ln w="1016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8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1199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544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808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940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20399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336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62687" y="597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25067" y="560195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539567" y="536256"/>
            <a:ext cx="123120" cy="61560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07590" y="504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906192" y="597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91692" y="560195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029312" y="536256"/>
            <a:ext cx="123120" cy="61560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120455" y="504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0759" y="608759"/>
            <a:ext cx="150480" cy="15048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1454688" y="1065816"/>
            <a:ext cx="123119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417068" y="1028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1331567" y="1004255"/>
            <a:ext cx="123121" cy="61561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299590" y="972278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698192" y="1065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783692" y="1028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821312" y="1004255"/>
            <a:ext cx="123120" cy="61561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912455" y="972278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562760" y="1076759"/>
            <a:ext cx="150480" cy="15048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2354688" y="525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317068" y="488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2231568" y="464256"/>
            <a:ext cx="123120" cy="61560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199591" y="432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2598192" y="525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683692" y="488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721312" y="464256"/>
            <a:ext cx="123120" cy="61560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2812455" y="432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62760" y="536760"/>
            <a:ext cx="150480" cy="15048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3074688" y="957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037068" y="920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2951568" y="896255"/>
            <a:ext cx="123120" cy="61561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919591" y="864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3318192" y="957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403692" y="920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3441312" y="896255"/>
            <a:ext cx="123119" cy="61561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532455" y="864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182760" y="968759"/>
            <a:ext cx="150480" cy="15048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1886688" y="1425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849068" y="1388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H="1" flipV="1">
            <a:off x="1763567" y="1364256"/>
            <a:ext cx="123121" cy="61560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731590" y="1332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2130192" y="1425816"/>
            <a:ext cx="123120" cy="86184"/>
          </a:xfrm>
          <a:prstGeom prst="line">
            <a:avLst/>
          </a:prstGeom>
          <a:ln w="1809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2215692" y="1388196"/>
            <a:ext cx="75240" cy="752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53312" y="1364256"/>
            <a:ext cx="123120" cy="61560"/>
          </a:xfrm>
          <a:prstGeom prst="line">
            <a:avLst/>
          </a:prstGeom>
          <a:ln w="14477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344455" y="1332279"/>
            <a:ext cx="63953" cy="6395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94760" y="1436760"/>
            <a:ext cx="150480" cy="15048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638000" y="1259999"/>
            <a:ext cx="0" cy="941401"/>
          </a:xfrm>
          <a:prstGeom prst="line">
            <a:avLst/>
          </a:prstGeom>
          <a:ln w="15240">
            <a:solidFill>
              <a:srgbClr val="CC660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538000" y="720000"/>
            <a:ext cx="0" cy="1481400"/>
          </a:xfrm>
          <a:prstGeom prst="line">
            <a:avLst/>
          </a:prstGeom>
          <a:ln w="15240">
            <a:solidFill>
              <a:srgbClr val="CC660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80000" y="1980000"/>
            <a:ext cx="36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360C"/>
                </a:solidFill>
                <a:latin typeface="맑은 고딕"/>
              </a:rPr>
              <a:t>Zn(C₂H₅)₂ 전구체 흡착 개시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56000" y="144000"/>
            <a:ext cx="3780000" cy="288000"/>
          </a:xfrm>
          <a:prstGeom prst="rect">
            <a:avLst/>
          </a:prstGeom>
          <a:solidFill>
            <a:srgbClr val="55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56000" y="162000"/>
            <a:ext cx="37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② N₂ 퍼지  (과량 DEZ 제거)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90000" y="2465100"/>
            <a:ext cx="3311999" cy="1980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490000" y="2392200"/>
            <a:ext cx="3311999" cy="558000"/>
          </a:xfrm>
          <a:prstGeom prst="ellipse">
            <a:avLst/>
          </a:prstGeom>
          <a:solidFill>
            <a:srgbClr val="303030"/>
          </a:solidFill>
          <a:ln w="381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490000" y="2214000"/>
            <a:ext cx="3311999" cy="558000"/>
          </a:xfrm>
          <a:prstGeom prst="ellipse">
            <a:avLst/>
          </a:prstGeom>
          <a:solidFill>
            <a:srgbClr val="757575"/>
          </a:solidFill>
          <a:ln w="1016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6628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9760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2892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6024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9156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2288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5420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8552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1684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81600" y="224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598000" y="2147400"/>
            <a:ext cx="72000" cy="720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529600" y="2053800"/>
            <a:ext cx="64800" cy="648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224400" y="2147400"/>
            <a:ext cx="72000" cy="720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156000" y="2053800"/>
            <a:ext cx="64800" cy="648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50799" y="2147400"/>
            <a:ext cx="72000" cy="720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782400" y="2053800"/>
            <a:ext cx="64800" cy="648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477200" y="2147400"/>
            <a:ext cx="72000" cy="720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408800" y="2053800"/>
            <a:ext cx="64800" cy="648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103599" y="2147400"/>
            <a:ext cx="72000" cy="720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035200" y="2053800"/>
            <a:ext cx="64800" cy="6480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28000" y="792000"/>
            <a:ext cx="1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CAF9"/>
                </a:solidFill>
                <a:latin typeface="Arial"/>
              </a:rPr>
              <a:t>N₂  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28000" y="1080000"/>
            <a:ext cx="1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CAF9"/>
                </a:solidFill>
                <a:latin typeface="Arial"/>
              </a:rPr>
              <a:t>N₂  →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28000" y="1368000"/>
            <a:ext cx="1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CAF9"/>
                </a:solidFill>
                <a:latin typeface="Arial"/>
              </a:rPr>
              <a:t>N₂  →</a:t>
            </a:r>
          </a:p>
        </p:txBody>
      </p:sp>
      <p:cxnSp>
        <p:nvCxnSpPr>
          <p:cNvPr id="103" name="Connector 102"/>
          <p:cNvCxnSpPr/>
          <p:nvPr/>
        </p:nvCxnSpPr>
        <p:spPr>
          <a:xfrm flipH="1" flipV="1">
            <a:off x="6110928" y="512496"/>
            <a:ext cx="90720" cy="63504"/>
          </a:xfrm>
          <a:prstGeom prst="line">
            <a:avLst/>
          </a:prstGeom>
          <a:ln w="13334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6083208" y="484776"/>
            <a:ext cx="55440" cy="554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H="1" flipV="1">
            <a:off x="6020208" y="467136"/>
            <a:ext cx="90720" cy="45360"/>
          </a:xfrm>
          <a:prstGeom prst="line">
            <a:avLst/>
          </a:prstGeom>
          <a:ln w="10668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5996646" y="443574"/>
            <a:ext cx="47123" cy="4712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 flipV="1">
            <a:off x="6290352" y="512496"/>
            <a:ext cx="90720" cy="63504"/>
          </a:xfrm>
          <a:prstGeom prst="line">
            <a:avLst/>
          </a:prstGeom>
          <a:ln w="13334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6353352" y="484776"/>
            <a:ext cx="55440" cy="554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6381072" y="467136"/>
            <a:ext cx="90720" cy="45360"/>
          </a:xfrm>
          <a:prstGeom prst="line">
            <a:avLst/>
          </a:prstGeom>
          <a:ln w="10668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6448230" y="443574"/>
            <a:ext cx="47123" cy="4712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190560" y="520560"/>
            <a:ext cx="110880" cy="11088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6246000" y="432000"/>
            <a:ext cx="540000" cy="36000"/>
          </a:xfrm>
          <a:prstGeom prst="line">
            <a:avLst/>
          </a:prstGeom>
          <a:ln w="12700">
            <a:solidFill>
              <a:srgbClr val="90909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730928" y="728496"/>
            <a:ext cx="90720" cy="63504"/>
          </a:xfrm>
          <a:prstGeom prst="line">
            <a:avLst/>
          </a:prstGeom>
          <a:ln w="13334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7703208" y="700776"/>
            <a:ext cx="55440" cy="554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H="1" flipV="1">
            <a:off x="7640208" y="683136"/>
            <a:ext cx="90720" cy="45360"/>
          </a:xfrm>
          <a:prstGeom prst="line">
            <a:avLst/>
          </a:prstGeom>
          <a:ln w="10668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7616646" y="659574"/>
            <a:ext cx="47123" cy="4712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7910352" y="728496"/>
            <a:ext cx="90720" cy="63504"/>
          </a:xfrm>
          <a:prstGeom prst="line">
            <a:avLst/>
          </a:prstGeom>
          <a:ln w="13334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7973352" y="700776"/>
            <a:ext cx="55440" cy="55440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 flipV="1">
            <a:off x="8001072" y="683136"/>
            <a:ext cx="90720" cy="45360"/>
          </a:xfrm>
          <a:prstGeom prst="line">
            <a:avLst/>
          </a:prstGeom>
          <a:ln w="10668">
            <a:solidFill>
              <a:srgbClr val="45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8068230" y="659574"/>
            <a:ext cx="47123" cy="47123"/>
          </a:xfrm>
          <a:prstGeom prst="ellipse">
            <a:avLst/>
          </a:prstGeom>
          <a:solidFill>
            <a:srgbClr val="78909C"/>
          </a:solidFill>
          <a:ln w="508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810560" y="736560"/>
            <a:ext cx="110880" cy="11088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 flipV="1">
            <a:off x="7866000" y="468000"/>
            <a:ext cx="540000" cy="180000"/>
          </a:xfrm>
          <a:prstGeom prst="line">
            <a:avLst/>
          </a:prstGeom>
          <a:ln w="12700">
            <a:solidFill>
              <a:srgbClr val="90909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5328000" y="1980000"/>
            <a:ext cx="36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237E"/>
                </a:solidFill>
                <a:latin typeface="맑은 고딕"/>
              </a:rPr>
              <a:t>과잉 DEZ 제거 → 자기제한 표면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256000" y="3834000"/>
            <a:ext cx="3780000" cy="28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256000" y="3852000"/>
            <a:ext cx="37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③ HF·py 펄스  (반응물 노출)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90000" y="6155100"/>
            <a:ext cx="3311999" cy="1980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490000" y="6082200"/>
            <a:ext cx="3311999" cy="558000"/>
          </a:xfrm>
          <a:prstGeom prst="ellipse">
            <a:avLst/>
          </a:prstGeom>
          <a:solidFill>
            <a:srgbClr val="303030"/>
          </a:solidFill>
          <a:ln w="381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490000" y="5903999"/>
            <a:ext cx="3311999" cy="558000"/>
          </a:xfrm>
          <a:prstGeom prst="ellipse">
            <a:avLst/>
          </a:prstGeom>
          <a:solidFill>
            <a:srgbClr val="757575"/>
          </a:solidFill>
          <a:ln w="1016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6628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9760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2892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6024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9156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2288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5420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8552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1684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4816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6880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144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9408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5672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1936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5855220" y="4410000"/>
            <a:ext cx="151848" cy="0"/>
          </a:xfrm>
          <a:prstGeom prst="line">
            <a:avLst/>
          </a:prstGeom>
          <a:ln w="15684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5834700" y="4358700"/>
            <a:ext cx="102599" cy="102599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963976" y="4379220"/>
            <a:ext cx="61559" cy="61559"/>
          </a:xfrm>
          <a:prstGeom prst="ellipse">
            <a:avLst/>
          </a:prstGeom>
          <a:solidFill>
            <a:srgbClr val="F5F5DC"/>
          </a:solidFill>
          <a:ln w="381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 flipH="1">
            <a:off x="5694480" y="4410000"/>
            <a:ext cx="181260" cy="0"/>
          </a:xfrm>
          <a:prstGeom prst="line">
            <a:avLst/>
          </a:prstGeom>
          <a:ln w="12065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/>
          <p:cNvSpPr/>
          <p:nvPr/>
        </p:nvSpPr>
        <p:spPr>
          <a:xfrm>
            <a:off x="5658912" y="4365540"/>
            <a:ext cx="88920" cy="88920"/>
          </a:xfrm>
          <a:prstGeom prst="ellipse">
            <a:avLst/>
          </a:prstGeom>
          <a:solidFill>
            <a:srgbClr val="CE93D8"/>
          </a:solidFill>
          <a:ln w="508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6575220" y="4878000"/>
            <a:ext cx="151848" cy="0"/>
          </a:xfrm>
          <a:prstGeom prst="line">
            <a:avLst/>
          </a:prstGeom>
          <a:ln w="15684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6554700" y="4826700"/>
            <a:ext cx="102599" cy="102599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683976" y="4847220"/>
            <a:ext cx="61559" cy="61559"/>
          </a:xfrm>
          <a:prstGeom prst="ellipse">
            <a:avLst/>
          </a:prstGeom>
          <a:solidFill>
            <a:srgbClr val="F5F5DC"/>
          </a:solidFill>
          <a:ln w="381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 flipH="1">
            <a:off x="6414480" y="4878000"/>
            <a:ext cx="181260" cy="0"/>
          </a:xfrm>
          <a:prstGeom prst="line">
            <a:avLst/>
          </a:prstGeom>
          <a:ln w="12065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6378912" y="4833540"/>
            <a:ext cx="88920" cy="88920"/>
          </a:xfrm>
          <a:prstGeom prst="ellipse">
            <a:avLst/>
          </a:prstGeom>
          <a:solidFill>
            <a:srgbClr val="CE93D8"/>
          </a:solidFill>
          <a:ln w="508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7295220" y="4374000"/>
            <a:ext cx="151848" cy="0"/>
          </a:xfrm>
          <a:prstGeom prst="line">
            <a:avLst/>
          </a:prstGeom>
          <a:ln w="15684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7274700" y="4322700"/>
            <a:ext cx="102599" cy="102599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403976" y="4343220"/>
            <a:ext cx="61559" cy="61559"/>
          </a:xfrm>
          <a:prstGeom prst="ellipse">
            <a:avLst/>
          </a:prstGeom>
          <a:solidFill>
            <a:srgbClr val="F5F5DC"/>
          </a:solidFill>
          <a:ln w="381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 flipH="1">
            <a:off x="7134480" y="4374000"/>
            <a:ext cx="181260" cy="0"/>
          </a:xfrm>
          <a:prstGeom prst="line">
            <a:avLst/>
          </a:prstGeom>
          <a:ln w="12065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7098912" y="4329540"/>
            <a:ext cx="88920" cy="88920"/>
          </a:xfrm>
          <a:prstGeom prst="ellipse">
            <a:avLst/>
          </a:prstGeom>
          <a:solidFill>
            <a:srgbClr val="CE93D8"/>
          </a:solidFill>
          <a:ln w="508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8015220" y="4806000"/>
            <a:ext cx="151848" cy="0"/>
          </a:xfrm>
          <a:prstGeom prst="line">
            <a:avLst/>
          </a:prstGeom>
          <a:ln w="15684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7994700" y="4754700"/>
            <a:ext cx="102599" cy="102599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123976" y="4775220"/>
            <a:ext cx="61559" cy="61559"/>
          </a:xfrm>
          <a:prstGeom prst="ellipse">
            <a:avLst/>
          </a:prstGeom>
          <a:solidFill>
            <a:srgbClr val="F5F5DC"/>
          </a:solidFill>
          <a:ln w="381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 flipH="1">
            <a:off x="7854480" y="4806000"/>
            <a:ext cx="181260" cy="0"/>
          </a:xfrm>
          <a:prstGeom prst="line">
            <a:avLst/>
          </a:prstGeom>
          <a:ln w="12065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7818912" y="4761540"/>
            <a:ext cx="88920" cy="88920"/>
          </a:xfrm>
          <a:prstGeom prst="ellipse">
            <a:avLst/>
          </a:prstGeom>
          <a:solidFill>
            <a:srgbClr val="CE93D8"/>
          </a:solidFill>
          <a:ln w="508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8483220" y="4482000"/>
            <a:ext cx="151848" cy="0"/>
          </a:xfrm>
          <a:prstGeom prst="line">
            <a:avLst/>
          </a:prstGeom>
          <a:ln w="15684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Oval 164"/>
          <p:cNvSpPr/>
          <p:nvPr/>
        </p:nvSpPr>
        <p:spPr>
          <a:xfrm>
            <a:off x="8462700" y="4430700"/>
            <a:ext cx="102599" cy="102599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591976" y="4451220"/>
            <a:ext cx="61559" cy="61559"/>
          </a:xfrm>
          <a:prstGeom prst="ellipse">
            <a:avLst/>
          </a:prstGeom>
          <a:solidFill>
            <a:srgbClr val="F5F5DC"/>
          </a:solidFill>
          <a:ln w="381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 flipH="1">
            <a:off x="8322480" y="4482000"/>
            <a:ext cx="181260" cy="0"/>
          </a:xfrm>
          <a:prstGeom prst="line">
            <a:avLst/>
          </a:prstGeom>
          <a:ln w="12065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8286912" y="4437540"/>
            <a:ext cx="88920" cy="88920"/>
          </a:xfrm>
          <a:prstGeom prst="ellipse">
            <a:avLst/>
          </a:prstGeom>
          <a:solidFill>
            <a:srgbClr val="CE93D8"/>
          </a:solidFill>
          <a:ln w="508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>
            <a:off x="6606000" y="4950000"/>
            <a:ext cx="0" cy="941399"/>
          </a:xfrm>
          <a:prstGeom prst="line">
            <a:avLst/>
          </a:prstGeom>
          <a:ln w="15240">
            <a:solidFill>
              <a:srgbClr val="2E7D32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326000" y="4446000"/>
            <a:ext cx="0" cy="1445399"/>
          </a:xfrm>
          <a:prstGeom prst="line">
            <a:avLst/>
          </a:prstGeom>
          <a:ln w="15240">
            <a:solidFill>
              <a:srgbClr val="2E7D32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426000" y="5202000"/>
            <a:ext cx="91800" cy="0"/>
          </a:xfrm>
          <a:prstGeom prst="line">
            <a:avLst/>
          </a:prstGeom>
          <a:ln w="12954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6395400" y="5171399"/>
            <a:ext cx="61200" cy="61200"/>
          </a:xfrm>
          <a:prstGeom prst="ellipse">
            <a:avLst/>
          </a:prstGeom>
          <a:solidFill>
            <a:srgbClr val="EF9A9A"/>
          </a:solidFill>
          <a:ln w="381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468840" y="5171399"/>
            <a:ext cx="61200" cy="61200"/>
          </a:xfrm>
          <a:prstGeom prst="ellipse">
            <a:avLst/>
          </a:prstGeom>
          <a:solidFill>
            <a:srgbClr val="EF9A9A"/>
          </a:solidFill>
          <a:ln w="381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7794000" y="5094000"/>
            <a:ext cx="91800" cy="0"/>
          </a:xfrm>
          <a:prstGeom prst="line">
            <a:avLst/>
          </a:prstGeom>
          <a:ln w="12954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7763400" y="5063400"/>
            <a:ext cx="61200" cy="61200"/>
          </a:xfrm>
          <a:prstGeom prst="ellipse">
            <a:avLst/>
          </a:prstGeom>
          <a:solidFill>
            <a:srgbClr val="EF9A9A"/>
          </a:solidFill>
          <a:ln w="381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36840" y="5063400"/>
            <a:ext cx="61200" cy="61200"/>
          </a:xfrm>
          <a:prstGeom prst="ellipse">
            <a:avLst/>
          </a:prstGeom>
          <a:solidFill>
            <a:srgbClr val="EF9A9A"/>
          </a:solidFill>
          <a:ln w="381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328000" y="5669999"/>
            <a:ext cx="36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B5E20"/>
                </a:solidFill>
                <a:latin typeface="맑은 고딕"/>
              </a:rPr>
              <a:t>HF + Zn-C₂H₅* → ZnF* + C₂H₆↑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8000" y="3834000"/>
            <a:ext cx="3780000" cy="28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8000" y="3852000"/>
            <a:ext cx="37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④ N₂ 퍼지 → ZnF₂ 단층 완성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42000" y="6155100"/>
            <a:ext cx="3311999" cy="1980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42000" y="6082200"/>
            <a:ext cx="3311999" cy="558000"/>
          </a:xfrm>
          <a:prstGeom prst="ellipse">
            <a:avLst/>
          </a:prstGeom>
          <a:solidFill>
            <a:srgbClr val="303030"/>
          </a:solidFill>
          <a:ln w="381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342000" y="5903999"/>
            <a:ext cx="3311999" cy="558000"/>
          </a:xfrm>
          <a:prstGeom prst="ellipse">
            <a:avLst/>
          </a:prstGeom>
          <a:solidFill>
            <a:srgbClr val="757575"/>
          </a:solidFill>
          <a:ln w="1016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148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27999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141199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4544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7676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0808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3940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072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020399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333600" y="5938200"/>
            <a:ext cx="158400" cy="1584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400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532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664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479599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792799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1060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2419199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27324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045599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3358800" y="5801399"/>
            <a:ext cx="108000" cy="1080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22000" y="5639400"/>
            <a:ext cx="144000" cy="1440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461599" y="5639400"/>
            <a:ext cx="144000" cy="1440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401199" y="5639400"/>
            <a:ext cx="144000" cy="1440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340800" y="5639400"/>
            <a:ext cx="144000" cy="144000"/>
          </a:xfrm>
          <a:prstGeom prst="ellipse">
            <a:avLst/>
          </a:prstGeom>
          <a:solidFill>
            <a:srgbClr val="FFA026"/>
          </a:solidFill>
          <a:ln w="762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80000" y="4626000"/>
            <a:ext cx="11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CAF9"/>
                </a:solidFill>
                <a:latin typeface="Arial"/>
              </a:rPr>
              <a:t>N₂  →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80000" y="4914000"/>
            <a:ext cx="11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CAF9"/>
                </a:solidFill>
                <a:latin typeface="Arial"/>
              </a:rPr>
              <a:t>N₂  →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187000" y="4374000"/>
            <a:ext cx="1512000" cy="19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187000" y="4374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47A1"/>
                </a:solidFill>
                <a:latin typeface="맑은 고딕"/>
              </a:rPr>
              <a:t>✓ 1 사이클
완료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80000" y="5669999"/>
            <a:ext cx="36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D47A1"/>
                </a:solidFill>
                <a:latin typeface="맑은 고딕"/>
              </a:rPr>
              <a:t>ZnF₂ 단층 형성 → 다음 사이클로</a:t>
            </a:r>
          </a:p>
        </p:txBody>
      </p:sp>
      <p:sp>
        <p:nvSpPr>
          <p:cNvPr id="212" name="Oval 211"/>
          <p:cNvSpPr/>
          <p:nvPr/>
        </p:nvSpPr>
        <p:spPr>
          <a:xfrm>
            <a:off x="914400" y="6552000"/>
            <a:ext cx="122400" cy="122400"/>
          </a:xfrm>
          <a:prstGeom prst="ellipse">
            <a:avLst/>
          </a:prstGeom>
          <a:solidFill>
            <a:srgbClr val="FFA026"/>
          </a:solidFill>
          <a:ln w="63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78400" y="6692400"/>
            <a:ext cx="10287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12121"/>
                </a:solidFill>
                <a:latin typeface="맑은 고딕"/>
              </a:rPr>
              <a:t>Zn</a:t>
            </a:r>
          </a:p>
        </p:txBody>
      </p:sp>
      <p:sp>
        <p:nvSpPr>
          <p:cNvPr id="214" name="Oval 213"/>
          <p:cNvSpPr/>
          <p:nvPr/>
        </p:nvSpPr>
        <p:spPr>
          <a:xfrm>
            <a:off x="2057400" y="6552000"/>
            <a:ext cx="100800" cy="100800"/>
          </a:xfrm>
          <a:prstGeom prst="ellipse">
            <a:avLst/>
          </a:prstGeom>
          <a:solidFill>
            <a:srgbClr val="66BB6A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021400" y="6670800"/>
            <a:ext cx="10287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12121"/>
                </a:solidFill>
                <a:latin typeface="맑은 고딕"/>
              </a:rPr>
              <a:t>F</a:t>
            </a:r>
          </a:p>
        </p:txBody>
      </p:sp>
      <p:sp>
        <p:nvSpPr>
          <p:cNvPr id="216" name="Oval 215"/>
          <p:cNvSpPr/>
          <p:nvPr/>
        </p:nvSpPr>
        <p:spPr>
          <a:xfrm>
            <a:off x="3200399" y="6552000"/>
            <a:ext cx="86400" cy="86400"/>
          </a:xfrm>
          <a:prstGeom prst="ellipse">
            <a:avLst/>
          </a:prstGeom>
          <a:solidFill>
            <a:srgbClr val="78909C"/>
          </a:solidFill>
          <a:ln w="6350">
            <a:solidFill>
              <a:srgbClr val="45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164399" y="6656399"/>
            <a:ext cx="10287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12121"/>
                </a:solidFill>
                <a:latin typeface="맑은 고딕"/>
              </a:rPr>
              <a:t>C (에틸기)</a:t>
            </a:r>
          </a:p>
        </p:txBody>
      </p:sp>
      <p:sp>
        <p:nvSpPr>
          <p:cNvPr id="218" name="Oval 217"/>
          <p:cNvSpPr/>
          <p:nvPr/>
        </p:nvSpPr>
        <p:spPr>
          <a:xfrm>
            <a:off x="4343400" y="6552000"/>
            <a:ext cx="72000" cy="72000"/>
          </a:xfrm>
          <a:prstGeom prst="ellipse">
            <a:avLst/>
          </a:prstGeom>
          <a:solidFill>
            <a:srgbClr val="F5F5DC"/>
          </a:solidFill>
          <a:ln w="635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307400" y="6642000"/>
            <a:ext cx="10287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12121"/>
                </a:solidFill>
                <a:latin typeface="맑은 고딕"/>
              </a:rPr>
              <a:t>H</a:t>
            </a:r>
          </a:p>
        </p:txBody>
      </p:sp>
      <p:sp>
        <p:nvSpPr>
          <p:cNvPr id="220" name="Oval 219"/>
          <p:cNvSpPr/>
          <p:nvPr/>
        </p:nvSpPr>
        <p:spPr>
          <a:xfrm>
            <a:off x="5486399" y="6552000"/>
            <a:ext cx="86400" cy="86400"/>
          </a:xfrm>
          <a:prstGeom prst="ellipse">
            <a:avLst/>
          </a:prstGeom>
          <a:solidFill>
            <a:srgbClr val="CE93D8"/>
          </a:solidFill>
          <a:ln w="635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450400" y="6656399"/>
            <a:ext cx="10287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12121"/>
                </a:solidFill>
                <a:latin typeface="맑은 고딕"/>
              </a:rPr>
              <a:t>Py (피리딘)</a:t>
            </a:r>
          </a:p>
        </p:txBody>
      </p:sp>
      <p:sp>
        <p:nvSpPr>
          <p:cNvPr id="222" name="Oval 221"/>
          <p:cNvSpPr/>
          <p:nvPr/>
        </p:nvSpPr>
        <p:spPr>
          <a:xfrm>
            <a:off x="6629400" y="6552000"/>
            <a:ext cx="79200" cy="79200"/>
          </a:xfrm>
          <a:prstGeom prst="ellipse">
            <a:avLst/>
          </a:prstGeom>
          <a:solidFill>
            <a:srgbClr val="90CAF9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6593399" y="6649200"/>
            <a:ext cx="10287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12121"/>
                </a:solidFill>
                <a:latin typeface="맑은 고딕"/>
              </a:rPr>
              <a:t>N₂</a:t>
            </a:r>
          </a:p>
        </p:txBody>
      </p:sp>
      <p:sp>
        <p:nvSpPr>
          <p:cNvPr id="224" name="Oval 223"/>
          <p:cNvSpPr/>
          <p:nvPr/>
        </p:nvSpPr>
        <p:spPr>
          <a:xfrm>
            <a:off x="7772400" y="6552000"/>
            <a:ext cx="72000" cy="72000"/>
          </a:xfrm>
          <a:prstGeom prst="ellipse">
            <a:avLst/>
          </a:prstGeom>
          <a:solidFill>
            <a:srgbClr val="EF9A9A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7736399" y="6642000"/>
            <a:ext cx="10287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12121"/>
                </a:solidFill>
                <a:latin typeface="맑은 고딕"/>
              </a:rPr>
              <a:t>C₂H₆ (부산물)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